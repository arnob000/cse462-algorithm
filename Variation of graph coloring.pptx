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92" r:id="rId1"/>
    <p:sldMasterId id="2147483844" r:id="rId2"/>
    <p:sldMasterId id="2147483648" r:id="rId3"/>
  </p:sldMasterIdLst>
  <p:notesMasterIdLst>
    <p:notesMasterId r:id="rId109"/>
  </p:notesMasterIdLst>
  <p:sldIdLst>
    <p:sldId id="256" r:id="rId4"/>
    <p:sldId id="354" r:id="rId5"/>
    <p:sldId id="258" r:id="rId6"/>
    <p:sldId id="368" r:id="rId7"/>
    <p:sldId id="363" r:id="rId8"/>
    <p:sldId id="261" r:id="rId9"/>
    <p:sldId id="262" r:id="rId10"/>
    <p:sldId id="263" r:id="rId11"/>
    <p:sldId id="264" r:id="rId12"/>
    <p:sldId id="265" r:id="rId13"/>
    <p:sldId id="364" r:id="rId14"/>
    <p:sldId id="266" r:id="rId15"/>
    <p:sldId id="365" r:id="rId16"/>
    <p:sldId id="267" r:id="rId17"/>
    <p:sldId id="268" r:id="rId18"/>
    <p:sldId id="269" r:id="rId19"/>
    <p:sldId id="270" r:id="rId20"/>
    <p:sldId id="271" r:id="rId21"/>
    <p:sldId id="369" r:id="rId22"/>
    <p:sldId id="272" r:id="rId23"/>
    <p:sldId id="273" r:id="rId24"/>
    <p:sldId id="274" r:id="rId25"/>
    <p:sldId id="275" r:id="rId26"/>
    <p:sldId id="276" r:id="rId27"/>
    <p:sldId id="277" r:id="rId28"/>
    <p:sldId id="278" r:id="rId29"/>
    <p:sldId id="279" r:id="rId30"/>
    <p:sldId id="280" r:id="rId31"/>
    <p:sldId id="281" r:id="rId32"/>
    <p:sldId id="370" r:id="rId33"/>
    <p:sldId id="282" r:id="rId34"/>
    <p:sldId id="371" r:id="rId35"/>
    <p:sldId id="285" r:id="rId36"/>
    <p:sldId id="286" r:id="rId37"/>
    <p:sldId id="287" r:id="rId38"/>
    <p:sldId id="288" r:id="rId39"/>
    <p:sldId id="289" r:id="rId40"/>
    <p:sldId id="290" r:id="rId41"/>
    <p:sldId id="291" r:id="rId42"/>
    <p:sldId id="372" r:id="rId43"/>
    <p:sldId id="367" r:id="rId44"/>
    <p:sldId id="292" r:id="rId45"/>
    <p:sldId id="293" r:id="rId46"/>
    <p:sldId id="294" r:id="rId47"/>
    <p:sldId id="295" r:id="rId48"/>
    <p:sldId id="296" r:id="rId49"/>
    <p:sldId id="297" r:id="rId50"/>
    <p:sldId id="298" r:id="rId51"/>
    <p:sldId id="299" r:id="rId52"/>
    <p:sldId id="300" r:id="rId53"/>
    <p:sldId id="301" r:id="rId54"/>
    <p:sldId id="302" r:id="rId55"/>
    <p:sldId id="303" r:id="rId56"/>
    <p:sldId id="304" r:id="rId57"/>
    <p:sldId id="305" r:id="rId58"/>
    <p:sldId id="306" r:id="rId59"/>
    <p:sldId id="307" r:id="rId60"/>
    <p:sldId id="308" r:id="rId61"/>
    <p:sldId id="309" r:id="rId62"/>
    <p:sldId id="310" r:id="rId63"/>
    <p:sldId id="311" r:id="rId64"/>
    <p:sldId id="312" r:id="rId65"/>
    <p:sldId id="313" r:id="rId66"/>
    <p:sldId id="314" r:id="rId67"/>
    <p:sldId id="315" r:id="rId68"/>
    <p:sldId id="316" r:id="rId69"/>
    <p:sldId id="317" r:id="rId70"/>
    <p:sldId id="318" r:id="rId71"/>
    <p:sldId id="319" r:id="rId72"/>
    <p:sldId id="320" r:id="rId73"/>
    <p:sldId id="321" r:id="rId74"/>
    <p:sldId id="322" r:id="rId75"/>
    <p:sldId id="323" r:id="rId76"/>
    <p:sldId id="324" r:id="rId77"/>
    <p:sldId id="325" r:id="rId78"/>
    <p:sldId id="326" r:id="rId79"/>
    <p:sldId id="327" r:id="rId80"/>
    <p:sldId id="328" r:id="rId81"/>
    <p:sldId id="329" r:id="rId82"/>
    <p:sldId id="330" r:id="rId83"/>
    <p:sldId id="331" r:id="rId84"/>
    <p:sldId id="332" r:id="rId85"/>
    <p:sldId id="333" r:id="rId86"/>
    <p:sldId id="334" r:id="rId87"/>
    <p:sldId id="335" r:id="rId88"/>
    <p:sldId id="336" r:id="rId89"/>
    <p:sldId id="337" r:id="rId90"/>
    <p:sldId id="338" r:id="rId91"/>
    <p:sldId id="339" r:id="rId92"/>
    <p:sldId id="340" r:id="rId93"/>
    <p:sldId id="341" r:id="rId94"/>
    <p:sldId id="342" r:id="rId95"/>
    <p:sldId id="343" r:id="rId96"/>
    <p:sldId id="344" r:id="rId97"/>
    <p:sldId id="345" r:id="rId98"/>
    <p:sldId id="346" r:id="rId99"/>
    <p:sldId id="347" r:id="rId100"/>
    <p:sldId id="348" r:id="rId101"/>
    <p:sldId id="349" r:id="rId102"/>
    <p:sldId id="350" r:id="rId103"/>
    <p:sldId id="351" r:id="rId104"/>
    <p:sldId id="357" r:id="rId105"/>
    <p:sldId id="352" r:id="rId106"/>
    <p:sldId id="353" r:id="rId107"/>
    <p:sldId id="366" r:id="rId10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C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963" autoAdjust="0"/>
    <p:restoredTop sz="94660"/>
  </p:normalViewPr>
  <p:slideViewPr>
    <p:cSldViewPr snapToGrid="0">
      <p:cViewPr varScale="1">
        <p:scale>
          <a:sx n="104" d="100"/>
          <a:sy n="104" d="100"/>
        </p:scale>
        <p:origin x="524" y="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slide" Target="slides/slide81.xml"/><Relationship Id="rId89" Type="http://schemas.openxmlformats.org/officeDocument/2006/relationships/slide" Target="slides/slide86.xml"/><Relationship Id="rId112" Type="http://schemas.openxmlformats.org/officeDocument/2006/relationships/theme" Target="theme/theme1.xml"/><Relationship Id="rId16" Type="http://schemas.openxmlformats.org/officeDocument/2006/relationships/slide" Target="slides/slide13.xml"/><Relationship Id="rId107" Type="http://schemas.openxmlformats.org/officeDocument/2006/relationships/slide" Target="slides/slide104.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slide" Target="slides/slide76.xml"/><Relationship Id="rId102" Type="http://schemas.openxmlformats.org/officeDocument/2006/relationships/slide" Target="slides/slide99.xml"/><Relationship Id="rId5" Type="http://schemas.openxmlformats.org/officeDocument/2006/relationships/slide" Target="slides/slide2.xml"/><Relationship Id="rId90" Type="http://schemas.openxmlformats.org/officeDocument/2006/relationships/slide" Target="slides/slide87.xml"/><Relationship Id="rId95" Type="http://schemas.openxmlformats.org/officeDocument/2006/relationships/slide" Target="slides/slide92.xml"/><Relationship Id="rId22" Type="http://schemas.openxmlformats.org/officeDocument/2006/relationships/slide" Target="slides/slide19.xml"/><Relationship Id="rId27" Type="http://schemas.openxmlformats.org/officeDocument/2006/relationships/slide" Target="slides/slide24.xml"/><Relationship Id="rId43" Type="http://schemas.openxmlformats.org/officeDocument/2006/relationships/slide" Target="slides/slide40.xml"/><Relationship Id="rId48" Type="http://schemas.openxmlformats.org/officeDocument/2006/relationships/slide" Target="slides/slide45.xml"/><Relationship Id="rId64" Type="http://schemas.openxmlformats.org/officeDocument/2006/relationships/slide" Target="slides/slide61.xml"/><Relationship Id="rId69" Type="http://schemas.openxmlformats.org/officeDocument/2006/relationships/slide" Target="slides/slide66.xml"/><Relationship Id="rId113" Type="http://schemas.openxmlformats.org/officeDocument/2006/relationships/tableStyles" Target="tableStyles.xml"/><Relationship Id="rId80" Type="http://schemas.openxmlformats.org/officeDocument/2006/relationships/slide" Target="slides/slide77.xml"/><Relationship Id="rId85" Type="http://schemas.openxmlformats.org/officeDocument/2006/relationships/slide" Target="slides/slide82.xml"/><Relationship Id="rId12" Type="http://schemas.openxmlformats.org/officeDocument/2006/relationships/slide" Target="slides/slide9.xml"/><Relationship Id="rId17" Type="http://schemas.openxmlformats.org/officeDocument/2006/relationships/slide" Target="slides/slide14.xml"/><Relationship Id="rId33" Type="http://schemas.openxmlformats.org/officeDocument/2006/relationships/slide" Target="slides/slide30.xml"/><Relationship Id="rId38" Type="http://schemas.openxmlformats.org/officeDocument/2006/relationships/slide" Target="slides/slide35.xml"/><Relationship Id="rId59" Type="http://schemas.openxmlformats.org/officeDocument/2006/relationships/slide" Target="slides/slide56.xml"/><Relationship Id="rId103" Type="http://schemas.openxmlformats.org/officeDocument/2006/relationships/slide" Target="slides/slide100.xml"/><Relationship Id="rId108" Type="http://schemas.openxmlformats.org/officeDocument/2006/relationships/slide" Target="slides/slide105.xml"/><Relationship Id="rId54" Type="http://schemas.openxmlformats.org/officeDocument/2006/relationships/slide" Target="slides/slide51.xml"/><Relationship Id="rId70" Type="http://schemas.openxmlformats.org/officeDocument/2006/relationships/slide" Target="slides/slide67.xml"/><Relationship Id="rId75" Type="http://schemas.openxmlformats.org/officeDocument/2006/relationships/slide" Target="slides/slide72.xml"/><Relationship Id="rId91" Type="http://schemas.openxmlformats.org/officeDocument/2006/relationships/slide" Target="slides/slide88.xml"/><Relationship Id="rId96" Type="http://schemas.openxmlformats.org/officeDocument/2006/relationships/slide" Target="slides/slide93.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6" Type="http://schemas.openxmlformats.org/officeDocument/2006/relationships/slide" Target="slides/slide103.xml"/><Relationship Id="rId114" Type="http://schemas.microsoft.com/office/2016/11/relationships/changesInfo" Target="changesInfos/changesInfo1.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slide" Target="slides/slide75.xml"/><Relationship Id="rId81" Type="http://schemas.openxmlformats.org/officeDocument/2006/relationships/slide" Target="slides/slide78.xml"/><Relationship Id="rId86" Type="http://schemas.openxmlformats.org/officeDocument/2006/relationships/slide" Target="slides/slide83.xml"/><Relationship Id="rId94" Type="http://schemas.openxmlformats.org/officeDocument/2006/relationships/slide" Target="slides/slide91.xml"/><Relationship Id="rId99" Type="http://schemas.openxmlformats.org/officeDocument/2006/relationships/slide" Target="slides/slide96.xml"/><Relationship Id="rId101" Type="http://schemas.openxmlformats.org/officeDocument/2006/relationships/slide" Target="slides/slide98.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109" Type="http://schemas.openxmlformats.org/officeDocument/2006/relationships/notesMaster" Target="notesMasters/notesMaster1.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97" Type="http://schemas.openxmlformats.org/officeDocument/2006/relationships/slide" Target="slides/slide94.xml"/><Relationship Id="rId104" Type="http://schemas.openxmlformats.org/officeDocument/2006/relationships/slide" Target="slides/slide101.xml"/><Relationship Id="rId7" Type="http://schemas.openxmlformats.org/officeDocument/2006/relationships/slide" Target="slides/slide4.xml"/><Relationship Id="rId71" Type="http://schemas.openxmlformats.org/officeDocument/2006/relationships/slide" Target="slides/slide68.xml"/><Relationship Id="rId92" Type="http://schemas.openxmlformats.org/officeDocument/2006/relationships/slide" Target="slides/slide89.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slide" Target="slides/slide84.xml"/><Relationship Id="rId110" Type="http://schemas.openxmlformats.org/officeDocument/2006/relationships/presProps" Target="presProps.xml"/><Relationship Id="rId61" Type="http://schemas.openxmlformats.org/officeDocument/2006/relationships/slide" Target="slides/slide58.xml"/><Relationship Id="rId82" Type="http://schemas.openxmlformats.org/officeDocument/2006/relationships/slide" Target="slides/slide79.xml"/><Relationship Id="rId19" Type="http://schemas.openxmlformats.org/officeDocument/2006/relationships/slide" Target="slides/slide16.xml"/><Relationship Id="rId14" Type="http://schemas.openxmlformats.org/officeDocument/2006/relationships/slide" Target="slides/slide11.xml"/><Relationship Id="rId30" Type="http://schemas.openxmlformats.org/officeDocument/2006/relationships/slide" Target="slides/slide27.xml"/><Relationship Id="rId35" Type="http://schemas.openxmlformats.org/officeDocument/2006/relationships/slide" Target="slides/slide32.xml"/><Relationship Id="rId56" Type="http://schemas.openxmlformats.org/officeDocument/2006/relationships/slide" Target="slides/slide53.xml"/><Relationship Id="rId77" Type="http://schemas.openxmlformats.org/officeDocument/2006/relationships/slide" Target="slides/slide74.xml"/><Relationship Id="rId100" Type="http://schemas.openxmlformats.org/officeDocument/2006/relationships/slide" Target="slides/slide97.xml"/><Relationship Id="rId105" Type="http://schemas.openxmlformats.org/officeDocument/2006/relationships/slide" Target="slides/slide102.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93" Type="http://schemas.openxmlformats.org/officeDocument/2006/relationships/slide" Target="slides/slide90.xml"/><Relationship Id="rId98" Type="http://schemas.openxmlformats.org/officeDocument/2006/relationships/slide" Target="slides/slide95.xml"/><Relationship Id="rId3" Type="http://schemas.openxmlformats.org/officeDocument/2006/relationships/slideMaster" Target="slideMasters/slideMaster3.xml"/><Relationship Id="rId25" Type="http://schemas.openxmlformats.org/officeDocument/2006/relationships/slide" Target="slides/slide22.xml"/><Relationship Id="rId46" Type="http://schemas.openxmlformats.org/officeDocument/2006/relationships/slide" Target="slides/slide43.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62" Type="http://schemas.openxmlformats.org/officeDocument/2006/relationships/slide" Target="slides/slide59.xml"/><Relationship Id="rId83" Type="http://schemas.openxmlformats.org/officeDocument/2006/relationships/slide" Target="slides/slide80.xml"/><Relationship Id="rId88" Type="http://schemas.openxmlformats.org/officeDocument/2006/relationships/slide" Target="slides/slide85.xml"/><Relationship Id="rId11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kib Kibria" userId="cf1182fd14cd1657" providerId="LiveId" clId="{1B866F09-2AA2-469C-B9E2-4B0813C53DD5}"/>
    <pc:docChg chg="undo custSel addSld delSld modSld sldOrd modMainMaster">
      <pc:chgData name="Rakib Kibria" userId="cf1182fd14cd1657" providerId="LiveId" clId="{1B866F09-2AA2-469C-B9E2-4B0813C53DD5}" dt="2024-10-20T01:40:45.771" v="183" actId="113"/>
      <pc:docMkLst>
        <pc:docMk/>
      </pc:docMkLst>
      <pc:sldChg chg="modSp mod">
        <pc:chgData name="Rakib Kibria" userId="cf1182fd14cd1657" providerId="LiveId" clId="{1B866F09-2AA2-469C-B9E2-4B0813C53DD5}" dt="2024-10-20T01:37:50.426" v="179" actId="113"/>
        <pc:sldMkLst>
          <pc:docMk/>
          <pc:sldMk cId="1288013222" sldId="269"/>
        </pc:sldMkLst>
        <pc:spChg chg="mod">
          <ac:chgData name="Rakib Kibria" userId="cf1182fd14cd1657" providerId="LiveId" clId="{1B866F09-2AA2-469C-B9E2-4B0813C53DD5}" dt="2024-10-20T01:32:38.332" v="178" actId="1076"/>
          <ac:spMkLst>
            <pc:docMk/>
            <pc:sldMk cId="1288013222" sldId="269"/>
            <ac:spMk id="3" creationId="{E0DB3FF0-041F-618D-22A0-694289D650C8}"/>
          </ac:spMkLst>
        </pc:spChg>
        <pc:spChg chg="mod">
          <ac:chgData name="Rakib Kibria" userId="cf1182fd14cd1657" providerId="LiveId" clId="{1B866F09-2AA2-469C-B9E2-4B0813C53DD5}" dt="2024-10-20T01:37:50.426" v="179" actId="113"/>
          <ac:spMkLst>
            <pc:docMk/>
            <pc:sldMk cId="1288013222" sldId="269"/>
            <ac:spMk id="20" creationId="{721C49BE-A3AD-7D59-3F9E-F8F0C2A1440E}"/>
          </ac:spMkLst>
        </pc:spChg>
      </pc:sldChg>
      <pc:sldChg chg="modSp mod">
        <pc:chgData name="Rakib Kibria" userId="cf1182fd14cd1657" providerId="LiveId" clId="{1B866F09-2AA2-469C-B9E2-4B0813C53DD5}" dt="2024-10-20T01:38:12.902" v="181" actId="113"/>
        <pc:sldMkLst>
          <pc:docMk/>
          <pc:sldMk cId="3563037833" sldId="270"/>
        </pc:sldMkLst>
        <pc:spChg chg="mod">
          <ac:chgData name="Rakib Kibria" userId="cf1182fd14cd1657" providerId="LiveId" clId="{1B866F09-2AA2-469C-B9E2-4B0813C53DD5}" dt="2024-10-20T01:38:12.902" v="181" actId="113"/>
          <ac:spMkLst>
            <pc:docMk/>
            <pc:sldMk cId="3563037833" sldId="270"/>
            <ac:spMk id="3" creationId="{AC002DA9-8A8A-BACC-C666-AF1AD65F2C2C}"/>
          </ac:spMkLst>
        </pc:spChg>
      </pc:sldChg>
      <pc:sldChg chg="modSp mod">
        <pc:chgData name="Rakib Kibria" userId="cf1182fd14cd1657" providerId="LiveId" clId="{1B866F09-2AA2-469C-B9E2-4B0813C53DD5}" dt="2024-10-20T01:40:45.771" v="183" actId="113"/>
        <pc:sldMkLst>
          <pc:docMk/>
          <pc:sldMk cId="1723759888" sldId="271"/>
        </pc:sldMkLst>
        <pc:spChg chg="mod">
          <ac:chgData name="Rakib Kibria" userId="cf1182fd14cd1657" providerId="LiveId" clId="{1B866F09-2AA2-469C-B9E2-4B0813C53DD5}" dt="2024-10-20T01:40:45.771" v="183" actId="113"/>
          <ac:spMkLst>
            <pc:docMk/>
            <pc:sldMk cId="1723759888" sldId="271"/>
            <ac:spMk id="3" creationId="{DE410956-3BF2-E705-1097-B4C1E6487A54}"/>
          </ac:spMkLst>
        </pc:spChg>
      </pc:sldChg>
      <pc:sldChg chg="addSp modSp mod ord">
        <pc:chgData name="Rakib Kibria" userId="cf1182fd14cd1657" providerId="LiveId" clId="{1B866F09-2AA2-469C-B9E2-4B0813C53DD5}" dt="2024-10-20T01:30:02.476" v="156"/>
        <pc:sldMkLst>
          <pc:docMk/>
          <pc:sldMk cId="2972168961" sldId="357"/>
        </pc:sldMkLst>
        <pc:spChg chg="add mod">
          <ac:chgData name="Rakib Kibria" userId="cf1182fd14cd1657" providerId="LiveId" clId="{1B866F09-2AA2-469C-B9E2-4B0813C53DD5}" dt="2024-10-20T01:28:19.526" v="147"/>
          <ac:spMkLst>
            <pc:docMk/>
            <pc:sldMk cId="2972168961" sldId="357"/>
            <ac:spMk id="2" creationId="{666C86A4-8C39-40C5-0EB5-1F286C83752C}"/>
          </ac:spMkLst>
        </pc:spChg>
        <pc:spChg chg="add mod">
          <ac:chgData name="Rakib Kibria" userId="cf1182fd14cd1657" providerId="LiveId" clId="{1B866F09-2AA2-469C-B9E2-4B0813C53DD5}" dt="2024-10-20T01:28:20.980" v="148"/>
          <ac:spMkLst>
            <pc:docMk/>
            <pc:sldMk cId="2972168961" sldId="357"/>
            <ac:spMk id="3" creationId="{3136FAAC-F1F7-0C0A-9C6A-4381FD53654F}"/>
          </ac:spMkLst>
        </pc:spChg>
        <pc:spChg chg="add mod">
          <ac:chgData name="Rakib Kibria" userId="cf1182fd14cd1657" providerId="LiveId" clId="{1B866F09-2AA2-469C-B9E2-4B0813C53DD5}" dt="2024-10-20T01:28:20.980" v="148"/>
          <ac:spMkLst>
            <pc:docMk/>
            <pc:sldMk cId="2972168961" sldId="357"/>
            <ac:spMk id="4" creationId="{6F7D1C05-0A9F-974C-2E4B-CA2CC3E419AF}"/>
          </ac:spMkLst>
        </pc:spChg>
        <pc:spChg chg="mod">
          <ac:chgData name="Rakib Kibria" userId="cf1182fd14cd1657" providerId="LiveId" clId="{1B866F09-2AA2-469C-B9E2-4B0813C53DD5}" dt="2024-10-20T01:20:17.613" v="6" actId="20577"/>
          <ac:spMkLst>
            <pc:docMk/>
            <pc:sldMk cId="2972168961" sldId="357"/>
            <ac:spMk id="6" creationId="{5EDFC692-5D0D-C5B4-F9DD-27B5FDD22536}"/>
          </ac:spMkLst>
        </pc:spChg>
      </pc:sldChg>
      <pc:sldChg chg="modSp mod">
        <pc:chgData name="Rakib Kibria" userId="cf1182fd14cd1657" providerId="LiveId" clId="{1B866F09-2AA2-469C-B9E2-4B0813C53DD5}" dt="2024-10-20T01:13:06.885" v="2" actId="1076"/>
        <pc:sldMkLst>
          <pc:docMk/>
          <pc:sldMk cId="4175583900" sldId="365"/>
        </pc:sldMkLst>
        <pc:spChg chg="mod">
          <ac:chgData name="Rakib Kibria" userId="cf1182fd14cd1657" providerId="LiveId" clId="{1B866F09-2AA2-469C-B9E2-4B0813C53DD5}" dt="2024-10-20T01:13:06.885" v="2" actId="1076"/>
          <ac:spMkLst>
            <pc:docMk/>
            <pc:sldMk cId="4175583900" sldId="365"/>
            <ac:spMk id="3" creationId="{7B5B2040-403A-F7E5-AD34-D2F7A1441B6C}"/>
          </ac:spMkLst>
        </pc:spChg>
      </pc:sldChg>
      <pc:sldChg chg="modSp">
        <pc:chgData name="Rakib Kibria" userId="cf1182fd14cd1657" providerId="LiveId" clId="{1B866F09-2AA2-469C-B9E2-4B0813C53DD5}" dt="2024-10-20T01:29:11.418" v="153"/>
        <pc:sldMkLst>
          <pc:docMk/>
          <pc:sldMk cId="2717430963" sldId="366"/>
        </pc:sldMkLst>
        <pc:spChg chg="mod">
          <ac:chgData name="Rakib Kibria" userId="cf1182fd14cd1657" providerId="LiveId" clId="{1B866F09-2AA2-469C-B9E2-4B0813C53DD5}" dt="2024-10-20T01:29:11.418" v="153"/>
          <ac:spMkLst>
            <pc:docMk/>
            <pc:sldMk cId="2717430963" sldId="366"/>
            <ac:spMk id="5" creationId="{9A903C1A-A0D1-C5D8-AA52-9B3FA78ECFA0}"/>
          </ac:spMkLst>
        </pc:spChg>
      </pc:sldChg>
      <pc:sldChg chg="addSp delSp modSp new mod ord">
        <pc:chgData name="Rakib Kibria" userId="cf1182fd14cd1657" providerId="LiveId" clId="{1B866F09-2AA2-469C-B9E2-4B0813C53DD5}" dt="2024-10-20T01:23:46.409" v="146"/>
        <pc:sldMkLst>
          <pc:docMk/>
          <pc:sldMk cId="2647802088" sldId="369"/>
        </pc:sldMkLst>
        <pc:spChg chg="add del mod">
          <ac:chgData name="Rakib Kibria" userId="cf1182fd14cd1657" providerId="LiveId" clId="{1B866F09-2AA2-469C-B9E2-4B0813C53DD5}" dt="2024-10-20T01:20:42.344" v="19" actId="20577"/>
          <ac:spMkLst>
            <pc:docMk/>
            <pc:sldMk cId="2647802088" sldId="369"/>
            <ac:spMk id="2" creationId="{04B9E62C-E331-108D-B7C9-CC158409EB21}"/>
          </ac:spMkLst>
        </pc:spChg>
        <pc:spChg chg="mod">
          <ac:chgData name="Rakib Kibria" userId="cf1182fd14cd1657" providerId="LiveId" clId="{1B866F09-2AA2-469C-B9E2-4B0813C53DD5}" dt="2024-10-20T01:23:05.662" v="144" actId="20577"/>
          <ac:spMkLst>
            <pc:docMk/>
            <pc:sldMk cId="2647802088" sldId="369"/>
            <ac:spMk id="3" creationId="{67877C16-C916-64FA-9C17-98B71509ACE7}"/>
          </ac:spMkLst>
        </pc:spChg>
      </pc:sldChg>
      <pc:sldChg chg="modSp add del">
        <pc:chgData name="Rakib Kibria" userId="cf1182fd14cd1657" providerId="LiveId" clId="{1B866F09-2AA2-469C-B9E2-4B0813C53DD5}" dt="2024-10-20T01:29:14.664" v="154" actId="47"/>
        <pc:sldMkLst>
          <pc:docMk/>
          <pc:sldMk cId="1457009953" sldId="370"/>
        </pc:sldMkLst>
        <pc:spChg chg="mod">
          <ac:chgData name="Rakib Kibria" userId="cf1182fd14cd1657" providerId="LiveId" clId="{1B866F09-2AA2-469C-B9E2-4B0813C53DD5}" dt="2024-10-20T01:29:11.418" v="153"/>
          <ac:spMkLst>
            <pc:docMk/>
            <pc:sldMk cId="1457009953" sldId="370"/>
            <ac:spMk id="2" creationId="{08CE4018-4940-8B11-58F6-833403EAFA78}"/>
          </ac:spMkLst>
        </pc:spChg>
        <pc:spChg chg="mod">
          <ac:chgData name="Rakib Kibria" userId="cf1182fd14cd1657" providerId="LiveId" clId="{1B866F09-2AA2-469C-B9E2-4B0813C53DD5}" dt="2024-10-20T01:29:11.418" v="153"/>
          <ac:spMkLst>
            <pc:docMk/>
            <pc:sldMk cId="1457009953" sldId="370"/>
            <ac:spMk id="4" creationId="{F2C21616-7107-606F-6BC9-BDE66A1526D1}"/>
          </ac:spMkLst>
        </pc:spChg>
      </pc:sldChg>
      <pc:sldMasterChg chg="delSldLayout">
        <pc:chgData name="Rakib Kibria" userId="cf1182fd14cd1657" providerId="LiveId" clId="{1B866F09-2AA2-469C-B9E2-4B0813C53DD5}" dt="2024-10-20T01:29:14.664" v="154" actId="47"/>
        <pc:sldMasterMkLst>
          <pc:docMk/>
          <pc:sldMasterMk cId="1636003154" sldId="2147483648"/>
        </pc:sldMasterMkLst>
        <pc:sldLayoutChg chg="del">
          <pc:chgData name="Rakib Kibria" userId="cf1182fd14cd1657" providerId="LiveId" clId="{1B866F09-2AA2-469C-B9E2-4B0813C53DD5}" dt="2024-10-20T01:29:14.664" v="154" actId="47"/>
          <pc:sldLayoutMkLst>
            <pc:docMk/>
            <pc:sldMasterMk cId="1636003154" sldId="2147483648"/>
            <pc:sldLayoutMk cId="4237328093" sldId="2147483864"/>
          </pc:sldLayoutMkLst>
        </pc:sldLayoutChg>
      </pc:sldMasterChg>
      <pc:sldMasterChg chg="addSp addSldLayout delSldLayout">
        <pc:chgData name="Rakib Kibria" userId="cf1182fd14cd1657" providerId="LiveId" clId="{1B866F09-2AA2-469C-B9E2-4B0813C53DD5}" dt="2024-10-20T01:29:10.707" v="152" actId="47"/>
        <pc:sldMasterMkLst>
          <pc:docMk/>
          <pc:sldMasterMk cId="4250270802" sldId="2147483865"/>
        </pc:sldMasterMkLst>
        <pc:cxnChg chg="add">
          <ac:chgData name="Rakib Kibria" userId="cf1182fd14cd1657" providerId="LiveId" clId="{1B866F09-2AA2-469C-B9E2-4B0813C53DD5}" dt="2024-10-20T01:29:02.251" v="150"/>
          <ac:cxnSpMkLst>
            <pc:docMk/>
            <pc:sldMasterMk cId="4250270802" sldId="2147483865"/>
            <ac:cxnSpMk id="7" creationId="{85292038-726E-6405-608B-1F9E2ECEE9CF}"/>
          </ac:cxnSpMkLst>
        </pc:cxnChg>
        <pc:sldLayoutChg chg="add del">
          <pc:chgData name="Rakib Kibria" userId="cf1182fd14cd1657" providerId="LiveId" clId="{1B866F09-2AA2-469C-B9E2-4B0813C53DD5}" dt="2024-10-20T01:29:10.707" v="152" actId="47"/>
          <pc:sldLayoutMkLst>
            <pc:docMk/>
            <pc:sldMasterMk cId="4250270802" sldId="2147483865"/>
            <pc:sldLayoutMk cId="1191617395" sldId="2147483878"/>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982E0-B6AA-45FB-86A5-7208826E374D}" type="datetimeFigureOut">
              <a:rPr lang="en-US" smtClean="0"/>
              <a:t>10/20/2024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0E72136-5502-4818-829C-9B8174B1EDA2}" type="slidenum">
              <a:rPr lang="en-US" smtClean="0"/>
              <a:t>‹#›</a:t>
            </a:fld>
            <a:endParaRPr lang="en-US"/>
          </a:p>
        </p:txBody>
      </p:sp>
    </p:spTree>
    <p:extLst>
      <p:ext uri="{BB962C8B-B14F-4D97-AF65-F5344CB8AC3E}">
        <p14:creationId xmlns:p14="http://schemas.microsoft.com/office/powerpoint/2010/main" val="21747759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20</a:t>
            </a:fld>
            <a:endParaRPr lang="en-US" noProof="0" dirty="0"/>
          </a:p>
        </p:txBody>
      </p:sp>
    </p:spTree>
    <p:extLst>
      <p:ext uri="{BB962C8B-B14F-4D97-AF65-F5344CB8AC3E}">
        <p14:creationId xmlns:p14="http://schemas.microsoft.com/office/powerpoint/2010/main" val="873663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38</a:t>
            </a:fld>
            <a:endParaRPr lang="en-US" dirty="0"/>
          </a:p>
        </p:txBody>
      </p:sp>
    </p:spTree>
    <p:extLst>
      <p:ext uri="{BB962C8B-B14F-4D97-AF65-F5344CB8AC3E}">
        <p14:creationId xmlns:p14="http://schemas.microsoft.com/office/powerpoint/2010/main" val="7026425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F2165-AECD-AC0B-0A46-19E82DC257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10EBC2-FFC3-2482-86CA-A129EAAABB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704D6B-CA75-C920-89B4-EA8B79E6D4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6C1BFD7-3F26-AFD4-F030-DBE1AE11C1D7}"/>
              </a:ext>
            </a:extLst>
          </p:cNvPr>
          <p:cNvSpPr>
            <a:spLocks noGrp="1"/>
          </p:cNvSpPr>
          <p:nvPr>
            <p:ph type="sldNum" sz="quarter" idx="5"/>
          </p:nvPr>
        </p:nvSpPr>
        <p:spPr/>
        <p:txBody>
          <a:bodyPr/>
          <a:lstStyle/>
          <a:p>
            <a:fld id="{7C366290-4595-5745-A50F-D5EC13BAC604}" type="slidenum">
              <a:rPr lang="en-US" noProof="0" smtClean="0"/>
              <a:t>92</a:t>
            </a:fld>
            <a:endParaRPr lang="en-US" noProof="0" dirty="0"/>
          </a:p>
        </p:txBody>
      </p:sp>
    </p:spTree>
    <p:extLst>
      <p:ext uri="{BB962C8B-B14F-4D97-AF65-F5344CB8AC3E}">
        <p14:creationId xmlns:p14="http://schemas.microsoft.com/office/powerpoint/2010/main" val="750316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97</a:t>
            </a:fld>
            <a:endParaRPr lang="en-US" noProof="0" dirty="0"/>
          </a:p>
        </p:txBody>
      </p:sp>
    </p:spTree>
    <p:extLst>
      <p:ext uri="{BB962C8B-B14F-4D97-AF65-F5344CB8AC3E}">
        <p14:creationId xmlns:p14="http://schemas.microsoft.com/office/powerpoint/2010/main" val="873663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99</a:t>
            </a:fld>
            <a:endParaRPr lang="en-US" noProof="0" dirty="0"/>
          </a:p>
        </p:txBody>
      </p:sp>
    </p:spTree>
    <p:extLst>
      <p:ext uri="{BB962C8B-B14F-4D97-AF65-F5344CB8AC3E}">
        <p14:creationId xmlns:p14="http://schemas.microsoft.com/office/powerpoint/2010/main" val="10262817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100</a:t>
            </a:fld>
            <a:endParaRPr lang="en-US" noProof="0" dirty="0"/>
          </a:p>
        </p:txBody>
      </p:sp>
    </p:spTree>
    <p:extLst>
      <p:ext uri="{BB962C8B-B14F-4D97-AF65-F5344CB8AC3E}">
        <p14:creationId xmlns:p14="http://schemas.microsoft.com/office/powerpoint/2010/main" val="32108936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187A99-2BFE-05AB-FC67-25E552DC4C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A24F67-1A61-E26F-C9F1-BB0627F906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1D6C4F-8CCF-35B7-CF3C-F1A68C5AD28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E4BCACB-75C7-F4D7-BDE7-375C7A26D5CA}"/>
              </a:ext>
            </a:extLst>
          </p:cNvPr>
          <p:cNvSpPr>
            <a:spLocks noGrp="1"/>
          </p:cNvSpPr>
          <p:nvPr>
            <p:ph type="sldNum" sz="quarter" idx="5"/>
          </p:nvPr>
        </p:nvSpPr>
        <p:spPr/>
        <p:txBody>
          <a:bodyPr/>
          <a:lstStyle/>
          <a:p>
            <a:fld id="{7C366290-4595-5745-A50F-D5EC13BAC604}" type="slidenum">
              <a:rPr lang="en-US" noProof="0" smtClean="0"/>
              <a:t>101</a:t>
            </a:fld>
            <a:endParaRPr lang="en-US" noProof="0" dirty="0"/>
          </a:p>
        </p:txBody>
      </p:sp>
    </p:spTree>
    <p:extLst>
      <p:ext uri="{BB962C8B-B14F-4D97-AF65-F5344CB8AC3E}">
        <p14:creationId xmlns:p14="http://schemas.microsoft.com/office/powerpoint/2010/main" val="33400752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4D2607-5B1E-7633-2105-9F578A800A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114E6-2FB2-362D-5E6E-5ADDC0918C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6BBCE8-830B-82F7-A692-053CBAF369F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0853F9E-740B-C385-466B-4ACFFC77B7EA}"/>
              </a:ext>
            </a:extLst>
          </p:cNvPr>
          <p:cNvSpPr>
            <a:spLocks noGrp="1"/>
          </p:cNvSpPr>
          <p:nvPr>
            <p:ph type="sldNum" sz="quarter" idx="5"/>
          </p:nvPr>
        </p:nvSpPr>
        <p:spPr/>
        <p:txBody>
          <a:bodyPr/>
          <a:lstStyle/>
          <a:p>
            <a:fld id="{7C366290-4595-5745-A50F-D5EC13BAC604}" type="slidenum">
              <a:rPr lang="en-US" noProof="0" smtClean="0"/>
              <a:t>104</a:t>
            </a:fld>
            <a:endParaRPr lang="en-US" noProof="0" dirty="0"/>
          </a:p>
        </p:txBody>
      </p:sp>
    </p:spTree>
    <p:extLst>
      <p:ext uri="{BB962C8B-B14F-4D97-AF65-F5344CB8AC3E}">
        <p14:creationId xmlns:p14="http://schemas.microsoft.com/office/powerpoint/2010/main" val="41914618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A6374B9-15EF-4069-A1B3-1D9DF18CEDC1}" type="datetime1">
              <a:rPr lang="en-US" smtClean="0"/>
              <a:t>10/20/2024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40919616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03AF37C-BC7B-41E5-9135-3094BB454C1E}" type="datetime1">
              <a:rPr lang="en-US" smtClean="0"/>
              <a:t>10/20/2024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DD08374-E544-47A5-94AF-CF56056772CB}" type="slidenum">
              <a:rPr lang="en-US" smtClean="0"/>
              <a:t>‹#›</a:t>
            </a:fld>
            <a:endParaRPr lang="en-US"/>
          </a:p>
        </p:txBody>
      </p:sp>
    </p:spTree>
    <p:extLst>
      <p:ext uri="{BB962C8B-B14F-4D97-AF65-F5344CB8AC3E}">
        <p14:creationId xmlns:p14="http://schemas.microsoft.com/office/powerpoint/2010/main" val="16479167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295673B-49C4-4E09-BBCE-DDB406A4EA30}" type="datetime1">
              <a:rPr lang="en-US" smtClean="0"/>
              <a:t>10/20/2024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DD08374-E544-47A5-94AF-CF56056772CB}" type="slidenum">
              <a:rPr lang="en-US" smtClean="0"/>
              <a:t>‹#›</a:t>
            </a:fld>
            <a:endParaRPr lang="en-US"/>
          </a:p>
        </p:txBody>
      </p:sp>
    </p:spTree>
    <p:extLst>
      <p:ext uri="{BB962C8B-B14F-4D97-AF65-F5344CB8AC3E}">
        <p14:creationId xmlns:p14="http://schemas.microsoft.com/office/powerpoint/2010/main" val="3071727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103A14FD-D6F4-431F-8DD2-4254D36C0BAF}" type="datetime1">
              <a:rPr lang="en-US" smtClean="0"/>
              <a:t>10/20/2024</a:t>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3DD08374-E544-47A5-94AF-CF56056772CB}" type="slidenum">
              <a:rPr lang="en-US" smtClean="0"/>
              <a:t>‹#›</a:t>
            </a:fld>
            <a:endParaRPr lang="en-US"/>
          </a:p>
        </p:txBody>
      </p:sp>
    </p:spTree>
    <p:extLst>
      <p:ext uri="{BB962C8B-B14F-4D97-AF65-F5344CB8AC3E}">
        <p14:creationId xmlns:p14="http://schemas.microsoft.com/office/powerpoint/2010/main" val="8464084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F9861F68-991B-42C2-B2E8-E106AB0BB46F}" type="datetime1">
              <a:rPr lang="en-US" smtClean="0"/>
              <a:t>10/20/2024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DD08374-E544-47A5-94AF-CF56056772CB}" type="slidenum">
              <a:rPr lang="en-US" smtClean="0"/>
              <a:t>‹#›</a:t>
            </a:fld>
            <a:endParaRPr lang="en-US"/>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5625190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052F3C7-5A95-45DD-8488-FA3F83D4FA29}" type="datetime1">
              <a:rPr lang="en-US" smtClean="0"/>
              <a:t>10/20/2024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DD08374-E544-47A5-94AF-CF56056772CB}" type="slidenum">
              <a:rPr lang="en-US" smtClean="0"/>
              <a:t>‹#›</a:t>
            </a:fld>
            <a:endParaRPr lang="en-US"/>
          </a:p>
        </p:txBody>
      </p:sp>
    </p:spTree>
    <p:extLst>
      <p:ext uri="{BB962C8B-B14F-4D97-AF65-F5344CB8AC3E}">
        <p14:creationId xmlns:p14="http://schemas.microsoft.com/office/powerpoint/2010/main" val="11636309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91875BC-F744-42B6-8E21-B0AEE9AF2141}" type="datetime1">
              <a:rPr lang="en-US" smtClean="0"/>
              <a:t>10/20/2024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DD08374-E544-47A5-94AF-CF56056772CB}" type="slidenum">
              <a:rPr lang="en-US" smtClean="0"/>
              <a:t>‹#›</a:t>
            </a:fld>
            <a:endParaRPr lang="en-US"/>
          </a:p>
        </p:txBody>
      </p:sp>
    </p:spTree>
    <p:extLst>
      <p:ext uri="{BB962C8B-B14F-4D97-AF65-F5344CB8AC3E}">
        <p14:creationId xmlns:p14="http://schemas.microsoft.com/office/powerpoint/2010/main" val="22541708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6096000" y="0"/>
            <a:ext cx="6096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2F70D1F7-9980-4A97-91CF-32EF22AA4B43}" type="datetime1">
              <a:rPr lang="en-US" smtClean="0"/>
              <a:t>10/20/2024</a:t>
            </a:fld>
            <a:endParaRPr lang="en-US"/>
          </a:p>
        </p:txBody>
      </p:sp>
      <p:sp>
        <p:nvSpPr>
          <p:cNvPr id="10" name="Footer Placeholder 9"/>
          <p:cNvSpPr>
            <a:spLocks noGrp="1"/>
          </p:cNvSpPr>
          <p:nvPr>
            <p:ph type="ftr" sz="quarter" idx="11"/>
          </p:nvPr>
        </p:nvSpPr>
        <p:spPr>
          <a:xfrm>
            <a:off x="804672" y="6236208"/>
            <a:ext cx="5124797" cy="320040"/>
          </a:xfrm>
        </p:spPr>
        <p:txBody>
          <a:bodyPr/>
          <a:lstStyle>
            <a:lvl1pPr>
              <a:defRPr>
                <a:solidFill>
                  <a:schemeClr val="tx1">
                    <a:alpha val="70000"/>
                  </a:schemeClr>
                </a:solidFill>
              </a:defRPr>
            </a:lvl1pPr>
          </a:lstStyle>
          <a:p>
            <a:endParaRPr lang="en-US"/>
          </a:p>
        </p:txBody>
      </p:sp>
      <p:sp>
        <p:nvSpPr>
          <p:cNvPr id="11" name="Slide Number Placeholder 10"/>
          <p:cNvSpPr>
            <a:spLocks noGrp="1"/>
          </p:cNvSpPr>
          <p:nvPr>
            <p:ph type="sldNum" sz="quarter" idx="12"/>
          </p:nvPr>
        </p:nvSpPr>
        <p:spPr/>
        <p:txBody>
          <a:bodyPr/>
          <a:lstStyle/>
          <a:p>
            <a:fld id="{3DD08374-E544-47A5-94AF-CF56056772CB}" type="slidenum">
              <a:rPr lang="en-US" smtClean="0"/>
              <a:t>‹#›</a:t>
            </a:fld>
            <a:endParaRPr lang="en-US"/>
          </a:p>
        </p:txBody>
      </p:sp>
    </p:spTree>
    <p:extLst>
      <p:ext uri="{BB962C8B-B14F-4D97-AF65-F5344CB8AC3E}">
        <p14:creationId xmlns:p14="http://schemas.microsoft.com/office/powerpoint/2010/main" val="1598016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85000"/>
            </a:schemeClr>
          </a:solidFill>
        </p:spPr>
        <p:txBody>
          <a:bodyPr anchor="t"/>
          <a:lstStyle>
            <a:lvl1pPr marL="0" indent="0">
              <a:buNone/>
              <a:defRPr sz="3200">
                <a:solidFill>
                  <a:schemeClr val="bg1">
                    <a:lumMod val="50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5CE02805-B481-48E1-8854-FA629C87298D}" type="datetime1">
              <a:rPr lang="en-US" smtClean="0"/>
              <a:t>10/20/2024</a:t>
            </a:fld>
            <a:endParaRPr lang="en-US"/>
          </a:p>
        </p:txBody>
      </p:sp>
      <p:sp>
        <p:nvSpPr>
          <p:cNvPr id="9" name="Footer Placeholder 8"/>
          <p:cNvSpPr>
            <a:spLocks noGrp="1"/>
          </p:cNvSpPr>
          <p:nvPr>
            <p:ph type="ftr" sz="quarter" idx="11"/>
          </p:nvPr>
        </p:nvSpPr>
        <p:spPr>
          <a:xfrm>
            <a:off x="804672" y="6236208"/>
            <a:ext cx="5124797" cy="320040"/>
          </a:xfrm>
        </p:spPr>
        <p:txBody>
          <a:bodyPr/>
          <a:lstStyle>
            <a:lvl1pPr>
              <a:defRPr>
                <a:solidFill>
                  <a:schemeClr val="tx1">
                    <a:alpha val="70000"/>
                  </a:schemeClr>
                </a:solidFill>
              </a:defRPr>
            </a:lvl1pPr>
          </a:lstStyle>
          <a:p>
            <a:endParaRPr lang="en-US"/>
          </a:p>
        </p:txBody>
      </p:sp>
      <p:sp>
        <p:nvSpPr>
          <p:cNvPr id="10" name="Slide Number Placeholder 9"/>
          <p:cNvSpPr>
            <a:spLocks noGrp="1"/>
          </p:cNvSpPr>
          <p:nvPr>
            <p:ph type="sldNum" sz="quarter" idx="12"/>
          </p:nvPr>
        </p:nvSpPr>
        <p:spPr/>
        <p:txBody>
          <a:bodyPr/>
          <a:lstStyle/>
          <a:p>
            <a:fld id="{3DD08374-E544-47A5-94AF-CF56056772CB}" type="slidenum">
              <a:rPr lang="en-US" smtClean="0"/>
              <a:t>‹#›</a:t>
            </a:fld>
            <a:endParaRPr lang="en-US"/>
          </a:p>
        </p:txBody>
      </p:sp>
    </p:spTree>
    <p:extLst>
      <p:ext uri="{BB962C8B-B14F-4D97-AF65-F5344CB8AC3E}">
        <p14:creationId xmlns:p14="http://schemas.microsoft.com/office/powerpoint/2010/main" val="39739764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6CB5FDC-7E51-47BB-89BC-395824469494}" type="datetime1">
              <a:rPr lang="en-US" smtClean="0"/>
              <a:t>10/20/2024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DD08374-E544-47A5-94AF-CF56056772CB}" type="slidenum">
              <a:rPr lang="en-US" smtClean="0"/>
              <a:t>‹#›</a:t>
            </a:fld>
            <a:endParaRPr lang="en-US"/>
          </a:p>
        </p:txBody>
      </p:sp>
    </p:spTree>
    <p:extLst>
      <p:ext uri="{BB962C8B-B14F-4D97-AF65-F5344CB8AC3E}">
        <p14:creationId xmlns:p14="http://schemas.microsoft.com/office/powerpoint/2010/main" val="16402941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55ED6E0-C8A5-41D6-AC2D-9808BDD9A0ED}" type="datetime1">
              <a:rPr lang="en-US" smtClean="0"/>
              <a:t>10/20/2024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DD08374-E544-47A5-94AF-CF56056772CB}" type="slidenum">
              <a:rPr lang="en-US" smtClean="0"/>
              <a:t>‹#›</a:t>
            </a:fld>
            <a:endParaRPr lang="en-US"/>
          </a:p>
        </p:txBody>
      </p:sp>
    </p:spTree>
    <p:extLst>
      <p:ext uri="{BB962C8B-B14F-4D97-AF65-F5344CB8AC3E}">
        <p14:creationId xmlns:p14="http://schemas.microsoft.com/office/powerpoint/2010/main" val="16061886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809ADB7B-87F9-40F3-9344-5E918737BFDD}" type="datetime1">
              <a:rPr lang="en-US" smtClean="0"/>
              <a:t>10/20/2024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39151587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66A9DFC-E73D-4120-ADAD-99D0558ED92A}" type="datetime1">
              <a:rPr lang="en-US" smtClean="0"/>
              <a:t>10/20/2024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DD08374-E544-47A5-94AF-CF56056772CB}" type="slidenum">
              <a:rPr lang="en-US" smtClean="0"/>
              <a:t>‹#›</a:t>
            </a:fld>
            <a:endParaRPr lang="en-US"/>
          </a:p>
        </p:txBody>
      </p:sp>
    </p:spTree>
    <p:extLst>
      <p:ext uri="{BB962C8B-B14F-4D97-AF65-F5344CB8AC3E}">
        <p14:creationId xmlns:p14="http://schemas.microsoft.com/office/powerpoint/2010/main" val="41687457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E5862925-B987-4AA9-833E-939ABBAB2D92}" type="datetime1">
              <a:rPr lang="en-US" smtClean="0"/>
              <a:t>10/20/2024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DD08374-E544-47A5-94AF-CF56056772CB}" type="slidenum">
              <a:rPr lang="en-US" smtClean="0"/>
              <a:t>‹#›</a:t>
            </a:fld>
            <a:endParaRPr lang="en-US"/>
          </a:p>
        </p:txBody>
      </p:sp>
    </p:spTree>
    <p:extLst>
      <p:ext uri="{BB962C8B-B14F-4D97-AF65-F5344CB8AC3E}">
        <p14:creationId xmlns:p14="http://schemas.microsoft.com/office/powerpoint/2010/main" val="654545189"/>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E5862925-B987-4AA9-833E-939ABBAB2D92}" type="datetime1">
              <a:rPr lang="en-US" smtClean="0"/>
              <a:t>10/20/2024</a:t>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3DD08374-E544-47A5-94AF-CF56056772CB}" type="slidenum">
              <a:rPr lang="en-US" smtClean="0"/>
              <a:t>‹#›</a:t>
            </a:fld>
            <a:endParaRPr lang="en-US"/>
          </a:p>
        </p:txBody>
      </p:sp>
    </p:spTree>
    <p:extLst>
      <p:ext uri="{BB962C8B-B14F-4D97-AF65-F5344CB8AC3E}">
        <p14:creationId xmlns:p14="http://schemas.microsoft.com/office/powerpoint/2010/main" val="448089994"/>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E5862925-B987-4AA9-833E-939ABBAB2D92}" type="datetime1">
              <a:rPr lang="en-US" smtClean="0"/>
              <a:t>10/20/2024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DD08374-E544-47A5-94AF-CF56056772CB}" type="slidenum">
              <a:rPr lang="en-US" smtClean="0"/>
              <a:t>‹#›</a:t>
            </a:fld>
            <a:endParaRPr lang="en-US"/>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4203646058"/>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5862925-B987-4AA9-833E-939ABBAB2D92}" type="datetime1">
              <a:rPr lang="en-US" smtClean="0"/>
              <a:t>10/20/2024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DD08374-E544-47A5-94AF-CF56056772CB}" type="slidenum">
              <a:rPr lang="en-US" smtClean="0"/>
              <a:t>‹#›</a:t>
            </a:fld>
            <a:endParaRPr lang="en-US"/>
          </a:p>
        </p:txBody>
      </p:sp>
    </p:spTree>
    <p:extLst>
      <p:ext uri="{BB962C8B-B14F-4D97-AF65-F5344CB8AC3E}">
        <p14:creationId xmlns:p14="http://schemas.microsoft.com/office/powerpoint/2010/main" val="4243044360"/>
      </p:ext>
    </p:extLst>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5862925-B987-4AA9-833E-939ABBAB2D92}" type="datetime1">
              <a:rPr lang="en-US" smtClean="0"/>
              <a:t>10/20/2024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DD08374-E544-47A5-94AF-CF56056772CB}" type="slidenum">
              <a:rPr lang="en-US" smtClean="0"/>
              <a:t>‹#›</a:t>
            </a:fld>
            <a:endParaRPr lang="en-US"/>
          </a:p>
        </p:txBody>
      </p:sp>
    </p:spTree>
    <p:extLst>
      <p:ext uri="{BB962C8B-B14F-4D97-AF65-F5344CB8AC3E}">
        <p14:creationId xmlns:p14="http://schemas.microsoft.com/office/powerpoint/2010/main" val="2609094367"/>
      </p:ext>
    </p:extLst>
  </p:cSld>
  <p:clrMapOvr>
    <a:masterClrMapping/>
  </p:clrMapOvr>
  <p:hf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E5862925-B987-4AA9-833E-939ABBAB2D92}" type="datetime1">
              <a:rPr lang="en-US" smtClean="0"/>
              <a:t>10/20/2024</a:t>
            </a:fld>
            <a:endParaRPr lang="en-US"/>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a:p>
        </p:txBody>
      </p:sp>
      <p:sp>
        <p:nvSpPr>
          <p:cNvPr id="11" name="Slide Number Placeholder 10"/>
          <p:cNvSpPr>
            <a:spLocks noGrp="1"/>
          </p:cNvSpPr>
          <p:nvPr>
            <p:ph type="sldNum" sz="quarter" idx="12"/>
          </p:nvPr>
        </p:nvSpPr>
        <p:spPr/>
        <p:txBody>
          <a:bodyPr/>
          <a:lstStyle/>
          <a:p>
            <a:fld id="{3DD08374-E544-47A5-94AF-CF56056772CB}" type="slidenum">
              <a:rPr lang="en-US" smtClean="0"/>
              <a:t>‹#›</a:t>
            </a:fld>
            <a:endParaRPr lang="en-US"/>
          </a:p>
        </p:txBody>
      </p:sp>
    </p:spTree>
    <p:extLst>
      <p:ext uri="{BB962C8B-B14F-4D97-AF65-F5344CB8AC3E}">
        <p14:creationId xmlns:p14="http://schemas.microsoft.com/office/powerpoint/2010/main" val="2078756332"/>
      </p:ext>
    </p:extLst>
  </p:cSld>
  <p:clrMapOvr>
    <a:masterClrMapping/>
  </p:clrMapOvr>
  <p:hf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E5862925-B987-4AA9-833E-939ABBAB2D92}" type="datetime1">
              <a:rPr lang="en-US" smtClean="0"/>
              <a:t>10/20/2024</a:t>
            </a:fld>
            <a:endParaRPr lang="en-US"/>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a:p>
        </p:txBody>
      </p:sp>
      <p:sp>
        <p:nvSpPr>
          <p:cNvPr id="10" name="Slide Number Placeholder 9"/>
          <p:cNvSpPr>
            <a:spLocks noGrp="1"/>
          </p:cNvSpPr>
          <p:nvPr>
            <p:ph type="sldNum" sz="quarter" idx="12"/>
          </p:nvPr>
        </p:nvSpPr>
        <p:spPr/>
        <p:txBody>
          <a:bodyPr/>
          <a:lstStyle/>
          <a:p>
            <a:fld id="{3DD08374-E544-47A5-94AF-CF56056772CB}" type="slidenum">
              <a:rPr lang="en-US" smtClean="0"/>
              <a:t>‹#›</a:t>
            </a:fld>
            <a:endParaRPr lang="en-US"/>
          </a:p>
        </p:txBody>
      </p:sp>
    </p:spTree>
    <p:extLst>
      <p:ext uri="{BB962C8B-B14F-4D97-AF65-F5344CB8AC3E}">
        <p14:creationId xmlns:p14="http://schemas.microsoft.com/office/powerpoint/2010/main" val="2773707582"/>
      </p:ext>
    </p:extLst>
  </p:cSld>
  <p:clrMapOvr>
    <a:masterClrMapping/>
  </p:clrMapOvr>
  <p:hf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5862925-B987-4AA9-833E-939ABBAB2D92}" type="datetime1">
              <a:rPr lang="en-US" smtClean="0"/>
              <a:t>10/20/2024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DD08374-E544-47A5-94AF-CF56056772CB}" type="slidenum">
              <a:rPr lang="en-US" smtClean="0"/>
              <a:t>‹#›</a:t>
            </a:fld>
            <a:endParaRPr lang="en-US"/>
          </a:p>
        </p:txBody>
      </p:sp>
    </p:spTree>
    <p:extLst>
      <p:ext uri="{BB962C8B-B14F-4D97-AF65-F5344CB8AC3E}">
        <p14:creationId xmlns:p14="http://schemas.microsoft.com/office/powerpoint/2010/main" val="1144673358"/>
      </p:ext>
    </p:extLst>
  </p:cSld>
  <p:clrMapOvr>
    <a:masterClrMapping/>
  </p:clrMapOvr>
  <p:hf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5862925-B987-4AA9-833E-939ABBAB2D92}" type="datetime1">
              <a:rPr lang="en-US" smtClean="0"/>
              <a:t>10/20/2024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DD08374-E544-47A5-94AF-CF56056772CB}" type="slidenum">
              <a:rPr lang="en-US" smtClean="0"/>
              <a:t>‹#›</a:t>
            </a:fld>
            <a:endParaRPr lang="en-US"/>
          </a:p>
        </p:txBody>
      </p:sp>
    </p:spTree>
    <p:extLst>
      <p:ext uri="{BB962C8B-B14F-4D97-AF65-F5344CB8AC3E}">
        <p14:creationId xmlns:p14="http://schemas.microsoft.com/office/powerpoint/2010/main" val="4063427421"/>
      </p:ext>
    </p:extLst>
  </p:cSld>
  <p:clrMapOvr>
    <a:masterClrMapping/>
  </p:clrMapOvr>
  <p:hf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Title and Content 7">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98639877-C4A6-4E44-C600-FE3C6CD5F187}"/>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9" name="Freeform: Shape 8">
              <a:extLst>
                <a:ext uri="{FF2B5EF4-FFF2-40B4-BE49-F238E27FC236}">
                  <a16:creationId xmlns:a16="http://schemas.microsoft.com/office/drawing/2014/main" id="{F0439AA5-A7EE-A20E-BB67-D356776D0B21}"/>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0" name="Freeform: Shape 9">
              <a:extLst>
                <a:ext uri="{FF2B5EF4-FFF2-40B4-BE49-F238E27FC236}">
                  <a16:creationId xmlns:a16="http://schemas.microsoft.com/office/drawing/2014/main" id="{39E752F7-61F0-6779-9E8E-3541BFF7D2CF}"/>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Title 1">
            <a:extLst>
              <a:ext uri="{FF2B5EF4-FFF2-40B4-BE49-F238E27FC236}">
                <a16:creationId xmlns:a16="http://schemas.microsoft.com/office/drawing/2014/main" id="{FA7EBEDF-950A-F10B-DA20-24FB521457FC}"/>
              </a:ext>
            </a:extLst>
          </p:cNvPr>
          <p:cNvSpPr>
            <a:spLocks noGrp="1"/>
          </p:cNvSpPr>
          <p:nvPr>
            <p:ph type="title" hasCustomPrompt="1"/>
          </p:nvPr>
        </p:nvSpPr>
        <p:spPr>
          <a:xfrm>
            <a:off x="914400" y="914400"/>
            <a:ext cx="7534656" cy="914400"/>
          </a:xfrm>
        </p:spPr>
        <p:txBody>
          <a:bodyPr anchor="b" anchorCtr="0"/>
          <a:lstStyle>
            <a:lvl1pPr>
              <a:defRPr sz="3200"/>
            </a:lvl1pPr>
          </a:lstStyle>
          <a:p>
            <a:r>
              <a:rPr lang="en-US" dirty="0"/>
              <a:t>click to add title</a:t>
            </a:r>
          </a:p>
        </p:txBody>
      </p:sp>
      <p:sp>
        <p:nvSpPr>
          <p:cNvPr id="12" name="Freeform 11">
            <a:extLst>
              <a:ext uri="{FF2B5EF4-FFF2-40B4-BE49-F238E27FC236}">
                <a16:creationId xmlns:a16="http://schemas.microsoft.com/office/drawing/2014/main" id="{6FD0E545-8D0D-B848-836A-23CEBCD6B0A5}"/>
              </a:ext>
              <a:ext uri="{C183D7F6-B498-43B3-948B-1728B52AA6E4}">
                <adec:decorative xmlns:adec="http://schemas.microsoft.com/office/drawing/2017/decorative" val="1"/>
              </a:ext>
            </a:extLst>
          </p:cNvPr>
          <p:cNvSpPr/>
          <p:nvPr userDrawn="1"/>
        </p:nvSpPr>
        <p:spPr>
          <a:xfrm rot="10800000">
            <a:off x="-1" y="5010313"/>
            <a:ext cx="3307890" cy="1876021"/>
          </a:xfrm>
          <a:custGeom>
            <a:avLst/>
            <a:gdLst>
              <a:gd name="connsiteX0" fmla="*/ 3307890 w 3307890"/>
              <a:gd name="connsiteY0" fmla="*/ 1876021 h 1876021"/>
              <a:gd name="connsiteX1" fmla="*/ 3062737 w 3307890"/>
              <a:gd name="connsiteY1" fmla="*/ 1792455 h 1876021"/>
              <a:gd name="connsiteX2" fmla="*/ 56315 w 3307890"/>
              <a:gd name="connsiteY2" fmla="*/ 110172 h 1876021"/>
              <a:gd name="connsiteX3" fmla="*/ 0 w 3307890"/>
              <a:gd name="connsiteY3" fmla="*/ 0 h 1876021"/>
              <a:gd name="connsiteX4" fmla="*/ 3307890 w 3307890"/>
              <a:gd name="connsiteY4" fmla="*/ 0 h 1876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07890" h="1876021">
                <a:moveTo>
                  <a:pt x="3307890" y="1876021"/>
                </a:moveTo>
                <a:lnTo>
                  <a:pt x="3062737" y="1792455"/>
                </a:lnTo>
                <a:cubicBezTo>
                  <a:pt x="1499256" y="1257872"/>
                  <a:pt x="548396" y="895598"/>
                  <a:pt x="56315" y="110172"/>
                </a:cubicBezTo>
                <a:lnTo>
                  <a:pt x="0" y="0"/>
                </a:lnTo>
                <a:lnTo>
                  <a:pt x="3307890" y="0"/>
                </a:lnTo>
                <a:close/>
              </a:path>
            </a:pathLst>
          </a:custGeom>
          <a:solidFill>
            <a:schemeClr val="accent2">
              <a:alpha val="60000"/>
            </a:schemeClr>
          </a:solidFill>
          <a:ln w="762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5" name="Freeform 14">
            <a:extLst>
              <a:ext uri="{FF2B5EF4-FFF2-40B4-BE49-F238E27FC236}">
                <a16:creationId xmlns:a16="http://schemas.microsoft.com/office/drawing/2014/main" id="{7114E853-6F7C-9899-77FD-0E77D0A86207}"/>
              </a:ext>
              <a:ext uri="{C183D7F6-B498-43B3-948B-1728B52AA6E4}">
                <adec:decorative xmlns:adec="http://schemas.microsoft.com/office/drawing/2017/decorative" val="1"/>
              </a:ext>
            </a:extLst>
          </p:cNvPr>
          <p:cNvSpPr/>
          <p:nvPr userDrawn="1"/>
        </p:nvSpPr>
        <p:spPr>
          <a:xfrm rot="10800000">
            <a:off x="9394047" y="4650286"/>
            <a:ext cx="1859768" cy="2207713"/>
          </a:xfrm>
          <a:custGeom>
            <a:avLst/>
            <a:gdLst>
              <a:gd name="connsiteX0" fmla="*/ 0 w 1859768"/>
              <a:gd name="connsiteY0" fmla="*/ 118614 h 2207713"/>
              <a:gd name="connsiteX1" fmla="*/ 0 w 1859768"/>
              <a:gd name="connsiteY1" fmla="*/ 29419 h 2207713"/>
              <a:gd name="connsiteX2" fmla="*/ 16244 w 1859768"/>
              <a:gd name="connsiteY2" fmla="*/ 0 h 2207713"/>
              <a:gd name="connsiteX3" fmla="*/ 68915 w 1859768"/>
              <a:gd name="connsiteY3" fmla="*/ 0 h 2207713"/>
              <a:gd name="connsiteX4" fmla="*/ 1715656 w 1859768"/>
              <a:gd name="connsiteY4" fmla="*/ 494800 h 2207713"/>
              <a:gd name="connsiteX5" fmla="*/ 1683714 w 1859768"/>
              <a:gd name="connsiteY5" fmla="*/ 491216 h 2207713"/>
              <a:gd name="connsiteX6" fmla="*/ 1337678 w 1859768"/>
              <a:gd name="connsiteY6" fmla="*/ 431097 h 2207713"/>
              <a:gd name="connsiteX7" fmla="*/ 950852 w 1859768"/>
              <a:gd name="connsiteY7" fmla="*/ 31845 h 2207713"/>
              <a:gd name="connsiteX8" fmla="*/ 938957 w 1859768"/>
              <a:gd name="connsiteY8" fmla="*/ 0 h 2207713"/>
              <a:gd name="connsiteX9" fmla="*/ 1152830 w 1859768"/>
              <a:gd name="connsiteY9" fmla="*/ 0 h 2207713"/>
              <a:gd name="connsiteX10" fmla="*/ 1267279 w 1859768"/>
              <a:gd name="connsiteY10" fmla="*/ 105940 h 2207713"/>
              <a:gd name="connsiteX11" fmla="*/ 1390620 w 1859768"/>
              <a:gd name="connsiteY11" fmla="*/ 219990 h 2207713"/>
              <a:gd name="connsiteX12" fmla="*/ 1376706 w 1859768"/>
              <a:gd name="connsiteY12" fmla="*/ 237482 h 2207713"/>
              <a:gd name="connsiteX13" fmla="*/ 1213653 w 1859768"/>
              <a:gd name="connsiteY13" fmla="*/ 110730 h 2207713"/>
              <a:gd name="connsiteX14" fmla="*/ 1013214 w 1859768"/>
              <a:gd name="connsiteY14" fmla="*/ 4927 h 2207713"/>
              <a:gd name="connsiteX15" fmla="*/ 1634702 w 1859768"/>
              <a:gd name="connsiteY15" fmla="*/ 427133 h 2207713"/>
              <a:gd name="connsiteX16" fmla="*/ 1297389 w 1859768"/>
              <a:gd name="connsiteY16" fmla="*/ 8655 h 2207713"/>
              <a:gd name="connsiteX17" fmla="*/ 1259059 w 1859768"/>
              <a:gd name="connsiteY17" fmla="*/ 0 h 2207713"/>
              <a:gd name="connsiteX18" fmla="*/ 1410415 w 1859768"/>
              <a:gd name="connsiteY18" fmla="*/ 0 h 2207713"/>
              <a:gd name="connsiteX19" fmla="*/ 1499716 w 1859768"/>
              <a:gd name="connsiteY19" fmla="*/ 66646 h 2207713"/>
              <a:gd name="connsiteX20" fmla="*/ 1637128 w 1859768"/>
              <a:gd name="connsiteY20" fmla="*/ 256403 h 2207713"/>
              <a:gd name="connsiteX21" fmla="*/ 1744255 w 1859768"/>
              <a:gd name="connsiteY21" fmla="*/ 480278 h 2207713"/>
              <a:gd name="connsiteX22" fmla="*/ 1715656 w 1859768"/>
              <a:gd name="connsiteY22" fmla="*/ 494800 h 2207713"/>
              <a:gd name="connsiteX23" fmla="*/ 118121 w 1859768"/>
              <a:gd name="connsiteY23" fmla="*/ 857786 h 2207713"/>
              <a:gd name="connsiteX24" fmla="*/ 433985 w 1859768"/>
              <a:gd name="connsiteY24" fmla="*/ 43220 h 2207713"/>
              <a:gd name="connsiteX25" fmla="*/ 374233 w 1859768"/>
              <a:gd name="connsiteY25" fmla="*/ 191214 h 2207713"/>
              <a:gd name="connsiteX26" fmla="*/ 330862 w 1859768"/>
              <a:gd name="connsiteY26" fmla="*/ 340269 h 2207713"/>
              <a:gd name="connsiteX27" fmla="*/ 304211 w 1859768"/>
              <a:gd name="connsiteY27" fmla="*/ 324744 h 2207713"/>
              <a:gd name="connsiteX28" fmla="*/ 328152 w 1859768"/>
              <a:gd name="connsiteY28" fmla="*/ 127918 h 2207713"/>
              <a:gd name="connsiteX29" fmla="*/ 118121 w 1859768"/>
              <a:gd name="connsiteY29" fmla="*/ 857786 h 2207713"/>
              <a:gd name="connsiteX30" fmla="*/ 74903 w 1859768"/>
              <a:gd name="connsiteY30" fmla="*/ 966935 h 2207713"/>
              <a:gd name="connsiteX31" fmla="*/ 69491 w 1859768"/>
              <a:gd name="connsiteY31" fmla="*/ 504187 h 2207713"/>
              <a:gd name="connsiteX32" fmla="*/ 326258 w 1859768"/>
              <a:gd name="connsiteY32" fmla="*/ 28833 h 2207713"/>
              <a:gd name="connsiteX33" fmla="*/ 351236 w 1859768"/>
              <a:gd name="connsiteY33" fmla="*/ 0 h 2207713"/>
              <a:gd name="connsiteX34" fmla="*/ 500166 w 1859768"/>
              <a:gd name="connsiteY34" fmla="*/ 0 h 2207713"/>
              <a:gd name="connsiteX35" fmla="*/ 501007 w 1859768"/>
              <a:gd name="connsiteY35" fmla="*/ 11785 h 2207713"/>
              <a:gd name="connsiteX36" fmla="*/ 245786 w 1859768"/>
              <a:gd name="connsiteY36" fmla="*/ 835475 h 2207713"/>
              <a:gd name="connsiteX37" fmla="*/ 74903 w 1859768"/>
              <a:gd name="connsiteY37" fmla="*/ 966935 h 2207713"/>
              <a:gd name="connsiteX38" fmla="*/ 1661942 w 1859768"/>
              <a:gd name="connsiteY38" fmla="*/ 1353812 h 2207713"/>
              <a:gd name="connsiteX39" fmla="*/ 1749989 w 1859768"/>
              <a:gd name="connsiteY39" fmla="*/ 1342230 h 2207713"/>
              <a:gd name="connsiteX40" fmla="*/ 1312677 w 1859768"/>
              <a:gd name="connsiteY40" fmla="*/ 968809 h 2207713"/>
              <a:gd name="connsiteX41" fmla="*/ 1232104 w 1859768"/>
              <a:gd name="connsiteY41" fmla="*/ 979836 h 2207713"/>
              <a:gd name="connsiteX42" fmla="*/ 1510925 w 1859768"/>
              <a:gd name="connsiteY42" fmla="*/ 1199562 h 2207713"/>
              <a:gd name="connsiteX43" fmla="*/ 1217072 w 1859768"/>
              <a:gd name="connsiteY43" fmla="*/ 1054216 h 2207713"/>
              <a:gd name="connsiteX44" fmla="*/ 1661942 w 1859768"/>
              <a:gd name="connsiteY44" fmla="*/ 1353812 h 2207713"/>
              <a:gd name="connsiteX45" fmla="*/ 394807 w 1859768"/>
              <a:gd name="connsiteY45" fmla="*/ 1626455 h 2207713"/>
              <a:gd name="connsiteX46" fmla="*/ 466693 w 1859768"/>
              <a:gd name="connsiteY46" fmla="*/ 1595017 h 2207713"/>
              <a:gd name="connsiteX47" fmla="*/ 650821 w 1859768"/>
              <a:gd name="connsiteY47" fmla="*/ 1077380 h 2207713"/>
              <a:gd name="connsiteX48" fmla="*/ 591587 w 1859768"/>
              <a:gd name="connsiteY48" fmla="*/ 974474 h 2207713"/>
              <a:gd name="connsiteX49" fmla="*/ 557216 w 1859768"/>
              <a:gd name="connsiteY49" fmla="*/ 1094794 h 2207713"/>
              <a:gd name="connsiteX50" fmla="*/ 486148 w 1859768"/>
              <a:gd name="connsiteY50" fmla="*/ 1388665 h 2207713"/>
              <a:gd name="connsiteX51" fmla="*/ 452079 w 1859768"/>
              <a:gd name="connsiteY51" fmla="*/ 1431607 h 2207713"/>
              <a:gd name="connsiteX52" fmla="*/ 430714 w 1859768"/>
              <a:gd name="connsiteY52" fmla="*/ 1420233 h 2207713"/>
              <a:gd name="connsiteX53" fmla="*/ 493238 w 1859768"/>
              <a:gd name="connsiteY53" fmla="*/ 1142201 h 2207713"/>
              <a:gd name="connsiteX54" fmla="*/ 394807 w 1859768"/>
              <a:gd name="connsiteY54" fmla="*/ 1626455 h 2207713"/>
              <a:gd name="connsiteX55" fmla="*/ 1315388 w 1859768"/>
              <a:gd name="connsiteY55" fmla="*/ 2115696 h 2207713"/>
              <a:gd name="connsiteX56" fmla="*/ 1031118 w 1859768"/>
              <a:gd name="connsiteY56" fmla="*/ 1312715 h 2207713"/>
              <a:gd name="connsiteX57" fmla="*/ 1129348 w 1859768"/>
              <a:gd name="connsiteY57" fmla="*/ 1549780 h 2207713"/>
              <a:gd name="connsiteX58" fmla="*/ 1248211 w 1859768"/>
              <a:gd name="connsiteY58" fmla="*/ 1771927 h 2207713"/>
              <a:gd name="connsiteX59" fmla="*/ 1198290 w 1859768"/>
              <a:gd name="connsiteY59" fmla="*/ 1766808 h 2207713"/>
              <a:gd name="connsiteX60" fmla="*/ 990681 w 1859768"/>
              <a:gd name="connsiteY60" fmla="*/ 1391341 h 2207713"/>
              <a:gd name="connsiteX61" fmla="*/ 1315388 w 1859768"/>
              <a:gd name="connsiteY61" fmla="*/ 2115696 h 2207713"/>
              <a:gd name="connsiteX62" fmla="*/ 1350109 w 1859768"/>
              <a:gd name="connsiteY62" fmla="*/ 2206800 h 2207713"/>
              <a:gd name="connsiteX63" fmla="*/ 1016305 w 1859768"/>
              <a:gd name="connsiteY63" fmla="*/ 1939402 h 2207713"/>
              <a:gd name="connsiteX64" fmla="*/ 915052 w 1859768"/>
              <a:gd name="connsiteY64" fmla="*/ 1399068 h 2207713"/>
              <a:gd name="connsiteX65" fmla="*/ 854782 w 1859768"/>
              <a:gd name="connsiteY65" fmla="*/ 932137 h 2207713"/>
              <a:gd name="connsiteX66" fmla="*/ 770773 w 1859768"/>
              <a:gd name="connsiteY66" fmla="*/ 875318 h 2207713"/>
              <a:gd name="connsiteX67" fmla="*/ 825964 w 1859768"/>
              <a:gd name="connsiteY67" fmla="*/ 823117 h 2207713"/>
              <a:gd name="connsiteX68" fmla="*/ 778651 w 1859768"/>
              <a:gd name="connsiteY68" fmla="*/ 628353 h 2207713"/>
              <a:gd name="connsiteX69" fmla="*/ 674057 w 1859768"/>
              <a:gd name="connsiteY69" fmla="*/ 806473 h 2207713"/>
              <a:gd name="connsiteX70" fmla="*/ 678691 w 1859768"/>
              <a:gd name="connsiteY70" fmla="*/ 987300 h 2207713"/>
              <a:gd name="connsiteX71" fmla="*/ 573399 w 1859768"/>
              <a:gd name="connsiteY71" fmla="*/ 1572793 h 2207713"/>
              <a:gd name="connsiteX72" fmla="*/ 448294 w 1859768"/>
              <a:gd name="connsiteY72" fmla="*/ 1671763 h 2207713"/>
              <a:gd name="connsiteX73" fmla="*/ 347341 w 1859768"/>
              <a:gd name="connsiteY73" fmla="*/ 1644762 h 2207713"/>
              <a:gd name="connsiteX74" fmla="*/ 322256 w 1859768"/>
              <a:gd name="connsiteY74" fmla="*/ 1459939 h 2207713"/>
              <a:gd name="connsiteX75" fmla="*/ 495295 w 1859768"/>
              <a:gd name="connsiteY75" fmla="*/ 1011735 h 2207713"/>
              <a:gd name="connsiteX76" fmla="*/ 631502 w 1859768"/>
              <a:gd name="connsiteY76" fmla="*/ 767246 h 2207713"/>
              <a:gd name="connsiteX77" fmla="*/ 678184 w 1859768"/>
              <a:gd name="connsiteY77" fmla="*/ 678226 h 2207713"/>
              <a:gd name="connsiteX78" fmla="*/ 718531 w 1859768"/>
              <a:gd name="connsiteY78" fmla="*/ 365894 h 2207713"/>
              <a:gd name="connsiteX79" fmla="*/ 669080 w 1859768"/>
              <a:gd name="connsiteY79" fmla="*/ 150213 h 2207713"/>
              <a:gd name="connsiteX80" fmla="*/ 639037 w 1859768"/>
              <a:gd name="connsiteY80" fmla="*/ 0 h 2207713"/>
              <a:gd name="connsiteX81" fmla="*/ 685477 w 1859768"/>
              <a:gd name="connsiteY81" fmla="*/ 0 h 2207713"/>
              <a:gd name="connsiteX82" fmla="*/ 830123 w 1859768"/>
              <a:gd name="connsiteY82" fmla="*/ 644646 h 2207713"/>
              <a:gd name="connsiteX83" fmla="*/ 868286 w 1859768"/>
              <a:gd name="connsiteY83" fmla="*/ 801231 h 2207713"/>
              <a:gd name="connsiteX84" fmla="*/ 945378 w 1859768"/>
              <a:gd name="connsiteY84" fmla="*/ 881698 h 2207713"/>
              <a:gd name="connsiteX85" fmla="*/ 1208838 w 1859768"/>
              <a:gd name="connsiteY85" fmla="*/ 919029 h 2207713"/>
              <a:gd name="connsiteX86" fmla="*/ 1753984 w 1859768"/>
              <a:gd name="connsiteY86" fmla="*/ 1208539 h 2207713"/>
              <a:gd name="connsiteX87" fmla="*/ 1859768 w 1859768"/>
              <a:gd name="connsiteY87" fmla="*/ 1390144 h 2207713"/>
              <a:gd name="connsiteX88" fmla="*/ 1607507 w 1859768"/>
              <a:gd name="connsiteY88" fmla="*/ 1402956 h 2207713"/>
              <a:gd name="connsiteX89" fmla="*/ 1298703 w 1859768"/>
              <a:gd name="connsiteY89" fmla="*/ 1257406 h 2207713"/>
              <a:gd name="connsiteX90" fmla="*/ 1164863 w 1859768"/>
              <a:gd name="connsiteY90" fmla="*/ 1082843 h 2207713"/>
              <a:gd name="connsiteX91" fmla="*/ 1010750 w 1859768"/>
              <a:gd name="connsiteY91" fmla="*/ 956586 h 2207713"/>
              <a:gd name="connsiteX92" fmla="*/ 905506 w 1859768"/>
              <a:gd name="connsiteY92" fmla="*/ 929445 h 2207713"/>
              <a:gd name="connsiteX93" fmla="*/ 994250 w 1859768"/>
              <a:gd name="connsiteY93" fmla="*/ 1187151 h 2207713"/>
              <a:gd name="connsiteX94" fmla="*/ 1063313 w 1859768"/>
              <a:gd name="connsiteY94" fmla="*/ 1241331 h 2207713"/>
              <a:gd name="connsiteX95" fmla="*/ 1403427 w 1859768"/>
              <a:gd name="connsiteY95" fmla="*/ 1675440 h 2207713"/>
              <a:gd name="connsiteX96" fmla="*/ 1412888 w 1859768"/>
              <a:gd name="connsiteY96" fmla="*/ 2013308 h 2207713"/>
              <a:gd name="connsiteX97" fmla="*/ 1370292 w 1859768"/>
              <a:gd name="connsiteY97" fmla="*/ 2202341 h 2207713"/>
              <a:gd name="connsiteX98" fmla="*/ 1350109 w 1859768"/>
              <a:gd name="connsiteY98" fmla="*/ 2206800 h 220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859768" h="2207713">
                <a:moveTo>
                  <a:pt x="0" y="118614"/>
                </a:moveTo>
                <a:lnTo>
                  <a:pt x="0" y="29419"/>
                </a:lnTo>
                <a:lnTo>
                  <a:pt x="16244" y="0"/>
                </a:lnTo>
                <a:lnTo>
                  <a:pt x="68915" y="0"/>
                </a:lnTo>
                <a:close/>
                <a:moveTo>
                  <a:pt x="1715656" y="494800"/>
                </a:moveTo>
                <a:cubicBezTo>
                  <a:pt x="1704862" y="495265"/>
                  <a:pt x="1693511" y="492713"/>
                  <a:pt x="1683714" y="491216"/>
                </a:cubicBezTo>
                <a:cubicBezTo>
                  <a:pt x="1567792" y="473756"/>
                  <a:pt x="1449925" y="461958"/>
                  <a:pt x="1337678" y="431097"/>
                </a:cubicBezTo>
                <a:cubicBezTo>
                  <a:pt x="1134061" y="375091"/>
                  <a:pt x="1009028" y="231185"/>
                  <a:pt x="950852" y="31845"/>
                </a:cubicBezTo>
                <a:lnTo>
                  <a:pt x="938957" y="0"/>
                </a:lnTo>
                <a:lnTo>
                  <a:pt x="1152830" y="0"/>
                </a:lnTo>
                <a:lnTo>
                  <a:pt x="1267279" y="105940"/>
                </a:lnTo>
                <a:cubicBezTo>
                  <a:pt x="1308707" y="144308"/>
                  <a:pt x="1349638" y="182194"/>
                  <a:pt x="1390620" y="219990"/>
                </a:cubicBezTo>
                <a:cubicBezTo>
                  <a:pt x="1386245" y="225654"/>
                  <a:pt x="1381298" y="231460"/>
                  <a:pt x="1376706" y="237482"/>
                </a:cubicBezTo>
                <a:cubicBezTo>
                  <a:pt x="1304559" y="222422"/>
                  <a:pt x="1267575" y="152885"/>
                  <a:pt x="1213653" y="110730"/>
                </a:cubicBezTo>
                <a:cubicBezTo>
                  <a:pt x="1155161" y="64853"/>
                  <a:pt x="1098884" y="19331"/>
                  <a:pt x="1013214" y="4927"/>
                </a:cubicBezTo>
                <a:cubicBezTo>
                  <a:pt x="1047417" y="278154"/>
                  <a:pt x="1317065" y="436272"/>
                  <a:pt x="1634702" y="427133"/>
                </a:cubicBezTo>
                <a:cubicBezTo>
                  <a:pt x="1577765" y="199027"/>
                  <a:pt x="1448459" y="58590"/>
                  <a:pt x="1297389" y="8655"/>
                </a:cubicBezTo>
                <a:lnTo>
                  <a:pt x="1259059" y="0"/>
                </a:lnTo>
                <a:lnTo>
                  <a:pt x="1410415" y="0"/>
                </a:lnTo>
                <a:lnTo>
                  <a:pt x="1499716" y="66646"/>
                </a:lnTo>
                <a:cubicBezTo>
                  <a:pt x="1554948" y="119466"/>
                  <a:pt x="1598789" y="185076"/>
                  <a:pt x="1637128" y="256403"/>
                </a:cubicBezTo>
                <a:cubicBezTo>
                  <a:pt x="1675184" y="326584"/>
                  <a:pt x="1755798" y="433557"/>
                  <a:pt x="1744255" y="480278"/>
                </a:cubicBezTo>
                <a:cubicBezTo>
                  <a:pt x="1736686" y="490852"/>
                  <a:pt x="1726450" y="494335"/>
                  <a:pt x="1715656" y="494800"/>
                </a:cubicBezTo>
                <a:close/>
                <a:moveTo>
                  <a:pt x="118121" y="857786"/>
                </a:moveTo>
                <a:cubicBezTo>
                  <a:pt x="321011" y="780677"/>
                  <a:pt x="535523" y="340321"/>
                  <a:pt x="433985" y="43220"/>
                </a:cubicBezTo>
                <a:cubicBezTo>
                  <a:pt x="410330" y="101200"/>
                  <a:pt x="389994" y="145563"/>
                  <a:pt x="374233" y="191214"/>
                </a:cubicBezTo>
                <a:cubicBezTo>
                  <a:pt x="357538" y="239229"/>
                  <a:pt x="345560" y="289103"/>
                  <a:pt x="330862" y="340269"/>
                </a:cubicBezTo>
                <a:cubicBezTo>
                  <a:pt x="314214" y="330754"/>
                  <a:pt x="303849" y="326966"/>
                  <a:pt x="304211" y="324744"/>
                </a:cubicBezTo>
                <a:cubicBezTo>
                  <a:pt x="311428" y="259327"/>
                  <a:pt x="319790" y="193622"/>
                  <a:pt x="328152" y="127918"/>
                </a:cubicBezTo>
                <a:cubicBezTo>
                  <a:pt x="110186" y="438886"/>
                  <a:pt x="47314" y="643052"/>
                  <a:pt x="118121" y="857786"/>
                </a:cubicBezTo>
                <a:close/>
                <a:moveTo>
                  <a:pt x="74903" y="966935"/>
                </a:moveTo>
                <a:cubicBezTo>
                  <a:pt x="38034" y="945758"/>
                  <a:pt x="15827" y="648523"/>
                  <a:pt x="69491" y="504187"/>
                </a:cubicBezTo>
                <a:cubicBezTo>
                  <a:pt x="133206" y="333209"/>
                  <a:pt x="216093" y="172655"/>
                  <a:pt x="326258" y="28833"/>
                </a:cubicBezTo>
                <a:lnTo>
                  <a:pt x="351236" y="0"/>
                </a:lnTo>
                <a:lnTo>
                  <a:pt x="500166" y="0"/>
                </a:lnTo>
                <a:lnTo>
                  <a:pt x="501007" y="11785"/>
                </a:lnTo>
                <a:cubicBezTo>
                  <a:pt x="557150" y="329413"/>
                  <a:pt x="461159" y="602456"/>
                  <a:pt x="245786" y="835475"/>
                </a:cubicBezTo>
                <a:cubicBezTo>
                  <a:pt x="201837" y="882723"/>
                  <a:pt x="98490" y="976231"/>
                  <a:pt x="74903" y="966935"/>
                </a:cubicBezTo>
                <a:close/>
                <a:moveTo>
                  <a:pt x="1661942" y="1353812"/>
                </a:moveTo>
                <a:cubicBezTo>
                  <a:pt x="1689964" y="1352207"/>
                  <a:pt x="1719270" y="1348345"/>
                  <a:pt x="1749989" y="1342230"/>
                </a:cubicBezTo>
                <a:cubicBezTo>
                  <a:pt x="1656665" y="1097504"/>
                  <a:pt x="1497337" y="963250"/>
                  <a:pt x="1312677" y="968809"/>
                </a:cubicBezTo>
                <a:cubicBezTo>
                  <a:pt x="1286297" y="969603"/>
                  <a:pt x="1259399" y="973250"/>
                  <a:pt x="1232104" y="979836"/>
                </a:cubicBezTo>
                <a:cubicBezTo>
                  <a:pt x="1319351" y="1062014"/>
                  <a:pt x="1460184" y="1072004"/>
                  <a:pt x="1510925" y="1199562"/>
                </a:cubicBezTo>
                <a:cubicBezTo>
                  <a:pt x="1413953" y="1150563"/>
                  <a:pt x="1328893" y="1083357"/>
                  <a:pt x="1217072" y="1054216"/>
                </a:cubicBezTo>
                <a:cubicBezTo>
                  <a:pt x="1332495" y="1265699"/>
                  <a:pt x="1465786" y="1365048"/>
                  <a:pt x="1661942" y="1353812"/>
                </a:cubicBezTo>
                <a:close/>
                <a:moveTo>
                  <a:pt x="394807" y="1626455"/>
                </a:moveTo>
                <a:cubicBezTo>
                  <a:pt x="431036" y="1610664"/>
                  <a:pt x="450719" y="1605418"/>
                  <a:pt x="466693" y="1595017"/>
                </a:cubicBezTo>
                <a:cubicBezTo>
                  <a:pt x="617981" y="1496170"/>
                  <a:pt x="702592" y="1260677"/>
                  <a:pt x="650821" y="1077380"/>
                </a:cubicBezTo>
                <a:cubicBezTo>
                  <a:pt x="640663" y="1042498"/>
                  <a:pt x="641972" y="997433"/>
                  <a:pt x="591587" y="974474"/>
                </a:cubicBezTo>
                <a:cubicBezTo>
                  <a:pt x="578978" y="1018116"/>
                  <a:pt x="566810" y="1056169"/>
                  <a:pt x="557216" y="1094794"/>
                </a:cubicBezTo>
                <a:cubicBezTo>
                  <a:pt x="533192" y="1193037"/>
                  <a:pt x="511601" y="1291280"/>
                  <a:pt x="486148" y="1388665"/>
                </a:cubicBezTo>
                <a:cubicBezTo>
                  <a:pt x="481894" y="1404645"/>
                  <a:pt x="464055" y="1417340"/>
                  <a:pt x="452079" y="1431607"/>
                </a:cubicBezTo>
                <a:cubicBezTo>
                  <a:pt x="445076" y="1427887"/>
                  <a:pt x="437717" y="1423952"/>
                  <a:pt x="430714" y="1420233"/>
                </a:cubicBezTo>
                <a:cubicBezTo>
                  <a:pt x="451292" y="1327723"/>
                  <a:pt x="472444" y="1235070"/>
                  <a:pt x="493238" y="1142201"/>
                </a:cubicBezTo>
                <a:cubicBezTo>
                  <a:pt x="405949" y="1288283"/>
                  <a:pt x="340614" y="1438288"/>
                  <a:pt x="394807" y="1626455"/>
                </a:cubicBezTo>
                <a:close/>
                <a:moveTo>
                  <a:pt x="1315388" y="2115696"/>
                </a:moveTo>
                <a:cubicBezTo>
                  <a:pt x="1459383" y="1841253"/>
                  <a:pt x="1300831" y="1370388"/>
                  <a:pt x="1031118" y="1312715"/>
                </a:cubicBezTo>
                <a:cubicBezTo>
                  <a:pt x="1065996" y="1397084"/>
                  <a:pt x="1095810" y="1474508"/>
                  <a:pt x="1129348" y="1549780"/>
                </a:cubicBezTo>
                <a:cubicBezTo>
                  <a:pt x="1161888" y="1623476"/>
                  <a:pt x="1222856" y="1683035"/>
                  <a:pt x="1248211" y="1771927"/>
                </a:cubicBezTo>
                <a:cubicBezTo>
                  <a:pt x="1222391" y="1769583"/>
                  <a:pt x="1201710" y="1773253"/>
                  <a:pt x="1198290" y="1766808"/>
                </a:cubicBezTo>
                <a:cubicBezTo>
                  <a:pt x="1127371" y="1641272"/>
                  <a:pt x="1057886" y="1514158"/>
                  <a:pt x="990681" y="1391341"/>
                </a:cubicBezTo>
                <a:cubicBezTo>
                  <a:pt x="855540" y="1570131"/>
                  <a:pt x="974506" y="1949897"/>
                  <a:pt x="1315388" y="2115696"/>
                </a:cubicBezTo>
                <a:close/>
                <a:moveTo>
                  <a:pt x="1350109" y="2206800"/>
                </a:moveTo>
                <a:cubicBezTo>
                  <a:pt x="1227294" y="2132029"/>
                  <a:pt x="1103839" y="2055898"/>
                  <a:pt x="1016305" y="1939402"/>
                </a:cubicBezTo>
                <a:cubicBezTo>
                  <a:pt x="894527" y="1777942"/>
                  <a:pt x="844899" y="1595932"/>
                  <a:pt x="915052" y="1399068"/>
                </a:cubicBezTo>
                <a:cubicBezTo>
                  <a:pt x="975348" y="1229938"/>
                  <a:pt x="907264" y="1082692"/>
                  <a:pt x="854782" y="932137"/>
                </a:cubicBezTo>
                <a:cubicBezTo>
                  <a:pt x="846533" y="908644"/>
                  <a:pt x="804422" y="896999"/>
                  <a:pt x="770773" y="875318"/>
                </a:cubicBezTo>
                <a:cubicBezTo>
                  <a:pt x="787545" y="859543"/>
                  <a:pt x="802883" y="845346"/>
                  <a:pt x="825964" y="823117"/>
                </a:cubicBezTo>
                <a:cubicBezTo>
                  <a:pt x="812484" y="768678"/>
                  <a:pt x="797092" y="705284"/>
                  <a:pt x="778651" y="628353"/>
                </a:cubicBezTo>
                <a:cubicBezTo>
                  <a:pt x="718445" y="684857"/>
                  <a:pt x="704504" y="750136"/>
                  <a:pt x="674057" y="806473"/>
                </a:cubicBezTo>
                <a:cubicBezTo>
                  <a:pt x="639013" y="871268"/>
                  <a:pt x="653565" y="926351"/>
                  <a:pt x="678691" y="987300"/>
                </a:cubicBezTo>
                <a:cubicBezTo>
                  <a:pt x="768807" y="1203882"/>
                  <a:pt x="699453" y="1395372"/>
                  <a:pt x="573399" y="1572793"/>
                </a:cubicBezTo>
                <a:cubicBezTo>
                  <a:pt x="543911" y="1614586"/>
                  <a:pt x="491566" y="1640205"/>
                  <a:pt x="448294" y="1671763"/>
                </a:cubicBezTo>
                <a:cubicBezTo>
                  <a:pt x="404448" y="1703465"/>
                  <a:pt x="371872" y="1682427"/>
                  <a:pt x="347341" y="1644762"/>
                </a:cubicBezTo>
                <a:cubicBezTo>
                  <a:pt x="310117" y="1587763"/>
                  <a:pt x="311251" y="1523568"/>
                  <a:pt x="322256" y="1459939"/>
                </a:cubicBezTo>
                <a:cubicBezTo>
                  <a:pt x="349914" y="1299003"/>
                  <a:pt x="405306" y="1149365"/>
                  <a:pt x="495295" y="1011735"/>
                </a:cubicBezTo>
                <a:cubicBezTo>
                  <a:pt x="545960" y="933888"/>
                  <a:pt x="586695" y="849101"/>
                  <a:pt x="631502" y="767246"/>
                </a:cubicBezTo>
                <a:cubicBezTo>
                  <a:pt x="647658" y="737930"/>
                  <a:pt x="657956" y="704608"/>
                  <a:pt x="678184" y="678226"/>
                </a:cubicBezTo>
                <a:cubicBezTo>
                  <a:pt x="752638" y="581017"/>
                  <a:pt x="749272" y="478997"/>
                  <a:pt x="718531" y="365894"/>
                </a:cubicBezTo>
                <a:cubicBezTo>
                  <a:pt x="699256" y="294803"/>
                  <a:pt x="683666" y="222633"/>
                  <a:pt x="669080" y="150213"/>
                </a:cubicBezTo>
                <a:lnTo>
                  <a:pt x="639037" y="0"/>
                </a:lnTo>
                <a:lnTo>
                  <a:pt x="685477" y="0"/>
                </a:lnTo>
                <a:lnTo>
                  <a:pt x="830123" y="644646"/>
                </a:lnTo>
                <a:cubicBezTo>
                  <a:pt x="841889" y="697081"/>
                  <a:pt x="858594" y="748580"/>
                  <a:pt x="868286" y="801231"/>
                </a:cubicBezTo>
                <a:cubicBezTo>
                  <a:pt x="876847" y="846862"/>
                  <a:pt x="902344" y="867547"/>
                  <a:pt x="945378" y="881698"/>
                </a:cubicBezTo>
                <a:cubicBezTo>
                  <a:pt x="1031306" y="909427"/>
                  <a:pt x="1113389" y="928992"/>
                  <a:pt x="1208838" y="919029"/>
                </a:cubicBezTo>
                <a:cubicBezTo>
                  <a:pt x="1450323" y="893401"/>
                  <a:pt x="1641860" y="979221"/>
                  <a:pt x="1753984" y="1208539"/>
                </a:cubicBezTo>
                <a:cubicBezTo>
                  <a:pt x="1782977" y="1267908"/>
                  <a:pt x="1856145" y="1343578"/>
                  <a:pt x="1859768" y="1390144"/>
                </a:cubicBezTo>
                <a:cubicBezTo>
                  <a:pt x="1836417" y="1439526"/>
                  <a:pt x="1688979" y="1406544"/>
                  <a:pt x="1607507" y="1402956"/>
                </a:cubicBezTo>
                <a:cubicBezTo>
                  <a:pt x="1486122" y="1397822"/>
                  <a:pt x="1378192" y="1354922"/>
                  <a:pt x="1298703" y="1257406"/>
                </a:cubicBezTo>
                <a:cubicBezTo>
                  <a:pt x="1252324" y="1200270"/>
                  <a:pt x="1195489" y="1147586"/>
                  <a:pt x="1164863" y="1082843"/>
                </a:cubicBezTo>
                <a:cubicBezTo>
                  <a:pt x="1130674" y="1011083"/>
                  <a:pt x="1077231" y="979459"/>
                  <a:pt x="1010750" y="956586"/>
                </a:cubicBezTo>
                <a:cubicBezTo>
                  <a:pt x="982871" y="947151"/>
                  <a:pt x="954125" y="941586"/>
                  <a:pt x="905506" y="929445"/>
                </a:cubicBezTo>
                <a:cubicBezTo>
                  <a:pt x="938069" y="1026569"/>
                  <a:pt x="961505" y="1108942"/>
                  <a:pt x="994250" y="1187151"/>
                </a:cubicBezTo>
                <a:cubicBezTo>
                  <a:pt x="1004360" y="1210786"/>
                  <a:pt x="1037660" y="1227381"/>
                  <a:pt x="1063313" y="1241331"/>
                </a:cubicBezTo>
                <a:cubicBezTo>
                  <a:pt x="1239665" y="1337051"/>
                  <a:pt x="1330749" y="1501044"/>
                  <a:pt x="1403427" y="1675440"/>
                </a:cubicBezTo>
                <a:cubicBezTo>
                  <a:pt x="1448273" y="1782871"/>
                  <a:pt x="1438875" y="1899660"/>
                  <a:pt x="1412888" y="2013308"/>
                </a:cubicBezTo>
                <a:cubicBezTo>
                  <a:pt x="1398883" y="2074648"/>
                  <a:pt x="1385094" y="2135629"/>
                  <a:pt x="1370292" y="2202341"/>
                </a:cubicBezTo>
                <a:cubicBezTo>
                  <a:pt x="1368001" y="2202917"/>
                  <a:pt x="1355826" y="2210234"/>
                  <a:pt x="1350109" y="2206800"/>
                </a:cubicBez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12">
            <a:extLst>
              <a:ext uri="{FF2B5EF4-FFF2-40B4-BE49-F238E27FC236}">
                <a16:creationId xmlns:a16="http://schemas.microsoft.com/office/drawing/2014/main" id="{69002426-033B-400A-C519-AF4C659C4F05}"/>
              </a:ext>
              <a:ext uri="{C183D7F6-B498-43B3-948B-1728B52AA6E4}">
                <adec:decorative xmlns:adec="http://schemas.microsoft.com/office/drawing/2017/decorative" val="1"/>
              </a:ext>
            </a:extLst>
          </p:cNvPr>
          <p:cNvSpPr/>
          <p:nvPr userDrawn="1"/>
        </p:nvSpPr>
        <p:spPr>
          <a:xfrm rot="16200000" flipH="1">
            <a:off x="8812879" y="2130044"/>
            <a:ext cx="5509165" cy="1249078"/>
          </a:xfrm>
          <a:custGeom>
            <a:avLst/>
            <a:gdLst>
              <a:gd name="connsiteX0" fmla="*/ 5509165 w 5509165"/>
              <a:gd name="connsiteY0" fmla="*/ 1249078 h 1249078"/>
              <a:gd name="connsiteX1" fmla="*/ 0 w 5509165"/>
              <a:gd name="connsiteY1" fmla="*/ 1249078 h 1249078"/>
              <a:gd name="connsiteX2" fmla="*/ 0 w 5509165"/>
              <a:gd name="connsiteY2" fmla="*/ 376649 h 1249078"/>
              <a:gd name="connsiteX3" fmla="*/ 124275 w 5509165"/>
              <a:gd name="connsiteY3" fmla="*/ 338434 h 1249078"/>
              <a:gd name="connsiteX4" fmla="*/ 2337339 w 5509165"/>
              <a:gd name="connsiteY4" fmla="*/ 1263 h 1249078"/>
              <a:gd name="connsiteX5" fmla="*/ 4747463 w 5509165"/>
              <a:gd name="connsiteY5" fmla="*/ 509094 h 1249078"/>
              <a:gd name="connsiteX6" fmla="*/ 5475419 w 5509165"/>
              <a:gd name="connsiteY6" fmla="*/ 1196657 h 1249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09165" h="1249078">
                <a:moveTo>
                  <a:pt x="5509165" y="1249078"/>
                </a:moveTo>
                <a:lnTo>
                  <a:pt x="0" y="1249078"/>
                </a:lnTo>
                <a:lnTo>
                  <a:pt x="0" y="376649"/>
                </a:lnTo>
                <a:lnTo>
                  <a:pt x="124275" y="338434"/>
                </a:lnTo>
                <a:cubicBezTo>
                  <a:pt x="840589" y="132976"/>
                  <a:pt x="1609226" y="14590"/>
                  <a:pt x="2337339" y="1263"/>
                </a:cubicBezTo>
                <a:cubicBezTo>
                  <a:pt x="3273483" y="-15871"/>
                  <a:pt x="4142637" y="140664"/>
                  <a:pt x="4747463" y="509094"/>
                </a:cubicBezTo>
                <a:cubicBezTo>
                  <a:pt x="5039841" y="687195"/>
                  <a:pt x="5284004" y="923072"/>
                  <a:pt x="5475419" y="1196657"/>
                </a:cubicBezTo>
                <a:close/>
              </a:path>
            </a:pathLst>
          </a:custGeom>
          <a:solidFill>
            <a:schemeClr val="accent4">
              <a:alpha val="50000"/>
            </a:schemeClr>
          </a:solidFill>
          <a:ln w="377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Content Placeholder 6">
            <a:extLst>
              <a:ext uri="{FF2B5EF4-FFF2-40B4-BE49-F238E27FC236}">
                <a16:creationId xmlns:a16="http://schemas.microsoft.com/office/drawing/2014/main" id="{13980755-170E-8438-DC1B-7B3283F2A49D}"/>
              </a:ext>
            </a:extLst>
          </p:cNvPr>
          <p:cNvSpPr>
            <a:spLocks noGrp="1"/>
          </p:cNvSpPr>
          <p:nvPr>
            <p:ph sz="quarter" idx="10"/>
          </p:nvPr>
        </p:nvSpPr>
        <p:spPr>
          <a:xfrm>
            <a:off x="914400" y="2039112"/>
            <a:ext cx="7150608" cy="3356576"/>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Slide Number Placeholder 5">
            <a:extLst>
              <a:ext uri="{FF2B5EF4-FFF2-40B4-BE49-F238E27FC236}">
                <a16:creationId xmlns:a16="http://schemas.microsoft.com/office/drawing/2014/main" id="{933C021B-6AA4-3C5D-099F-96D113A1495C}"/>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03199535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91A476F7-D5C8-1CEC-9F4A-86A24C0BF39F}"/>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25455" t="5126"/>
          <a:stretch/>
        </p:blipFill>
        <p:spPr>
          <a:xfrm>
            <a:off x="0" y="0"/>
            <a:ext cx="5423337" cy="5356522"/>
          </a:xfrm>
          <a:prstGeom prst="rect">
            <a:avLst/>
          </a:prstGeom>
        </p:spPr>
      </p:pic>
      <p:pic>
        <p:nvPicPr>
          <p:cNvPr id="3" name="Graphic 2">
            <a:extLst>
              <a:ext uri="{FF2B5EF4-FFF2-40B4-BE49-F238E27FC236}">
                <a16:creationId xmlns:a16="http://schemas.microsoft.com/office/drawing/2014/main" id="{D0CBB0B7-F53E-97B4-C0F5-2D1842F1D237}"/>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6214735" y="726953"/>
            <a:ext cx="3069021" cy="2381688"/>
          </a:xfrm>
          <a:prstGeom prst="rect">
            <a:avLst/>
          </a:prstGeom>
        </p:spPr>
      </p:pic>
      <p:sp>
        <p:nvSpPr>
          <p:cNvPr id="4" name="Rectangle 3">
            <a:extLst>
              <a:ext uri="{FF2B5EF4-FFF2-40B4-BE49-F238E27FC236}">
                <a16:creationId xmlns:a16="http://schemas.microsoft.com/office/drawing/2014/main" id="{EABE1252-9BC4-8186-499A-2A7107C2945E}"/>
              </a:ext>
              <a:ext uri="{C183D7F6-B498-43B3-948B-1728B52AA6E4}">
                <adec:decorative xmlns:adec="http://schemas.microsoft.com/office/drawing/2017/decorative" val="1"/>
              </a:ext>
            </a:extLst>
          </p:cNvPr>
          <p:cNvSpPr/>
          <p:nvPr userDrawn="1"/>
        </p:nvSpPr>
        <p:spPr>
          <a:xfrm>
            <a:off x="7315203" y="0"/>
            <a:ext cx="2045247" cy="6858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itle 6">
            <a:extLst>
              <a:ext uri="{FF2B5EF4-FFF2-40B4-BE49-F238E27FC236}">
                <a16:creationId xmlns:a16="http://schemas.microsoft.com/office/drawing/2014/main" id="{544ACCFF-64A9-40AA-93F9-86E3CE016187}"/>
              </a:ext>
            </a:extLst>
          </p:cNvPr>
          <p:cNvSpPr>
            <a:spLocks noGrp="1"/>
          </p:cNvSpPr>
          <p:nvPr>
            <p:ph type="title" hasCustomPrompt="1"/>
          </p:nvPr>
        </p:nvSpPr>
        <p:spPr>
          <a:xfrm>
            <a:off x="768096" y="667512"/>
            <a:ext cx="5916168" cy="4873752"/>
          </a:xfrm>
          <a:prstGeom prst="rect">
            <a:avLst/>
          </a:prstGeom>
        </p:spPr>
        <p:txBody>
          <a:bodyPr anchor="b"/>
          <a:lstStyle>
            <a:lvl1pPr>
              <a:lnSpc>
                <a:spcPct val="100000"/>
              </a:lnSpc>
              <a:defRPr sz="5000" cap="all" spc="200" baseline="0"/>
            </a:lvl1pPr>
          </a:lstStyle>
          <a:p>
            <a:r>
              <a:rPr lang="en-US" dirty="0"/>
              <a:t>Click to add title</a:t>
            </a:r>
          </a:p>
        </p:txBody>
      </p:sp>
      <p:sp>
        <p:nvSpPr>
          <p:cNvPr id="9" name="Text Placeholder 8">
            <a:extLst>
              <a:ext uri="{FF2B5EF4-FFF2-40B4-BE49-F238E27FC236}">
                <a16:creationId xmlns:a16="http://schemas.microsoft.com/office/drawing/2014/main" id="{AD785D0F-160C-4A31-93B3-F251B0730757}"/>
              </a:ext>
            </a:extLst>
          </p:cNvPr>
          <p:cNvSpPr>
            <a:spLocks noGrp="1"/>
          </p:cNvSpPr>
          <p:nvPr>
            <p:ph type="body" sz="quarter" idx="10" hasCustomPrompt="1"/>
          </p:nvPr>
        </p:nvSpPr>
        <p:spPr>
          <a:xfrm>
            <a:off x="768096" y="5568696"/>
            <a:ext cx="5276088" cy="859536"/>
          </a:xfrm>
          <a:prstGeom prst="rect">
            <a:avLst/>
          </a:prstGeom>
        </p:spPr>
        <p:txBody>
          <a:bodyPr anchor="t"/>
          <a:lstStyle>
            <a:lvl1pPr marL="0" indent="0">
              <a:buNone/>
              <a:defRPr sz="2000" b="0" i="0" spc="200" baseline="0">
                <a:solidFill>
                  <a:schemeClr val="accent4"/>
                </a:solidFill>
              </a:defRPr>
            </a:lvl1pPr>
          </a:lstStyle>
          <a:p>
            <a:pPr lvl="0"/>
            <a:r>
              <a:rPr lang="en-US" dirty="0"/>
              <a:t>Click to add name</a:t>
            </a:r>
          </a:p>
        </p:txBody>
      </p:sp>
      <p:sp>
        <p:nvSpPr>
          <p:cNvPr id="11" name="Picture Placeholder 10">
            <a:extLst>
              <a:ext uri="{FF2B5EF4-FFF2-40B4-BE49-F238E27FC236}">
                <a16:creationId xmlns:a16="http://schemas.microsoft.com/office/drawing/2014/main" id="{31CCC134-2698-41E9-A225-76300EF59E5D}"/>
              </a:ext>
            </a:extLst>
          </p:cNvPr>
          <p:cNvSpPr>
            <a:spLocks noGrp="1"/>
          </p:cNvSpPr>
          <p:nvPr>
            <p:ph type="pic" sz="quarter" idx="11" hasCustomPrompt="1"/>
          </p:nvPr>
        </p:nvSpPr>
        <p:spPr>
          <a:xfrm>
            <a:off x="7754112" y="947737"/>
            <a:ext cx="4048124" cy="4962525"/>
          </a:xfrm>
          <a:prstGeom prst="rect">
            <a:avLst/>
          </a:prstGeom>
        </p:spPr>
        <p:txBody>
          <a:bodyPr/>
          <a:lstStyle>
            <a:lvl1pPr marL="0" indent="0" algn="ctr">
              <a:buNone/>
              <a:defRPr spc="400" baseline="0"/>
            </a:lvl1pPr>
          </a:lstStyle>
          <a:p>
            <a:r>
              <a:rPr lang="en-US" dirty="0"/>
              <a:t>Click to add photo</a:t>
            </a:r>
          </a:p>
        </p:txBody>
      </p:sp>
    </p:spTree>
    <p:extLst>
      <p:ext uri="{BB962C8B-B14F-4D97-AF65-F5344CB8AC3E}">
        <p14:creationId xmlns:p14="http://schemas.microsoft.com/office/powerpoint/2010/main" val="391873392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Timelin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1220C40-4EC0-BFB1-D615-1455BA15A088}"/>
              </a:ext>
              <a:ext uri="{C183D7F6-B498-43B3-948B-1728B52AA6E4}">
                <adec:decorative xmlns:adec="http://schemas.microsoft.com/office/drawing/2017/decorative" val="1"/>
              </a:ext>
            </a:extLst>
          </p:cNvPr>
          <p:cNvSpPr/>
          <p:nvPr userDrawn="1"/>
        </p:nvSpPr>
        <p:spPr>
          <a:xfrm>
            <a:off x="0" y="0"/>
            <a:ext cx="12192000" cy="3684897"/>
          </a:xfrm>
          <a:prstGeom prst="rect">
            <a:avLst/>
          </a:prstGeom>
          <a:solidFill>
            <a:schemeClr val="tx2">
              <a:lumMod val="60000"/>
              <a:lumOff val="4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38" name="Straight Connector 37">
            <a:extLst>
              <a:ext uri="{FF2B5EF4-FFF2-40B4-BE49-F238E27FC236}">
                <a16:creationId xmlns:a16="http://schemas.microsoft.com/office/drawing/2014/main" id="{78B9A4D3-8D91-4865-B422-5F60885A730F}"/>
              </a:ext>
              <a:ext uri="{C183D7F6-B498-43B3-948B-1728B52AA6E4}">
                <adec:decorative xmlns:adec="http://schemas.microsoft.com/office/drawing/2017/decorative" val="1"/>
              </a:ext>
            </a:extLst>
          </p:cNvPr>
          <p:cNvCxnSpPr>
            <a:cxnSpLocks/>
          </p:cNvCxnSpPr>
          <p:nvPr userDrawn="1"/>
        </p:nvCxnSpPr>
        <p:spPr>
          <a:xfrm flipH="1">
            <a:off x="1592874" y="3684898"/>
            <a:ext cx="9006253" cy="0"/>
          </a:xfrm>
          <a:prstGeom prst="line">
            <a:avLst/>
          </a:prstGeom>
          <a:ln>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90ECDAF5-DEB9-4A0C-9165-6ED23184A320}"/>
              </a:ext>
            </a:extLst>
          </p:cNvPr>
          <p:cNvSpPr>
            <a:spLocks noGrp="1"/>
          </p:cNvSpPr>
          <p:nvPr>
            <p:ph type="title" hasCustomPrompt="1"/>
          </p:nvPr>
        </p:nvSpPr>
        <p:spPr>
          <a:xfrm>
            <a:off x="838200" y="498928"/>
            <a:ext cx="10515600" cy="565435"/>
          </a:xfrm>
          <a:prstGeom prst="rect">
            <a:avLst/>
          </a:prstGeom>
        </p:spPr>
        <p:txBody>
          <a:bodyPr/>
          <a:lstStyle>
            <a:lvl1pPr algn="ctr">
              <a:defRPr sz="3200" cap="all" spc="200" baseline="0">
                <a:solidFill>
                  <a:schemeClr val="accent3"/>
                </a:solidFill>
              </a:defRPr>
            </a:lvl1pPr>
          </a:lstStyle>
          <a:p>
            <a:r>
              <a:rPr lang="en-US" dirty="0"/>
              <a:t>Click to add title</a:t>
            </a:r>
          </a:p>
        </p:txBody>
      </p:sp>
      <p:sp>
        <p:nvSpPr>
          <p:cNvPr id="8" name="Rectangle 7">
            <a:extLst>
              <a:ext uri="{FF2B5EF4-FFF2-40B4-BE49-F238E27FC236}">
                <a16:creationId xmlns:a16="http://schemas.microsoft.com/office/drawing/2014/main" id="{65FEA1AD-EC70-422F-BADD-FCA14BF9D43F}"/>
              </a:ext>
              <a:ext uri="{C183D7F6-B498-43B3-948B-1728B52AA6E4}">
                <adec:decorative xmlns:adec="http://schemas.microsoft.com/office/drawing/2017/decorative" val="1"/>
              </a:ext>
            </a:extLst>
          </p:cNvPr>
          <p:cNvSpPr/>
          <p:nvPr userDrawn="1"/>
        </p:nvSpPr>
        <p:spPr>
          <a:xfrm>
            <a:off x="1428750" y="3520775"/>
            <a:ext cx="328246" cy="3282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2"/>
              </a:solidFill>
            </a:endParaRPr>
          </a:p>
        </p:txBody>
      </p:sp>
      <p:sp>
        <p:nvSpPr>
          <p:cNvPr id="10" name="Rectangle 9">
            <a:extLst>
              <a:ext uri="{FF2B5EF4-FFF2-40B4-BE49-F238E27FC236}">
                <a16:creationId xmlns:a16="http://schemas.microsoft.com/office/drawing/2014/main" id="{1C84996E-63EA-4C88-816A-3AE158BB57E0}"/>
              </a:ext>
              <a:ext uri="{C183D7F6-B498-43B3-948B-1728B52AA6E4}">
                <adec:decorative xmlns:adec="http://schemas.microsoft.com/office/drawing/2017/decorative" val="1"/>
              </a:ext>
            </a:extLst>
          </p:cNvPr>
          <p:cNvSpPr/>
          <p:nvPr userDrawn="1"/>
        </p:nvSpPr>
        <p:spPr>
          <a:xfrm>
            <a:off x="3680314" y="3520775"/>
            <a:ext cx="328246" cy="328246"/>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ECA09893-F9A1-4FA2-A462-C1C443EC323F}"/>
              </a:ext>
              <a:ext uri="{C183D7F6-B498-43B3-948B-1728B52AA6E4}">
                <adec:decorative xmlns:adec="http://schemas.microsoft.com/office/drawing/2017/decorative" val="1"/>
              </a:ext>
            </a:extLst>
          </p:cNvPr>
          <p:cNvSpPr/>
          <p:nvPr userDrawn="1"/>
        </p:nvSpPr>
        <p:spPr>
          <a:xfrm>
            <a:off x="5931878" y="3520775"/>
            <a:ext cx="328246" cy="32824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829FBC17-744B-4367-90B4-20C9CDBD18E4}"/>
              </a:ext>
              <a:ext uri="{C183D7F6-B498-43B3-948B-1728B52AA6E4}">
                <adec:decorative xmlns:adec="http://schemas.microsoft.com/office/drawing/2017/decorative" val="1"/>
              </a:ext>
            </a:extLst>
          </p:cNvPr>
          <p:cNvSpPr/>
          <p:nvPr userDrawn="1"/>
        </p:nvSpPr>
        <p:spPr>
          <a:xfrm>
            <a:off x="8183442" y="3520775"/>
            <a:ext cx="328246" cy="328246"/>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79FD6CCE-53EA-424C-A29B-35A77F78203D}"/>
              </a:ext>
              <a:ext uri="{C183D7F6-B498-43B3-948B-1728B52AA6E4}">
                <adec:decorative xmlns:adec="http://schemas.microsoft.com/office/drawing/2017/decorative" val="1"/>
              </a:ext>
            </a:extLst>
          </p:cNvPr>
          <p:cNvSpPr/>
          <p:nvPr userDrawn="1"/>
        </p:nvSpPr>
        <p:spPr>
          <a:xfrm>
            <a:off x="10435004" y="3520775"/>
            <a:ext cx="328246" cy="328246"/>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1"/>
              </a:solidFill>
            </a:endParaRPr>
          </a:p>
        </p:txBody>
      </p:sp>
      <p:cxnSp>
        <p:nvCxnSpPr>
          <p:cNvPr id="18" name="Straight Connector 17">
            <a:extLst>
              <a:ext uri="{FF2B5EF4-FFF2-40B4-BE49-F238E27FC236}">
                <a16:creationId xmlns:a16="http://schemas.microsoft.com/office/drawing/2014/main" id="{A1ADC218-9303-4431-8BD2-4D5F9C19A2D3}"/>
              </a:ext>
              <a:ext uri="{C183D7F6-B498-43B3-948B-1728B52AA6E4}">
                <adec:decorative xmlns:adec="http://schemas.microsoft.com/office/drawing/2017/decorative" val="1"/>
              </a:ext>
            </a:extLst>
          </p:cNvPr>
          <p:cNvCxnSpPr>
            <a:cxnSpLocks/>
          </p:cNvCxnSpPr>
          <p:nvPr userDrawn="1"/>
        </p:nvCxnSpPr>
        <p:spPr>
          <a:xfrm>
            <a:off x="1592873" y="2964383"/>
            <a:ext cx="0" cy="415716"/>
          </a:xfrm>
          <a:prstGeom prst="line">
            <a:avLst/>
          </a:prstGeom>
          <a:ln>
            <a:solidFill>
              <a:schemeClr val="accent4">
                <a:lumMod val="50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4F724929-97F8-4988-BD69-D86CAA6950D1}"/>
              </a:ext>
              <a:ext uri="{C183D7F6-B498-43B3-948B-1728B52AA6E4}">
                <adec:decorative xmlns:adec="http://schemas.microsoft.com/office/drawing/2017/decorative" val="1"/>
              </a:ext>
            </a:extLst>
          </p:cNvPr>
          <p:cNvCxnSpPr>
            <a:cxnSpLocks/>
          </p:cNvCxnSpPr>
          <p:nvPr userDrawn="1"/>
        </p:nvCxnSpPr>
        <p:spPr>
          <a:xfrm>
            <a:off x="6096001" y="2964383"/>
            <a:ext cx="0" cy="415716"/>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0FEF08-1FB7-46B4-AB6B-D672A96A71F8}"/>
              </a:ext>
              <a:ext uri="{C183D7F6-B498-43B3-948B-1728B52AA6E4}">
                <adec:decorative xmlns:adec="http://schemas.microsoft.com/office/drawing/2017/decorative" val="1"/>
              </a:ext>
            </a:extLst>
          </p:cNvPr>
          <p:cNvCxnSpPr>
            <a:cxnSpLocks/>
          </p:cNvCxnSpPr>
          <p:nvPr userDrawn="1"/>
        </p:nvCxnSpPr>
        <p:spPr>
          <a:xfrm>
            <a:off x="10599127" y="2964383"/>
            <a:ext cx="0" cy="415716"/>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27" name="Text Placeholder 22">
            <a:extLst>
              <a:ext uri="{FF2B5EF4-FFF2-40B4-BE49-F238E27FC236}">
                <a16:creationId xmlns:a16="http://schemas.microsoft.com/office/drawing/2014/main" id="{8BA510CE-108D-434A-9BE7-BE6712175231}"/>
              </a:ext>
            </a:extLst>
          </p:cNvPr>
          <p:cNvSpPr>
            <a:spLocks noGrp="1"/>
          </p:cNvSpPr>
          <p:nvPr>
            <p:ph type="body" sz="quarter" idx="15" hasCustomPrompt="1"/>
          </p:nvPr>
        </p:nvSpPr>
        <p:spPr>
          <a:xfrm>
            <a:off x="465172" y="2075688"/>
            <a:ext cx="2251564" cy="498496"/>
          </a:xfrm>
          <a:prstGeom prst="rect">
            <a:avLst/>
          </a:prstGeom>
        </p:spPr>
        <p:txBody>
          <a:bodyPr anchor="b"/>
          <a:lstStyle>
            <a:lvl1pPr marL="0" indent="0" algn="ctr">
              <a:buNone/>
              <a:defRPr sz="1600" cap="all" baseline="0">
                <a:solidFill>
                  <a:schemeClr val="accent2"/>
                </a:solidFill>
                <a:latin typeface="Segoe UI" panose="020B0502040204020203" pitchFamily="34" charset="0"/>
              </a:defRPr>
            </a:lvl1pPr>
          </a:lstStyle>
          <a:p>
            <a:pPr lvl="0"/>
            <a:r>
              <a:rPr lang="en-US" dirty="0"/>
              <a:t>Add text</a:t>
            </a:r>
          </a:p>
        </p:txBody>
      </p:sp>
      <p:sp>
        <p:nvSpPr>
          <p:cNvPr id="28" name="Text Placeholder 22">
            <a:extLst>
              <a:ext uri="{FF2B5EF4-FFF2-40B4-BE49-F238E27FC236}">
                <a16:creationId xmlns:a16="http://schemas.microsoft.com/office/drawing/2014/main" id="{00414708-82D0-44BF-8CBD-2D165A385617}"/>
              </a:ext>
            </a:extLst>
          </p:cNvPr>
          <p:cNvSpPr>
            <a:spLocks noGrp="1"/>
          </p:cNvSpPr>
          <p:nvPr>
            <p:ph type="body" sz="quarter" idx="20" hasCustomPrompt="1"/>
          </p:nvPr>
        </p:nvSpPr>
        <p:spPr>
          <a:xfrm>
            <a:off x="465172" y="2578608"/>
            <a:ext cx="2251564" cy="310896"/>
          </a:xfrm>
          <a:prstGeom prst="rect">
            <a:avLst/>
          </a:prstGeom>
        </p:spPr>
        <p:txBody>
          <a:bodyPr anchor="t"/>
          <a:lstStyle>
            <a:lvl1pPr marL="0" indent="0" algn="ctr">
              <a:lnSpc>
                <a:spcPct val="114000"/>
              </a:lnSpc>
              <a:spcBef>
                <a:spcPts val="0"/>
              </a:spcBef>
              <a:buNone/>
              <a:defRPr sz="1200" spc="50" baseline="0">
                <a:solidFill>
                  <a:schemeClr val="accent2"/>
                </a:solidFill>
              </a:defRPr>
            </a:lvl1pPr>
          </a:lstStyle>
          <a:p>
            <a:pPr lvl="0"/>
            <a:r>
              <a:rPr lang="en-US" dirty="0"/>
              <a:t>Add text</a:t>
            </a:r>
          </a:p>
        </p:txBody>
      </p:sp>
      <p:sp>
        <p:nvSpPr>
          <p:cNvPr id="29" name="Text Placeholder 22">
            <a:extLst>
              <a:ext uri="{FF2B5EF4-FFF2-40B4-BE49-F238E27FC236}">
                <a16:creationId xmlns:a16="http://schemas.microsoft.com/office/drawing/2014/main" id="{272F07D4-1C66-4FA2-8361-FC6267F17717}"/>
              </a:ext>
            </a:extLst>
          </p:cNvPr>
          <p:cNvSpPr>
            <a:spLocks noGrp="1"/>
          </p:cNvSpPr>
          <p:nvPr>
            <p:ph type="body" sz="quarter" idx="21" hasCustomPrompt="1"/>
          </p:nvPr>
        </p:nvSpPr>
        <p:spPr>
          <a:xfrm>
            <a:off x="4970216" y="2075688"/>
            <a:ext cx="2251564" cy="498496"/>
          </a:xfrm>
          <a:prstGeom prst="rect">
            <a:avLst/>
          </a:prstGeom>
        </p:spPr>
        <p:txBody>
          <a:bodyPr anchor="b"/>
          <a:lstStyle>
            <a:lvl1pPr marL="0" indent="0" algn="ctr">
              <a:buNone/>
              <a:defRPr sz="1600" cap="all" baseline="0">
                <a:solidFill>
                  <a:schemeClr val="accent5">
                    <a:lumMod val="50000"/>
                  </a:schemeClr>
                </a:solidFill>
                <a:latin typeface="Segoe UI" panose="020B0502040204020203" pitchFamily="34" charset="0"/>
              </a:defRPr>
            </a:lvl1pPr>
          </a:lstStyle>
          <a:p>
            <a:pPr lvl="0"/>
            <a:r>
              <a:rPr lang="en-US" dirty="0"/>
              <a:t>Add text</a:t>
            </a:r>
          </a:p>
        </p:txBody>
      </p:sp>
      <p:sp>
        <p:nvSpPr>
          <p:cNvPr id="30" name="Text Placeholder 22">
            <a:extLst>
              <a:ext uri="{FF2B5EF4-FFF2-40B4-BE49-F238E27FC236}">
                <a16:creationId xmlns:a16="http://schemas.microsoft.com/office/drawing/2014/main" id="{432C0CF3-19F3-4C10-9EEC-BA5E5F3FD22F}"/>
              </a:ext>
            </a:extLst>
          </p:cNvPr>
          <p:cNvSpPr>
            <a:spLocks noGrp="1"/>
          </p:cNvSpPr>
          <p:nvPr>
            <p:ph type="body" sz="quarter" idx="22" hasCustomPrompt="1"/>
          </p:nvPr>
        </p:nvSpPr>
        <p:spPr>
          <a:xfrm>
            <a:off x="4970216" y="2578608"/>
            <a:ext cx="2251564" cy="310896"/>
          </a:xfrm>
          <a:prstGeom prst="rect">
            <a:avLst/>
          </a:prstGeom>
        </p:spPr>
        <p:txBody>
          <a:bodyPr anchor="t"/>
          <a:lstStyle>
            <a:lvl1pPr marL="0" indent="0" algn="ctr">
              <a:lnSpc>
                <a:spcPct val="114000"/>
              </a:lnSpc>
              <a:spcBef>
                <a:spcPts val="0"/>
              </a:spcBef>
              <a:buNone/>
              <a:defRPr sz="1200" spc="50" baseline="0">
                <a:solidFill>
                  <a:schemeClr val="accent5">
                    <a:lumMod val="50000"/>
                  </a:schemeClr>
                </a:solidFill>
              </a:defRPr>
            </a:lvl1pPr>
          </a:lstStyle>
          <a:p>
            <a:pPr lvl="0"/>
            <a:r>
              <a:rPr lang="en-US" dirty="0"/>
              <a:t>Add text</a:t>
            </a:r>
          </a:p>
        </p:txBody>
      </p:sp>
      <p:sp>
        <p:nvSpPr>
          <p:cNvPr id="31" name="Text Placeholder 22">
            <a:extLst>
              <a:ext uri="{FF2B5EF4-FFF2-40B4-BE49-F238E27FC236}">
                <a16:creationId xmlns:a16="http://schemas.microsoft.com/office/drawing/2014/main" id="{4A3A0AFC-7EB9-4059-8C59-C42379BA923E}"/>
              </a:ext>
            </a:extLst>
          </p:cNvPr>
          <p:cNvSpPr>
            <a:spLocks noGrp="1"/>
          </p:cNvSpPr>
          <p:nvPr>
            <p:ph type="body" sz="quarter" idx="23" hasCustomPrompt="1"/>
          </p:nvPr>
        </p:nvSpPr>
        <p:spPr>
          <a:xfrm>
            <a:off x="9473340" y="2075688"/>
            <a:ext cx="2251564" cy="498496"/>
          </a:xfrm>
          <a:prstGeom prst="rect">
            <a:avLst/>
          </a:prstGeom>
        </p:spPr>
        <p:txBody>
          <a:bodyPr anchor="b"/>
          <a:lstStyle>
            <a:lvl1pPr marL="0" indent="0" algn="ctr">
              <a:buNone/>
              <a:defRPr sz="1600" cap="all" baseline="0">
                <a:solidFill>
                  <a:schemeClr val="accent1">
                    <a:lumMod val="75000"/>
                  </a:schemeClr>
                </a:solidFill>
                <a:latin typeface="Segoe UI" panose="020B0502040204020203" pitchFamily="34" charset="0"/>
              </a:defRPr>
            </a:lvl1pPr>
          </a:lstStyle>
          <a:p>
            <a:pPr lvl="0"/>
            <a:r>
              <a:rPr lang="en-US" dirty="0"/>
              <a:t>Add text</a:t>
            </a:r>
          </a:p>
        </p:txBody>
      </p:sp>
      <p:sp>
        <p:nvSpPr>
          <p:cNvPr id="32" name="Text Placeholder 22">
            <a:extLst>
              <a:ext uri="{FF2B5EF4-FFF2-40B4-BE49-F238E27FC236}">
                <a16:creationId xmlns:a16="http://schemas.microsoft.com/office/drawing/2014/main" id="{417F27A8-21AF-48E6-8A67-65C9920A3077}"/>
              </a:ext>
            </a:extLst>
          </p:cNvPr>
          <p:cNvSpPr>
            <a:spLocks noGrp="1"/>
          </p:cNvSpPr>
          <p:nvPr>
            <p:ph type="body" sz="quarter" idx="24" hasCustomPrompt="1"/>
          </p:nvPr>
        </p:nvSpPr>
        <p:spPr>
          <a:xfrm>
            <a:off x="9473340" y="2578608"/>
            <a:ext cx="2251564" cy="310896"/>
          </a:xfrm>
          <a:prstGeom prst="rect">
            <a:avLst/>
          </a:prstGeom>
        </p:spPr>
        <p:txBody>
          <a:bodyPr anchor="t"/>
          <a:lstStyle>
            <a:lvl1pPr marL="0" indent="0" algn="ctr">
              <a:lnSpc>
                <a:spcPct val="114000"/>
              </a:lnSpc>
              <a:spcBef>
                <a:spcPts val="0"/>
              </a:spcBef>
              <a:buNone/>
              <a:defRPr sz="1200" spc="50" baseline="0">
                <a:solidFill>
                  <a:schemeClr val="accent1">
                    <a:lumMod val="75000"/>
                  </a:schemeClr>
                </a:solidFill>
              </a:defRPr>
            </a:lvl1pPr>
          </a:lstStyle>
          <a:p>
            <a:pPr lvl="0"/>
            <a:r>
              <a:rPr lang="en-US" dirty="0"/>
              <a:t>Add text</a:t>
            </a:r>
          </a:p>
        </p:txBody>
      </p:sp>
      <p:sp>
        <p:nvSpPr>
          <p:cNvPr id="33" name="Text Placeholder 22">
            <a:extLst>
              <a:ext uri="{FF2B5EF4-FFF2-40B4-BE49-F238E27FC236}">
                <a16:creationId xmlns:a16="http://schemas.microsoft.com/office/drawing/2014/main" id="{F26C8D2A-15B8-4AB1-83F7-74DB0A35CC77}"/>
              </a:ext>
            </a:extLst>
          </p:cNvPr>
          <p:cNvSpPr>
            <a:spLocks noGrp="1"/>
          </p:cNvSpPr>
          <p:nvPr>
            <p:ph type="body" sz="quarter" idx="25" hasCustomPrompt="1"/>
          </p:nvPr>
        </p:nvSpPr>
        <p:spPr>
          <a:xfrm>
            <a:off x="2716736" y="4398264"/>
            <a:ext cx="2251562" cy="498496"/>
          </a:xfrm>
          <a:prstGeom prst="rect">
            <a:avLst/>
          </a:prstGeom>
        </p:spPr>
        <p:txBody>
          <a:bodyPr anchor="b"/>
          <a:lstStyle>
            <a:lvl1pPr marL="0" indent="0" algn="ctr">
              <a:buNone/>
              <a:defRPr sz="1600" cap="all" baseline="0">
                <a:solidFill>
                  <a:schemeClr val="accent1">
                    <a:lumMod val="50000"/>
                  </a:schemeClr>
                </a:solidFill>
                <a:latin typeface="Segoe UI" panose="020B0502040204020203" pitchFamily="34" charset="0"/>
              </a:defRPr>
            </a:lvl1pPr>
          </a:lstStyle>
          <a:p>
            <a:pPr lvl="0"/>
            <a:r>
              <a:rPr lang="en-US" dirty="0"/>
              <a:t>Add text</a:t>
            </a:r>
          </a:p>
        </p:txBody>
      </p:sp>
      <p:sp>
        <p:nvSpPr>
          <p:cNvPr id="34" name="Text Placeholder 22">
            <a:extLst>
              <a:ext uri="{FF2B5EF4-FFF2-40B4-BE49-F238E27FC236}">
                <a16:creationId xmlns:a16="http://schemas.microsoft.com/office/drawing/2014/main" id="{07311D06-DEA1-4811-AC58-E3B935DC5A8F}"/>
              </a:ext>
            </a:extLst>
          </p:cNvPr>
          <p:cNvSpPr>
            <a:spLocks noGrp="1"/>
          </p:cNvSpPr>
          <p:nvPr>
            <p:ph type="body" sz="quarter" idx="26" hasCustomPrompt="1"/>
          </p:nvPr>
        </p:nvSpPr>
        <p:spPr>
          <a:xfrm>
            <a:off x="2716736" y="4917263"/>
            <a:ext cx="2251562" cy="310896"/>
          </a:xfrm>
          <a:prstGeom prst="rect">
            <a:avLst/>
          </a:prstGeom>
        </p:spPr>
        <p:txBody>
          <a:bodyPr anchor="t"/>
          <a:lstStyle>
            <a:lvl1pPr marL="0" indent="0" algn="ctr">
              <a:lnSpc>
                <a:spcPct val="114000"/>
              </a:lnSpc>
              <a:spcBef>
                <a:spcPts val="0"/>
              </a:spcBef>
              <a:buNone/>
              <a:defRPr sz="1200" spc="50" baseline="0">
                <a:solidFill>
                  <a:schemeClr val="accent1">
                    <a:lumMod val="50000"/>
                  </a:schemeClr>
                </a:solidFill>
              </a:defRPr>
            </a:lvl1pPr>
          </a:lstStyle>
          <a:p>
            <a:pPr lvl="0"/>
            <a:r>
              <a:rPr lang="en-US" dirty="0"/>
              <a:t>Add text</a:t>
            </a:r>
          </a:p>
        </p:txBody>
      </p:sp>
      <p:sp>
        <p:nvSpPr>
          <p:cNvPr id="35" name="Text Placeholder 22">
            <a:extLst>
              <a:ext uri="{FF2B5EF4-FFF2-40B4-BE49-F238E27FC236}">
                <a16:creationId xmlns:a16="http://schemas.microsoft.com/office/drawing/2014/main" id="{23AC1CF6-E394-4A35-A634-F187E005A4F8}"/>
              </a:ext>
            </a:extLst>
          </p:cNvPr>
          <p:cNvSpPr>
            <a:spLocks noGrp="1"/>
          </p:cNvSpPr>
          <p:nvPr>
            <p:ph type="body" sz="quarter" idx="27" hasCustomPrompt="1"/>
          </p:nvPr>
        </p:nvSpPr>
        <p:spPr>
          <a:xfrm>
            <a:off x="7221784" y="4398264"/>
            <a:ext cx="2251562" cy="498496"/>
          </a:xfrm>
          <a:prstGeom prst="rect">
            <a:avLst/>
          </a:prstGeom>
        </p:spPr>
        <p:txBody>
          <a:bodyPr anchor="b"/>
          <a:lstStyle>
            <a:lvl1pPr marL="0" indent="0" algn="ctr">
              <a:buNone/>
              <a:defRPr sz="1600" cap="all" baseline="0">
                <a:solidFill>
                  <a:schemeClr val="accent3"/>
                </a:solidFill>
                <a:latin typeface="Segoe UI" panose="020B0502040204020203" pitchFamily="34" charset="0"/>
              </a:defRPr>
            </a:lvl1pPr>
          </a:lstStyle>
          <a:p>
            <a:pPr lvl="0"/>
            <a:r>
              <a:rPr lang="en-US" dirty="0"/>
              <a:t>Add text</a:t>
            </a:r>
          </a:p>
        </p:txBody>
      </p:sp>
      <p:sp>
        <p:nvSpPr>
          <p:cNvPr id="36" name="Text Placeholder 22">
            <a:extLst>
              <a:ext uri="{FF2B5EF4-FFF2-40B4-BE49-F238E27FC236}">
                <a16:creationId xmlns:a16="http://schemas.microsoft.com/office/drawing/2014/main" id="{9F72BEB0-9B11-4205-B9FC-10E5201C8132}"/>
              </a:ext>
            </a:extLst>
          </p:cNvPr>
          <p:cNvSpPr>
            <a:spLocks noGrp="1"/>
          </p:cNvSpPr>
          <p:nvPr>
            <p:ph type="body" sz="quarter" idx="28" hasCustomPrompt="1"/>
          </p:nvPr>
        </p:nvSpPr>
        <p:spPr>
          <a:xfrm>
            <a:off x="7221784" y="4917263"/>
            <a:ext cx="2251562" cy="310896"/>
          </a:xfrm>
          <a:prstGeom prst="rect">
            <a:avLst/>
          </a:prstGeom>
        </p:spPr>
        <p:txBody>
          <a:bodyPr anchor="t"/>
          <a:lstStyle>
            <a:lvl1pPr marL="0" indent="0" algn="ctr">
              <a:lnSpc>
                <a:spcPct val="114000"/>
              </a:lnSpc>
              <a:spcBef>
                <a:spcPts val="0"/>
              </a:spcBef>
              <a:buNone/>
              <a:defRPr sz="1200" spc="50" baseline="0">
                <a:solidFill>
                  <a:schemeClr val="accent3"/>
                </a:solidFill>
              </a:defRPr>
            </a:lvl1pPr>
          </a:lstStyle>
          <a:p>
            <a:pPr lvl="0"/>
            <a:r>
              <a:rPr lang="en-US" dirty="0"/>
              <a:t>Add text</a:t>
            </a:r>
          </a:p>
        </p:txBody>
      </p:sp>
      <p:cxnSp>
        <p:nvCxnSpPr>
          <p:cNvPr id="51" name="Straight Connector 50">
            <a:extLst>
              <a:ext uri="{FF2B5EF4-FFF2-40B4-BE49-F238E27FC236}">
                <a16:creationId xmlns:a16="http://schemas.microsoft.com/office/drawing/2014/main" id="{0E574CD7-C8A6-4F56-81B4-F72FB22E04DA}"/>
              </a:ext>
              <a:ext uri="{C183D7F6-B498-43B3-948B-1728B52AA6E4}">
                <adec:decorative xmlns:adec="http://schemas.microsoft.com/office/drawing/2017/decorative" val="1"/>
              </a:ext>
            </a:extLst>
          </p:cNvPr>
          <p:cNvCxnSpPr>
            <a:cxnSpLocks/>
          </p:cNvCxnSpPr>
          <p:nvPr userDrawn="1"/>
        </p:nvCxnSpPr>
        <p:spPr>
          <a:xfrm>
            <a:off x="3844715" y="3977431"/>
            <a:ext cx="0" cy="415716"/>
          </a:xfrm>
          <a:prstGeom prst="line">
            <a:avLst/>
          </a:prstGeom>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50FC7994-2504-4FF9-81F5-24405FEF066C}"/>
              </a:ext>
              <a:ext uri="{C183D7F6-B498-43B3-948B-1728B52AA6E4}">
                <adec:decorative xmlns:adec="http://schemas.microsoft.com/office/drawing/2017/decorative" val="1"/>
              </a:ext>
            </a:extLst>
          </p:cNvPr>
          <p:cNvCxnSpPr>
            <a:cxnSpLocks/>
          </p:cNvCxnSpPr>
          <p:nvPr userDrawn="1"/>
        </p:nvCxnSpPr>
        <p:spPr>
          <a:xfrm>
            <a:off x="8347565" y="3977431"/>
            <a:ext cx="0" cy="415716"/>
          </a:xfrm>
          <a:prstGeom prst="line">
            <a:avLst/>
          </a:prstGeom>
          <a:ln>
            <a:solidFill>
              <a:schemeClr val="accent3">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531368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1_Two content 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397A4D6-9D7A-63FE-63C9-A585FFE05579}"/>
              </a:ext>
              <a:ext uri="{C183D7F6-B498-43B3-948B-1728B52AA6E4}">
                <adec:decorative xmlns:adec="http://schemas.microsoft.com/office/drawing/2017/decorative" val="1"/>
              </a:ext>
            </a:extLst>
          </p:cNvPr>
          <p:cNvSpPr/>
          <p:nvPr userDrawn="1"/>
        </p:nvSpPr>
        <p:spPr>
          <a:xfrm>
            <a:off x="0" y="4383"/>
            <a:ext cx="12192000" cy="1524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777240" y="365760"/>
            <a:ext cx="10890504" cy="1545336"/>
          </a:xfrm>
          <a:solidFill>
            <a:schemeClr val="bg1">
              <a:lumMod val="95000"/>
            </a:schemeClr>
          </a:solidFill>
        </p:spPr>
        <p:txBody>
          <a:bodyPr/>
          <a:lstStyle>
            <a:lvl1pPr>
              <a:defRPr baseline="0"/>
            </a:lvl1pPr>
          </a:lstStyle>
          <a:p>
            <a:r>
              <a:rPr lang="en-US" dirty="0"/>
              <a:t>Click to edit Master title style</a:t>
            </a:r>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777240" y="2093976"/>
            <a:ext cx="3419856" cy="3776472"/>
          </a:xfrm>
          <a:solidFill>
            <a:schemeClr val="tx1">
              <a:alpha val="5000"/>
            </a:schemeClr>
          </a:solidFill>
        </p:spPr>
        <p:txBody>
          <a:bodyPr rIns="45720" anchor="t" anchorCtr="0">
            <a:normAutofit/>
          </a:bodyPr>
          <a:lstStyle>
            <a:lvl1pPr>
              <a:spcAft>
                <a:spcPts val="1800"/>
              </a:spcAft>
              <a:defRPr sz="1800"/>
            </a:lvl1pPr>
            <a:lvl2pPr>
              <a:defRPr sz="1600"/>
            </a:lvl2pPr>
            <a:lvl3pPr>
              <a:defRPr sz="14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2">
            <a:extLst>
              <a:ext uri="{FF2B5EF4-FFF2-40B4-BE49-F238E27FC236}">
                <a16:creationId xmlns:a16="http://schemas.microsoft.com/office/drawing/2014/main" id="{33A182AF-83EB-0BA6-3ADD-B49BDD9E37ED}"/>
              </a:ext>
            </a:extLst>
          </p:cNvPr>
          <p:cNvSpPr>
            <a:spLocks noGrp="1"/>
          </p:cNvSpPr>
          <p:nvPr>
            <p:ph idx="13"/>
          </p:nvPr>
        </p:nvSpPr>
        <p:spPr>
          <a:xfrm>
            <a:off x="4864608" y="2093976"/>
            <a:ext cx="6382512" cy="3749040"/>
          </a:xfrm>
          <a:noFill/>
        </p:spPr>
        <p:txBody>
          <a:bodyPr anchor="t" anchorCtr="0">
            <a:normAutofit/>
          </a:bodyPr>
          <a:lstStyle>
            <a:lvl1pPr>
              <a:spcAft>
                <a:spcPts val="1800"/>
              </a:spcAft>
              <a:defRPr sz="2000"/>
            </a:lvl1pPr>
            <a:lvl2pPr>
              <a:defRPr sz="1800"/>
            </a:lvl2pPr>
            <a:lvl3pPr>
              <a:defRPr sz="16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fld id="{303AD609-BEC6-4C9E-BF4C-9CCFC27BBF59}" type="datetime1">
              <a:rPr lang="en-US" smtClean="0"/>
              <a:t>10/20/2024</a:t>
            </a:fld>
            <a:endParaRPr lang="en-US" dirty="0"/>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pic>
        <p:nvPicPr>
          <p:cNvPr id="10" name="Graphic 9">
            <a:extLst>
              <a:ext uri="{FF2B5EF4-FFF2-40B4-BE49-F238E27FC236}">
                <a16:creationId xmlns:a16="http://schemas.microsoft.com/office/drawing/2014/main" id="{CB897DD0-4462-B31B-50A9-D399FD0F589C}"/>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23529"/>
          <a:stretch/>
        </p:blipFill>
        <p:spPr>
          <a:xfrm>
            <a:off x="3815" y="4389845"/>
            <a:ext cx="5024198" cy="2463772"/>
          </a:xfrm>
          <a:prstGeom prst="rect">
            <a:avLst/>
          </a:prstGeom>
        </p:spPr>
      </p:pic>
    </p:spTree>
    <p:extLst>
      <p:ext uri="{BB962C8B-B14F-4D97-AF65-F5344CB8AC3E}">
        <p14:creationId xmlns:p14="http://schemas.microsoft.com/office/powerpoint/2010/main" val="59149379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838200" y="337192"/>
            <a:ext cx="5655197" cy="1997867"/>
          </a:xfrm>
        </p:spPr>
        <p:txBody>
          <a:bodyPr anchor="b">
            <a:normAutofit/>
          </a:bodyPr>
          <a:lstStyle>
            <a:lvl1pPr>
              <a:defRPr lang="en-US" sz="2800" kern="1200" spc="150" baseline="0" dirty="0">
                <a:solidFill>
                  <a:schemeClr val="tx1"/>
                </a:solidFill>
                <a:latin typeface="+mj-lt"/>
                <a:ea typeface="+mj-ea"/>
                <a:cs typeface="+mj-cs"/>
              </a:defRPr>
            </a:lvl1pPr>
          </a:lstStyle>
          <a:p>
            <a:r>
              <a:rPr lang="en-US" dirty="0"/>
              <a:t>CLICK TO add title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838200" y="2705177"/>
            <a:ext cx="5733772" cy="448990"/>
          </a:xfrm>
        </p:spPr>
        <p:txBody>
          <a:bodyPr anchor="ctr">
            <a:no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hasCustomPrompt="1"/>
          </p:nvPr>
        </p:nvSpPr>
        <p:spPr>
          <a:xfrm>
            <a:off x="838199" y="3154166"/>
            <a:ext cx="5733773" cy="3032733"/>
          </a:xfrm>
        </p:spPr>
        <p:txBody>
          <a:bodyPr>
            <a:normAutofit/>
          </a:bodyPr>
          <a:lstStyle>
            <a:lvl1pPr marL="285750" indent="-285750">
              <a:lnSpc>
                <a:spcPct val="100000"/>
              </a:lnSpc>
              <a:buFont typeface="Arial" panose="020B0604020202020204" pitchFamily="34" charset="0"/>
              <a:buChar char="•"/>
              <a:defRPr sz="1800" spc="50" baseline="0"/>
            </a:lvl1pPr>
            <a:lvl2pPr marL="742950" indent="-285750">
              <a:lnSpc>
                <a:spcPct val="100000"/>
              </a:lnSpc>
              <a:buFont typeface="Arial" panose="020B0604020202020204" pitchFamily="34" charset="0"/>
              <a:buChar char="•"/>
              <a:defRPr sz="1800" spc="50" baseline="0"/>
            </a:lvl2pPr>
            <a:lvl3pPr marL="1200150" indent="-285750">
              <a:lnSpc>
                <a:spcPct val="100000"/>
              </a:lnSpc>
              <a:buFont typeface="Arial" panose="020B0604020202020204" pitchFamily="34" charset="0"/>
              <a:buChar char="•"/>
              <a:defRPr sz="1800" spc="50" baseline="0"/>
            </a:lvl3pPr>
            <a:lvl4pPr marL="1657350" indent="-285750">
              <a:lnSpc>
                <a:spcPct val="100000"/>
              </a:lnSpc>
              <a:buFont typeface="Arial" panose="020B0604020202020204" pitchFamily="34" charset="0"/>
              <a:buChar char="•"/>
              <a:defRPr sz="1800" spc="50" baseline="0"/>
            </a:lvl4pPr>
            <a:lvl5pPr marL="2114550" indent="-285750">
              <a:lnSpc>
                <a:spcPct val="100000"/>
              </a:lnSpc>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7887108" y="2705177"/>
            <a:ext cx="3943627" cy="448989"/>
          </a:xfrm>
        </p:spPr>
        <p:txBody>
          <a:bodyPr anchor="ctr">
            <a:no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7" name="Content Placeholder 3">
            <a:extLst>
              <a:ext uri="{FF2B5EF4-FFF2-40B4-BE49-F238E27FC236}">
                <a16:creationId xmlns:a16="http://schemas.microsoft.com/office/drawing/2014/main" id="{0120DFF5-B64A-9744-4500-1D7BBA19BF1C}"/>
              </a:ext>
            </a:extLst>
          </p:cNvPr>
          <p:cNvSpPr>
            <a:spLocks noGrp="1"/>
          </p:cNvSpPr>
          <p:nvPr>
            <p:ph sz="half" idx="14" hasCustomPrompt="1"/>
          </p:nvPr>
        </p:nvSpPr>
        <p:spPr>
          <a:xfrm>
            <a:off x="7887107" y="3164867"/>
            <a:ext cx="3943627" cy="3032733"/>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52144"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a:xfrm>
            <a:off x="843986" y="6356350"/>
            <a:ext cx="4114800" cy="365125"/>
          </a:xfrm>
        </p:spPr>
        <p:txBody>
          <a:bodyPr/>
          <a:lstStyle>
            <a:lvl1pPr algn="l">
              <a:defRPr sz="900"/>
            </a:lvl1pPr>
          </a:lstStyle>
          <a:p>
            <a:endParaRPr lang="en-US" dirty="0"/>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A49DFD55-3C28-40EF-9E31-A92D2E4017FF}" type="slidenum">
              <a:rPr lang="en-US" smtClean="0"/>
              <a:pPr/>
              <a:t>‹#›</a:t>
            </a:fld>
            <a:endParaRPr lang="en-US" dirty="0"/>
          </a:p>
        </p:txBody>
      </p:sp>
      <p:pic>
        <p:nvPicPr>
          <p:cNvPr id="13" name="Graphic 12">
            <a:extLst>
              <a:ext uri="{FF2B5EF4-FFF2-40B4-BE49-F238E27FC236}">
                <a16:creationId xmlns:a16="http://schemas.microsoft.com/office/drawing/2014/main" id="{E0588715-35AD-8BE1-A5FC-E28BDD3854A6}"/>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8645" t="319" r="28732" b="73496"/>
          <a:stretch/>
        </p:blipFill>
        <p:spPr>
          <a:xfrm rot="10800000" flipH="1">
            <a:off x="6308436" y="-11"/>
            <a:ext cx="5883564" cy="2366424"/>
          </a:xfrm>
          <a:prstGeom prst="rect">
            <a:avLst/>
          </a:prstGeom>
        </p:spPr>
      </p:pic>
    </p:spTree>
    <p:extLst>
      <p:ext uri="{BB962C8B-B14F-4D97-AF65-F5344CB8AC3E}">
        <p14:creationId xmlns:p14="http://schemas.microsoft.com/office/powerpoint/2010/main" val="207697438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Title Slide 2">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4D792B1F-855B-FC83-1023-94C0976E9848}"/>
              </a:ext>
              <a:ext uri="{C183D7F6-B498-43B3-948B-1728B52AA6E4}">
                <adec:decorative xmlns:adec="http://schemas.microsoft.com/office/drawing/2017/decorative" val="1"/>
              </a:ext>
            </a:extLst>
          </p:cNvPr>
          <p:cNvSpPr/>
          <p:nvPr userDrawn="1"/>
        </p:nvSpPr>
        <p:spPr>
          <a:xfrm>
            <a:off x="7443266" y="1841812"/>
            <a:ext cx="4748735" cy="5016187"/>
          </a:xfrm>
          <a:custGeom>
            <a:avLst/>
            <a:gdLst>
              <a:gd name="connsiteX0" fmla="*/ 4348134 w 4748735"/>
              <a:gd name="connsiteY0" fmla="*/ 6 h 5016187"/>
              <a:gd name="connsiteX1" fmla="*/ 4379876 w 4748735"/>
              <a:gd name="connsiteY1" fmla="*/ 485 h 5016187"/>
              <a:gd name="connsiteX2" fmla="*/ 4586242 w 4748735"/>
              <a:gd name="connsiteY2" fmla="*/ 19862 h 5016187"/>
              <a:gd name="connsiteX3" fmla="*/ 4748735 w 4748735"/>
              <a:gd name="connsiteY3" fmla="*/ 55250 h 5016187"/>
              <a:gd name="connsiteX4" fmla="*/ 4748735 w 4748735"/>
              <a:gd name="connsiteY4" fmla="*/ 5016187 h 5016187"/>
              <a:gd name="connsiteX5" fmla="*/ 0 w 4748735"/>
              <a:gd name="connsiteY5" fmla="*/ 5016187 h 5016187"/>
              <a:gd name="connsiteX6" fmla="*/ 11442 w 4748735"/>
              <a:gd name="connsiteY6" fmla="*/ 4915227 h 5016187"/>
              <a:gd name="connsiteX7" fmla="*/ 611678 w 4748735"/>
              <a:gd name="connsiteY7" fmla="*/ 3995309 h 5016187"/>
              <a:gd name="connsiteX8" fmla="*/ 1008000 w 4748735"/>
              <a:gd name="connsiteY8" fmla="*/ 3809158 h 5016187"/>
              <a:gd name="connsiteX9" fmla="*/ 1805189 w 4748735"/>
              <a:gd name="connsiteY9" fmla="*/ 3290046 h 5016187"/>
              <a:gd name="connsiteX10" fmla="*/ 2251863 w 4748735"/>
              <a:gd name="connsiteY10" fmla="*/ 2567459 h 5016187"/>
              <a:gd name="connsiteX11" fmla="*/ 2482829 w 4748735"/>
              <a:gd name="connsiteY11" fmla="*/ 1882499 h 5016187"/>
              <a:gd name="connsiteX12" fmla="*/ 3831730 w 4748735"/>
              <a:gd name="connsiteY12" fmla="*/ 80392 h 5016187"/>
              <a:gd name="connsiteX13" fmla="*/ 4348134 w 4748735"/>
              <a:gd name="connsiteY13" fmla="*/ 6 h 5016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8735" h="5016187">
                <a:moveTo>
                  <a:pt x="4348134" y="6"/>
                </a:moveTo>
                <a:cubicBezTo>
                  <a:pt x="4361273" y="42"/>
                  <a:pt x="4371969" y="256"/>
                  <a:pt x="4379876" y="485"/>
                </a:cubicBezTo>
                <a:cubicBezTo>
                  <a:pt x="4449755" y="2533"/>
                  <a:pt x="4518503" y="9177"/>
                  <a:pt x="4586242" y="19862"/>
                </a:cubicBezTo>
                <a:lnTo>
                  <a:pt x="4748735" y="55250"/>
                </a:lnTo>
                <a:lnTo>
                  <a:pt x="4748735" y="5016187"/>
                </a:lnTo>
                <a:lnTo>
                  <a:pt x="0" y="5016187"/>
                </a:lnTo>
                <a:lnTo>
                  <a:pt x="11442" y="4915227"/>
                </a:lnTo>
                <a:cubicBezTo>
                  <a:pt x="77982" y="4517939"/>
                  <a:pt x="283732" y="4213774"/>
                  <a:pt x="611678" y="3995309"/>
                </a:cubicBezTo>
                <a:cubicBezTo>
                  <a:pt x="736981" y="3911859"/>
                  <a:pt x="873130" y="3863258"/>
                  <a:pt x="1008000" y="3809158"/>
                </a:cubicBezTo>
                <a:cubicBezTo>
                  <a:pt x="1299563" y="3692309"/>
                  <a:pt x="1572137" y="3533688"/>
                  <a:pt x="1805189" y="3290046"/>
                </a:cubicBezTo>
                <a:cubicBezTo>
                  <a:pt x="2001471" y="3085000"/>
                  <a:pt x="2142666" y="2838447"/>
                  <a:pt x="2251863" y="2567459"/>
                </a:cubicBezTo>
                <a:cubicBezTo>
                  <a:pt x="2373799" y="2264838"/>
                  <a:pt x="2424949" y="2076601"/>
                  <a:pt x="2482829" y="1882499"/>
                </a:cubicBezTo>
                <a:cubicBezTo>
                  <a:pt x="2547129" y="1666773"/>
                  <a:pt x="2928871" y="386929"/>
                  <a:pt x="3831730" y="80392"/>
                </a:cubicBezTo>
                <a:cubicBezTo>
                  <a:pt x="4044488" y="8167"/>
                  <a:pt x="4256161" y="-249"/>
                  <a:pt x="4348134" y="6"/>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Freeform: Shape 6">
            <a:extLst>
              <a:ext uri="{FF2B5EF4-FFF2-40B4-BE49-F238E27FC236}">
                <a16:creationId xmlns:a16="http://schemas.microsoft.com/office/drawing/2014/main" id="{EF359D7C-AC03-77FE-CA1D-B96B46B08D16}"/>
              </a:ext>
              <a:ext uri="{C183D7F6-B498-43B3-948B-1728B52AA6E4}">
                <adec:decorative xmlns:adec="http://schemas.microsoft.com/office/drawing/2017/decorative" val="1"/>
              </a:ext>
            </a:extLst>
          </p:cNvPr>
          <p:cNvSpPr/>
          <p:nvPr userDrawn="1"/>
        </p:nvSpPr>
        <p:spPr>
          <a:xfrm rot="5400000">
            <a:off x="6993339" y="2334664"/>
            <a:ext cx="2225673" cy="7007393"/>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4" name="Freeform: Shape 33">
            <a:extLst>
              <a:ext uri="{FF2B5EF4-FFF2-40B4-BE49-F238E27FC236}">
                <a16:creationId xmlns:a16="http://schemas.microsoft.com/office/drawing/2014/main" id="{C9AA487F-3729-4692-1A21-35558A2D840B}"/>
              </a:ext>
              <a:ext uri="{C183D7F6-B498-43B3-948B-1728B52AA6E4}">
                <adec:decorative xmlns:adec="http://schemas.microsoft.com/office/drawing/2017/decorative" val="1"/>
              </a:ext>
            </a:extLst>
          </p:cNvPr>
          <p:cNvSpPr/>
          <p:nvPr userDrawn="1"/>
        </p:nvSpPr>
        <p:spPr>
          <a:xfrm>
            <a:off x="1" y="0"/>
            <a:ext cx="5880649" cy="6075137"/>
          </a:xfrm>
          <a:custGeom>
            <a:avLst/>
            <a:gdLst>
              <a:gd name="connsiteX0" fmla="*/ 0 w 5880649"/>
              <a:gd name="connsiteY0" fmla="*/ 0 h 6075137"/>
              <a:gd name="connsiteX1" fmla="*/ 5331935 w 5880649"/>
              <a:gd name="connsiteY1" fmla="*/ 0 h 6075137"/>
              <a:gd name="connsiteX2" fmla="*/ 5371238 w 5880649"/>
              <a:gd name="connsiteY2" fmla="*/ 36527 h 6075137"/>
              <a:gd name="connsiteX3" fmla="*/ 5506423 w 5880649"/>
              <a:gd name="connsiteY3" fmla="*/ 197526 h 6075137"/>
              <a:gd name="connsiteX4" fmla="*/ 3912768 w 5880649"/>
              <a:gd name="connsiteY4" fmla="*/ 5218398 h 6075137"/>
              <a:gd name="connsiteX5" fmla="*/ 9712 w 5880649"/>
              <a:gd name="connsiteY5" fmla="*/ 5900494 h 6075137"/>
              <a:gd name="connsiteX6" fmla="*/ 0 w 5880649"/>
              <a:gd name="connsiteY6" fmla="*/ 5897200 h 6075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80649" h="6075137">
                <a:moveTo>
                  <a:pt x="0" y="0"/>
                </a:moveTo>
                <a:lnTo>
                  <a:pt x="5331935" y="0"/>
                </a:lnTo>
                <a:lnTo>
                  <a:pt x="5371238" y="36527"/>
                </a:lnTo>
                <a:cubicBezTo>
                  <a:pt x="5420080" y="87726"/>
                  <a:pt x="5465228" y="141386"/>
                  <a:pt x="5506423" y="197526"/>
                </a:cubicBezTo>
                <a:cubicBezTo>
                  <a:pt x="6380367" y="1388506"/>
                  <a:pt x="5672840" y="3964921"/>
                  <a:pt x="3912768" y="5218398"/>
                </a:cubicBezTo>
                <a:cubicBezTo>
                  <a:pt x="2827232" y="5991466"/>
                  <a:pt x="1288114" y="6299252"/>
                  <a:pt x="9712" y="5900494"/>
                </a:cubicBezTo>
                <a:lnTo>
                  <a:pt x="0" y="5897200"/>
                </a:lnTo>
                <a:close/>
              </a:path>
            </a:pathLst>
          </a:custGeom>
          <a:solidFill>
            <a:schemeClr val="accent4">
              <a:alpha val="45000"/>
            </a:schemeClr>
          </a:solidFill>
          <a:ln w="444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3" name="Freeform: Shape 22">
            <a:extLst>
              <a:ext uri="{FF2B5EF4-FFF2-40B4-BE49-F238E27FC236}">
                <a16:creationId xmlns:a16="http://schemas.microsoft.com/office/drawing/2014/main" id="{84B8E19A-569B-855B-EBF8-C02F2998ABC8}"/>
              </a:ext>
              <a:ext uri="{C183D7F6-B498-43B3-948B-1728B52AA6E4}">
                <adec:decorative xmlns:adec="http://schemas.microsoft.com/office/drawing/2017/decorative" val="1"/>
              </a:ext>
            </a:extLst>
          </p:cNvPr>
          <p:cNvSpPr/>
          <p:nvPr userDrawn="1"/>
        </p:nvSpPr>
        <p:spPr>
          <a:xfrm>
            <a:off x="1" y="-1"/>
            <a:ext cx="5137691" cy="3723310"/>
          </a:xfrm>
          <a:custGeom>
            <a:avLst/>
            <a:gdLst>
              <a:gd name="connsiteX0" fmla="*/ 659084 w 5137691"/>
              <a:gd name="connsiteY0" fmla="*/ 2921625 h 3723310"/>
              <a:gd name="connsiteX1" fmla="*/ 431178 w 5137691"/>
              <a:gd name="connsiteY1" fmla="*/ 3187332 h 3723310"/>
              <a:gd name="connsiteX2" fmla="*/ 371969 w 5137691"/>
              <a:gd name="connsiteY2" fmla="*/ 3549893 h 3723310"/>
              <a:gd name="connsiteX3" fmla="*/ 393875 w 5137691"/>
              <a:gd name="connsiteY3" fmla="*/ 3555088 h 3723310"/>
              <a:gd name="connsiteX4" fmla="*/ 659084 w 5137691"/>
              <a:gd name="connsiteY4" fmla="*/ 2921625 h 3723310"/>
              <a:gd name="connsiteX5" fmla="*/ 773656 w 5137691"/>
              <a:gd name="connsiteY5" fmla="*/ 2824142 h 3723310"/>
              <a:gd name="connsiteX6" fmla="*/ 683107 w 5137691"/>
              <a:gd name="connsiteY6" fmla="*/ 3035075 h 3723310"/>
              <a:gd name="connsiteX7" fmla="*/ 523193 w 5137691"/>
              <a:gd name="connsiteY7" fmla="*/ 3444488 h 3723310"/>
              <a:gd name="connsiteX8" fmla="*/ 493950 w 5137691"/>
              <a:gd name="connsiteY8" fmla="*/ 3544616 h 3723310"/>
              <a:gd name="connsiteX9" fmla="*/ 773656 w 5137691"/>
              <a:gd name="connsiteY9" fmla="*/ 2824142 h 3723310"/>
              <a:gd name="connsiteX10" fmla="*/ 906895 w 5137691"/>
              <a:gd name="connsiteY10" fmla="*/ 2579229 h 3723310"/>
              <a:gd name="connsiteX11" fmla="*/ 896608 w 5137691"/>
              <a:gd name="connsiteY11" fmla="*/ 2696939 h 3723310"/>
              <a:gd name="connsiteX12" fmla="*/ 906895 w 5137691"/>
              <a:gd name="connsiteY12" fmla="*/ 2579229 h 3723310"/>
              <a:gd name="connsiteX13" fmla="*/ 1003958 w 5137691"/>
              <a:gd name="connsiteY13" fmla="*/ 2517682 h 3723310"/>
              <a:gd name="connsiteX14" fmla="*/ 1054389 w 5137691"/>
              <a:gd name="connsiteY14" fmla="*/ 3079021 h 3723310"/>
              <a:gd name="connsiteX15" fmla="*/ 1003958 w 5137691"/>
              <a:gd name="connsiteY15" fmla="*/ 2517682 h 3723310"/>
              <a:gd name="connsiteX16" fmla="*/ 744142 w 5137691"/>
              <a:gd name="connsiteY16" fmla="*/ 2402290 h 3723310"/>
              <a:gd name="connsiteX17" fmla="*/ 99596 w 5137691"/>
              <a:gd name="connsiteY17" fmla="*/ 2734878 h 3723310"/>
              <a:gd name="connsiteX18" fmla="*/ 744142 w 5137691"/>
              <a:gd name="connsiteY18" fmla="*/ 2402290 h 3723310"/>
              <a:gd name="connsiteX19" fmla="*/ 1068601 w 5137691"/>
              <a:gd name="connsiteY19" fmla="*/ 2384771 h 3723310"/>
              <a:gd name="connsiteX20" fmla="*/ 1147707 w 5137691"/>
              <a:gd name="connsiteY20" fmla="*/ 3076961 h 3723310"/>
              <a:gd name="connsiteX21" fmla="*/ 1068601 w 5137691"/>
              <a:gd name="connsiteY21" fmla="*/ 2384771 h 3723310"/>
              <a:gd name="connsiteX22" fmla="*/ 934540 w 5137691"/>
              <a:gd name="connsiteY22" fmla="*/ 2375130 h 3723310"/>
              <a:gd name="connsiteX23" fmla="*/ 84219 w 5137691"/>
              <a:gd name="connsiteY23" fmla="*/ 2833186 h 3723310"/>
              <a:gd name="connsiteX24" fmla="*/ 269550 w 5137691"/>
              <a:gd name="connsiteY24" fmla="*/ 2841297 h 3723310"/>
              <a:gd name="connsiteX25" fmla="*/ 695816 w 5137691"/>
              <a:gd name="connsiteY25" fmla="*/ 2669005 h 3723310"/>
              <a:gd name="connsiteX26" fmla="*/ 934540 w 5137691"/>
              <a:gd name="connsiteY26" fmla="*/ 2375130 h 3723310"/>
              <a:gd name="connsiteX27" fmla="*/ 2466566 w 5137691"/>
              <a:gd name="connsiteY27" fmla="*/ 1413263 h 3723310"/>
              <a:gd name="connsiteX28" fmla="*/ 2384187 w 5137691"/>
              <a:gd name="connsiteY28" fmla="*/ 1907493 h 3723310"/>
              <a:gd name="connsiteX29" fmla="*/ 2466566 w 5137691"/>
              <a:gd name="connsiteY29" fmla="*/ 1413263 h 3723310"/>
              <a:gd name="connsiteX30" fmla="*/ 2384254 w 5137691"/>
              <a:gd name="connsiteY30" fmla="*/ 1364070 h 3723310"/>
              <a:gd name="connsiteX31" fmla="*/ 2286288 w 5137691"/>
              <a:gd name="connsiteY31" fmla="*/ 1925023 h 3723310"/>
              <a:gd name="connsiteX32" fmla="*/ 2384254 w 5137691"/>
              <a:gd name="connsiteY32" fmla="*/ 1364070 h 3723310"/>
              <a:gd name="connsiteX33" fmla="*/ 2728377 w 5137691"/>
              <a:gd name="connsiteY33" fmla="*/ 1165380 h 3723310"/>
              <a:gd name="connsiteX34" fmla="*/ 3003048 w 5137691"/>
              <a:gd name="connsiteY34" fmla="*/ 1736253 h 3723310"/>
              <a:gd name="connsiteX35" fmla="*/ 2948375 w 5137691"/>
              <a:gd name="connsiteY35" fmla="*/ 1498255 h 3723310"/>
              <a:gd name="connsiteX36" fmla="*/ 2914601 w 5137691"/>
              <a:gd name="connsiteY36" fmla="*/ 1460919 h 3723310"/>
              <a:gd name="connsiteX37" fmla="*/ 2852040 w 5137691"/>
              <a:gd name="connsiteY37" fmla="*/ 1382206 h 3723310"/>
              <a:gd name="connsiteX38" fmla="*/ 2728377 w 5137691"/>
              <a:gd name="connsiteY38" fmla="*/ 1165380 h 3723310"/>
              <a:gd name="connsiteX39" fmla="*/ 2806912 w 5137691"/>
              <a:gd name="connsiteY39" fmla="*/ 1118837 h 3723310"/>
              <a:gd name="connsiteX40" fmla="*/ 2783682 w 5137691"/>
              <a:gd name="connsiteY40" fmla="*/ 1138236 h 3723310"/>
              <a:gd name="connsiteX41" fmla="*/ 2889384 w 5137691"/>
              <a:gd name="connsiteY41" fmla="*/ 1270224 h 3723310"/>
              <a:gd name="connsiteX42" fmla="*/ 2994783 w 5137691"/>
              <a:gd name="connsiteY42" fmla="*/ 1447738 h 3723310"/>
              <a:gd name="connsiteX43" fmla="*/ 3056463 w 5137691"/>
              <a:gd name="connsiteY43" fmla="*/ 1668888 h 3723310"/>
              <a:gd name="connsiteX44" fmla="*/ 3083513 w 5137691"/>
              <a:gd name="connsiteY44" fmla="*/ 1738721 h 3723310"/>
              <a:gd name="connsiteX45" fmla="*/ 3025360 w 5137691"/>
              <a:gd name="connsiteY45" fmla="*/ 1292428 h 3723310"/>
              <a:gd name="connsiteX46" fmla="*/ 2806912 w 5137691"/>
              <a:gd name="connsiteY46" fmla="*/ 1118837 h 3723310"/>
              <a:gd name="connsiteX47" fmla="*/ 2211503 w 5137691"/>
              <a:gd name="connsiteY47" fmla="*/ 1091728 h 3723310"/>
              <a:gd name="connsiteX48" fmla="*/ 2023347 w 5137691"/>
              <a:gd name="connsiteY48" fmla="*/ 1305252 h 3723310"/>
              <a:gd name="connsiteX49" fmla="*/ 2041522 w 5137691"/>
              <a:gd name="connsiteY49" fmla="*/ 1324054 h 3723310"/>
              <a:gd name="connsiteX50" fmla="*/ 2211503 w 5137691"/>
              <a:gd name="connsiteY50" fmla="*/ 1091728 h 3723310"/>
              <a:gd name="connsiteX51" fmla="*/ 2168237 w 5137691"/>
              <a:gd name="connsiteY51" fmla="*/ 1042670 h 3723310"/>
              <a:gd name="connsiteX52" fmla="*/ 2005655 w 5137691"/>
              <a:gd name="connsiteY52" fmla="*/ 1233134 h 3723310"/>
              <a:gd name="connsiteX53" fmla="*/ 2168237 w 5137691"/>
              <a:gd name="connsiteY53" fmla="*/ 1042670 h 3723310"/>
              <a:gd name="connsiteX54" fmla="*/ 4080539 w 5137691"/>
              <a:gd name="connsiteY54" fmla="*/ 827257 h 3723310"/>
              <a:gd name="connsiteX55" fmla="*/ 4092849 w 5137691"/>
              <a:gd name="connsiteY55" fmla="*/ 1108381 h 3723310"/>
              <a:gd name="connsiteX56" fmla="*/ 4132014 w 5137691"/>
              <a:gd name="connsiteY56" fmla="*/ 1381869 h 3723310"/>
              <a:gd name="connsiteX57" fmla="*/ 4082492 w 5137691"/>
              <a:gd name="connsiteY57" fmla="*/ 1357873 h 3723310"/>
              <a:gd name="connsiteX58" fmla="*/ 4009383 w 5137691"/>
              <a:gd name="connsiteY58" fmla="*/ 893112 h 3723310"/>
              <a:gd name="connsiteX59" fmla="*/ 4072306 w 5137691"/>
              <a:gd name="connsiteY59" fmla="*/ 1761300 h 3723310"/>
              <a:gd name="connsiteX60" fmla="*/ 4080539 w 5137691"/>
              <a:gd name="connsiteY60" fmla="*/ 827257 h 3723310"/>
              <a:gd name="connsiteX61" fmla="*/ 4412492 w 5137691"/>
              <a:gd name="connsiteY61" fmla="*/ 559624 h 3723310"/>
              <a:gd name="connsiteX62" fmla="*/ 4617392 w 5137691"/>
              <a:gd name="connsiteY62" fmla="*/ 890611 h 3723310"/>
              <a:gd name="connsiteX63" fmla="*/ 4369105 w 5137691"/>
              <a:gd name="connsiteY63" fmla="*/ 630629 h 3723310"/>
              <a:gd name="connsiteX64" fmla="*/ 4810227 w 5137691"/>
              <a:gd name="connsiteY64" fmla="*/ 1127284 h 3723310"/>
              <a:gd name="connsiteX65" fmla="*/ 4412492 w 5137691"/>
              <a:gd name="connsiteY65" fmla="*/ 559624 h 3723310"/>
              <a:gd name="connsiteX66" fmla="*/ 3754486 w 5137691"/>
              <a:gd name="connsiteY66" fmla="*/ 313872 h 3723310"/>
              <a:gd name="connsiteX67" fmla="*/ 3673942 w 5137691"/>
              <a:gd name="connsiteY67" fmla="*/ 424963 h 3723310"/>
              <a:gd name="connsiteX68" fmla="*/ 3490493 w 5137691"/>
              <a:gd name="connsiteY68" fmla="*/ 701127 h 3723310"/>
              <a:gd name="connsiteX69" fmla="*/ 3439282 w 5137691"/>
              <a:gd name="connsiteY69" fmla="*/ 732600 h 3723310"/>
              <a:gd name="connsiteX70" fmla="*/ 3421532 w 5137691"/>
              <a:gd name="connsiteY70" fmla="*/ 712866 h 3723310"/>
              <a:gd name="connsiteX71" fmla="*/ 3590235 w 5137691"/>
              <a:gd name="connsiteY71" fmla="*/ 449820 h 3723310"/>
              <a:gd name="connsiteX72" fmla="*/ 3307188 w 5137691"/>
              <a:gd name="connsiteY72" fmla="*/ 911899 h 3723310"/>
              <a:gd name="connsiteX73" fmla="*/ 3393054 w 5137691"/>
              <a:gd name="connsiteY73" fmla="*/ 906465 h 3723310"/>
              <a:gd name="connsiteX74" fmla="*/ 3776927 w 5137691"/>
              <a:gd name="connsiteY74" fmla="*/ 442126 h 3723310"/>
              <a:gd name="connsiteX75" fmla="*/ 3754486 w 5137691"/>
              <a:gd name="connsiteY75" fmla="*/ 313872 h 3723310"/>
              <a:gd name="connsiteX76" fmla="*/ 1133888 w 5137691"/>
              <a:gd name="connsiteY76" fmla="*/ 214876 h 3723310"/>
              <a:gd name="connsiteX77" fmla="*/ 660639 w 5137691"/>
              <a:gd name="connsiteY77" fmla="*/ 863910 h 3723310"/>
              <a:gd name="connsiteX78" fmla="*/ 1108084 w 5137691"/>
              <a:gd name="connsiteY78" fmla="*/ 398665 h 3723310"/>
              <a:gd name="connsiteX79" fmla="*/ 975613 w 5137691"/>
              <a:gd name="connsiteY79" fmla="*/ 557099 h 3723310"/>
              <a:gd name="connsiteX80" fmla="*/ 811923 w 5137691"/>
              <a:gd name="connsiteY80" fmla="*/ 657310 h 3723310"/>
              <a:gd name="connsiteX81" fmla="*/ 998135 w 5137691"/>
              <a:gd name="connsiteY81" fmla="*/ 440657 h 3723310"/>
              <a:gd name="connsiteX82" fmla="*/ 1133888 w 5137691"/>
              <a:gd name="connsiteY82" fmla="*/ 214876 h 3723310"/>
              <a:gd name="connsiteX83" fmla="*/ 4685407 w 5137691"/>
              <a:gd name="connsiteY83" fmla="*/ 0 h 3723310"/>
              <a:gd name="connsiteX84" fmla="*/ 4770408 w 5137691"/>
              <a:gd name="connsiteY84" fmla="*/ 0 h 3723310"/>
              <a:gd name="connsiteX85" fmla="*/ 4810333 w 5137691"/>
              <a:gd name="connsiteY85" fmla="*/ 31801 h 3723310"/>
              <a:gd name="connsiteX86" fmla="*/ 5034638 w 5137691"/>
              <a:gd name="connsiteY86" fmla="*/ 141089 h 3723310"/>
              <a:gd name="connsiteX87" fmla="*/ 5039361 w 5137691"/>
              <a:gd name="connsiteY87" fmla="*/ 18254 h 3723310"/>
              <a:gd name="connsiteX88" fmla="*/ 5037438 w 5137691"/>
              <a:gd name="connsiteY88" fmla="*/ 0 h 3723310"/>
              <a:gd name="connsiteX89" fmla="*/ 5107568 w 5137691"/>
              <a:gd name="connsiteY89" fmla="*/ 0 h 3723310"/>
              <a:gd name="connsiteX90" fmla="*/ 5114876 w 5137691"/>
              <a:gd name="connsiteY90" fmla="*/ 38763 h 3723310"/>
              <a:gd name="connsiteX91" fmla="*/ 5127595 w 5137691"/>
              <a:gd name="connsiteY91" fmla="*/ 236940 h 3723310"/>
              <a:gd name="connsiteX92" fmla="*/ 5061109 w 5137691"/>
              <a:gd name="connsiteY92" fmla="*/ 225505 h 3723310"/>
              <a:gd name="connsiteX93" fmla="*/ 4727085 w 5137691"/>
              <a:gd name="connsiteY93" fmla="*/ 33775 h 3723310"/>
              <a:gd name="connsiteX94" fmla="*/ 4003152 w 5137691"/>
              <a:gd name="connsiteY94" fmla="*/ 0 h 3723310"/>
              <a:gd name="connsiteX95" fmla="*/ 4132176 w 5137691"/>
              <a:gd name="connsiteY95" fmla="*/ 0 h 3723310"/>
              <a:gd name="connsiteX96" fmla="*/ 4123986 w 5137691"/>
              <a:gd name="connsiteY96" fmla="*/ 63465 h 3723310"/>
              <a:gd name="connsiteX97" fmla="*/ 4104583 w 5137691"/>
              <a:gd name="connsiteY97" fmla="*/ 239130 h 3723310"/>
              <a:gd name="connsiteX98" fmla="*/ 4153843 w 5137691"/>
              <a:gd name="connsiteY98" fmla="*/ 350960 h 3723310"/>
              <a:gd name="connsiteX99" fmla="*/ 4411323 w 5137691"/>
              <a:gd name="connsiteY99" fmla="*/ 488238 h 3723310"/>
              <a:gd name="connsiteX100" fmla="*/ 4864485 w 5137691"/>
              <a:gd name="connsiteY100" fmla="*/ 991020 h 3723310"/>
              <a:gd name="connsiteX101" fmla="*/ 4905378 w 5137691"/>
              <a:gd name="connsiteY101" fmla="*/ 1217830 h 3723310"/>
              <a:gd name="connsiteX102" fmla="*/ 4640632 w 5137691"/>
              <a:gd name="connsiteY102" fmla="*/ 1136420 h 3723310"/>
              <a:gd name="connsiteX103" fmla="*/ 4377015 w 5137691"/>
              <a:gd name="connsiteY103" fmla="*/ 870623 h 3723310"/>
              <a:gd name="connsiteX104" fmla="*/ 4304571 w 5137691"/>
              <a:gd name="connsiteY104" fmla="*/ 640549 h 3723310"/>
              <a:gd name="connsiteX105" fmla="*/ 4193118 w 5137691"/>
              <a:gd name="connsiteY105" fmla="*/ 452646 h 3723310"/>
              <a:gd name="connsiteX106" fmla="*/ 4094850 w 5137691"/>
              <a:gd name="connsiteY106" fmla="*/ 385207 h 3723310"/>
              <a:gd name="connsiteX107" fmla="*/ 4089643 w 5137691"/>
              <a:gd name="connsiteY107" fmla="*/ 684043 h 3723310"/>
              <a:gd name="connsiteX108" fmla="*/ 4140489 w 5137691"/>
              <a:gd name="connsiteY108" fmla="*/ 765775 h 3723310"/>
              <a:gd name="connsiteX109" fmla="*/ 4328143 w 5137691"/>
              <a:gd name="connsiteY109" fmla="*/ 1340660 h 3723310"/>
              <a:gd name="connsiteX110" fmla="*/ 4211174 w 5137691"/>
              <a:gd name="connsiteY110" fmla="*/ 1692363 h 3723310"/>
              <a:gd name="connsiteX111" fmla="*/ 4096384 w 5137691"/>
              <a:gd name="connsiteY111" fmla="*/ 1871176 h 3723310"/>
              <a:gd name="connsiteX112" fmla="*/ 4073915 w 5137691"/>
              <a:gd name="connsiteY112" fmla="*/ 1868200 h 3723310"/>
              <a:gd name="connsiteX113" fmla="*/ 3830235 w 5137691"/>
              <a:gd name="connsiteY113" fmla="*/ 1467468 h 3723310"/>
              <a:gd name="connsiteX114" fmla="*/ 3928554 w 5137691"/>
              <a:gd name="connsiteY114" fmla="*/ 872709 h 3723310"/>
              <a:gd name="connsiteX115" fmla="*/ 4041572 w 5137691"/>
              <a:gd name="connsiteY115" fmla="*/ 368957 h 3723310"/>
              <a:gd name="connsiteX116" fmla="*/ 3976315 w 5137691"/>
              <a:gd name="connsiteY116" fmla="*/ 278901 h 3723310"/>
              <a:gd name="connsiteX117" fmla="*/ 4052764 w 5137691"/>
              <a:gd name="connsiteY117" fmla="*/ 245809 h 3723310"/>
              <a:gd name="connsiteX118" fmla="*/ 4077058 w 5137691"/>
              <a:gd name="connsiteY118" fmla="*/ 27371 h 3723310"/>
              <a:gd name="connsiteX119" fmla="*/ 3902474 w 5137691"/>
              <a:gd name="connsiteY119" fmla="*/ 171686 h 3723310"/>
              <a:gd name="connsiteX120" fmla="*/ 3839430 w 5137691"/>
              <a:gd name="connsiteY120" fmla="*/ 359757 h 3723310"/>
              <a:gd name="connsiteX121" fmla="*/ 3511342 w 5137691"/>
              <a:gd name="connsiteY121" fmla="*/ 923585 h 3723310"/>
              <a:gd name="connsiteX122" fmla="*/ 3345310 w 5137691"/>
              <a:gd name="connsiteY122" fmla="*/ 978648 h 3723310"/>
              <a:gd name="connsiteX123" fmla="*/ 3251411 w 5137691"/>
              <a:gd name="connsiteY123" fmla="*/ 912962 h 3723310"/>
              <a:gd name="connsiteX124" fmla="*/ 3294880 w 5137691"/>
              <a:gd name="connsiteY124" fmla="*/ 713104 h 3723310"/>
              <a:gd name="connsiteX125" fmla="*/ 3641287 w 5137691"/>
              <a:gd name="connsiteY125" fmla="*/ 316153 h 3723310"/>
              <a:gd name="connsiteX126" fmla="*/ 3873337 w 5137691"/>
              <a:gd name="connsiteY126" fmla="*/ 115305 h 3723310"/>
              <a:gd name="connsiteX127" fmla="*/ 3954827 w 5137691"/>
              <a:gd name="connsiteY127" fmla="*/ 41083 h 3723310"/>
              <a:gd name="connsiteX128" fmla="*/ 3231589 w 5137691"/>
              <a:gd name="connsiteY128" fmla="*/ 0 h 3723310"/>
              <a:gd name="connsiteX129" fmla="*/ 3312011 w 5137691"/>
              <a:gd name="connsiteY129" fmla="*/ 0 h 3723310"/>
              <a:gd name="connsiteX130" fmla="*/ 3310368 w 5137691"/>
              <a:gd name="connsiteY130" fmla="*/ 16057 h 3723310"/>
              <a:gd name="connsiteX131" fmla="*/ 3356599 w 5137691"/>
              <a:gd name="connsiteY131" fmla="*/ 11189 h 3723310"/>
              <a:gd name="connsiteX132" fmla="*/ 3398860 w 5137691"/>
              <a:gd name="connsiteY132" fmla="*/ 0 h 3723310"/>
              <a:gd name="connsiteX133" fmla="*/ 3521426 w 5137691"/>
              <a:gd name="connsiteY133" fmla="*/ 0 h 3723310"/>
              <a:gd name="connsiteX134" fmla="*/ 3450288 w 5137691"/>
              <a:gd name="connsiteY134" fmla="*/ 40946 h 3723310"/>
              <a:gd name="connsiteX135" fmla="*/ 3224898 w 5137691"/>
              <a:gd name="connsiteY135" fmla="*/ 112320 h 3723310"/>
              <a:gd name="connsiteX136" fmla="*/ 3223079 w 5137691"/>
              <a:gd name="connsiteY136" fmla="*/ 40542 h 3723310"/>
              <a:gd name="connsiteX137" fmla="*/ 2713325 w 5137691"/>
              <a:gd name="connsiteY137" fmla="*/ 0 h 3723310"/>
              <a:gd name="connsiteX138" fmla="*/ 2801116 w 5137691"/>
              <a:gd name="connsiteY138" fmla="*/ 0 h 3723310"/>
              <a:gd name="connsiteX139" fmla="*/ 2771239 w 5137691"/>
              <a:gd name="connsiteY139" fmla="*/ 53358 h 3723310"/>
              <a:gd name="connsiteX140" fmla="*/ 2671323 w 5137691"/>
              <a:gd name="connsiteY140" fmla="*/ 281854 h 3723310"/>
              <a:gd name="connsiteX141" fmla="*/ 2609018 w 5137691"/>
              <a:gd name="connsiteY141" fmla="*/ 557536 h 3723310"/>
              <a:gd name="connsiteX142" fmla="*/ 2606274 w 5137691"/>
              <a:gd name="connsiteY142" fmla="*/ 567991 h 3723310"/>
              <a:gd name="connsiteX143" fmla="*/ 2661306 w 5137691"/>
              <a:gd name="connsiteY143" fmla="*/ 921545 h 3723310"/>
              <a:gd name="connsiteX144" fmla="*/ 2755651 w 5137691"/>
              <a:gd name="connsiteY144" fmla="*/ 1007451 h 3723310"/>
              <a:gd name="connsiteX145" fmla="*/ 2854694 w 5137691"/>
              <a:gd name="connsiteY145" fmla="*/ 1055446 h 3723310"/>
              <a:gd name="connsiteX146" fmla="*/ 3129406 w 5137691"/>
              <a:gd name="connsiteY146" fmla="*/ 1372830 h 3723310"/>
              <a:gd name="connsiteX147" fmla="*/ 3143254 w 5137691"/>
              <a:gd name="connsiteY147" fmla="*/ 1892637 h 3723310"/>
              <a:gd name="connsiteX148" fmla="*/ 2672087 w 5137691"/>
              <a:gd name="connsiteY148" fmla="*/ 1393850 h 3723310"/>
              <a:gd name="connsiteX149" fmla="*/ 2645908 w 5137691"/>
              <a:gd name="connsiteY149" fmla="*/ 1047511 h 3723310"/>
              <a:gd name="connsiteX150" fmla="*/ 2570535 w 5137691"/>
              <a:gd name="connsiteY150" fmla="*/ 1015633 h 3723310"/>
              <a:gd name="connsiteX151" fmla="*/ 2610208 w 5137691"/>
              <a:gd name="connsiteY151" fmla="*/ 945870 h 3723310"/>
              <a:gd name="connsiteX152" fmla="*/ 2538036 w 5137691"/>
              <a:gd name="connsiteY152" fmla="*/ 844360 h 3723310"/>
              <a:gd name="connsiteX153" fmla="*/ 2512867 w 5137691"/>
              <a:gd name="connsiteY153" fmla="*/ 1354598 h 3723310"/>
              <a:gd name="connsiteX154" fmla="*/ 2518702 w 5137691"/>
              <a:gd name="connsiteY154" fmla="*/ 1742111 h 3723310"/>
              <a:gd name="connsiteX155" fmla="*/ 2275616 w 5137691"/>
              <a:gd name="connsiteY155" fmla="*/ 2134783 h 3723310"/>
              <a:gd name="connsiteX156" fmla="*/ 2241266 w 5137691"/>
              <a:gd name="connsiteY156" fmla="*/ 2096736 h 3723310"/>
              <a:gd name="connsiteX157" fmla="*/ 2231827 w 5137691"/>
              <a:gd name="connsiteY157" fmla="*/ 1456335 h 3723310"/>
              <a:gd name="connsiteX158" fmla="*/ 2348810 w 5137691"/>
              <a:gd name="connsiteY158" fmla="*/ 1272217 h 3723310"/>
              <a:gd name="connsiteX159" fmla="*/ 2416218 w 5137691"/>
              <a:gd name="connsiteY159" fmla="*/ 1150005 h 3723310"/>
              <a:gd name="connsiteX160" fmla="*/ 2493456 w 5137691"/>
              <a:gd name="connsiteY160" fmla="*/ 706982 h 3723310"/>
              <a:gd name="connsiteX161" fmla="*/ 2313690 w 5137691"/>
              <a:gd name="connsiteY161" fmla="*/ 991337 h 3723310"/>
              <a:gd name="connsiteX162" fmla="*/ 1985609 w 5137691"/>
              <a:gd name="connsiteY162" fmla="*/ 1408731 h 3723310"/>
              <a:gd name="connsiteX163" fmla="*/ 1918730 w 5137691"/>
              <a:gd name="connsiteY163" fmla="*/ 1208846 h 3723310"/>
              <a:gd name="connsiteX164" fmla="*/ 2213019 w 5137691"/>
              <a:gd name="connsiteY164" fmla="*/ 897616 h 3723310"/>
              <a:gd name="connsiteX165" fmla="*/ 2517219 w 5137691"/>
              <a:gd name="connsiteY165" fmla="*/ 563658 h 3723310"/>
              <a:gd name="connsiteX166" fmla="*/ 2539459 w 5137691"/>
              <a:gd name="connsiteY166" fmla="*/ 513894 h 3723310"/>
              <a:gd name="connsiteX167" fmla="*/ 2702456 w 5137691"/>
              <a:gd name="connsiteY167" fmla="*/ 57291 h 3723310"/>
              <a:gd name="connsiteX168" fmla="*/ 2713671 w 5137691"/>
              <a:gd name="connsiteY168" fmla="*/ 17409 h 3723310"/>
              <a:gd name="connsiteX169" fmla="*/ 2615215 w 5137691"/>
              <a:gd name="connsiteY169" fmla="*/ 0 h 3723310"/>
              <a:gd name="connsiteX170" fmla="*/ 2683886 w 5137691"/>
              <a:gd name="connsiteY170" fmla="*/ 0 h 3723310"/>
              <a:gd name="connsiteX171" fmla="*/ 2615765 w 5137691"/>
              <a:gd name="connsiteY171" fmla="*/ 70449 h 3723310"/>
              <a:gd name="connsiteX172" fmla="*/ 2101714 w 5137691"/>
              <a:gd name="connsiteY172" fmla="*/ 677840 h 3723310"/>
              <a:gd name="connsiteX173" fmla="*/ 1647883 w 5137691"/>
              <a:gd name="connsiteY173" fmla="*/ 1269985 h 3723310"/>
              <a:gd name="connsiteX174" fmla="*/ 1520717 w 5137691"/>
              <a:gd name="connsiteY174" fmla="*/ 1759907 h 3723310"/>
              <a:gd name="connsiteX175" fmla="*/ 1543766 w 5137691"/>
              <a:gd name="connsiteY175" fmla="*/ 1830628 h 3723310"/>
              <a:gd name="connsiteX176" fmla="*/ 1614449 w 5137691"/>
              <a:gd name="connsiteY176" fmla="*/ 2214437 h 3723310"/>
              <a:gd name="connsiteX177" fmla="*/ 1518347 w 5137691"/>
              <a:gd name="connsiteY177" fmla="*/ 2480439 h 3723310"/>
              <a:gd name="connsiteX178" fmla="*/ 1333958 w 5137691"/>
              <a:gd name="connsiteY178" fmla="*/ 2228696 h 3723310"/>
              <a:gd name="connsiteX179" fmla="*/ 1393891 w 5137691"/>
              <a:gd name="connsiteY179" fmla="*/ 1917299 h 3723310"/>
              <a:gd name="connsiteX180" fmla="*/ 1444276 w 5137691"/>
              <a:gd name="connsiteY180" fmla="*/ 1597756 h 3723310"/>
              <a:gd name="connsiteX181" fmla="*/ 1398976 w 5137691"/>
              <a:gd name="connsiteY181" fmla="*/ 1656198 h 3723310"/>
              <a:gd name="connsiteX182" fmla="*/ 1126020 w 5137691"/>
              <a:gd name="connsiteY182" fmla="*/ 2136568 h 3723310"/>
              <a:gd name="connsiteX183" fmla="*/ 1129825 w 5137691"/>
              <a:gd name="connsiteY183" fmla="*/ 2320491 h 3723310"/>
              <a:gd name="connsiteX184" fmla="*/ 1143273 w 5137691"/>
              <a:gd name="connsiteY184" fmla="*/ 2337828 h 3723310"/>
              <a:gd name="connsiteX185" fmla="*/ 1156978 w 5137691"/>
              <a:gd name="connsiteY185" fmla="*/ 3218822 h 3723310"/>
              <a:gd name="connsiteX186" fmla="*/ 1116365 w 5137691"/>
              <a:gd name="connsiteY186" fmla="*/ 3269939 h 3723310"/>
              <a:gd name="connsiteX187" fmla="*/ 883236 w 5137691"/>
              <a:gd name="connsiteY187" fmla="*/ 2779510 h 3723310"/>
              <a:gd name="connsiteX188" fmla="*/ 808845 w 5137691"/>
              <a:gd name="connsiteY188" fmla="*/ 3104380 h 3723310"/>
              <a:gd name="connsiteX189" fmla="*/ 488550 w 5137691"/>
              <a:gd name="connsiteY189" fmla="*/ 3634846 h 3723310"/>
              <a:gd name="connsiteX190" fmla="*/ 328509 w 5137691"/>
              <a:gd name="connsiteY190" fmla="*/ 3719164 h 3723310"/>
              <a:gd name="connsiteX191" fmla="*/ 318672 w 5137691"/>
              <a:gd name="connsiteY191" fmla="*/ 3594817 h 3723310"/>
              <a:gd name="connsiteX192" fmla="*/ 358291 w 5137691"/>
              <a:gd name="connsiteY192" fmla="*/ 3266349 h 3723310"/>
              <a:gd name="connsiteX193" fmla="*/ 517362 w 5137691"/>
              <a:gd name="connsiteY193" fmla="*/ 2959353 h 3723310"/>
              <a:gd name="connsiteX194" fmla="*/ 735958 w 5137691"/>
              <a:gd name="connsiteY194" fmla="*/ 2756462 h 3723310"/>
              <a:gd name="connsiteX195" fmla="*/ 772369 w 5137691"/>
              <a:gd name="connsiteY195" fmla="*/ 2692870 h 3723310"/>
              <a:gd name="connsiteX196" fmla="*/ 156545 w 5137691"/>
              <a:gd name="connsiteY196" fmla="*/ 2921045 h 3723310"/>
              <a:gd name="connsiteX197" fmla="*/ 15585 w 5137691"/>
              <a:gd name="connsiteY197" fmla="*/ 2908337 h 3723310"/>
              <a:gd name="connsiteX198" fmla="*/ 0 w 5137691"/>
              <a:gd name="connsiteY198" fmla="*/ 2902697 h 3723310"/>
              <a:gd name="connsiteX199" fmla="*/ 0 w 5137691"/>
              <a:gd name="connsiteY199" fmla="*/ 2765873 h 3723310"/>
              <a:gd name="connsiteX200" fmla="*/ 29795 w 5137691"/>
              <a:gd name="connsiteY200" fmla="*/ 2717847 h 3723310"/>
              <a:gd name="connsiteX201" fmla="*/ 59962 w 5137691"/>
              <a:gd name="connsiteY201" fmla="*/ 2682291 h 3723310"/>
              <a:gd name="connsiteX202" fmla="*/ 645405 w 5137691"/>
              <a:gd name="connsiteY202" fmla="*/ 2342287 h 3723310"/>
              <a:gd name="connsiteX203" fmla="*/ 1059274 w 5137691"/>
              <a:gd name="connsiteY203" fmla="*/ 2164156 h 3723310"/>
              <a:gd name="connsiteX204" fmla="*/ 1341155 w 5137691"/>
              <a:gd name="connsiteY204" fmla="*/ 1664208 h 3723310"/>
              <a:gd name="connsiteX205" fmla="*/ 1766505 w 5137691"/>
              <a:gd name="connsiteY205" fmla="*/ 1018678 h 3723310"/>
              <a:gd name="connsiteX206" fmla="*/ 1793256 w 5137691"/>
              <a:gd name="connsiteY206" fmla="*/ 954087 h 3723310"/>
              <a:gd name="connsiteX207" fmla="*/ 1622366 w 5137691"/>
              <a:gd name="connsiteY207" fmla="*/ 1076005 h 3723310"/>
              <a:gd name="connsiteX208" fmla="*/ 1088015 w 5137691"/>
              <a:gd name="connsiteY208" fmla="*/ 1538117 h 3723310"/>
              <a:gd name="connsiteX209" fmla="*/ 1047011 w 5137691"/>
              <a:gd name="connsiteY209" fmla="*/ 1614249 h 3723310"/>
              <a:gd name="connsiteX210" fmla="*/ 545270 w 5137691"/>
              <a:gd name="connsiteY210" fmla="*/ 1944692 h 3723310"/>
              <a:gd name="connsiteX211" fmla="*/ 470627 w 5137691"/>
              <a:gd name="connsiteY211" fmla="*/ 1817545 h 3723310"/>
              <a:gd name="connsiteX212" fmla="*/ 879648 w 5137691"/>
              <a:gd name="connsiteY212" fmla="*/ 1544544 h 3723310"/>
              <a:gd name="connsiteX213" fmla="*/ 1100842 w 5137691"/>
              <a:gd name="connsiteY213" fmla="*/ 1445401 h 3723310"/>
              <a:gd name="connsiteX214" fmla="*/ 1437652 w 5137691"/>
              <a:gd name="connsiteY214" fmla="*/ 1110911 h 3723310"/>
              <a:gd name="connsiteX215" fmla="*/ 1208853 w 5137691"/>
              <a:gd name="connsiteY215" fmla="*/ 1171520 h 3723310"/>
              <a:gd name="connsiteX216" fmla="*/ 902537 w 5137691"/>
              <a:gd name="connsiteY216" fmla="*/ 1266085 h 3723310"/>
              <a:gd name="connsiteX217" fmla="*/ 781831 w 5137691"/>
              <a:gd name="connsiteY217" fmla="*/ 1350894 h 3723310"/>
              <a:gd name="connsiteX218" fmla="*/ 429373 w 5137691"/>
              <a:gd name="connsiteY218" fmla="*/ 1606317 h 3723310"/>
              <a:gd name="connsiteX219" fmla="*/ 81275 w 5137691"/>
              <a:gd name="connsiteY219" fmla="*/ 1598286 h 3723310"/>
              <a:gd name="connsiteX220" fmla="*/ 96005 w 5137691"/>
              <a:gd name="connsiteY220" fmla="*/ 1548721 h 3723310"/>
              <a:gd name="connsiteX221" fmla="*/ 587023 w 5137691"/>
              <a:gd name="connsiteY221" fmla="*/ 1202853 h 3723310"/>
              <a:gd name="connsiteX222" fmla="*/ 756337 w 5137691"/>
              <a:gd name="connsiteY222" fmla="*/ 1211585 h 3723310"/>
              <a:gd name="connsiteX223" fmla="*/ 870149 w 5137691"/>
              <a:gd name="connsiteY223" fmla="*/ 1218805 h 3723310"/>
              <a:gd name="connsiteX224" fmla="*/ 1590533 w 5137691"/>
              <a:gd name="connsiteY224" fmla="*/ 1008282 h 3723310"/>
              <a:gd name="connsiteX225" fmla="*/ 1747291 w 5137691"/>
              <a:gd name="connsiteY225" fmla="*/ 908980 h 3723310"/>
              <a:gd name="connsiteX226" fmla="*/ 2359623 w 5137691"/>
              <a:gd name="connsiteY226" fmla="*/ 289630 h 3723310"/>
              <a:gd name="connsiteX227" fmla="*/ 2068468 w 5137691"/>
              <a:gd name="connsiteY227" fmla="*/ 400733 h 3723310"/>
              <a:gd name="connsiteX228" fmla="*/ 1585301 w 5137691"/>
              <a:gd name="connsiteY228" fmla="*/ 660856 h 3723310"/>
              <a:gd name="connsiteX229" fmla="*/ 1332281 w 5137691"/>
              <a:gd name="connsiteY229" fmla="*/ 676980 h 3723310"/>
              <a:gd name="connsiteX230" fmla="*/ 1249799 w 5137691"/>
              <a:gd name="connsiteY230" fmla="*/ 638509 h 3723310"/>
              <a:gd name="connsiteX231" fmla="*/ 1271498 w 5137691"/>
              <a:gd name="connsiteY231" fmla="*/ 563307 h 3723310"/>
              <a:gd name="connsiteX232" fmla="*/ 1416744 w 5137691"/>
              <a:gd name="connsiteY232" fmla="*/ 431576 h 3723310"/>
              <a:gd name="connsiteX233" fmla="*/ 2139805 w 5137691"/>
              <a:gd name="connsiteY233" fmla="*/ 244759 h 3723310"/>
              <a:gd name="connsiteX234" fmla="*/ 2367937 w 5137691"/>
              <a:gd name="connsiteY234" fmla="*/ 211741 h 3723310"/>
              <a:gd name="connsiteX235" fmla="*/ 2480293 w 5137691"/>
              <a:gd name="connsiteY235" fmla="*/ 147221 h 3723310"/>
              <a:gd name="connsiteX236" fmla="*/ 1279469 w 5137691"/>
              <a:gd name="connsiteY236" fmla="*/ 0 h 3723310"/>
              <a:gd name="connsiteX237" fmla="*/ 1426070 w 5137691"/>
              <a:gd name="connsiteY237" fmla="*/ 0 h 3723310"/>
              <a:gd name="connsiteX238" fmla="*/ 1350504 w 5137691"/>
              <a:gd name="connsiteY238" fmla="*/ 33583 h 3723310"/>
              <a:gd name="connsiteX239" fmla="*/ 1284284 w 5137691"/>
              <a:gd name="connsiteY239" fmla="*/ 214818 h 3723310"/>
              <a:gd name="connsiteX240" fmla="*/ 900440 w 5137691"/>
              <a:gd name="connsiteY240" fmla="*/ 800862 h 3723310"/>
              <a:gd name="connsiteX241" fmla="*/ 658158 w 5137691"/>
              <a:gd name="connsiteY241" fmla="*/ 951189 h 3723310"/>
              <a:gd name="connsiteX242" fmla="*/ 598449 w 5137691"/>
              <a:gd name="connsiteY242" fmla="*/ 952495 h 3723310"/>
              <a:gd name="connsiteX243" fmla="*/ 583851 w 5137691"/>
              <a:gd name="connsiteY243" fmla="*/ 884927 h 3723310"/>
              <a:gd name="connsiteX244" fmla="*/ 821592 w 5137691"/>
              <a:gd name="connsiteY244" fmla="*/ 414254 h 3723310"/>
              <a:gd name="connsiteX245" fmla="*/ 1021039 w 5137691"/>
              <a:gd name="connsiteY245" fmla="*/ 198645 h 3723310"/>
              <a:gd name="connsiteX246" fmla="*/ 807695 w 5137691"/>
              <a:gd name="connsiteY246" fmla="*/ 343180 h 3723310"/>
              <a:gd name="connsiteX247" fmla="*/ 581023 w 5137691"/>
              <a:gd name="connsiteY247" fmla="*/ 563784 h 3723310"/>
              <a:gd name="connsiteX248" fmla="*/ 231835 w 5137691"/>
              <a:gd name="connsiteY248" fmla="*/ 748932 h 3723310"/>
              <a:gd name="connsiteX249" fmla="*/ 46357 w 5137691"/>
              <a:gd name="connsiteY249" fmla="*/ 772696 h 3723310"/>
              <a:gd name="connsiteX250" fmla="*/ 0 w 5137691"/>
              <a:gd name="connsiteY250" fmla="*/ 772842 h 3723310"/>
              <a:gd name="connsiteX251" fmla="*/ 0 w 5137691"/>
              <a:gd name="connsiteY251" fmla="*/ 708052 h 3723310"/>
              <a:gd name="connsiteX252" fmla="*/ 89067 w 5137691"/>
              <a:gd name="connsiteY252" fmla="*/ 704930 h 3723310"/>
              <a:gd name="connsiteX253" fmla="*/ 710775 w 5137691"/>
              <a:gd name="connsiteY253" fmla="*/ 339334 h 3723310"/>
              <a:gd name="connsiteX254" fmla="*/ 585997 w 5137691"/>
              <a:gd name="connsiteY254" fmla="*/ 392158 h 3723310"/>
              <a:gd name="connsiteX255" fmla="*/ 527576 w 5137691"/>
              <a:gd name="connsiteY255" fmla="*/ 393598 h 3723310"/>
              <a:gd name="connsiteX256" fmla="*/ 425698 w 5137691"/>
              <a:gd name="connsiteY256" fmla="*/ 384358 h 3723310"/>
              <a:gd name="connsiteX257" fmla="*/ 278288 w 5137691"/>
              <a:gd name="connsiteY257" fmla="*/ 429633 h 3723310"/>
              <a:gd name="connsiteX258" fmla="*/ 43518 w 5137691"/>
              <a:gd name="connsiteY258" fmla="*/ 533227 h 3723310"/>
              <a:gd name="connsiteX259" fmla="*/ 0 w 5137691"/>
              <a:gd name="connsiteY259" fmla="*/ 563132 h 3723310"/>
              <a:gd name="connsiteX260" fmla="*/ 0 w 5137691"/>
              <a:gd name="connsiteY260" fmla="*/ 500322 h 3723310"/>
              <a:gd name="connsiteX261" fmla="*/ 116366 w 5137691"/>
              <a:gd name="connsiteY261" fmla="*/ 435129 h 3723310"/>
              <a:gd name="connsiteX262" fmla="*/ 495997 w 5137691"/>
              <a:gd name="connsiteY262" fmla="*/ 302145 h 3723310"/>
              <a:gd name="connsiteX263" fmla="*/ 876112 w 5137691"/>
              <a:gd name="connsiteY263" fmla="*/ 190158 h 3723310"/>
              <a:gd name="connsiteX264" fmla="*/ 1091828 w 5137691"/>
              <a:gd name="connsiteY264" fmla="*/ 81338 h 3723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Lst>
            <a:rect l="l" t="t" r="r" b="b"/>
            <a:pathLst>
              <a:path w="5137691" h="3723310">
                <a:moveTo>
                  <a:pt x="659084" y="2921625"/>
                </a:moveTo>
                <a:cubicBezTo>
                  <a:pt x="558607" y="2987700"/>
                  <a:pt x="461032" y="3063187"/>
                  <a:pt x="431178" y="3187332"/>
                </a:cubicBezTo>
                <a:cubicBezTo>
                  <a:pt x="402231" y="3306039"/>
                  <a:pt x="390750" y="3428832"/>
                  <a:pt x="371969" y="3549893"/>
                </a:cubicBezTo>
                <a:cubicBezTo>
                  <a:pt x="379271" y="3551625"/>
                  <a:pt x="386573" y="3553356"/>
                  <a:pt x="393875" y="3555088"/>
                </a:cubicBezTo>
                <a:cubicBezTo>
                  <a:pt x="517397" y="3361559"/>
                  <a:pt x="596137" y="3148430"/>
                  <a:pt x="659084" y="2921625"/>
                </a:cubicBezTo>
                <a:close/>
                <a:moveTo>
                  <a:pt x="773656" y="2824142"/>
                </a:moveTo>
                <a:cubicBezTo>
                  <a:pt x="742422" y="2894127"/>
                  <a:pt x="699379" y="2961915"/>
                  <a:pt x="683107" y="3035075"/>
                </a:cubicBezTo>
                <a:cubicBezTo>
                  <a:pt x="651273" y="3180817"/>
                  <a:pt x="583685" y="3310821"/>
                  <a:pt x="523193" y="3444488"/>
                </a:cubicBezTo>
                <a:cubicBezTo>
                  <a:pt x="509661" y="3473675"/>
                  <a:pt x="481606" y="3501687"/>
                  <a:pt x="493950" y="3544616"/>
                </a:cubicBezTo>
                <a:cubicBezTo>
                  <a:pt x="645605" y="3422985"/>
                  <a:pt x="806238" y="3031218"/>
                  <a:pt x="773656" y="2824142"/>
                </a:cubicBezTo>
                <a:close/>
                <a:moveTo>
                  <a:pt x="906895" y="2579229"/>
                </a:moveTo>
                <a:cubicBezTo>
                  <a:pt x="866845" y="2628127"/>
                  <a:pt x="847366" y="2655072"/>
                  <a:pt x="896608" y="2696939"/>
                </a:cubicBezTo>
                <a:cubicBezTo>
                  <a:pt x="900018" y="2658893"/>
                  <a:pt x="902398" y="2630504"/>
                  <a:pt x="906895" y="2579229"/>
                </a:cubicBezTo>
                <a:close/>
                <a:moveTo>
                  <a:pt x="1003958" y="2517682"/>
                </a:moveTo>
                <a:cubicBezTo>
                  <a:pt x="932650" y="2713033"/>
                  <a:pt x="918244" y="2902882"/>
                  <a:pt x="1054389" y="3079021"/>
                </a:cubicBezTo>
                <a:cubicBezTo>
                  <a:pt x="1094458" y="2886620"/>
                  <a:pt x="1051674" y="2701918"/>
                  <a:pt x="1003958" y="2517682"/>
                </a:cubicBezTo>
                <a:close/>
                <a:moveTo>
                  <a:pt x="744142" y="2402290"/>
                </a:moveTo>
                <a:cubicBezTo>
                  <a:pt x="490541" y="2432998"/>
                  <a:pt x="123652" y="2658944"/>
                  <a:pt x="99596" y="2734878"/>
                </a:cubicBezTo>
                <a:cubicBezTo>
                  <a:pt x="185767" y="2717435"/>
                  <a:pt x="533003" y="2510933"/>
                  <a:pt x="744142" y="2402290"/>
                </a:cubicBezTo>
                <a:close/>
                <a:moveTo>
                  <a:pt x="1068601" y="2384771"/>
                </a:moveTo>
                <a:cubicBezTo>
                  <a:pt x="1096774" y="2630113"/>
                  <a:pt x="1122050" y="2850752"/>
                  <a:pt x="1147707" y="3076961"/>
                </a:cubicBezTo>
                <a:cubicBezTo>
                  <a:pt x="1252303" y="2856418"/>
                  <a:pt x="1223713" y="2547903"/>
                  <a:pt x="1068601" y="2384771"/>
                </a:cubicBezTo>
                <a:close/>
                <a:moveTo>
                  <a:pt x="934540" y="2375130"/>
                </a:moveTo>
                <a:cubicBezTo>
                  <a:pt x="740562" y="2417539"/>
                  <a:pt x="81585" y="2802976"/>
                  <a:pt x="84219" y="2833186"/>
                </a:cubicBezTo>
                <a:cubicBezTo>
                  <a:pt x="160319" y="2818607"/>
                  <a:pt x="205959" y="2854569"/>
                  <a:pt x="269550" y="2841297"/>
                </a:cubicBezTo>
                <a:cubicBezTo>
                  <a:pt x="421737" y="2809209"/>
                  <a:pt x="567559" y="2760516"/>
                  <a:pt x="695816" y="2669005"/>
                </a:cubicBezTo>
                <a:cubicBezTo>
                  <a:pt x="800830" y="2593963"/>
                  <a:pt x="892710" y="2507798"/>
                  <a:pt x="934540" y="2375130"/>
                </a:cubicBezTo>
                <a:close/>
                <a:moveTo>
                  <a:pt x="2466566" y="1413263"/>
                </a:moveTo>
                <a:cubicBezTo>
                  <a:pt x="2409592" y="1517029"/>
                  <a:pt x="2360285" y="1805120"/>
                  <a:pt x="2384187" y="1907493"/>
                </a:cubicBezTo>
                <a:cubicBezTo>
                  <a:pt x="2461718" y="1745326"/>
                  <a:pt x="2525710" y="1594125"/>
                  <a:pt x="2466566" y="1413263"/>
                </a:cubicBezTo>
                <a:close/>
                <a:moveTo>
                  <a:pt x="2384254" y="1364070"/>
                </a:moveTo>
                <a:cubicBezTo>
                  <a:pt x="2255273" y="1486746"/>
                  <a:pt x="2209761" y="1775879"/>
                  <a:pt x="2286288" y="1925023"/>
                </a:cubicBezTo>
                <a:cubicBezTo>
                  <a:pt x="2320549" y="1729094"/>
                  <a:pt x="2352079" y="1546548"/>
                  <a:pt x="2384254" y="1364070"/>
                </a:cubicBezTo>
                <a:close/>
                <a:moveTo>
                  <a:pt x="2728377" y="1165380"/>
                </a:moveTo>
                <a:cubicBezTo>
                  <a:pt x="2703165" y="1468655"/>
                  <a:pt x="2783295" y="1657220"/>
                  <a:pt x="3003048" y="1736253"/>
                </a:cubicBezTo>
                <a:cubicBezTo>
                  <a:pt x="2983797" y="1651282"/>
                  <a:pt x="2967944" y="1574148"/>
                  <a:pt x="2948375" y="1498255"/>
                </a:cubicBezTo>
                <a:cubicBezTo>
                  <a:pt x="2944448" y="1483206"/>
                  <a:pt x="2927767" y="1462606"/>
                  <a:pt x="2914601" y="1460919"/>
                </a:cubicBezTo>
                <a:cubicBezTo>
                  <a:pt x="2865087" y="1455145"/>
                  <a:pt x="2864197" y="1414703"/>
                  <a:pt x="2852040" y="1382206"/>
                </a:cubicBezTo>
                <a:cubicBezTo>
                  <a:pt x="2822951" y="1304027"/>
                  <a:pt x="2795931" y="1224761"/>
                  <a:pt x="2728377" y="1165380"/>
                </a:cubicBezTo>
                <a:close/>
                <a:moveTo>
                  <a:pt x="2806912" y="1118837"/>
                </a:moveTo>
                <a:cubicBezTo>
                  <a:pt x="2799361" y="1125540"/>
                  <a:pt x="2791522" y="1131888"/>
                  <a:pt x="2783682" y="1138236"/>
                </a:cubicBezTo>
                <a:cubicBezTo>
                  <a:pt x="2819346" y="1182277"/>
                  <a:pt x="2857859" y="1224009"/>
                  <a:pt x="2889384" y="1270224"/>
                </a:cubicBezTo>
                <a:cubicBezTo>
                  <a:pt x="2927893" y="1327250"/>
                  <a:pt x="2968978" y="1384542"/>
                  <a:pt x="2994783" y="1447738"/>
                </a:cubicBezTo>
                <a:cubicBezTo>
                  <a:pt x="3023409" y="1518060"/>
                  <a:pt x="3035688" y="1595149"/>
                  <a:pt x="3056463" y="1668888"/>
                </a:cubicBezTo>
                <a:cubicBezTo>
                  <a:pt x="3062346" y="1689998"/>
                  <a:pt x="3072233" y="1710219"/>
                  <a:pt x="3083513" y="1738721"/>
                </a:cubicBezTo>
                <a:cubicBezTo>
                  <a:pt x="3137166" y="1611180"/>
                  <a:pt x="3091191" y="1465523"/>
                  <a:pt x="3025360" y="1292428"/>
                </a:cubicBezTo>
                <a:cubicBezTo>
                  <a:pt x="2986728" y="1190809"/>
                  <a:pt x="2910047" y="1137644"/>
                  <a:pt x="2806912" y="1118837"/>
                </a:cubicBezTo>
                <a:close/>
                <a:moveTo>
                  <a:pt x="2211503" y="1091728"/>
                </a:moveTo>
                <a:cubicBezTo>
                  <a:pt x="2148880" y="1163020"/>
                  <a:pt x="2085901" y="1234603"/>
                  <a:pt x="2023347" y="1305252"/>
                </a:cubicBezTo>
                <a:cubicBezTo>
                  <a:pt x="2029524" y="1311423"/>
                  <a:pt x="2035344" y="1317883"/>
                  <a:pt x="2041522" y="1324054"/>
                </a:cubicBezTo>
                <a:cubicBezTo>
                  <a:pt x="2123089" y="1267411"/>
                  <a:pt x="2189944" y="1199160"/>
                  <a:pt x="2211503" y="1091728"/>
                </a:cubicBezTo>
                <a:close/>
                <a:moveTo>
                  <a:pt x="2168237" y="1042670"/>
                </a:moveTo>
                <a:cubicBezTo>
                  <a:pt x="2064027" y="1088835"/>
                  <a:pt x="1975743" y="1196196"/>
                  <a:pt x="2005655" y="1233134"/>
                </a:cubicBezTo>
                <a:cubicBezTo>
                  <a:pt x="2059945" y="1169764"/>
                  <a:pt x="2113948" y="1106040"/>
                  <a:pt x="2168237" y="1042670"/>
                </a:cubicBezTo>
                <a:close/>
                <a:moveTo>
                  <a:pt x="4080539" y="827257"/>
                </a:moveTo>
                <a:cubicBezTo>
                  <a:pt x="4084837" y="927276"/>
                  <a:pt x="4086520" y="1018239"/>
                  <a:pt x="4092849" y="1108381"/>
                </a:cubicBezTo>
                <a:cubicBezTo>
                  <a:pt x="4098739" y="1196525"/>
                  <a:pt x="4139226" y="1280764"/>
                  <a:pt x="4132014" y="1381869"/>
                </a:cubicBezTo>
                <a:cubicBezTo>
                  <a:pt x="4106287" y="1369772"/>
                  <a:pt x="4083600" y="1365797"/>
                  <a:pt x="4082492" y="1357873"/>
                </a:cubicBezTo>
                <a:cubicBezTo>
                  <a:pt x="4056497" y="1201916"/>
                  <a:pt x="4032572" y="1044872"/>
                  <a:pt x="4009383" y="893112"/>
                </a:cubicBezTo>
                <a:cubicBezTo>
                  <a:pt x="3803072" y="1026659"/>
                  <a:pt x="3783229" y="1462605"/>
                  <a:pt x="4072306" y="1761300"/>
                </a:cubicBezTo>
                <a:cubicBezTo>
                  <a:pt x="4323615" y="1532508"/>
                  <a:pt x="4336833" y="987842"/>
                  <a:pt x="4080539" y="827257"/>
                </a:cubicBezTo>
                <a:close/>
                <a:moveTo>
                  <a:pt x="4412492" y="559624"/>
                </a:moveTo>
                <a:cubicBezTo>
                  <a:pt x="4471574" y="677026"/>
                  <a:pt x="4612948" y="740139"/>
                  <a:pt x="4617392" y="890611"/>
                </a:cubicBezTo>
                <a:cubicBezTo>
                  <a:pt x="4535846" y="803751"/>
                  <a:pt x="4473401" y="702597"/>
                  <a:pt x="4369105" y="630629"/>
                </a:cubicBezTo>
                <a:cubicBezTo>
                  <a:pt x="4414386" y="929157"/>
                  <a:pt x="4538645" y="1085518"/>
                  <a:pt x="4810227" y="1127284"/>
                </a:cubicBezTo>
                <a:cubicBezTo>
                  <a:pt x="4805222" y="799081"/>
                  <a:pt x="4657265" y="587227"/>
                  <a:pt x="4412492" y="559624"/>
                </a:cubicBezTo>
                <a:close/>
                <a:moveTo>
                  <a:pt x="3754486" y="313872"/>
                </a:moveTo>
                <a:cubicBezTo>
                  <a:pt x="3725125" y="354113"/>
                  <a:pt x="3698314" y="388762"/>
                  <a:pt x="3673942" y="424963"/>
                </a:cubicBezTo>
                <a:cubicBezTo>
                  <a:pt x="3612340" y="517188"/>
                  <a:pt x="3553245" y="610323"/>
                  <a:pt x="3490493" y="701127"/>
                </a:cubicBezTo>
                <a:cubicBezTo>
                  <a:pt x="3480117" y="715999"/>
                  <a:pt x="3456974" y="722390"/>
                  <a:pt x="3439282" y="732600"/>
                </a:cubicBezTo>
                <a:cubicBezTo>
                  <a:pt x="3433461" y="726140"/>
                  <a:pt x="3427353" y="719325"/>
                  <a:pt x="3421532" y="712866"/>
                </a:cubicBezTo>
                <a:cubicBezTo>
                  <a:pt x="3477433" y="625258"/>
                  <a:pt x="3533978" y="537716"/>
                  <a:pt x="3590235" y="449820"/>
                </a:cubicBezTo>
                <a:cubicBezTo>
                  <a:pt x="3445501" y="567611"/>
                  <a:pt x="3321917" y="697678"/>
                  <a:pt x="3307188" y="911899"/>
                </a:cubicBezTo>
                <a:cubicBezTo>
                  <a:pt x="3350443" y="909215"/>
                  <a:pt x="3372692" y="911193"/>
                  <a:pt x="3393054" y="906465"/>
                </a:cubicBezTo>
                <a:cubicBezTo>
                  <a:pt x="3586019" y="861349"/>
                  <a:pt x="3761528" y="650421"/>
                  <a:pt x="3776927" y="442126"/>
                </a:cubicBezTo>
                <a:cubicBezTo>
                  <a:pt x="3779544" y="402372"/>
                  <a:pt x="3797794" y="356426"/>
                  <a:pt x="3754486" y="313872"/>
                </a:cubicBezTo>
                <a:close/>
                <a:moveTo>
                  <a:pt x="1133888" y="214876"/>
                </a:moveTo>
                <a:cubicBezTo>
                  <a:pt x="887880" y="363516"/>
                  <a:pt x="748401" y="587609"/>
                  <a:pt x="660639" y="863910"/>
                </a:cubicBezTo>
                <a:cubicBezTo>
                  <a:pt x="834432" y="833731"/>
                  <a:pt x="1048293" y="611152"/>
                  <a:pt x="1108084" y="398665"/>
                </a:cubicBezTo>
                <a:cubicBezTo>
                  <a:pt x="1059427" y="458062"/>
                  <a:pt x="1022910" y="513507"/>
                  <a:pt x="975613" y="557099"/>
                </a:cubicBezTo>
                <a:cubicBezTo>
                  <a:pt x="933375" y="596008"/>
                  <a:pt x="912619" y="674562"/>
                  <a:pt x="811923" y="657310"/>
                </a:cubicBezTo>
                <a:cubicBezTo>
                  <a:pt x="880947" y="577893"/>
                  <a:pt x="943595" y="512460"/>
                  <a:pt x="998135" y="440657"/>
                </a:cubicBezTo>
                <a:cubicBezTo>
                  <a:pt x="1051468" y="371005"/>
                  <a:pt x="1111390" y="303663"/>
                  <a:pt x="1133888" y="214876"/>
                </a:cubicBezTo>
                <a:close/>
                <a:moveTo>
                  <a:pt x="4685407" y="0"/>
                </a:moveTo>
                <a:lnTo>
                  <a:pt x="4770408" y="0"/>
                </a:lnTo>
                <a:lnTo>
                  <a:pt x="4810333" y="31801"/>
                </a:lnTo>
                <a:cubicBezTo>
                  <a:pt x="4876282" y="76585"/>
                  <a:pt x="4951954" y="113661"/>
                  <a:pt x="5034638" y="141089"/>
                </a:cubicBezTo>
                <a:cubicBezTo>
                  <a:pt x="5039118" y="98355"/>
                  <a:pt x="5040613" y="57376"/>
                  <a:pt x="5039361" y="18254"/>
                </a:cubicBezTo>
                <a:lnTo>
                  <a:pt x="5037438" y="0"/>
                </a:lnTo>
                <a:lnTo>
                  <a:pt x="5107568" y="0"/>
                </a:lnTo>
                <a:lnTo>
                  <a:pt x="5114876" y="38763"/>
                </a:lnTo>
                <a:cubicBezTo>
                  <a:pt x="5131015" y="116852"/>
                  <a:pt x="5149658" y="204078"/>
                  <a:pt x="5127595" y="236940"/>
                </a:cubicBezTo>
                <a:cubicBezTo>
                  <a:pt x="5104066" y="253053"/>
                  <a:pt x="5080177" y="235939"/>
                  <a:pt x="5061109" y="225505"/>
                </a:cubicBezTo>
                <a:cubicBezTo>
                  <a:pt x="4948205" y="164036"/>
                  <a:pt x="4831175" y="107673"/>
                  <a:pt x="4727085" y="33775"/>
                </a:cubicBezTo>
                <a:close/>
                <a:moveTo>
                  <a:pt x="4003152" y="0"/>
                </a:moveTo>
                <a:lnTo>
                  <a:pt x="4132176" y="0"/>
                </a:lnTo>
                <a:lnTo>
                  <a:pt x="4123986" y="63465"/>
                </a:lnTo>
                <a:cubicBezTo>
                  <a:pt x="4116445" y="121909"/>
                  <a:pt x="4114343" y="181241"/>
                  <a:pt x="4104583" y="239130"/>
                </a:cubicBezTo>
                <a:cubicBezTo>
                  <a:pt x="4096291" y="289362"/>
                  <a:pt x="4114806" y="320238"/>
                  <a:pt x="4153843" y="350960"/>
                </a:cubicBezTo>
                <a:cubicBezTo>
                  <a:pt x="4231988" y="411761"/>
                  <a:pt x="4309231" y="462707"/>
                  <a:pt x="4411323" y="488238"/>
                </a:cubicBezTo>
                <a:cubicBezTo>
                  <a:pt x="4669771" y="552400"/>
                  <a:pt x="4834954" y="712670"/>
                  <a:pt x="4864485" y="991020"/>
                </a:cubicBezTo>
                <a:cubicBezTo>
                  <a:pt x="4872093" y="1063071"/>
                  <a:pt x="4919109" y="1168486"/>
                  <a:pt x="4905378" y="1217830"/>
                </a:cubicBezTo>
                <a:cubicBezTo>
                  <a:pt x="4862796" y="1259957"/>
                  <a:pt x="4723238" y="1170674"/>
                  <a:pt x="4640632" y="1136420"/>
                </a:cubicBezTo>
                <a:cubicBezTo>
                  <a:pt x="4517477" y="1085606"/>
                  <a:pt x="4422352" y="1000920"/>
                  <a:pt x="4377015" y="870623"/>
                </a:cubicBezTo>
                <a:cubicBezTo>
                  <a:pt x="4350652" y="794353"/>
                  <a:pt x="4311848" y="718748"/>
                  <a:pt x="4304571" y="640549"/>
                </a:cubicBezTo>
                <a:cubicBezTo>
                  <a:pt x="4296254" y="553781"/>
                  <a:pt x="4253045" y="501149"/>
                  <a:pt x="4193118" y="452646"/>
                </a:cubicBezTo>
                <a:cubicBezTo>
                  <a:pt x="4167929" y="432468"/>
                  <a:pt x="4140395" y="415952"/>
                  <a:pt x="4094850" y="385207"/>
                </a:cubicBezTo>
                <a:cubicBezTo>
                  <a:pt x="4091977" y="497501"/>
                  <a:pt x="4085233" y="591171"/>
                  <a:pt x="4089643" y="684043"/>
                </a:cubicBezTo>
                <a:cubicBezTo>
                  <a:pt x="4091196" y="712189"/>
                  <a:pt x="4119287" y="741779"/>
                  <a:pt x="4140489" y="765775"/>
                </a:cubicBezTo>
                <a:cubicBezTo>
                  <a:pt x="4286309" y="930549"/>
                  <a:pt x="4318661" y="1133697"/>
                  <a:pt x="4328143" y="1340660"/>
                </a:cubicBezTo>
                <a:cubicBezTo>
                  <a:pt x="4334062" y="1468181"/>
                  <a:pt x="4280576" y="1585001"/>
                  <a:pt x="4211174" y="1692363"/>
                </a:cubicBezTo>
                <a:cubicBezTo>
                  <a:pt x="4173738" y="1750318"/>
                  <a:pt x="4136658" y="1807983"/>
                  <a:pt x="4096384" y="1871176"/>
                </a:cubicBezTo>
                <a:cubicBezTo>
                  <a:pt x="4093808" y="1870909"/>
                  <a:pt x="4078517" y="1873883"/>
                  <a:pt x="4073915" y="1868200"/>
                </a:cubicBezTo>
                <a:cubicBezTo>
                  <a:pt x="3975404" y="1745092"/>
                  <a:pt x="3876742" y="1620340"/>
                  <a:pt x="3830235" y="1467468"/>
                </a:cubicBezTo>
                <a:cubicBezTo>
                  <a:pt x="3765307" y="1255419"/>
                  <a:pt x="3782431" y="1049255"/>
                  <a:pt x="3928554" y="872709"/>
                </a:cubicBezTo>
                <a:cubicBezTo>
                  <a:pt x="4054117" y="721044"/>
                  <a:pt x="4039186" y="543779"/>
                  <a:pt x="4041572" y="368957"/>
                </a:cubicBezTo>
                <a:cubicBezTo>
                  <a:pt x="4041882" y="341654"/>
                  <a:pt x="4002857" y="313862"/>
                  <a:pt x="3976315" y="278901"/>
                </a:cubicBezTo>
                <a:cubicBezTo>
                  <a:pt x="3999514" y="268935"/>
                  <a:pt x="4020644" y="260059"/>
                  <a:pt x="4052764" y="245809"/>
                </a:cubicBezTo>
                <a:cubicBezTo>
                  <a:pt x="4059291" y="184658"/>
                  <a:pt x="4067206" y="113561"/>
                  <a:pt x="4077058" y="27371"/>
                </a:cubicBezTo>
                <a:cubicBezTo>
                  <a:pt x="3993827" y="63016"/>
                  <a:pt x="3954978" y="125053"/>
                  <a:pt x="3902474" y="171686"/>
                </a:cubicBezTo>
                <a:cubicBezTo>
                  <a:pt x="3842063" y="225311"/>
                  <a:pt x="3836398" y="287528"/>
                  <a:pt x="3839430" y="359757"/>
                </a:cubicBezTo>
                <a:cubicBezTo>
                  <a:pt x="3851062" y="616730"/>
                  <a:pt x="3707776" y="788039"/>
                  <a:pt x="3511342" y="923585"/>
                </a:cubicBezTo>
                <a:cubicBezTo>
                  <a:pt x="3465283" y="955591"/>
                  <a:pt x="3401736" y="962357"/>
                  <a:pt x="3345310" y="978648"/>
                </a:cubicBezTo>
                <a:cubicBezTo>
                  <a:pt x="3288240" y="994870"/>
                  <a:pt x="3262562" y="960974"/>
                  <a:pt x="3251411" y="912962"/>
                </a:cubicBezTo>
                <a:cubicBezTo>
                  <a:pt x="3234431" y="840266"/>
                  <a:pt x="3259676" y="774543"/>
                  <a:pt x="3294880" y="713104"/>
                </a:cubicBezTo>
                <a:cubicBezTo>
                  <a:pt x="3383739" y="557641"/>
                  <a:pt x="3496940" y="424222"/>
                  <a:pt x="3641287" y="316153"/>
                </a:cubicBezTo>
                <a:cubicBezTo>
                  <a:pt x="3722690" y="254938"/>
                  <a:pt x="3796466" y="182847"/>
                  <a:pt x="3873337" y="115305"/>
                </a:cubicBezTo>
                <a:cubicBezTo>
                  <a:pt x="3900980" y="91156"/>
                  <a:pt x="3924089" y="60682"/>
                  <a:pt x="3954827" y="41083"/>
                </a:cubicBezTo>
                <a:close/>
                <a:moveTo>
                  <a:pt x="3231589" y="0"/>
                </a:moveTo>
                <a:lnTo>
                  <a:pt x="3312011" y="0"/>
                </a:lnTo>
                <a:lnTo>
                  <a:pt x="3310368" y="16057"/>
                </a:lnTo>
                <a:cubicBezTo>
                  <a:pt x="3325242" y="15847"/>
                  <a:pt x="3340695" y="14192"/>
                  <a:pt x="3356599" y="11189"/>
                </a:cubicBezTo>
                <a:lnTo>
                  <a:pt x="3398860" y="0"/>
                </a:lnTo>
                <a:lnTo>
                  <a:pt x="3521426" y="0"/>
                </a:lnTo>
                <a:lnTo>
                  <a:pt x="3450288" y="40946"/>
                </a:lnTo>
                <a:cubicBezTo>
                  <a:pt x="3387281" y="73151"/>
                  <a:pt x="3245717" y="130745"/>
                  <a:pt x="3224898" y="112320"/>
                </a:cubicBezTo>
                <a:cubicBezTo>
                  <a:pt x="3217386" y="103408"/>
                  <a:pt x="3217289" y="77060"/>
                  <a:pt x="3223079" y="40542"/>
                </a:cubicBezTo>
                <a:close/>
                <a:moveTo>
                  <a:pt x="2713325" y="0"/>
                </a:moveTo>
                <a:lnTo>
                  <a:pt x="2801116" y="0"/>
                </a:lnTo>
                <a:lnTo>
                  <a:pt x="2771239" y="53358"/>
                </a:lnTo>
                <a:cubicBezTo>
                  <a:pt x="2734532" y="127500"/>
                  <a:pt x="2701305" y="203767"/>
                  <a:pt x="2671323" y="281854"/>
                </a:cubicBezTo>
                <a:cubicBezTo>
                  <a:pt x="2637809" y="370152"/>
                  <a:pt x="2589485" y="456917"/>
                  <a:pt x="2609018" y="557536"/>
                </a:cubicBezTo>
                <a:cubicBezTo>
                  <a:pt x="2609317" y="560821"/>
                  <a:pt x="2608193" y="565261"/>
                  <a:pt x="2606274" y="567991"/>
                </a:cubicBezTo>
                <a:cubicBezTo>
                  <a:pt x="2516682" y="702877"/>
                  <a:pt x="2589179" y="813532"/>
                  <a:pt x="2661306" y="921545"/>
                </a:cubicBezTo>
                <a:cubicBezTo>
                  <a:pt x="2683985" y="956107"/>
                  <a:pt x="2721146" y="983055"/>
                  <a:pt x="2755651" y="1007451"/>
                </a:cubicBezTo>
                <a:cubicBezTo>
                  <a:pt x="2785348" y="1028096"/>
                  <a:pt x="2819609" y="1045633"/>
                  <a:pt x="2854694" y="1055446"/>
                </a:cubicBezTo>
                <a:cubicBezTo>
                  <a:pt x="3017803" y="1100958"/>
                  <a:pt x="3079430" y="1228060"/>
                  <a:pt x="3129406" y="1372830"/>
                </a:cubicBezTo>
                <a:cubicBezTo>
                  <a:pt x="3189306" y="1546613"/>
                  <a:pt x="3179580" y="1875569"/>
                  <a:pt x="3143254" y="1892637"/>
                </a:cubicBezTo>
                <a:cubicBezTo>
                  <a:pt x="2972655" y="1917289"/>
                  <a:pt x="2701922" y="1626674"/>
                  <a:pt x="2672087" y="1393850"/>
                </a:cubicBezTo>
                <a:cubicBezTo>
                  <a:pt x="2657724" y="1281400"/>
                  <a:pt x="2654295" y="1167153"/>
                  <a:pt x="2645908" y="1047511"/>
                </a:cubicBezTo>
                <a:cubicBezTo>
                  <a:pt x="2627207" y="1039719"/>
                  <a:pt x="2601987" y="1028974"/>
                  <a:pt x="2570535" y="1015633"/>
                </a:cubicBezTo>
                <a:cubicBezTo>
                  <a:pt x="2585724" y="989219"/>
                  <a:pt x="2597362" y="968621"/>
                  <a:pt x="2610208" y="945870"/>
                </a:cubicBezTo>
                <a:cubicBezTo>
                  <a:pt x="2591281" y="918855"/>
                  <a:pt x="2572287" y="892485"/>
                  <a:pt x="2538036" y="844360"/>
                </a:cubicBezTo>
                <a:cubicBezTo>
                  <a:pt x="2514095" y="1028992"/>
                  <a:pt x="2431526" y="1183478"/>
                  <a:pt x="2512867" y="1354598"/>
                </a:cubicBezTo>
                <a:cubicBezTo>
                  <a:pt x="2572125" y="1479502"/>
                  <a:pt x="2561684" y="1610863"/>
                  <a:pt x="2518702" y="1742111"/>
                </a:cubicBezTo>
                <a:cubicBezTo>
                  <a:pt x="2469933" y="1890983"/>
                  <a:pt x="2406097" y="2028534"/>
                  <a:pt x="2275616" y="2134783"/>
                </a:cubicBezTo>
                <a:cubicBezTo>
                  <a:pt x="2256225" y="2148722"/>
                  <a:pt x="2245263" y="2111142"/>
                  <a:pt x="2241266" y="2096736"/>
                </a:cubicBezTo>
                <a:cubicBezTo>
                  <a:pt x="2179626" y="1884376"/>
                  <a:pt x="2162240" y="1669110"/>
                  <a:pt x="2231827" y="1456335"/>
                </a:cubicBezTo>
                <a:cubicBezTo>
                  <a:pt x="2253633" y="1389279"/>
                  <a:pt x="2309962" y="1334256"/>
                  <a:pt x="2348810" y="1272217"/>
                </a:cubicBezTo>
                <a:cubicBezTo>
                  <a:pt x="2373883" y="1232508"/>
                  <a:pt x="2406038" y="1193533"/>
                  <a:pt x="2416218" y="1150005"/>
                </a:cubicBezTo>
                <a:cubicBezTo>
                  <a:pt x="2450271" y="1004817"/>
                  <a:pt x="2476378" y="857831"/>
                  <a:pt x="2493456" y="706982"/>
                </a:cubicBezTo>
                <a:cubicBezTo>
                  <a:pt x="2411430" y="789284"/>
                  <a:pt x="2314735" y="853472"/>
                  <a:pt x="2313690" y="991337"/>
                </a:cubicBezTo>
                <a:cubicBezTo>
                  <a:pt x="2311990" y="1208533"/>
                  <a:pt x="2147439" y="1341195"/>
                  <a:pt x="1985609" y="1408731"/>
                </a:cubicBezTo>
                <a:cubicBezTo>
                  <a:pt x="1934853" y="1429839"/>
                  <a:pt x="1817778" y="1346461"/>
                  <a:pt x="1918730" y="1208846"/>
                </a:cubicBezTo>
                <a:cubicBezTo>
                  <a:pt x="1993345" y="1083149"/>
                  <a:pt x="2096531" y="982536"/>
                  <a:pt x="2213019" y="897616"/>
                </a:cubicBezTo>
                <a:cubicBezTo>
                  <a:pt x="2338343" y="806128"/>
                  <a:pt x="2409619" y="669020"/>
                  <a:pt x="2517219" y="563658"/>
                </a:cubicBezTo>
                <a:cubicBezTo>
                  <a:pt x="2529540" y="551917"/>
                  <a:pt x="2533383" y="531163"/>
                  <a:pt x="2539459" y="513894"/>
                </a:cubicBezTo>
                <a:cubicBezTo>
                  <a:pt x="2594147" y="361404"/>
                  <a:pt x="2648124" y="209492"/>
                  <a:pt x="2702456" y="57291"/>
                </a:cubicBezTo>
                <a:cubicBezTo>
                  <a:pt x="2707084" y="44428"/>
                  <a:pt x="2711390" y="31532"/>
                  <a:pt x="2713671" y="17409"/>
                </a:cubicBezTo>
                <a:close/>
                <a:moveTo>
                  <a:pt x="2615215" y="0"/>
                </a:moveTo>
                <a:lnTo>
                  <a:pt x="2683886" y="0"/>
                </a:lnTo>
                <a:lnTo>
                  <a:pt x="2615765" y="70449"/>
                </a:lnTo>
                <a:cubicBezTo>
                  <a:pt x="2443506" y="272276"/>
                  <a:pt x="2268590" y="471551"/>
                  <a:pt x="2101714" y="677840"/>
                </a:cubicBezTo>
                <a:cubicBezTo>
                  <a:pt x="1945364" y="870900"/>
                  <a:pt x="1795836" y="1070198"/>
                  <a:pt x="1647883" y="1269985"/>
                </a:cubicBezTo>
                <a:cubicBezTo>
                  <a:pt x="1540599" y="1415080"/>
                  <a:pt x="1501415" y="1580889"/>
                  <a:pt x="1520717" y="1759907"/>
                </a:cubicBezTo>
                <a:cubicBezTo>
                  <a:pt x="1523326" y="1784258"/>
                  <a:pt x="1527823" y="1815311"/>
                  <a:pt x="1543766" y="1830628"/>
                </a:cubicBezTo>
                <a:cubicBezTo>
                  <a:pt x="1658106" y="1942683"/>
                  <a:pt x="1640044" y="2081390"/>
                  <a:pt x="1614449" y="2214437"/>
                </a:cubicBezTo>
                <a:cubicBezTo>
                  <a:pt x="1596540" y="2305976"/>
                  <a:pt x="1553273" y="2470386"/>
                  <a:pt x="1518347" y="2480439"/>
                </a:cubicBezTo>
                <a:cubicBezTo>
                  <a:pt x="1419917" y="2441945"/>
                  <a:pt x="1340337" y="2330558"/>
                  <a:pt x="1333958" y="2228696"/>
                </a:cubicBezTo>
                <a:cubicBezTo>
                  <a:pt x="1327047" y="2119620"/>
                  <a:pt x="1351988" y="2017093"/>
                  <a:pt x="1393891" y="1917299"/>
                </a:cubicBezTo>
                <a:cubicBezTo>
                  <a:pt x="1435587" y="1819435"/>
                  <a:pt x="1480215" y="1721549"/>
                  <a:pt x="1444276" y="1597756"/>
                </a:cubicBezTo>
                <a:cubicBezTo>
                  <a:pt x="1426211" y="1620618"/>
                  <a:pt x="1409833" y="1636820"/>
                  <a:pt x="1398976" y="1656198"/>
                </a:cubicBezTo>
                <a:cubicBezTo>
                  <a:pt x="1307990" y="1816321"/>
                  <a:pt x="1221595" y="1979197"/>
                  <a:pt x="1126020" y="2136568"/>
                </a:cubicBezTo>
                <a:cubicBezTo>
                  <a:pt x="1084909" y="2204555"/>
                  <a:pt x="1102743" y="2260093"/>
                  <a:pt x="1129825" y="2320491"/>
                </a:cubicBezTo>
                <a:cubicBezTo>
                  <a:pt x="1132714" y="2326973"/>
                  <a:pt x="1139384" y="2331569"/>
                  <a:pt x="1143273" y="2337828"/>
                </a:cubicBezTo>
                <a:cubicBezTo>
                  <a:pt x="1331962" y="2640780"/>
                  <a:pt x="1296787" y="2906252"/>
                  <a:pt x="1156978" y="3218822"/>
                </a:cubicBezTo>
                <a:cubicBezTo>
                  <a:pt x="1147627" y="3239331"/>
                  <a:pt x="1135596" y="3284945"/>
                  <a:pt x="1116365" y="3269939"/>
                </a:cubicBezTo>
                <a:cubicBezTo>
                  <a:pt x="984182" y="3132933"/>
                  <a:pt x="898820" y="2975065"/>
                  <a:pt x="883236" y="2779510"/>
                </a:cubicBezTo>
                <a:cubicBezTo>
                  <a:pt x="858965" y="2887963"/>
                  <a:pt x="842858" y="2999213"/>
                  <a:pt x="808845" y="3104380"/>
                </a:cubicBezTo>
                <a:cubicBezTo>
                  <a:pt x="744139" y="3304970"/>
                  <a:pt x="661597" y="3498832"/>
                  <a:pt x="488550" y="3634846"/>
                </a:cubicBezTo>
                <a:cubicBezTo>
                  <a:pt x="446643" y="3667606"/>
                  <a:pt x="346628" y="3741539"/>
                  <a:pt x="328509" y="3719164"/>
                </a:cubicBezTo>
                <a:cubicBezTo>
                  <a:pt x="308952" y="3695012"/>
                  <a:pt x="315042" y="3631863"/>
                  <a:pt x="318672" y="3594817"/>
                </a:cubicBezTo>
                <a:cubicBezTo>
                  <a:pt x="329065" y="3485254"/>
                  <a:pt x="343678" y="3375801"/>
                  <a:pt x="358291" y="3266349"/>
                </a:cubicBezTo>
                <a:cubicBezTo>
                  <a:pt x="375072" y="3145733"/>
                  <a:pt x="425539" y="3041943"/>
                  <a:pt x="517362" y="2959353"/>
                </a:cubicBezTo>
                <a:cubicBezTo>
                  <a:pt x="591164" y="2893121"/>
                  <a:pt x="664171" y="2825180"/>
                  <a:pt x="735958" y="2756462"/>
                </a:cubicBezTo>
                <a:cubicBezTo>
                  <a:pt x="752980" y="2740327"/>
                  <a:pt x="764113" y="2718374"/>
                  <a:pt x="772369" y="2692870"/>
                </a:cubicBezTo>
                <a:cubicBezTo>
                  <a:pt x="587814" y="2829971"/>
                  <a:pt x="370516" y="2871268"/>
                  <a:pt x="156545" y="2921045"/>
                </a:cubicBezTo>
                <a:cubicBezTo>
                  <a:pt x="135273" y="2925922"/>
                  <a:pt x="71447" y="2922918"/>
                  <a:pt x="15585" y="2908337"/>
                </a:cubicBezTo>
                <a:lnTo>
                  <a:pt x="0" y="2902697"/>
                </a:lnTo>
                <a:lnTo>
                  <a:pt x="0" y="2765873"/>
                </a:lnTo>
                <a:lnTo>
                  <a:pt x="29795" y="2717847"/>
                </a:lnTo>
                <a:cubicBezTo>
                  <a:pt x="40849" y="2702583"/>
                  <a:pt x="51469" y="2690198"/>
                  <a:pt x="59962" y="2682291"/>
                </a:cubicBezTo>
                <a:cubicBezTo>
                  <a:pt x="228768" y="2525013"/>
                  <a:pt x="418389" y="2401453"/>
                  <a:pt x="645405" y="2342287"/>
                </a:cubicBezTo>
                <a:cubicBezTo>
                  <a:pt x="879032" y="2306584"/>
                  <a:pt x="1032240" y="2213098"/>
                  <a:pt x="1059274" y="2164156"/>
                </a:cubicBezTo>
                <a:cubicBezTo>
                  <a:pt x="1151084" y="1996307"/>
                  <a:pt x="1239879" y="1826195"/>
                  <a:pt x="1341155" y="1664208"/>
                </a:cubicBezTo>
                <a:cubicBezTo>
                  <a:pt x="1477441" y="1445642"/>
                  <a:pt x="1624124" y="1233359"/>
                  <a:pt x="1766505" y="1018678"/>
                </a:cubicBezTo>
                <a:cubicBezTo>
                  <a:pt x="1778156" y="1001010"/>
                  <a:pt x="1791027" y="984119"/>
                  <a:pt x="1793256" y="954087"/>
                </a:cubicBezTo>
                <a:cubicBezTo>
                  <a:pt x="1736220" y="994393"/>
                  <a:pt x="1675663" y="1031081"/>
                  <a:pt x="1622366" y="1076005"/>
                </a:cubicBezTo>
                <a:cubicBezTo>
                  <a:pt x="1442738" y="1227933"/>
                  <a:pt x="1264479" y="1382281"/>
                  <a:pt x="1088015" y="1538117"/>
                </a:cubicBezTo>
                <a:cubicBezTo>
                  <a:pt x="1067855" y="1556206"/>
                  <a:pt x="1060774" y="1588991"/>
                  <a:pt x="1047011" y="1614249"/>
                </a:cubicBezTo>
                <a:cubicBezTo>
                  <a:pt x="939107" y="1813950"/>
                  <a:pt x="771972" y="1928122"/>
                  <a:pt x="545270" y="1944692"/>
                </a:cubicBezTo>
                <a:cubicBezTo>
                  <a:pt x="441606" y="1952189"/>
                  <a:pt x="416671" y="1908283"/>
                  <a:pt x="470627" y="1817545"/>
                </a:cubicBezTo>
                <a:cubicBezTo>
                  <a:pt x="562706" y="1662415"/>
                  <a:pt x="679164" y="1538119"/>
                  <a:pt x="879648" y="1544544"/>
                </a:cubicBezTo>
                <a:cubicBezTo>
                  <a:pt x="970485" y="1547433"/>
                  <a:pt x="1036974" y="1510057"/>
                  <a:pt x="1100842" y="1445401"/>
                </a:cubicBezTo>
                <a:cubicBezTo>
                  <a:pt x="1210992" y="1334445"/>
                  <a:pt x="1329909" y="1232856"/>
                  <a:pt x="1437652" y="1110911"/>
                </a:cubicBezTo>
                <a:cubicBezTo>
                  <a:pt x="1361289" y="1130996"/>
                  <a:pt x="1284490" y="1149082"/>
                  <a:pt x="1208853" y="1171520"/>
                </a:cubicBezTo>
                <a:cubicBezTo>
                  <a:pt x="1106003" y="1201880"/>
                  <a:pt x="1005248" y="1237013"/>
                  <a:pt x="902537" y="1266085"/>
                </a:cubicBezTo>
                <a:cubicBezTo>
                  <a:pt x="850537" y="1280555"/>
                  <a:pt x="815167" y="1303904"/>
                  <a:pt x="781831" y="1350894"/>
                </a:cubicBezTo>
                <a:cubicBezTo>
                  <a:pt x="694187" y="1473616"/>
                  <a:pt x="568919" y="1561531"/>
                  <a:pt x="429373" y="1606317"/>
                </a:cubicBezTo>
                <a:cubicBezTo>
                  <a:pt x="322179" y="1640784"/>
                  <a:pt x="200254" y="1642487"/>
                  <a:pt x="81275" y="1598286"/>
                </a:cubicBezTo>
                <a:cubicBezTo>
                  <a:pt x="88037" y="1574581"/>
                  <a:pt x="87604" y="1557289"/>
                  <a:pt x="96005" y="1548721"/>
                </a:cubicBezTo>
                <a:cubicBezTo>
                  <a:pt x="237899" y="1402652"/>
                  <a:pt x="389584" y="1271587"/>
                  <a:pt x="587023" y="1202853"/>
                </a:cubicBezTo>
                <a:cubicBezTo>
                  <a:pt x="647862" y="1181814"/>
                  <a:pt x="704352" y="1180174"/>
                  <a:pt x="756337" y="1211585"/>
                </a:cubicBezTo>
                <a:cubicBezTo>
                  <a:pt x="796419" y="1235581"/>
                  <a:pt x="829151" y="1230833"/>
                  <a:pt x="870149" y="1218805"/>
                </a:cubicBezTo>
                <a:cubicBezTo>
                  <a:pt x="1110131" y="1147964"/>
                  <a:pt x="1351782" y="1082828"/>
                  <a:pt x="1590533" y="1008282"/>
                </a:cubicBezTo>
                <a:cubicBezTo>
                  <a:pt x="1647452" y="990416"/>
                  <a:pt x="1692710" y="938477"/>
                  <a:pt x="1747291" y="908980"/>
                </a:cubicBezTo>
                <a:cubicBezTo>
                  <a:pt x="2010423" y="767643"/>
                  <a:pt x="2156926" y="514341"/>
                  <a:pt x="2359623" y="289630"/>
                </a:cubicBezTo>
                <a:cubicBezTo>
                  <a:pt x="2236423" y="294129"/>
                  <a:pt x="2139898" y="298787"/>
                  <a:pt x="2068468" y="400733"/>
                </a:cubicBezTo>
                <a:cubicBezTo>
                  <a:pt x="1952834" y="566116"/>
                  <a:pt x="1774030" y="627991"/>
                  <a:pt x="1585301" y="660856"/>
                </a:cubicBezTo>
                <a:cubicBezTo>
                  <a:pt x="1502406" y="675057"/>
                  <a:pt x="1416597" y="676917"/>
                  <a:pt x="1332281" y="676980"/>
                </a:cubicBezTo>
                <a:cubicBezTo>
                  <a:pt x="1303960" y="676978"/>
                  <a:pt x="1266699" y="660107"/>
                  <a:pt x="1249799" y="638509"/>
                </a:cubicBezTo>
                <a:cubicBezTo>
                  <a:pt x="1239732" y="626078"/>
                  <a:pt x="1254627" y="581086"/>
                  <a:pt x="1271498" y="563307"/>
                </a:cubicBezTo>
                <a:cubicBezTo>
                  <a:pt x="1315987" y="515520"/>
                  <a:pt x="1364996" y="471128"/>
                  <a:pt x="1416744" y="431576"/>
                </a:cubicBezTo>
                <a:cubicBezTo>
                  <a:pt x="1631217" y="267308"/>
                  <a:pt x="1881706" y="244413"/>
                  <a:pt x="2139805" y="244759"/>
                </a:cubicBezTo>
                <a:cubicBezTo>
                  <a:pt x="2215969" y="244830"/>
                  <a:pt x="2293713" y="230095"/>
                  <a:pt x="2367937" y="211741"/>
                </a:cubicBezTo>
                <a:cubicBezTo>
                  <a:pt x="2408728" y="201645"/>
                  <a:pt x="2451963" y="177807"/>
                  <a:pt x="2480293" y="147221"/>
                </a:cubicBezTo>
                <a:close/>
                <a:moveTo>
                  <a:pt x="1279469" y="0"/>
                </a:moveTo>
                <a:lnTo>
                  <a:pt x="1426070" y="0"/>
                </a:lnTo>
                <a:lnTo>
                  <a:pt x="1350504" y="33583"/>
                </a:lnTo>
                <a:cubicBezTo>
                  <a:pt x="1327260" y="98863"/>
                  <a:pt x="1310717" y="159304"/>
                  <a:pt x="1284284" y="214818"/>
                </a:cubicBezTo>
                <a:cubicBezTo>
                  <a:pt x="1183157" y="427258"/>
                  <a:pt x="1090002" y="647358"/>
                  <a:pt x="900440" y="800862"/>
                </a:cubicBezTo>
                <a:cubicBezTo>
                  <a:pt x="827038" y="860301"/>
                  <a:pt x="740694" y="903758"/>
                  <a:pt x="658158" y="951189"/>
                </a:cubicBezTo>
                <a:cubicBezTo>
                  <a:pt x="642179" y="960600"/>
                  <a:pt x="606501" y="962440"/>
                  <a:pt x="598449" y="952495"/>
                </a:cubicBezTo>
                <a:cubicBezTo>
                  <a:pt x="585218" y="936157"/>
                  <a:pt x="576639" y="903706"/>
                  <a:pt x="583851" y="884927"/>
                </a:cubicBezTo>
                <a:cubicBezTo>
                  <a:pt x="646997" y="720296"/>
                  <a:pt x="702254" y="550293"/>
                  <a:pt x="821592" y="414254"/>
                </a:cubicBezTo>
                <a:cubicBezTo>
                  <a:pt x="883927" y="342607"/>
                  <a:pt x="950426" y="274644"/>
                  <a:pt x="1021039" y="198645"/>
                </a:cubicBezTo>
                <a:cubicBezTo>
                  <a:pt x="925878" y="221015"/>
                  <a:pt x="852512" y="255727"/>
                  <a:pt x="807695" y="343180"/>
                </a:cubicBezTo>
                <a:cubicBezTo>
                  <a:pt x="757627" y="440178"/>
                  <a:pt x="677425" y="514533"/>
                  <a:pt x="581023" y="563784"/>
                </a:cubicBezTo>
                <a:cubicBezTo>
                  <a:pt x="463285" y="623842"/>
                  <a:pt x="365880" y="722125"/>
                  <a:pt x="231835" y="748932"/>
                </a:cubicBezTo>
                <a:cubicBezTo>
                  <a:pt x="170601" y="761470"/>
                  <a:pt x="108423" y="770657"/>
                  <a:pt x="46357" y="772696"/>
                </a:cubicBezTo>
                <a:lnTo>
                  <a:pt x="0" y="772842"/>
                </a:lnTo>
                <a:lnTo>
                  <a:pt x="0" y="708052"/>
                </a:lnTo>
                <a:lnTo>
                  <a:pt x="89067" y="704930"/>
                </a:lnTo>
                <a:cubicBezTo>
                  <a:pt x="352860" y="675038"/>
                  <a:pt x="632363" y="525002"/>
                  <a:pt x="710775" y="339334"/>
                </a:cubicBezTo>
                <a:cubicBezTo>
                  <a:pt x="664377" y="359265"/>
                  <a:pt x="626200" y="378419"/>
                  <a:pt x="585997" y="392158"/>
                </a:cubicBezTo>
                <a:cubicBezTo>
                  <a:pt x="568074" y="398439"/>
                  <a:pt x="536629" y="403320"/>
                  <a:pt x="527576" y="393598"/>
                </a:cubicBezTo>
                <a:cubicBezTo>
                  <a:pt x="494376" y="356971"/>
                  <a:pt x="459131" y="376102"/>
                  <a:pt x="425698" y="384358"/>
                </a:cubicBezTo>
                <a:cubicBezTo>
                  <a:pt x="375905" y="396453"/>
                  <a:pt x="327713" y="414896"/>
                  <a:pt x="278288" y="429633"/>
                </a:cubicBezTo>
                <a:cubicBezTo>
                  <a:pt x="194259" y="454455"/>
                  <a:pt x="116406" y="489273"/>
                  <a:pt x="43518" y="533227"/>
                </a:cubicBezTo>
                <a:lnTo>
                  <a:pt x="0" y="563132"/>
                </a:lnTo>
                <a:lnTo>
                  <a:pt x="0" y="500322"/>
                </a:lnTo>
                <a:lnTo>
                  <a:pt x="116366" y="435129"/>
                </a:lnTo>
                <a:cubicBezTo>
                  <a:pt x="236099" y="377351"/>
                  <a:pt x="362902" y="333769"/>
                  <a:pt x="495997" y="302145"/>
                </a:cubicBezTo>
                <a:cubicBezTo>
                  <a:pt x="624522" y="272163"/>
                  <a:pt x="751940" y="234257"/>
                  <a:pt x="876112" y="190158"/>
                </a:cubicBezTo>
                <a:cubicBezTo>
                  <a:pt x="951230" y="163437"/>
                  <a:pt x="1018312" y="114407"/>
                  <a:pt x="1091828" y="81338"/>
                </a:cubicBezTo>
                <a:close/>
              </a:path>
            </a:pathLst>
          </a:custGeom>
          <a:solidFill>
            <a:schemeClr val="tx1">
              <a:alpha val="17000"/>
            </a:schemeClr>
          </a:solidFill>
          <a:ln w="4569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p:ph type="ctrTitle" hasCustomPrompt="1"/>
          </p:nvPr>
        </p:nvSpPr>
        <p:spPr>
          <a:xfrm>
            <a:off x="915924" y="914400"/>
            <a:ext cx="10360152" cy="5029200"/>
          </a:xfrm>
        </p:spPr>
        <p:txBody>
          <a:bodyPr anchor="ctr"/>
          <a:lstStyle>
            <a:lvl1pPr algn="ctr">
              <a:defRPr sz="4800"/>
            </a:lvl1pPr>
          </a:lstStyle>
          <a:p>
            <a:r>
              <a:rPr lang="en-US" dirty="0"/>
              <a:t>click to add title</a:t>
            </a:r>
          </a:p>
        </p:txBody>
      </p:sp>
    </p:spTree>
    <p:extLst>
      <p:ext uri="{BB962C8B-B14F-4D97-AF65-F5344CB8AC3E}">
        <p14:creationId xmlns:p14="http://schemas.microsoft.com/office/powerpoint/2010/main" val="172745631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Table 1">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179F09D-FCEF-2378-FD6D-390137D19D7F}"/>
              </a:ext>
            </a:extLst>
          </p:cNvPr>
          <p:cNvSpPr>
            <a:spLocks noGrp="1"/>
          </p:cNvSpPr>
          <p:nvPr>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2" name="Content Placeholder 6">
            <a:extLst>
              <a:ext uri="{FF2B5EF4-FFF2-40B4-BE49-F238E27FC236}">
                <a16:creationId xmlns:a16="http://schemas.microsoft.com/office/drawing/2014/main" id="{43E2AC72-73DB-7038-4867-55751103F51A}"/>
              </a:ext>
            </a:extLst>
          </p:cNvPr>
          <p:cNvSpPr>
            <a:spLocks noGrp="1"/>
          </p:cNvSpPr>
          <p:nvPr>
            <p:ph sz="quarter" idx="11"/>
          </p:nvPr>
        </p:nvSpPr>
        <p:spPr>
          <a:xfrm>
            <a:off x="914400"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6">
            <a:extLst>
              <a:ext uri="{FF2B5EF4-FFF2-40B4-BE49-F238E27FC236}">
                <a16:creationId xmlns:a16="http://schemas.microsoft.com/office/drawing/2014/main" id="{C4B21F26-677B-015C-5D71-238B3798DF57}"/>
              </a:ext>
            </a:extLst>
          </p:cNvPr>
          <p:cNvSpPr>
            <a:spLocks noGrp="1"/>
          </p:cNvSpPr>
          <p:nvPr>
            <p:ph sz="quarter" idx="12"/>
          </p:nvPr>
        </p:nvSpPr>
        <p:spPr>
          <a:xfrm>
            <a:off x="6357747"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reeform 6">
            <a:extLst>
              <a:ext uri="{FF2B5EF4-FFF2-40B4-BE49-F238E27FC236}">
                <a16:creationId xmlns:a16="http://schemas.microsoft.com/office/drawing/2014/main" id="{A3F1B258-8FBC-06A8-3A1F-466CEEDBBEF2}"/>
              </a:ext>
              <a:ext uri="{C183D7F6-B498-43B3-948B-1728B52AA6E4}">
                <adec:decorative xmlns:adec="http://schemas.microsoft.com/office/drawing/2017/decorative" val="1"/>
              </a:ext>
            </a:extLst>
          </p:cNvPr>
          <p:cNvSpPr/>
          <p:nvPr userDrawn="1"/>
        </p:nvSpPr>
        <p:spPr>
          <a:xfrm>
            <a:off x="0" y="5879804"/>
            <a:ext cx="4707470" cy="978196"/>
          </a:xfrm>
          <a:custGeom>
            <a:avLst/>
            <a:gdLst>
              <a:gd name="connsiteX0" fmla="*/ 4059737 w 4707470"/>
              <a:gd name="connsiteY0" fmla="*/ 967990 h 978196"/>
              <a:gd name="connsiteX1" fmla="*/ 4058450 w 4707470"/>
              <a:gd name="connsiteY1" fmla="*/ 978196 h 978196"/>
              <a:gd name="connsiteX2" fmla="*/ 4010063 w 4707470"/>
              <a:gd name="connsiteY2" fmla="*/ 978196 h 978196"/>
              <a:gd name="connsiteX3" fmla="*/ 0 w 4707470"/>
              <a:gd name="connsiteY3" fmla="*/ 488477 h 978196"/>
              <a:gd name="connsiteX4" fmla="*/ 72049 w 4707470"/>
              <a:gd name="connsiteY4" fmla="*/ 656791 h 978196"/>
              <a:gd name="connsiteX5" fmla="*/ 206640 w 4707470"/>
              <a:gd name="connsiteY5" fmla="*/ 886509 h 978196"/>
              <a:gd name="connsiteX6" fmla="*/ 272042 w 4707470"/>
              <a:gd name="connsiteY6" fmla="*/ 978196 h 978196"/>
              <a:gd name="connsiteX7" fmla="*/ 184579 w 4707470"/>
              <a:gd name="connsiteY7" fmla="*/ 978196 h 978196"/>
              <a:gd name="connsiteX8" fmla="*/ 149828 w 4707470"/>
              <a:gd name="connsiteY8" fmla="*/ 932137 h 978196"/>
              <a:gd name="connsiteX9" fmla="*/ 29898 w 4707470"/>
              <a:gd name="connsiteY9" fmla="*/ 726361 h 978196"/>
              <a:gd name="connsiteX10" fmla="*/ 0 w 4707470"/>
              <a:gd name="connsiteY10" fmla="*/ 659079 h 978196"/>
              <a:gd name="connsiteX11" fmla="*/ 2427853 w 4707470"/>
              <a:gd name="connsiteY11" fmla="*/ 69987 h 978196"/>
              <a:gd name="connsiteX12" fmla="*/ 2017693 w 4707470"/>
              <a:gd name="connsiteY12" fmla="*/ 122737 h 978196"/>
              <a:gd name="connsiteX13" fmla="*/ 1217707 w 4707470"/>
              <a:gd name="connsiteY13" fmla="*/ 266029 h 978196"/>
              <a:gd name="connsiteX14" fmla="*/ 848303 w 4707470"/>
              <a:gd name="connsiteY14" fmla="*/ 292389 h 978196"/>
              <a:gd name="connsiteX15" fmla="*/ 2617347 w 4707470"/>
              <a:gd name="connsiteY15" fmla="*/ 268805 h 978196"/>
              <a:gd name="connsiteX16" fmla="*/ 2575151 w 4707470"/>
              <a:gd name="connsiteY16" fmla="*/ 346132 h 978196"/>
              <a:gd name="connsiteX17" fmla="*/ 1592825 w 4707470"/>
              <a:gd name="connsiteY17" fmla="*/ 430392 h 978196"/>
              <a:gd name="connsiteX18" fmla="*/ 927202 w 4707470"/>
              <a:gd name="connsiteY18" fmla="*/ 395014 h 978196"/>
              <a:gd name="connsiteX19" fmla="*/ 848774 w 4707470"/>
              <a:gd name="connsiteY19" fmla="*/ 400725 h 978196"/>
              <a:gd name="connsiteX20" fmla="*/ 953198 w 4707470"/>
              <a:gd name="connsiteY20" fmla="*/ 446968 h 978196"/>
              <a:gd name="connsiteX21" fmla="*/ 1164217 w 4707470"/>
              <a:gd name="connsiteY21" fmla="*/ 487531 h 978196"/>
              <a:gd name="connsiteX22" fmla="*/ 2563251 w 4707470"/>
              <a:gd name="connsiteY22" fmla="*/ 479630 h 978196"/>
              <a:gd name="connsiteX23" fmla="*/ 2969415 w 4707470"/>
              <a:gd name="connsiteY23" fmla="*/ 235206 h 978196"/>
              <a:gd name="connsiteX24" fmla="*/ 3018419 w 4707470"/>
              <a:gd name="connsiteY24" fmla="*/ 177666 h 978196"/>
              <a:gd name="connsiteX25" fmla="*/ 2838754 w 4707470"/>
              <a:gd name="connsiteY25" fmla="*/ 98695 h 978196"/>
              <a:gd name="connsiteX26" fmla="*/ 2427853 w 4707470"/>
              <a:gd name="connsiteY26" fmla="*/ 69987 h 978196"/>
              <a:gd name="connsiteX27" fmla="*/ 2444158 w 4707470"/>
              <a:gd name="connsiteY27" fmla="*/ 387 h 978196"/>
              <a:gd name="connsiteX28" fmla="*/ 2908628 w 4707470"/>
              <a:gd name="connsiteY28" fmla="*/ 45735 h 978196"/>
              <a:gd name="connsiteX29" fmla="*/ 3088619 w 4707470"/>
              <a:gd name="connsiteY29" fmla="*/ 154653 h 978196"/>
              <a:gd name="connsiteX30" fmla="*/ 2980945 w 4707470"/>
              <a:gd name="connsiteY30" fmla="*/ 318333 h 978196"/>
              <a:gd name="connsiteX31" fmla="*/ 2478738 w 4707470"/>
              <a:gd name="connsiteY31" fmla="*/ 580498 h 978196"/>
              <a:gd name="connsiteX32" fmla="*/ 2071312 w 4707470"/>
              <a:gd name="connsiteY32" fmla="*/ 685100 h 978196"/>
              <a:gd name="connsiteX33" fmla="*/ 2336932 w 4707470"/>
              <a:gd name="connsiteY33" fmla="*/ 823834 h 978196"/>
              <a:gd name="connsiteX34" fmla="*/ 2650218 w 4707470"/>
              <a:gd name="connsiteY34" fmla="*/ 880372 h 978196"/>
              <a:gd name="connsiteX35" fmla="*/ 2724828 w 4707470"/>
              <a:gd name="connsiteY35" fmla="*/ 877816 h 978196"/>
              <a:gd name="connsiteX36" fmla="*/ 2937906 w 4707470"/>
              <a:gd name="connsiteY36" fmla="*/ 850216 h 978196"/>
              <a:gd name="connsiteX37" fmla="*/ 3214489 w 4707470"/>
              <a:gd name="connsiteY37" fmla="*/ 865310 h 978196"/>
              <a:gd name="connsiteX38" fmla="*/ 3558811 w 4707470"/>
              <a:gd name="connsiteY38" fmla="*/ 821783 h 978196"/>
              <a:gd name="connsiteX39" fmla="*/ 4423716 w 4707470"/>
              <a:gd name="connsiteY39" fmla="*/ 769182 h 978196"/>
              <a:gd name="connsiteX40" fmla="*/ 4604328 w 4707470"/>
              <a:gd name="connsiteY40" fmla="*/ 806587 h 978196"/>
              <a:gd name="connsiteX41" fmla="*/ 4700071 w 4707470"/>
              <a:gd name="connsiteY41" fmla="*/ 978164 h 978196"/>
              <a:gd name="connsiteX42" fmla="*/ 4700051 w 4707470"/>
              <a:gd name="connsiteY42" fmla="*/ 978196 h 978196"/>
              <a:gd name="connsiteX43" fmla="*/ 4626911 w 4707470"/>
              <a:gd name="connsiteY43" fmla="*/ 978196 h 978196"/>
              <a:gd name="connsiteX44" fmla="*/ 4634858 w 4707470"/>
              <a:gd name="connsiteY44" fmla="*/ 938205 h 978196"/>
              <a:gd name="connsiteX45" fmla="*/ 4565805 w 4707470"/>
              <a:gd name="connsiteY45" fmla="*/ 871619 h 978196"/>
              <a:gd name="connsiteX46" fmla="*/ 4384624 w 4707470"/>
              <a:gd name="connsiteY46" fmla="*/ 835208 h 978196"/>
              <a:gd name="connsiteX47" fmla="*/ 4191174 w 4707470"/>
              <a:gd name="connsiteY47" fmla="*/ 828605 h 978196"/>
              <a:gd name="connsiteX48" fmla="*/ 3615233 w 4707470"/>
              <a:gd name="connsiteY48" fmla="*/ 882733 h 978196"/>
              <a:gd name="connsiteX49" fmla="*/ 3106122 w 4707470"/>
              <a:gd name="connsiteY49" fmla="*/ 957428 h 978196"/>
              <a:gd name="connsiteX50" fmla="*/ 3167669 w 4707470"/>
              <a:gd name="connsiteY50" fmla="*/ 978196 h 978196"/>
              <a:gd name="connsiteX51" fmla="*/ 2761995 w 4707470"/>
              <a:gd name="connsiteY51" fmla="*/ 978196 h 978196"/>
              <a:gd name="connsiteX52" fmla="*/ 2604435 w 4707470"/>
              <a:gd name="connsiteY52" fmla="*/ 961624 h 978196"/>
              <a:gd name="connsiteX53" fmla="*/ 2629619 w 4707470"/>
              <a:gd name="connsiteY53" fmla="*/ 978196 h 978196"/>
              <a:gd name="connsiteX54" fmla="*/ 2442177 w 4707470"/>
              <a:gd name="connsiteY54" fmla="*/ 978196 h 978196"/>
              <a:gd name="connsiteX55" fmla="*/ 2299922 w 4707470"/>
              <a:gd name="connsiteY55" fmla="*/ 896786 h 978196"/>
              <a:gd name="connsiteX56" fmla="*/ 2204982 w 4707470"/>
              <a:gd name="connsiteY56" fmla="*/ 850389 h 978196"/>
              <a:gd name="connsiteX57" fmla="*/ 1506483 w 4707470"/>
              <a:gd name="connsiteY57" fmla="*/ 669446 h 978196"/>
              <a:gd name="connsiteX58" fmla="*/ 1473612 w 4707470"/>
              <a:gd name="connsiteY58" fmla="*/ 681163 h 978196"/>
              <a:gd name="connsiteX59" fmla="*/ 1855475 w 4707470"/>
              <a:gd name="connsiteY59" fmla="*/ 879104 h 978196"/>
              <a:gd name="connsiteX60" fmla="*/ 2046452 w 4707470"/>
              <a:gd name="connsiteY60" fmla="*/ 978196 h 978196"/>
              <a:gd name="connsiteX61" fmla="*/ 1905580 w 4707470"/>
              <a:gd name="connsiteY61" fmla="*/ 978196 h 978196"/>
              <a:gd name="connsiteX62" fmla="*/ 1792576 w 4707470"/>
              <a:gd name="connsiteY62" fmla="*/ 917483 h 978196"/>
              <a:gd name="connsiteX63" fmla="*/ 1431825 w 4707470"/>
              <a:gd name="connsiteY63" fmla="*/ 761296 h 978196"/>
              <a:gd name="connsiteX64" fmla="*/ 1584066 w 4707470"/>
              <a:gd name="connsiteY64" fmla="*/ 912806 h 978196"/>
              <a:gd name="connsiteX65" fmla="*/ 1665294 w 4707470"/>
              <a:gd name="connsiteY65" fmla="*/ 978196 h 978196"/>
              <a:gd name="connsiteX66" fmla="*/ 1530478 w 4707470"/>
              <a:gd name="connsiteY66" fmla="*/ 978196 h 978196"/>
              <a:gd name="connsiteX67" fmla="*/ 1433502 w 4707470"/>
              <a:gd name="connsiteY67" fmla="*/ 903764 h 978196"/>
              <a:gd name="connsiteX68" fmla="*/ 1207351 w 4707470"/>
              <a:gd name="connsiteY68" fmla="*/ 677361 h 978196"/>
              <a:gd name="connsiteX69" fmla="*/ 1085279 w 4707470"/>
              <a:gd name="connsiteY69" fmla="*/ 580996 h 978196"/>
              <a:gd name="connsiteX70" fmla="*/ 460678 w 4707470"/>
              <a:gd name="connsiteY70" fmla="*/ 320100 h 978196"/>
              <a:gd name="connsiteX71" fmla="*/ 370062 w 4707470"/>
              <a:gd name="connsiteY71" fmla="*/ 302529 h 978196"/>
              <a:gd name="connsiteX72" fmla="*/ 692974 w 4707470"/>
              <a:gd name="connsiteY72" fmla="*/ 645063 h 978196"/>
              <a:gd name="connsiteX73" fmla="*/ 899891 w 4707470"/>
              <a:gd name="connsiteY73" fmla="*/ 897040 h 978196"/>
              <a:gd name="connsiteX74" fmla="*/ 958299 w 4707470"/>
              <a:gd name="connsiteY74" fmla="*/ 978196 h 978196"/>
              <a:gd name="connsiteX75" fmla="*/ 856593 w 4707470"/>
              <a:gd name="connsiteY75" fmla="*/ 978196 h 978196"/>
              <a:gd name="connsiteX76" fmla="*/ 745097 w 4707470"/>
              <a:gd name="connsiteY76" fmla="*/ 814331 h 978196"/>
              <a:gd name="connsiteX77" fmla="*/ 291682 w 4707470"/>
              <a:gd name="connsiteY77" fmla="*/ 357455 h 978196"/>
              <a:gd name="connsiteX78" fmla="*/ 192689 w 4707470"/>
              <a:gd name="connsiteY78" fmla="*/ 294672 h 978196"/>
              <a:gd name="connsiteX79" fmla="*/ 556080 w 4707470"/>
              <a:gd name="connsiteY79" fmla="*/ 783560 h 978196"/>
              <a:gd name="connsiteX80" fmla="*/ 645779 w 4707470"/>
              <a:gd name="connsiteY80" fmla="*/ 904799 h 978196"/>
              <a:gd name="connsiteX81" fmla="*/ 703943 w 4707470"/>
              <a:gd name="connsiteY81" fmla="*/ 978196 h 978196"/>
              <a:gd name="connsiteX82" fmla="*/ 621039 w 4707470"/>
              <a:gd name="connsiteY82" fmla="*/ 978196 h 978196"/>
              <a:gd name="connsiteX83" fmla="*/ 430820 w 4707470"/>
              <a:gd name="connsiteY83" fmla="*/ 725635 h 978196"/>
              <a:gd name="connsiteX84" fmla="*/ 116693 w 4707470"/>
              <a:gd name="connsiteY84" fmla="*/ 361863 h 978196"/>
              <a:gd name="connsiteX85" fmla="*/ 50540 w 4707470"/>
              <a:gd name="connsiteY85" fmla="*/ 310444 h 978196"/>
              <a:gd name="connsiteX86" fmla="*/ 0 w 4707470"/>
              <a:gd name="connsiteY86" fmla="*/ 281606 h 978196"/>
              <a:gd name="connsiteX87" fmla="*/ 0 w 4707470"/>
              <a:gd name="connsiteY87" fmla="*/ 27934 h 978196"/>
              <a:gd name="connsiteX88" fmla="*/ 404992 w 4707470"/>
              <a:gd name="connsiteY88" fmla="*/ 222649 h 978196"/>
              <a:gd name="connsiteX89" fmla="*/ 515732 w 4707470"/>
              <a:gd name="connsiteY89" fmla="*/ 243759 h 978196"/>
              <a:gd name="connsiteX90" fmla="*/ 660613 w 4707470"/>
              <a:gd name="connsiteY90" fmla="*/ 222758 h 978196"/>
              <a:gd name="connsiteX91" fmla="*/ 820261 w 4707470"/>
              <a:gd name="connsiteY91" fmla="*/ 226406 h 978196"/>
              <a:gd name="connsiteX92" fmla="*/ 1982193 w 4707470"/>
              <a:gd name="connsiteY92" fmla="*/ 65102 h 978196"/>
              <a:gd name="connsiteX93" fmla="*/ 2444158 w 4707470"/>
              <a:gd name="connsiteY93" fmla="*/ 387 h 978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4707470" h="978196">
                <a:moveTo>
                  <a:pt x="4059737" y="967990"/>
                </a:moveTo>
                <a:lnTo>
                  <a:pt x="4058450" y="978196"/>
                </a:lnTo>
                <a:lnTo>
                  <a:pt x="4010063" y="978196"/>
                </a:lnTo>
                <a:close/>
                <a:moveTo>
                  <a:pt x="0" y="488477"/>
                </a:moveTo>
                <a:lnTo>
                  <a:pt x="72049" y="656791"/>
                </a:lnTo>
                <a:cubicBezTo>
                  <a:pt x="112356" y="736092"/>
                  <a:pt x="157416" y="812383"/>
                  <a:pt x="206640" y="886509"/>
                </a:cubicBezTo>
                <a:lnTo>
                  <a:pt x="272042" y="978196"/>
                </a:lnTo>
                <a:lnTo>
                  <a:pt x="184579" y="978196"/>
                </a:lnTo>
                <a:lnTo>
                  <a:pt x="149828" y="932137"/>
                </a:lnTo>
                <a:cubicBezTo>
                  <a:pt x="105705" y="866449"/>
                  <a:pt x="65433" y="798062"/>
                  <a:pt x="29898" y="726361"/>
                </a:cubicBezTo>
                <a:lnTo>
                  <a:pt x="0" y="659079"/>
                </a:lnTo>
                <a:close/>
                <a:moveTo>
                  <a:pt x="2427853" y="69987"/>
                </a:moveTo>
                <a:cubicBezTo>
                  <a:pt x="2291111" y="74991"/>
                  <a:pt x="2154491" y="93572"/>
                  <a:pt x="2017693" y="122737"/>
                </a:cubicBezTo>
                <a:cubicBezTo>
                  <a:pt x="1752602" y="179100"/>
                  <a:pt x="1485359" y="223967"/>
                  <a:pt x="1217707" y="266029"/>
                </a:cubicBezTo>
                <a:cubicBezTo>
                  <a:pt x="1096073" y="285102"/>
                  <a:pt x="971859" y="284040"/>
                  <a:pt x="848303" y="292389"/>
                </a:cubicBezTo>
                <a:cubicBezTo>
                  <a:pt x="1439836" y="418622"/>
                  <a:pt x="2029550" y="374317"/>
                  <a:pt x="2617347" y="268805"/>
                </a:cubicBezTo>
                <a:cubicBezTo>
                  <a:pt x="2641249" y="326771"/>
                  <a:pt x="2615591" y="342307"/>
                  <a:pt x="2575151" y="346132"/>
                </a:cubicBezTo>
                <a:cubicBezTo>
                  <a:pt x="2247929" y="377355"/>
                  <a:pt x="1924500" y="450069"/>
                  <a:pt x="1592825" y="430392"/>
                </a:cubicBezTo>
                <a:cubicBezTo>
                  <a:pt x="1370927" y="417078"/>
                  <a:pt x="1148922" y="406294"/>
                  <a:pt x="927202" y="395014"/>
                </a:cubicBezTo>
                <a:cubicBezTo>
                  <a:pt x="910915" y="394154"/>
                  <a:pt x="894471" y="397096"/>
                  <a:pt x="848774" y="400725"/>
                </a:cubicBezTo>
                <a:cubicBezTo>
                  <a:pt x="901706" y="425523"/>
                  <a:pt x="935512" y="454429"/>
                  <a:pt x="953198" y="446968"/>
                </a:cubicBezTo>
                <a:cubicBezTo>
                  <a:pt x="1036787" y="412276"/>
                  <a:pt x="1094166" y="469201"/>
                  <a:pt x="1164217" y="487531"/>
                </a:cubicBezTo>
                <a:cubicBezTo>
                  <a:pt x="1630611" y="609624"/>
                  <a:pt x="2097381" y="672370"/>
                  <a:pt x="2563251" y="479630"/>
                </a:cubicBezTo>
                <a:cubicBezTo>
                  <a:pt x="2711940" y="417930"/>
                  <a:pt x="2850184" y="341634"/>
                  <a:pt x="2969415" y="235206"/>
                </a:cubicBezTo>
                <a:cubicBezTo>
                  <a:pt x="2988272" y="218657"/>
                  <a:pt x="3002084" y="196846"/>
                  <a:pt x="3018419" y="177666"/>
                </a:cubicBezTo>
                <a:cubicBezTo>
                  <a:pt x="2974427" y="109062"/>
                  <a:pt x="2900669" y="110127"/>
                  <a:pt x="2838754" y="98695"/>
                </a:cubicBezTo>
                <a:cubicBezTo>
                  <a:pt x="2701463" y="73555"/>
                  <a:pt x="2564596" y="64983"/>
                  <a:pt x="2427853" y="69987"/>
                </a:cubicBezTo>
                <a:close/>
                <a:moveTo>
                  <a:pt x="2444158" y="387"/>
                </a:moveTo>
                <a:cubicBezTo>
                  <a:pt x="2598755" y="-2686"/>
                  <a:pt x="2753769" y="12585"/>
                  <a:pt x="2908628" y="45735"/>
                </a:cubicBezTo>
                <a:cubicBezTo>
                  <a:pt x="2979068" y="61036"/>
                  <a:pt x="3068206" y="63586"/>
                  <a:pt x="3088619" y="154653"/>
                </a:cubicBezTo>
                <a:cubicBezTo>
                  <a:pt x="3107235" y="238296"/>
                  <a:pt x="3033824" y="275143"/>
                  <a:pt x="2980945" y="318333"/>
                </a:cubicBezTo>
                <a:cubicBezTo>
                  <a:pt x="2832679" y="439156"/>
                  <a:pt x="2663731" y="525726"/>
                  <a:pt x="2478738" y="580498"/>
                </a:cubicBezTo>
                <a:cubicBezTo>
                  <a:pt x="2349171" y="619318"/>
                  <a:pt x="2216315" y="648629"/>
                  <a:pt x="2071312" y="685100"/>
                </a:cubicBezTo>
                <a:cubicBezTo>
                  <a:pt x="2167354" y="736612"/>
                  <a:pt x="2247592" y="794640"/>
                  <a:pt x="2336932" y="823834"/>
                </a:cubicBezTo>
                <a:cubicBezTo>
                  <a:pt x="2436398" y="856448"/>
                  <a:pt x="2545092" y="863529"/>
                  <a:pt x="2650218" y="880372"/>
                </a:cubicBezTo>
                <a:cubicBezTo>
                  <a:pt x="2674799" y="884329"/>
                  <a:pt x="2712701" y="890811"/>
                  <a:pt x="2724828" y="877816"/>
                </a:cubicBezTo>
                <a:cubicBezTo>
                  <a:pt x="2790257" y="811500"/>
                  <a:pt x="2864697" y="844453"/>
                  <a:pt x="2937906" y="850216"/>
                </a:cubicBezTo>
                <a:cubicBezTo>
                  <a:pt x="3030260" y="857706"/>
                  <a:pt x="3122919" y="870533"/>
                  <a:pt x="3214489" y="865310"/>
                </a:cubicBezTo>
                <a:cubicBezTo>
                  <a:pt x="3330052" y="859201"/>
                  <a:pt x="3444369" y="838841"/>
                  <a:pt x="3558811" y="821783"/>
                </a:cubicBezTo>
                <a:cubicBezTo>
                  <a:pt x="3845661" y="780181"/>
                  <a:pt x="4132816" y="743918"/>
                  <a:pt x="4423716" y="769182"/>
                </a:cubicBezTo>
                <a:cubicBezTo>
                  <a:pt x="4485096" y="774506"/>
                  <a:pt x="4549229" y="783231"/>
                  <a:pt x="4604328" y="806587"/>
                </a:cubicBezTo>
                <a:cubicBezTo>
                  <a:pt x="4690279" y="842884"/>
                  <a:pt x="4723749" y="908909"/>
                  <a:pt x="4700071" y="978164"/>
                </a:cubicBezTo>
                <a:lnTo>
                  <a:pt x="4700051" y="978196"/>
                </a:lnTo>
                <a:lnTo>
                  <a:pt x="4626911" y="978196"/>
                </a:lnTo>
                <a:lnTo>
                  <a:pt x="4634858" y="938205"/>
                </a:lnTo>
                <a:cubicBezTo>
                  <a:pt x="4630586" y="912076"/>
                  <a:pt x="4607226" y="888378"/>
                  <a:pt x="4565805" y="871619"/>
                </a:cubicBezTo>
                <a:cubicBezTo>
                  <a:pt x="4510139" y="849256"/>
                  <a:pt x="4446290" y="840035"/>
                  <a:pt x="4384624" y="835208"/>
                </a:cubicBezTo>
                <a:cubicBezTo>
                  <a:pt x="4319945" y="830079"/>
                  <a:pt x="4255480" y="828097"/>
                  <a:pt x="4191174" y="828605"/>
                </a:cubicBezTo>
                <a:cubicBezTo>
                  <a:pt x="3998255" y="830132"/>
                  <a:pt x="3806768" y="854079"/>
                  <a:pt x="3615233" y="882733"/>
                </a:cubicBezTo>
                <a:cubicBezTo>
                  <a:pt x="3445683" y="908144"/>
                  <a:pt x="3275903" y="932786"/>
                  <a:pt x="3106122" y="957428"/>
                </a:cubicBezTo>
                <a:lnTo>
                  <a:pt x="3167669" y="978196"/>
                </a:lnTo>
                <a:lnTo>
                  <a:pt x="2761995" y="978196"/>
                </a:lnTo>
                <a:lnTo>
                  <a:pt x="2604435" y="961624"/>
                </a:lnTo>
                <a:lnTo>
                  <a:pt x="2629619" y="978196"/>
                </a:lnTo>
                <a:lnTo>
                  <a:pt x="2442177" y="978196"/>
                </a:lnTo>
                <a:lnTo>
                  <a:pt x="2299922" y="896786"/>
                </a:lnTo>
                <a:cubicBezTo>
                  <a:pt x="2269582" y="879425"/>
                  <a:pt x="2233101" y="870458"/>
                  <a:pt x="2204982" y="850389"/>
                </a:cubicBezTo>
                <a:cubicBezTo>
                  <a:pt x="1996636" y="701859"/>
                  <a:pt x="1747975" y="698964"/>
                  <a:pt x="1506483" y="669446"/>
                </a:cubicBezTo>
                <a:cubicBezTo>
                  <a:pt x="1499680" y="668433"/>
                  <a:pt x="1491530" y="674471"/>
                  <a:pt x="1473612" y="681163"/>
                </a:cubicBezTo>
                <a:cubicBezTo>
                  <a:pt x="1584414" y="738551"/>
                  <a:pt x="1717391" y="807480"/>
                  <a:pt x="1855475" y="879104"/>
                </a:cubicBezTo>
                <a:lnTo>
                  <a:pt x="2046452" y="978196"/>
                </a:lnTo>
                <a:lnTo>
                  <a:pt x="1905580" y="978196"/>
                </a:lnTo>
                <a:lnTo>
                  <a:pt x="1792576" y="917483"/>
                </a:lnTo>
                <a:cubicBezTo>
                  <a:pt x="1679817" y="860435"/>
                  <a:pt x="1561557" y="806703"/>
                  <a:pt x="1431825" y="761296"/>
                </a:cubicBezTo>
                <a:cubicBezTo>
                  <a:pt x="1481070" y="816016"/>
                  <a:pt x="1531868" y="866260"/>
                  <a:pt x="1584066" y="912806"/>
                </a:cubicBezTo>
                <a:lnTo>
                  <a:pt x="1665294" y="978196"/>
                </a:lnTo>
                <a:lnTo>
                  <a:pt x="1530478" y="978196"/>
                </a:lnTo>
                <a:lnTo>
                  <a:pt x="1433502" y="903764"/>
                </a:lnTo>
                <a:cubicBezTo>
                  <a:pt x="1350827" y="836355"/>
                  <a:pt x="1273396" y="763147"/>
                  <a:pt x="1207351" y="677361"/>
                </a:cubicBezTo>
                <a:cubicBezTo>
                  <a:pt x="1176883" y="637924"/>
                  <a:pt x="1132082" y="601252"/>
                  <a:pt x="1085279" y="580996"/>
                </a:cubicBezTo>
                <a:cubicBezTo>
                  <a:pt x="878724" y="490371"/>
                  <a:pt x="669558" y="405484"/>
                  <a:pt x="460678" y="320100"/>
                </a:cubicBezTo>
                <a:cubicBezTo>
                  <a:pt x="434018" y="309216"/>
                  <a:pt x="402475" y="308044"/>
                  <a:pt x="370062" y="302529"/>
                </a:cubicBezTo>
                <a:cubicBezTo>
                  <a:pt x="481234" y="420306"/>
                  <a:pt x="590097" y="530386"/>
                  <a:pt x="692974" y="645063"/>
                </a:cubicBezTo>
                <a:cubicBezTo>
                  <a:pt x="765403" y="726140"/>
                  <a:pt x="828829" y="814746"/>
                  <a:pt x="899891" y="897040"/>
                </a:cubicBezTo>
                <a:lnTo>
                  <a:pt x="958299" y="978196"/>
                </a:lnTo>
                <a:lnTo>
                  <a:pt x="856593" y="978196"/>
                </a:lnTo>
                <a:lnTo>
                  <a:pt x="745097" y="814331"/>
                </a:lnTo>
                <a:cubicBezTo>
                  <a:pt x="613951" y="647709"/>
                  <a:pt x="460119" y="497146"/>
                  <a:pt x="291682" y="357455"/>
                </a:cubicBezTo>
                <a:cubicBezTo>
                  <a:pt x="262176" y="332767"/>
                  <a:pt x="225781" y="315434"/>
                  <a:pt x="192689" y="294672"/>
                </a:cubicBezTo>
                <a:cubicBezTo>
                  <a:pt x="315383" y="458030"/>
                  <a:pt x="444112" y="615525"/>
                  <a:pt x="556080" y="783560"/>
                </a:cubicBezTo>
                <a:cubicBezTo>
                  <a:pt x="583885" y="825308"/>
                  <a:pt x="614448" y="865239"/>
                  <a:pt x="645779" y="904799"/>
                </a:cubicBezTo>
                <a:lnTo>
                  <a:pt x="703943" y="978196"/>
                </a:lnTo>
                <a:lnTo>
                  <a:pt x="621039" y="978196"/>
                </a:lnTo>
                <a:lnTo>
                  <a:pt x="430820" y="725635"/>
                </a:lnTo>
                <a:cubicBezTo>
                  <a:pt x="332361" y="599705"/>
                  <a:pt x="227971" y="477107"/>
                  <a:pt x="116693" y="361863"/>
                </a:cubicBezTo>
                <a:cubicBezTo>
                  <a:pt x="97667" y="342321"/>
                  <a:pt x="75253" y="325899"/>
                  <a:pt x="50540" y="310444"/>
                </a:cubicBezTo>
                <a:lnTo>
                  <a:pt x="0" y="281606"/>
                </a:lnTo>
                <a:lnTo>
                  <a:pt x="0" y="27934"/>
                </a:lnTo>
                <a:lnTo>
                  <a:pt x="404992" y="222649"/>
                </a:lnTo>
                <a:cubicBezTo>
                  <a:pt x="439327" y="238892"/>
                  <a:pt x="505719" y="256578"/>
                  <a:pt x="515732" y="243759"/>
                </a:cubicBezTo>
                <a:cubicBezTo>
                  <a:pt x="561414" y="183812"/>
                  <a:pt x="612911" y="224031"/>
                  <a:pt x="660613" y="222758"/>
                </a:cubicBezTo>
                <a:cubicBezTo>
                  <a:pt x="713858" y="221185"/>
                  <a:pt x="767194" y="230016"/>
                  <a:pt x="820261" y="226406"/>
                </a:cubicBezTo>
                <a:cubicBezTo>
                  <a:pt x="1211492" y="200602"/>
                  <a:pt x="1601548" y="165118"/>
                  <a:pt x="1982193" y="65102"/>
                </a:cubicBezTo>
                <a:cubicBezTo>
                  <a:pt x="2135382" y="24877"/>
                  <a:pt x="2289561" y="3461"/>
                  <a:pt x="2444158" y="387"/>
                </a:cubicBezTo>
                <a:close/>
              </a:path>
            </a:pathLst>
          </a:custGeom>
          <a:solidFill>
            <a:schemeClr val="tx1">
              <a:alpha val="5303"/>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11">
            <a:extLst>
              <a:ext uri="{FF2B5EF4-FFF2-40B4-BE49-F238E27FC236}">
                <a16:creationId xmlns:a16="http://schemas.microsoft.com/office/drawing/2014/main" id="{8BAD4AF0-64CE-5C0E-5440-00F8FC6B3194}"/>
              </a:ext>
              <a:ext uri="{C183D7F6-B498-43B3-948B-1728B52AA6E4}">
                <adec:decorative xmlns:adec="http://schemas.microsoft.com/office/drawing/2017/decorative" val="1"/>
              </a:ext>
            </a:extLst>
          </p:cNvPr>
          <p:cNvSpPr/>
          <p:nvPr userDrawn="1"/>
        </p:nvSpPr>
        <p:spPr>
          <a:xfrm rot="10800000">
            <a:off x="9012497" y="1"/>
            <a:ext cx="3179502" cy="2726160"/>
          </a:xfrm>
          <a:custGeom>
            <a:avLst/>
            <a:gdLst>
              <a:gd name="connsiteX0" fmla="*/ 3179502 w 3179502"/>
              <a:gd name="connsiteY0" fmla="*/ 2726160 h 2726160"/>
              <a:gd name="connsiteX1" fmla="*/ 0 w 3179502"/>
              <a:gd name="connsiteY1" fmla="*/ 2726160 h 2726160"/>
              <a:gd name="connsiteX2" fmla="*/ 0 w 3179502"/>
              <a:gd name="connsiteY2" fmla="*/ 0 h 2726160"/>
              <a:gd name="connsiteX3" fmla="*/ 129375 w 3179502"/>
              <a:gd name="connsiteY3" fmla="*/ 158091 h 2726160"/>
              <a:gd name="connsiteX4" fmla="*/ 274052 w 3179502"/>
              <a:gd name="connsiteY4" fmla="*/ 461243 h 2726160"/>
              <a:gd name="connsiteX5" fmla="*/ 676050 w 3179502"/>
              <a:gd name="connsiteY5" fmla="*/ 1070337 h 2726160"/>
              <a:gd name="connsiteX6" fmla="*/ 1232482 w 3179502"/>
              <a:gd name="connsiteY6" fmla="*/ 1409578 h 2726160"/>
              <a:gd name="connsiteX7" fmla="*/ 1759030 w 3179502"/>
              <a:gd name="connsiteY7" fmla="*/ 1583520 h 2726160"/>
              <a:gd name="connsiteX8" fmla="*/ 3147865 w 3179502"/>
              <a:gd name="connsiteY8" fmla="*/ 2609783 h 2726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79502" h="2726160">
                <a:moveTo>
                  <a:pt x="3179502" y="2726160"/>
                </a:moveTo>
                <a:lnTo>
                  <a:pt x="0" y="2726160"/>
                </a:lnTo>
                <a:lnTo>
                  <a:pt x="0" y="0"/>
                </a:lnTo>
                <a:lnTo>
                  <a:pt x="129375" y="158091"/>
                </a:lnTo>
                <a:cubicBezTo>
                  <a:pt x="193985" y="253821"/>
                  <a:pt x="231912" y="358034"/>
                  <a:pt x="274052" y="461243"/>
                </a:cubicBezTo>
                <a:cubicBezTo>
                  <a:pt x="365069" y="684357"/>
                  <a:pt x="488042" y="892708"/>
                  <a:pt x="676050" y="1070337"/>
                </a:cubicBezTo>
                <a:cubicBezTo>
                  <a:pt x="834276" y="1219941"/>
                  <a:pt x="1024083" y="1327091"/>
                  <a:pt x="1232482" y="1409578"/>
                </a:cubicBezTo>
                <a:cubicBezTo>
                  <a:pt x="1465209" y="1501688"/>
                  <a:pt x="1609854" y="1540036"/>
                  <a:pt x="1759030" y="1583520"/>
                </a:cubicBezTo>
                <a:cubicBezTo>
                  <a:pt x="1924825" y="1631826"/>
                  <a:pt x="2908440" y="1918621"/>
                  <a:pt x="3147865" y="2609783"/>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Slide Number Placeholder 5">
            <a:extLst>
              <a:ext uri="{FF2B5EF4-FFF2-40B4-BE49-F238E27FC236}">
                <a16:creationId xmlns:a16="http://schemas.microsoft.com/office/drawing/2014/main" id="{03D91060-B9BF-0FA6-BD7C-AF8E38E919D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1103528088"/>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Two Content 2">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DCD020E-88CF-303D-F947-8EE980AC8093}"/>
              </a:ext>
              <a:ext uri="{C183D7F6-B498-43B3-948B-1728B52AA6E4}">
                <adec:decorative xmlns:adec="http://schemas.microsoft.com/office/drawing/2017/decorative" val="1"/>
              </a:ext>
            </a:extLst>
          </p:cNvPr>
          <p:cNvGrpSpPr/>
          <p:nvPr userDrawn="1"/>
        </p:nvGrpSpPr>
        <p:grpSpPr>
          <a:xfrm>
            <a:off x="1" y="1"/>
            <a:ext cx="12192000" cy="6800411"/>
            <a:chOff x="1" y="1"/>
            <a:chExt cx="12192000" cy="6800411"/>
          </a:xfrm>
        </p:grpSpPr>
        <p:sp>
          <p:nvSpPr>
            <p:cNvPr id="9" name="Freeform: Shape 8">
              <a:extLst>
                <a:ext uri="{FF2B5EF4-FFF2-40B4-BE49-F238E27FC236}">
                  <a16:creationId xmlns:a16="http://schemas.microsoft.com/office/drawing/2014/main" id="{30B88804-97CC-BE78-8D40-672973E4CD32}"/>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1" name="Freeform: Shape 10">
              <a:extLst>
                <a:ext uri="{FF2B5EF4-FFF2-40B4-BE49-F238E27FC236}">
                  <a16:creationId xmlns:a16="http://schemas.microsoft.com/office/drawing/2014/main" id="{77FB28C4-D7BE-9D2F-25D0-06D2480EA06A}"/>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8" name="Title 1">
            <a:extLst>
              <a:ext uri="{FF2B5EF4-FFF2-40B4-BE49-F238E27FC236}">
                <a16:creationId xmlns:a16="http://schemas.microsoft.com/office/drawing/2014/main" id="{694847DB-2FD4-A0B7-D27C-B0D097130852}"/>
              </a:ext>
            </a:extLst>
          </p:cNvPr>
          <p:cNvSpPr>
            <a:spLocks noGrp="1"/>
          </p:cNvSpPr>
          <p:nvPr>
            <p:ph type="title" hasCustomPrompt="1"/>
          </p:nvPr>
        </p:nvSpPr>
        <p:spPr>
          <a:xfrm>
            <a:off x="914400" y="914400"/>
            <a:ext cx="10360152" cy="914400"/>
          </a:xfrm>
        </p:spPr>
        <p:txBody>
          <a:bodyPr anchor="b"/>
          <a:lstStyle>
            <a:lvl1pPr>
              <a:defRPr sz="3200"/>
            </a:lvl1pPr>
          </a:lstStyle>
          <a:p>
            <a:r>
              <a:rPr lang="en-US" dirty="0"/>
              <a:t>click to add title</a:t>
            </a:r>
          </a:p>
        </p:txBody>
      </p:sp>
      <p:sp>
        <p:nvSpPr>
          <p:cNvPr id="10" name="Content Placeholder 6">
            <a:extLst>
              <a:ext uri="{FF2B5EF4-FFF2-40B4-BE49-F238E27FC236}">
                <a16:creationId xmlns:a16="http://schemas.microsoft.com/office/drawing/2014/main" id="{75BC41E0-D44A-D8E0-DC48-F6520F28F71A}"/>
              </a:ext>
            </a:extLst>
          </p:cNvPr>
          <p:cNvSpPr>
            <a:spLocks noGrp="1"/>
          </p:cNvSpPr>
          <p:nvPr>
            <p:ph sz="quarter" idx="13"/>
          </p:nvPr>
        </p:nvSpPr>
        <p:spPr>
          <a:xfrm>
            <a:off x="914399" y="2039112"/>
            <a:ext cx="3364992" cy="3904488"/>
          </a:xfrm>
        </p:spPr>
        <p:txBody>
          <a:bodyPr>
            <a:normAutofit/>
          </a:bodyPr>
          <a:lstStyle>
            <a:lvl1pPr marL="228600" indent="-228600">
              <a:buFont typeface="+mj-lt"/>
              <a:buAutoNum type="arabicPeriod"/>
              <a:defRPr sz="2000"/>
            </a:lvl1pPr>
            <a:lvl2pPr marL="685800" indent="-457200">
              <a:spcBef>
                <a:spcPts val="1000"/>
              </a:spcBef>
              <a:buFont typeface="+mj-lt"/>
              <a:buAutoNum type="alphaLcPeriod"/>
              <a:defRPr sz="2000"/>
            </a:lvl2pPr>
            <a:lvl3pPr marL="914400" indent="-457200">
              <a:spcBef>
                <a:spcPts val="1000"/>
              </a:spcBef>
              <a:buFont typeface="+mj-lt"/>
              <a:buAutoNum type="arabicParenR"/>
              <a:defRPr sz="2000"/>
            </a:lvl3pPr>
            <a:lvl4pPr marL="1143000" indent="-457200">
              <a:spcBef>
                <a:spcPts val="1000"/>
              </a:spcBef>
              <a:buFont typeface="+mj-lt"/>
              <a:buAutoNum type="alphaLcParenR"/>
              <a:defRPr sz="2000"/>
            </a:lvl4pPr>
            <a:lvl5pPr marL="11430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Content Placeholder 6">
            <a:extLst>
              <a:ext uri="{FF2B5EF4-FFF2-40B4-BE49-F238E27FC236}">
                <a16:creationId xmlns:a16="http://schemas.microsoft.com/office/drawing/2014/main" id="{25E9E434-8C66-15D8-D6B1-5DBED995F9B5}"/>
              </a:ext>
            </a:extLst>
          </p:cNvPr>
          <p:cNvSpPr>
            <a:spLocks noGrp="1"/>
          </p:cNvSpPr>
          <p:nvPr>
            <p:ph sz="quarter" idx="12"/>
          </p:nvPr>
        </p:nvSpPr>
        <p:spPr>
          <a:xfrm>
            <a:off x="4743451" y="2039112"/>
            <a:ext cx="6537960"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a:extLst>
              <a:ext uri="{FF2B5EF4-FFF2-40B4-BE49-F238E27FC236}">
                <a16:creationId xmlns:a16="http://schemas.microsoft.com/office/drawing/2014/main" id="{0BFE17F0-931A-B121-FFD2-AF3DBB5D6CF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91301651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1_Title and Content 7">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98639877-C4A6-4E44-C600-FE3C6CD5F187}"/>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9" name="Freeform: Shape 8">
              <a:extLst>
                <a:ext uri="{FF2B5EF4-FFF2-40B4-BE49-F238E27FC236}">
                  <a16:creationId xmlns:a16="http://schemas.microsoft.com/office/drawing/2014/main" id="{F0439AA5-A7EE-A20E-BB67-D356776D0B21}"/>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0" name="Freeform: Shape 9">
              <a:extLst>
                <a:ext uri="{FF2B5EF4-FFF2-40B4-BE49-F238E27FC236}">
                  <a16:creationId xmlns:a16="http://schemas.microsoft.com/office/drawing/2014/main" id="{39E752F7-61F0-6779-9E8E-3541BFF7D2CF}"/>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Title 1">
            <a:extLst>
              <a:ext uri="{FF2B5EF4-FFF2-40B4-BE49-F238E27FC236}">
                <a16:creationId xmlns:a16="http://schemas.microsoft.com/office/drawing/2014/main" id="{FA7EBEDF-950A-F10B-DA20-24FB521457FC}"/>
              </a:ext>
            </a:extLst>
          </p:cNvPr>
          <p:cNvSpPr>
            <a:spLocks noGrp="1"/>
          </p:cNvSpPr>
          <p:nvPr>
            <p:ph type="title" hasCustomPrompt="1"/>
          </p:nvPr>
        </p:nvSpPr>
        <p:spPr>
          <a:xfrm>
            <a:off x="914400" y="914400"/>
            <a:ext cx="7534656" cy="914400"/>
          </a:xfrm>
        </p:spPr>
        <p:txBody>
          <a:bodyPr anchor="b" anchorCtr="0"/>
          <a:lstStyle>
            <a:lvl1pPr>
              <a:defRPr sz="3200"/>
            </a:lvl1pPr>
          </a:lstStyle>
          <a:p>
            <a:r>
              <a:rPr lang="en-US" dirty="0"/>
              <a:t>click to add title</a:t>
            </a:r>
          </a:p>
        </p:txBody>
      </p:sp>
      <p:sp>
        <p:nvSpPr>
          <p:cNvPr id="12" name="Freeform 11">
            <a:extLst>
              <a:ext uri="{FF2B5EF4-FFF2-40B4-BE49-F238E27FC236}">
                <a16:creationId xmlns:a16="http://schemas.microsoft.com/office/drawing/2014/main" id="{6FD0E545-8D0D-B848-836A-23CEBCD6B0A5}"/>
              </a:ext>
              <a:ext uri="{C183D7F6-B498-43B3-948B-1728B52AA6E4}">
                <adec:decorative xmlns:adec="http://schemas.microsoft.com/office/drawing/2017/decorative" val="1"/>
              </a:ext>
            </a:extLst>
          </p:cNvPr>
          <p:cNvSpPr/>
          <p:nvPr userDrawn="1"/>
        </p:nvSpPr>
        <p:spPr>
          <a:xfrm rot="10800000">
            <a:off x="-1" y="5010313"/>
            <a:ext cx="3307890" cy="1876021"/>
          </a:xfrm>
          <a:custGeom>
            <a:avLst/>
            <a:gdLst>
              <a:gd name="connsiteX0" fmla="*/ 3307890 w 3307890"/>
              <a:gd name="connsiteY0" fmla="*/ 1876021 h 1876021"/>
              <a:gd name="connsiteX1" fmla="*/ 3062737 w 3307890"/>
              <a:gd name="connsiteY1" fmla="*/ 1792455 h 1876021"/>
              <a:gd name="connsiteX2" fmla="*/ 56315 w 3307890"/>
              <a:gd name="connsiteY2" fmla="*/ 110172 h 1876021"/>
              <a:gd name="connsiteX3" fmla="*/ 0 w 3307890"/>
              <a:gd name="connsiteY3" fmla="*/ 0 h 1876021"/>
              <a:gd name="connsiteX4" fmla="*/ 3307890 w 3307890"/>
              <a:gd name="connsiteY4" fmla="*/ 0 h 1876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07890" h="1876021">
                <a:moveTo>
                  <a:pt x="3307890" y="1876021"/>
                </a:moveTo>
                <a:lnTo>
                  <a:pt x="3062737" y="1792455"/>
                </a:lnTo>
                <a:cubicBezTo>
                  <a:pt x="1499256" y="1257872"/>
                  <a:pt x="548396" y="895598"/>
                  <a:pt x="56315" y="110172"/>
                </a:cubicBezTo>
                <a:lnTo>
                  <a:pt x="0" y="0"/>
                </a:lnTo>
                <a:lnTo>
                  <a:pt x="3307890" y="0"/>
                </a:lnTo>
                <a:close/>
              </a:path>
            </a:pathLst>
          </a:custGeom>
          <a:solidFill>
            <a:schemeClr val="accent2">
              <a:alpha val="60000"/>
            </a:schemeClr>
          </a:solidFill>
          <a:ln w="762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5" name="Freeform 14">
            <a:extLst>
              <a:ext uri="{FF2B5EF4-FFF2-40B4-BE49-F238E27FC236}">
                <a16:creationId xmlns:a16="http://schemas.microsoft.com/office/drawing/2014/main" id="{7114E853-6F7C-9899-77FD-0E77D0A86207}"/>
              </a:ext>
              <a:ext uri="{C183D7F6-B498-43B3-948B-1728B52AA6E4}">
                <adec:decorative xmlns:adec="http://schemas.microsoft.com/office/drawing/2017/decorative" val="1"/>
              </a:ext>
            </a:extLst>
          </p:cNvPr>
          <p:cNvSpPr/>
          <p:nvPr userDrawn="1"/>
        </p:nvSpPr>
        <p:spPr>
          <a:xfrm rot="10800000">
            <a:off x="9394047" y="4650286"/>
            <a:ext cx="1859768" cy="2207713"/>
          </a:xfrm>
          <a:custGeom>
            <a:avLst/>
            <a:gdLst>
              <a:gd name="connsiteX0" fmla="*/ 0 w 1859768"/>
              <a:gd name="connsiteY0" fmla="*/ 118614 h 2207713"/>
              <a:gd name="connsiteX1" fmla="*/ 0 w 1859768"/>
              <a:gd name="connsiteY1" fmla="*/ 29419 h 2207713"/>
              <a:gd name="connsiteX2" fmla="*/ 16244 w 1859768"/>
              <a:gd name="connsiteY2" fmla="*/ 0 h 2207713"/>
              <a:gd name="connsiteX3" fmla="*/ 68915 w 1859768"/>
              <a:gd name="connsiteY3" fmla="*/ 0 h 2207713"/>
              <a:gd name="connsiteX4" fmla="*/ 1715656 w 1859768"/>
              <a:gd name="connsiteY4" fmla="*/ 494800 h 2207713"/>
              <a:gd name="connsiteX5" fmla="*/ 1683714 w 1859768"/>
              <a:gd name="connsiteY5" fmla="*/ 491216 h 2207713"/>
              <a:gd name="connsiteX6" fmla="*/ 1337678 w 1859768"/>
              <a:gd name="connsiteY6" fmla="*/ 431097 h 2207713"/>
              <a:gd name="connsiteX7" fmla="*/ 950852 w 1859768"/>
              <a:gd name="connsiteY7" fmla="*/ 31845 h 2207713"/>
              <a:gd name="connsiteX8" fmla="*/ 938957 w 1859768"/>
              <a:gd name="connsiteY8" fmla="*/ 0 h 2207713"/>
              <a:gd name="connsiteX9" fmla="*/ 1152830 w 1859768"/>
              <a:gd name="connsiteY9" fmla="*/ 0 h 2207713"/>
              <a:gd name="connsiteX10" fmla="*/ 1267279 w 1859768"/>
              <a:gd name="connsiteY10" fmla="*/ 105940 h 2207713"/>
              <a:gd name="connsiteX11" fmla="*/ 1390620 w 1859768"/>
              <a:gd name="connsiteY11" fmla="*/ 219990 h 2207713"/>
              <a:gd name="connsiteX12" fmla="*/ 1376706 w 1859768"/>
              <a:gd name="connsiteY12" fmla="*/ 237482 h 2207713"/>
              <a:gd name="connsiteX13" fmla="*/ 1213653 w 1859768"/>
              <a:gd name="connsiteY13" fmla="*/ 110730 h 2207713"/>
              <a:gd name="connsiteX14" fmla="*/ 1013214 w 1859768"/>
              <a:gd name="connsiteY14" fmla="*/ 4927 h 2207713"/>
              <a:gd name="connsiteX15" fmla="*/ 1634702 w 1859768"/>
              <a:gd name="connsiteY15" fmla="*/ 427133 h 2207713"/>
              <a:gd name="connsiteX16" fmla="*/ 1297389 w 1859768"/>
              <a:gd name="connsiteY16" fmla="*/ 8655 h 2207713"/>
              <a:gd name="connsiteX17" fmla="*/ 1259059 w 1859768"/>
              <a:gd name="connsiteY17" fmla="*/ 0 h 2207713"/>
              <a:gd name="connsiteX18" fmla="*/ 1410415 w 1859768"/>
              <a:gd name="connsiteY18" fmla="*/ 0 h 2207713"/>
              <a:gd name="connsiteX19" fmla="*/ 1499716 w 1859768"/>
              <a:gd name="connsiteY19" fmla="*/ 66646 h 2207713"/>
              <a:gd name="connsiteX20" fmla="*/ 1637128 w 1859768"/>
              <a:gd name="connsiteY20" fmla="*/ 256403 h 2207713"/>
              <a:gd name="connsiteX21" fmla="*/ 1744255 w 1859768"/>
              <a:gd name="connsiteY21" fmla="*/ 480278 h 2207713"/>
              <a:gd name="connsiteX22" fmla="*/ 1715656 w 1859768"/>
              <a:gd name="connsiteY22" fmla="*/ 494800 h 2207713"/>
              <a:gd name="connsiteX23" fmla="*/ 118121 w 1859768"/>
              <a:gd name="connsiteY23" fmla="*/ 857786 h 2207713"/>
              <a:gd name="connsiteX24" fmla="*/ 433985 w 1859768"/>
              <a:gd name="connsiteY24" fmla="*/ 43220 h 2207713"/>
              <a:gd name="connsiteX25" fmla="*/ 374233 w 1859768"/>
              <a:gd name="connsiteY25" fmla="*/ 191214 h 2207713"/>
              <a:gd name="connsiteX26" fmla="*/ 330862 w 1859768"/>
              <a:gd name="connsiteY26" fmla="*/ 340269 h 2207713"/>
              <a:gd name="connsiteX27" fmla="*/ 304211 w 1859768"/>
              <a:gd name="connsiteY27" fmla="*/ 324744 h 2207713"/>
              <a:gd name="connsiteX28" fmla="*/ 328152 w 1859768"/>
              <a:gd name="connsiteY28" fmla="*/ 127918 h 2207713"/>
              <a:gd name="connsiteX29" fmla="*/ 118121 w 1859768"/>
              <a:gd name="connsiteY29" fmla="*/ 857786 h 2207713"/>
              <a:gd name="connsiteX30" fmla="*/ 74903 w 1859768"/>
              <a:gd name="connsiteY30" fmla="*/ 966935 h 2207713"/>
              <a:gd name="connsiteX31" fmla="*/ 69491 w 1859768"/>
              <a:gd name="connsiteY31" fmla="*/ 504187 h 2207713"/>
              <a:gd name="connsiteX32" fmla="*/ 326258 w 1859768"/>
              <a:gd name="connsiteY32" fmla="*/ 28833 h 2207713"/>
              <a:gd name="connsiteX33" fmla="*/ 351236 w 1859768"/>
              <a:gd name="connsiteY33" fmla="*/ 0 h 2207713"/>
              <a:gd name="connsiteX34" fmla="*/ 500166 w 1859768"/>
              <a:gd name="connsiteY34" fmla="*/ 0 h 2207713"/>
              <a:gd name="connsiteX35" fmla="*/ 501007 w 1859768"/>
              <a:gd name="connsiteY35" fmla="*/ 11785 h 2207713"/>
              <a:gd name="connsiteX36" fmla="*/ 245786 w 1859768"/>
              <a:gd name="connsiteY36" fmla="*/ 835475 h 2207713"/>
              <a:gd name="connsiteX37" fmla="*/ 74903 w 1859768"/>
              <a:gd name="connsiteY37" fmla="*/ 966935 h 2207713"/>
              <a:gd name="connsiteX38" fmla="*/ 1661942 w 1859768"/>
              <a:gd name="connsiteY38" fmla="*/ 1353812 h 2207713"/>
              <a:gd name="connsiteX39" fmla="*/ 1749989 w 1859768"/>
              <a:gd name="connsiteY39" fmla="*/ 1342230 h 2207713"/>
              <a:gd name="connsiteX40" fmla="*/ 1312677 w 1859768"/>
              <a:gd name="connsiteY40" fmla="*/ 968809 h 2207713"/>
              <a:gd name="connsiteX41" fmla="*/ 1232104 w 1859768"/>
              <a:gd name="connsiteY41" fmla="*/ 979836 h 2207713"/>
              <a:gd name="connsiteX42" fmla="*/ 1510925 w 1859768"/>
              <a:gd name="connsiteY42" fmla="*/ 1199562 h 2207713"/>
              <a:gd name="connsiteX43" fmla="*/ 1217072 w 1859768"/>
              <a:gd name="connsiteY43" fmla="*/ 1054216 h 2207713"/>
              <a:gd name="connsiteX44" fmla="*/ 1661942 w 1859768"/>
              <a:gd name="connsiteY44" fmla="*/ 1353812 h 2207713"/>
              <a:gd name="connsiteX45" fmla="*/ 394807 w 1859768"/>
              <a:gd name="connsiteY45" fmla="*/ 1626455 h 2207713"/>
              <a:gd name="connsiteX46" fmla="*/ 466693 w 1859768"/>
              <a:gd name="connsiteY46" fmla="*/ 1595017 h 2207713"/>
              <a:gd name="connsiteX47" fmla="*/ 650821 w 1859768"/>
              <a:gd name="connsiteY47" fmla="*/ 1077380 h 2207713"/>
              <a:gd name="connsiteX48" fmla="*/ 591587 w 1859768"/>
              <a:gd name="connsiteY48" fmla="*/ 974474 h 2207713"/>
              <a:gd name="connsiteX49" fmla="*/ 557216 w 1859768"/>
              <a:gd name="connsiteY49" fmla="*/ 1094794 h 2207713"/>
              <a:gd name="connsiteX50" fmla="*/ 486148 w 1859768"/>
              <a:gd name="connsiteY50" fmla="*/ 1388665 h 2207713"/>
              <a:gd name="connsiteX51" fmla="*/ 452079 w 1859768"/>
              <a:gd name="connsiteY51" fmla="*/ 1431607 h 2207713"/>
              <a:gd name="connsiteX52" fmla="*/ 430714 w 1859768"/>
              <a:gd name="connsiteY52" fmla="*/ 1420233 h 2207713"/>
              <a:gd name="connsiteX53" fmla="*/ 493238 w 1859768"/>
              <a:gd name="connsiteY53" fmla="*/ 1142201 h 2207713"/>
              <a:gd name="connsiteX54" fmla="*/ 394807 w 1859768"/>
              <a:gd name="connsiteY54" fmla="*/ 1626455 h 2207713"/>
              <a:gd name="connsiteX55" fmla="*/ 1315388 w 1859768"/>
              <a:gd name="connsiteY55" fmla="*/ 2115696 h 2207713"/>
              <a:gd name="connsiteX56" fmla="*/ 1031118 w 1859768"/>
              <a:gd name="connsiteY56" fmla="*/ 1312715 h 2207713"/>
              <a:gd name="connsiteX57" fmla="*/ 1129348 w 1859768"/>
              <a:gd name="connsiteY57" fmla="*/ 1549780 h 2207713"/>
              <a:gd name="connsiteX58" fmla="*/ 1248211 w 1859768"/>
              <a:gd name="connsiteY58" fmla="*/ 1771927 h 2207713"/>
              <a:gd name="connsiteX59" fmla="*/ 1198290 w 1859768"/>
              <a:gd name="connsiteY59" fmla="*/ 1766808 h 2207713"/>
              <a:gd name="connsiteX60" fmla="*/ 990681 w 1859768"/>
              <a:gd name="connsiteY60" fmla="*/ 1391341 h 2207713"/>
              <a:gd name="connsiteX61" fmla="*/ 1315388 w 1859768"/>
              <a:gd name="connsiteY61" fmla="*/ 2115696 h 2207713"/>
              <a:gd name="connsiteX62" fmla="*/ 1350109 w 1859768"/>
              <a:gd name="connsiteY62" fmla="*/ 2206800 h 2207713"/>
              <a:gd name="connsiteX63" fmla="*/ 1016305 w 1859768"/>
              <a:gd name="connsiteY63" fmla="*/ 1939402 h 2207713"/>
              <a:gd name="connsiteX64" fmla="*/ 915052 w 1859768"/>
              <a:gd name="connsiteY64" fmla="*/ 1399068 h 2207713"/>
              <a:gd name="connsiteX65" fmla="*/ 854782 w 1859768"/>
              <a:gd name="connsiteY65" fmla="*/ 932137 h 2207713"/>
              <a:gd name="connsiteX66" fmla="*/ 770773 w 1859768"/>
              <a:gd name="connsiteY66" fmla="*/ 875318 h 2207713"/>
              <a:gd name="connsiteX67" fmla="*/ 825964 w 1859768"/>
              <a:gd name="connsiteY67" fmla="*/ 823117 h 2207713"/>
              <a:gd name="connsiteX68" fmla="*/ 778651 w 1859768"/>
              <a:gd name="connsiteY68" fmla="*/ 628353 h 2207713"/>
              <a:gd name="connsiteX69" fmla="*/ 674057 w 1859768"/>
              <a:gd name="connsiteY69" fmla="*/ 806473 h 2207713"/>
              <a:gd name="connsiteX70" fmla="*/ 678691 w 1859768"/>
              <a:gd name="connsiteY70" fmla="*/ 987300 h 2207713"/>
              <a:gd name="connsiteX71" fmla="*/ 573399 w 1859768"/>
              <a:gd name="connsiteY71" fmla="*/ 1572793 h 2207713"/>
              <a:gd name="connsiteX72" fmla="*/ 448294 w 1859768"/>
              <a:gd name="connsiteY72" fmla="*/ 1671763 h 2207713"/>
              <a:gd name="connsiteX73" fmla="*/ 347341 w 1859768"/>
              <a:gd name="connsiteY73" fmla="*/ 1644762 h 2207713"/>
              <a:gd name="connsiteX74" fmla="*/ 322256 w 1859768"/>
              <a:gd name="connsiteY74" fmla="*/ 1459939 h 2207713"/>
              <a:gd name="connsiteX75" fmla="*/ 495295 w 1859768"/>
              <a:gd name="connsiteY75" fmla="*/ 1011735 h 2207713"/>
              <a:gd name="connsiteX76" fmla="*/ 631502 w 1859768"/>
              <a:gd name="connsiteY76" fmla="*/ 767246 h 2207713"/>
              <a:gd name="connsiteX77" fmla="*/ 678184 w 1859768"/>
              <a:gd name="connsiteY77" fmla="*/ 678226 h 2207713"/>
              <a:gd name="connsiteX78" fmla="*/ 718531 w 1859768"/>
              <a:gd name="connsiteY78" fmla="*/ 365894 h 2207713"/>
              <a:gd name="connsiteX79" fmla="*/ 669080 w 1859768"/>
              <a:gd name="connsiteY79" fmla="*/ 150213 h 2207713"/>
              <a:gd name="connsiteX80" fmla="*/ 639037 w 1859768"/>
              <a:gd name="connsiteY80" fmla="*/ 0 h 2207713"/>
              <a:gd name="connsiteX81" fmla="*/ 685477 w 1859768"/>
              <a:gd name="connsiteY81" fmla="*/ 0 h 2207713"/>
              <a:gd name="connsiteX82" fmla="*/ 830123 w 1859768"/>
              <a:gd name="connsiteY82" fmla="*/ 644646 h 2207713"/>
              <a:gd name="connsiteX83" fmla="*/ 868286 w 1859768"/>
              <a:gd name="connsiteY83" fmla="*/ 801231 h 2207713"/>
              <a:gd name="connsiteX84" fmla="*/ 945378 w 1859768"/>
              <a:gd name="connsiteY84" fmla="*/ 881698 h 2207713"/>
              <a:gd name="connsiteX85" fmla="*/ 1208838 w 1859768"/>
              <a:gd name="connsiteY85" fmla="*/ 919029 h 2207713"/>
              <a:gd name="connsiteX86" fmla="*/ 1753984 w 1859768"/>
              <a:gd name="connsiteY86" fmla="*/ 1208539 h 2207713"/>
              <a:gd name="connsiteX87" fmla="*/ 1859768 w 1859768"/>
              <a:gd name="connsiteY87" fmla="*/ 1390144 h 2207713"/>
              <a:gd name="connsiteX88" fmla="*/ 1607507 w 1859768"/>
              <a:gd name="connsiteY88" fmla="*/ 1402956 h 2207713"/>
              <a:gd name="connsiteX89" fmla="*/ 1298703 w 1859768"/>
              <a:gd name="connsiteY89" fmla="*/ 1257406 h 2207713"/>
              <a:gd name="connsiteX90" fmla="*/ 1164863 w 1859768"/>
              <a:gd name="connsiteY90" fmla="*/ 1082843 h 2207713"/>
              <a:gd name="connsiteX91" fmla="*/ 1010750 w 1859768"/>
              <a:gd name="connsiteY91" fmla="*/ 956586 h 2207713"/>
              <a:gd name="connsiteX92" fmla="*/ 905506 w 1859768"/>
              <a:gd name="connsiteY92" fmla="*/ 929445 h 2207713"/>
              <a:gd name="connsiteX93" fmla="*/ 994250 w 1859768"/>
              <a:gd name="connsiteY93" fmla="*/ 1187151 h 2207713"/>
              <a:gd name="connsiteX94" fmla="*/ 1063313 w 1859768"/>
              <a:gd name="connsiteY94" fmla="*/ 1241331 h 2207713"/>
              <a:gd name="connsiteX95" fmla="*/ 1403427 w 1859768"/>
              <a:gd name="connsiteY95" fmla="*/ 1675440 h 2207713"/>
              <a:gd name="connsiteX96" fmla="*/ 1412888 w 1859768"/>
              <a:gd name="connsiteY96" fmla="*/ 2013308 h 2207713"/>
              <a:gd name="connsiteX97" fmla="*/ 1370292 w 1859768"/>
              <a:gd name="connsiteY97" fmla="*/ 2202341 h 2207713"/>
              <a:gd name="connsiteX98" fmla="*/ 1350109 w 1859768"/>
              <a:gd name="connsiteY98" fmla="*/ 2206800 h 220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859768" h="2207713">
                <a:moveTo>
                  <a:pt x="0" y="118614"/>
                </a:moveTo>
                <a:lnTo>
                  <a:pt x="0" y="29419"/>
                </a:lnTo>
                <a:lnTo>
                  <a:pt x="16244" y="0"/>
                </a:lnTo>
                <a:lnTo>
                  <a:pt x="68915" y="0"/>
                </a:lnTo>
                <a:close/>
                <a:moveTo>
                  <a:pt x="1715656" y="494800"/>
                </a:moveTo>
                <a:cubicBezTo>
                  <a:pt x="1704862" y="495265"/>
                  <a:pt x="1693511" y="492713"/>
                  <a:pt x="1683714" y="491216"/>
                </a:cubicBezTo>
                <a:cubicBezTo>
                  <a:pt x="1567792" y="473756"/>
                  <a:pt x="1449925" y="461958"/>
                  <a:pt x="1337678" y="431097"/>
                </a:cubicBezTo>
                <a:cubicBezTo>
                  <a:pt x="1134061" y="375091"/>
                  <a:pt x="1009028" y="231185"/>
                  <a:pt x="950852" y="31845"/>
                </a:cubicBezTo>
                <a:lnTo>
                  <a:pt x="938957" y="0"/>
                </a:lnTo>
                <a:lnTo>
                  <a:pt x="1152830" y="0"/>
                </a:lnTo>
                <a:lnTo>
                  <a:pt x="1267279" y="105940"/>
                </a:lnTo>
                <a:cubicBezTo>
                  <a:pt x="1308707" y="144308"/>
                  <a:pt x="1349638" y="182194"/>
                  <a:pt x="1390620" y="219990"/>
                </a:cubicBezTo>
                <a:cubicBezTo>
                  <a:pt x="1386245" y="225654"/>
                  <a:pt x="1381298" y="231460"/>
                  <a:pt x="1376706" y="237482"/>
                </a:cubicBezTo>
                <a:cubicBezTo>
                  <a:pt x="1304559" y="222422"/>
                  <a:pt x="1267575" y="152885"/>
                  <a:pt x="1213653" y="110730"/>
                </a:cubicBezTo>
                <a:cubicBezTo>
                  <a:pt x="1155161" y="64853"/>
                  <a:pt x="1098884" y="19331"/>
                  <a:pt x="1013214" y="4927"/>
                </a:cubicBezTo>
                <a:cubicBezTo>
                  <a:pt x="1047417" y="278154"/>
                  <a:pt x="1317065" y="436272"/>
                  <a:pt x="1634702" y="427133"/>
                </a:cubicBezTo>
                <a:cubicBezTo>
                  <a:pt x="1577765" y="199027"/>
                  <a:pt x="1448459" y="58590"/>
                  <a:pt x="1297389" y="8655"/>
                </a:cubicBezTo>
                <a:lnTo>
                  <a:pt x="1259059" y="0"/>
                </a:lnTo>
                <a:lnTo>
                  <a:pt x="1410415" y="0"/>
                </a:lnTo>
                <a:lnTo>
                  <a:pt x="1499716" y="66646"/>
                </a:lnTo>
                <a:cubicBezTo>
                  <a:pt x="1554948" y="119466"/>
                  <a:pt x="1598789" y="185076"/>
                  <a:pt x="1637128" y="256403"/>
                </a:cubicBezTo>
                <a:cubicBezTo>
                  <a:pt x="1675184" y="326584"/>
                  <a:pt x="1755798" y="433557"/>
                  <a:pt x="1744255" y="480278"/>
                </a:cubicBezTo>
                <a:cubicBezTo>
                  <a:pt x="1736686" y="490852"/>
                  <a:pt x="1726450" y="494335"/>
                  <a:pt x="1715656" y="494800"/>
                </a:cubicBezTo>
                <a:close/>
                <a:moveTo>
                  <a:pt x="118121" y="857786"/>
                </a:moveTo>
                <a:cubicBezTo>
                  <a:pt x="321011" y="780677"/>
                  <a:pt x="535523" y="340321"/>
                  <a:pt x="433985" y="43220"/>
                </a:cubicBezTo>
                <a:cubicBezTo>
                  <a:pt x="410330" y="101200"/>
                  <a:pt x="389994" y="145563"/>
                  <a:pt x="374233" y="191214"/>
                </a:cubicBezTo>
                <a:cubicBezTo>
                  <a:pt x="357538" y="239229"/>
                  <a:pt x="345560" y="289103"/>
                  <a:pt x="330862" y="340269"/>
                </a:cubicBezTo>
                <a:cubicBezTo>
                  <a:pt x="314214" y="330754"/>
                  <a:pt x="303849" y="326966"/>
                  <a:pt x="304211" y="324744"/>
                </a:cubicBezTo>
                <a:cubicBezTo>
                  <a:pt x="311428" y="259327"/>
                  <a:pt x="319790" y="193622"/>
                  <a:pt x="328152" y="127918"/>
                </a:cubicBezTo>
                <a:cubicBezTo>
                  <a:pt x="110186" y="438886"/>
                  <a:pt x="47314" y="643052"/>
                  <a:pt x="118121" y="857786"/>
                </a:cubicBezTo>
                <a:close/>
                <a:moveTo>
                  <a:pt x="74903" y="966935"/>
                </a:moveTo>
                <a:cubicBezTo>
                  <a:pt x="38034" y="945758"/>
                  <a:pt x="15827" y="648523"/>
                  <a:pt x="69491" y="504187"/>
                </a:cubicBezTo>
                <a:cubicBezTo>
                  <a:pt x="133206" y="333209"/>
                  <a:pt x="216093" y="172655"/>
                  <a:pt x="326258" y="28833"/>
                </a:cubicBezTo>
                <a:lnTo>
                  <a:pt x="351236" y="0"/>
                </a:lnTo>
                <a:lnTo>
                  <a:pt x="500166" y="0"/>
                </a:lnTo>
                <a:lnTo>
                  <a:pt x="501007" y="11785"/>
                </a:lnTo>
                <a:cubicBezTo>
                  <a:pt x="557150" y="329413"/>
                  <a:pt x="461159" y="602456"/>
                  <a:pt x="245786" y="835475"/>
                </a:cubicBezTo>
                <a:cubicBezTo>
                  <a:pt x="201837" y="882723"/>
                  <a:pt x="98490" y="976231"/>
                  <a:pt x="74903" y="966935"/>
                </a:cubicBezTo>
                <a:close/>
                <a:moveTo>
                  <a:pt x="1661942" y="1353812"/>
                </a:moveTo>
                <a:cubicBezTo>
                  <a:pt x="1689964" y="1352207"/>
                  <a:pt x="1719270" y="1348345"/>
                  <a:pt x="1749989" y="1342230"/>
                </a:cubicBezTo>
                <a:cubicBezTo>
                  <a:pt x="1656665" y="1097504"/>
                  <a:pt x="1497337" y="963250"/>
                  <a:pt x="1312677" y="968809"/>
                </a:cubicBezTo>
                <a:cubicBezTo>
                  <a:pt x="1286297" y="969603"/>
                  <a:pt x="1259399" y="973250"/>
                  <a:pt x="1232104" y="979836"/>
                </a:cubicBezTo>
                <a:cubicBezTo>
                  <a:pt x="1319351" y="1062014"/>
                  <a:pt x="1460184" y="1072004"/>
                  <a:pt x="1510925" y="1199562"/>
                </a:cubicBezTo>
                <a:cubicBezTo>
                  <a:pt x="1413953" y="1150563"/>
                  <a:pt x="1328893" y="1083357"/>
                  <a:pt x="1217072" y="1054216"/>
                </a:cubicBezTo>
                <a:cubicBezTo>
                  <a:pt x="1332495" y="1265699"/>
                  <a:pt x="1465786" y="1365048"/>
                  <a:pt x="1661942" y="1353812"/>
                </a:cubicBezTo>
                <a:close/>
                <a:moveTo>
                  <a:pt x="394807" y="1626455"/>
                </a:moveTo>
                <a:cubicBezTo>
                  <a:pt x="431036" y="1610664"/>
                  <a:pt x="450719" y="1605418"/>
                  <a:pt x="466693" y="1595017"/>
                </a:cubicBezTo>
                <a:cubicBezTo>
                  <a:pt x="617981" y="1496170"/>
                  <a:pt x="702592" y="1260677"/>
                  <a:pt x="650821" y="1077380"/>
                </a:cubicBezTo>
                <a:cubicBezTo>
                  <a:pt x="640663" y="1042498"/>
                  <a:pt x="641972" y="997433"/>
                  <a:pt x="591587" y="974474"/>
                </a:cubicBezTo>
                <a:cubicBezTo>
                  <a:pt x="578978" y="1018116"/>
                  <a:pt x="566810" y="1056169"/>
                  <a:pt x="557216" y="1094794"/>
                </a:cubicBezTo>
                <a:cubicBezTo>
                  <a:pt x="533192" y="1193037"/>
                  <a:pt x="511601" y="1291280"/>
                  <a:pt x="486148" y="1388665"/>
                </a:cubicBezTo>
                <a:cubicBezTo>
                  <a:pt x="481894" y="1404645"/>
                  <a:pt x="464055" y="1417340"/>
                  <a:pt x="452079" y="1431607"/>
                </a:cubicBezTo>
                <a:cubicBezTo>
                  <a:pt x="445076" y="1427887"/>
                  <a:pt x="437717" y="1423952"/>
                  <a:pt x="430714" y="1420233"/>
                </a:cubicBezTo>
                <a:cubicBezTo>
                  <a:pt x="451292" y="1327723"/>
                  <a:pt x="472444" y="1235070"/>
                  <a:pt x="493238" y="1142201"/>
                </a:cubicBezTo>
                <a:cubicBezTo>
                  <a:pt x="405949" y="1288283"/>
                  <a:pt x="340614" y="1438288"/>
                  <a:pt x="394807" y="1626455"/>
                </a:cubicBezTo>
                <a:close/>
                <a:moveTo>
                  <a:pt x="1315388" y="2115696"/>
                </a:moveTo>
                <a:cubicBezTo>
                  <a:pt x="1459383" y="1841253"/>
                  <a:pt x="1300831" y="1370388"/>
                  <a:pt x="1031118" y="1312715"/>
                </a:cubicBezTo>
                <a:cubicBezTo>
                  <a:pt x="1065996" y="1397084"/>
                  <a:pt x="1095810" y="1474508"/>
                  <a:pt x="1129348" y="1549780"/>
                </a:cubicBezTo>
                <a:cubicBezTo>
                  <a:pt x="1161888" y="1623476"/>
                  <a:pt x="1222856" y="1683035"/>
                  <a:pt x="1248211" y="1771927"/>
                </a:cubicBezTo>
                <a:cubicBezTo>
                  <a:pt x="1222391" y="1769583"/>
                  <a:pt x="1201710" y="1773253"/>
                  <a:pt x="1198290" y="1766808"/>
                </a:cubicBezTo>
                <a:cubicBezTo>
                  <a:pt x="1127371" y="1641272"/>
                  <a:pt x="1057886" y="1514158"/>
                  <a:pt x="990681" y="1391341"/>
                </a:cubicBezTo>
                <a:cubicBezTo>
                  <a:pt x="855540" y="1570131"/>
                  <a:pt x="974506" y="1949897"/>
                  <a:pt x="1315388" y="2115696"/>
                </a:cubicBezTo>
                <a:close/>
                <a:moveTo>
                  <a:pt x="1350109" y="2206800"/>
                </a:moveTo>
                <a:cubicBezTo>
                  <a:pt x="1227294" y="2132029"/>
                  <a:pt x="1103839" y="2055898"/>
                  <a:pt x="1016305" y="1939402"/>
                </a:cubicBezTo>
                <a:cubicBezTo>
                  <a:pt x="894527" y="1777942"/>
                  <a:pt x="844899" y="1595932"/>
                  <a:pt x="915052" y="1399068"/>
                </a:cubicBezTo>
                <a:cubicBezTo>
                  <a:pt x="975348" y="1229938"/>
                  <a:pt x="907264" y="1082692"/>
                  <a:pt x="854782" y="932137"/>
                </a:cubicBezTo>
                <a:cubicBezTo>
                  <a:pt x="846533" y="908644"/>
                  <a:pt x="804422" y="896999"/>
                  <a:pt x="770773" y="875318"/>
                </a:cubicBezTo>
                <a:cubicBezTo>
                  <a:pt x="787545" y="859543"/>
                  <a:pt x="802883" y="845346"/>
                  <a:pt x="825964" y="823117"/>
                </a:cubicBezTo>
                <a:cubicBezTo>
                  <a:pt x="812484" y="768678"/>
                  <a:pt x="797092" y="705284"/>
                  <a:pt x="778651" y="628353"/>
                </a:cubicBezTo>
                <a:cubicBezTo>
                  <a:pt x="718445" y="684857"/>
                  <a:pt x="704504" y="750136"/>
                  <a:pt x="674057" y="806473"/>
                </a:cubicBezTo>
                <a:cubicBezTo>
                  <a:pt x="639013" y="871268"/>
                  <a:pt x="653565" y="926351"/>
                  <a:pt x="678691" y="987300"/>
                </a:cubicBezTo>
                <a:cubicBezTo>
                  <a:pt x="768807" y="1203882"/>
                  <a:pt x="699453" y="1395372"/>
                  <a:pt x="573399" y="1572793"/>
                </a:cubicBezTo>
                <a:cubicBezTo>
                  <a:pt x="543911" y="1614586"/>
                  <a:pt x="491566" y="1640205"/>
                  <a:pt x="448294" y="1671763"/>
                </a:cubicBezTo>
                <a:cubicBezTo>
                  <a:pt x="404448" y="1703465"/>
                  <a:pt x="371872" y="1682427"/>
                  <a:pt x="347341" y="1644762"/>
                </a:cubicBezTo>
                <a:cubicBezTo>
                  <a:pt x="310117" y="1587763"/>
                  <a:pt x="311251" y="1523568"/>
                  <a:pt x="322256" y="1459939"/>
                </a:cubicBezTo>
                <a:cubicBezTo>
                  <a:pt x="349914" y="1299003"/>
                  <a:pt x="405306" y="1149365"/>
                  <a:pt x="495295" y="1011735"/>
                </a:cubicBezTo>
                <a:cubicBezTo>
                  <a:pt x="545960" y="933888"/>
                  <a:pt x="586695" y="849101"/>
                  <a:pt x="631502" y="767246"/>
                </a:cubicBezTo>
                <a:cubicBezTo>
                  <a:pt x="647658" y="737930"/>
                  <a:pt x="657956" y="704608"/>
                  <a:pt x="678184" y="678226"/>
                </a:cubicBezTo>
                <a:cubicBezTo>
                  <a:pt x="752638" y="581017"/>
                  <a:pt x="749272" y="478997"/>
                  <a:pt x="718531" y="365894"/>
                </a:cubicBezTo>
                <a:cubicBezTo>
                  <a:pt x="699256" y="294803"/>
                  <a:pt x="683666" y="222633"/>
                  <a:pt x="669080" y="150213"/>
                </a:cubicBezTo>
                <a:lnTo>
                  <a:pt x="639037" y="0"/>
                </a:lnTo>
                <a:lnTo>
                  <a:pt x="685477" y="0"/>
                </a:lnTo>
                <a:lnTo>
                  <a:pt x="830123" y="644646"/>
                </a:lnTo>
                <a:cubicBezTo>
                  <a:pt x="841889" y="697081"/>
                  <a:pt x="858594" y="748580"/>
                  <a:pt x="868286" y="801231"/>
                </a:cubicBezTo>
                <a:cubicBezTo>
                  <a:pt x="876847" y="846862"/>
                  <a:pt x="902344" y="867547"/>
                  <a:pt x="945378" y="881698"/>
                </a:cubicBezTo>
                <a:cubicBezTo>
                  <a:pt x="1031306" y="909427"/>
                  <a:pt x="1113389" y="928992"/>
                  <a:pt x="1208838" y="919029"/>
                </a:cubicBezTo>
                <a:cubicBezTo>
                  <a:pt x="1450323" y="893401"/>
                  <a:pt x="1641860" y="979221"/>
                  <a:pt x="1753984" y="1208539"/>
                </a:cubicBezTo>
                <a:cubicBezTo>
                  <a:pt x="1782977" y="1267908"/>
                  <a:pt x="1856145" y="1343578"/>
                  <a:pt x="1859768" y="1390144"/>
                </a:cubicBezTo>
                <a:cubicBezTo>
                  <a:pt x="1836417" y="1439526"/>
                  <a:pt x="1688979" y="1406544"/>
                  <a:pt x="1607507" y="1402956"/>
                </a:cubicBezTo>
                <a:cubicBezTo>
                  <a:pt x="1486122" y="1397822"/>
                  <a:pt x="1378192" y="1354922"/>
                  <a:pt x="1298703" y="1257406"/>
                </a:cubicBezTo>
                <a:cubicBezTo>
                  <a:pt x="1252324" y="1200270"/>
                  <a:pt x="1195489" y="1147586"/>
                  <a:pt x="1164863" y="1082843"/>
                </a:cubicBezTo>
                <a:cubicBezTo>
                  <a:pt x="1130674" y="1011083"/>
                  <a:pt x="1077231" y="979459"/>
                  <a:pt x="1010750" y="956586"/>
                </a:cubicBezTo>
                <a:cubicBezTo>
                  <a:pt x="982871" y="947151"/>
                  <a:pt x="954125" y="941586"/>
                  <a:pt x="905506" y="929445"/>
                </a:cubicBezTo>
                <a:cubicBezTo>
                  <a:pt x="938069" y="1026569"/>
                  <a:pt x="961505" y="1108942"/>
                  <a:pt x="994250" y="1187151"/>
                </a:cubicBezTo>
                <a:cubicBezTo>
                  <a:pt x="1004360" y="1210786"/>
                  <a:pt x="1037660" y="1227381"/>
                  <a:pt x="1063313" y="1241331"/>
                </a:cubicBezTo>
                <a:cubicBezTo>
                  <a:pt x="1239665" y="1337051"/>
                  <a:pt x="1330749" y="1501044"/>
                  <a:pt x="1403427" y="1675440"/>
                </a:cubicBezTo>
                <a:cubicBezTo>
                  <a:pt x="1448273" y="1782871"/>
                  <a:pt x="1438875" y="1899660"/>
                  <a:pt x="1412888" y="2013308"/>
                </a:cubicBezTo>
                <a:cubicBezTo>
                  <a:pt x="1398883" y="2074648"/>
                  <a:pt x="1385094" y="2135629"/>
                  <a:pt x="1370292" y="2202341"/>
                </a:cubicBezTo>
                <a:cubicBezTo>
                  <a:pt x="1368001" y="2202917"/>
                  <a:pt x="1355826" y="2210234"/>
                  <a:pt x="1350109" y="2206800"/>
                </a:cubicBez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12">
            <a:extLst>
              <a:ext uri="{FF2B5EF4-FFF2-40B4-BE49-F238E27FC236}">
                <a16:creationId xmlns:a16="http://schemas.microsoft.com/office/drawing/2014/main" id="{69002426-033B-400A-C519-AF4C659C4F05}"/>
              </a:ext>
              <a:ext uri="{C183D7F6-B498-43B3-948B-1728B52AA6E4}">
                <adec:decorative xmlns:adec="http://schemas.microsoft.com/office/drawing/2017/decorative" val="1"/>
              </a:ext>
            </a:extLst>
          </p:cNvPr>
          <p:cNvSpPr/>
          <p:nvPr userDrawn="1"/>
        </p:nvSpPr>
        <p:spPr>
          <a:xfrm rot="16200000" flipH="1">
            <a:off x="8812879" y="2130044"/>
            <a:ext cx="5509165" cy="1249078"/>
          </a:xfrm>
          <a:custGeom>
            <a:avLst/>
            <a:gdLst>
              <a:gd name="connsiteX0" fmla="*/ 5509165 w 5509165"/>
              <a:gd name="connsiteY0" fmla="*/ 1249078 h 1249078"/>
              <a:gd name="connsiteX1" fmla="*/ 0 w 5509165"/>
              <a:gd name="connsiteY1" fmla="*/ 1249078 h 1249078"/>
              <a:gd name="connsiteX2" fmla="*/ 0 w 5509165"/>
              <a:gd name="connsiteY2" fmla="*/ 376649 h 1249078"/>
              <a:gd name="connsiteX3" fmla="*/ 124275 w 5509165"/>
              <a:gd name="connsiteY3" fmla="*/ 338434 h 1249078"/>
              <a:gd name="connsiteX4" fmla="*/ 2337339 w 5509165"/>
              <a:gd name="connsiteY4" fmla="*/ 1263 h 1249078"/>
              <a:gd name="connsiteX5" fmla="*/ 4747463 w 5509165"/>
              <a:gd name="connsiteY5" fmla="*/ 509094 h 1249078"/>
              <a:gd name="connsiteX6" fmla="*/ 5475419 w 5509165"/>
              <a:gd name="connsiteY6" fmla="*/ 1196657 h 1249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09165" h="1249078">
                <a:moveTo>
                  <a:pt x="5509165" y="1249078"/>
                </a:moveTo>
                <a:lnTo>
                  <a:pt x="0" y="1249078"/>
                </a:lnTo>
                <a:lnTo>
                  <a:pt x="0" y="376649"/>
                </a:lnTo>
                <a:lnTo>
                  <a:pt x="124275" y="338434"/>
                </a:lnTo>
                <a:cubicBezTo>
                  <a:pt x="840589" y="132976"/>
                  <a:pt x="1609226" y="14590"/>
                  <a:pt x="2337339" y="1263"/>
                </a:cubicBezTo>
                <a:cubicBezTo>
                  <a:pt x="3273483" y="-15871"/>
                  <a:pt x="4142637" y="140664"/>
                  <a:pt x="4747463" y="509094"/>
                </a:cubicBezTo>
                <a:cubicBezTo>
                  <a:pt x="5039841" y="687195"/>
                  <a:pt x="5284004" y="923072"/>
                  <a:pt x="5475419" y="1196657"/>
                </a:cubicBezTo>
                <a:close/>
              </a:path>
            </a:pathLst>
          </a:custGeom>
          <a:solidFill>
            <a:schemeClr val="accent4">
              <a:alpha val="50000"/>
            </a:schemeClr>
          </a:solidFill>
          <a:ln w="377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Content Placeholder 6">
            <a:extLst>
              <a:ext uri="{FF2B5EF4-FFF2-40B4-BE49-F238E27FC236}">
                <a16:creationId xmlns:a16="http://schemas.microsoft.com/office/drawing/2014/main" id="{13980755-170E-8438-DC1B-7B3283F2A49D}"/>
              </a:ext>
            </a:extLst>
          </p:cNvPr>
          <p:cNvSpPr>
            <a:spLocks noGrp="1"/>
          </p:cNvSpPr>
          <p:nvPr>
            <p:ph sz="quarter" idx="10"/>
          </p:nvPr>
        </p:nvSpPr>
        <p:spPr>
          <a:xfrm>
            <a:off x="914400" y="2039112"/>
            <a:ext cx="7150608" cy="3356576"/>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Slide Number Placeholder 5">
            <a:extLst>
              <a:ext uri="{FF2B5EF4-FFF2-40B4-BE49-F238E27FC236}">
                <a16:creationId xmlns:a16="http://schemas.microsoft.com/office/drawing/2014/main" id="{933C021B-6AA4-3C5D-099F-96D113A1495C}"/>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01641537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_Two content 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397A4D6-9D7A-63FE-63C9-A585FFE05579}"/>
              </a:ext>
              <a:ext uri="{C183D7F6-B498-43B3-948B-1728B52AA6E4}">
                <adec:decorative xmlns:adec="http://schemas.microsoft.com/office/drawing/2017/decorative" val="1"/>
              </a:ext>
            </a:extLst>
          </p:cNvPr>
          <p:cNvSpPr/>
          <p:nvPr userDrawn="1"/>
        </p:nvSpPr>
        <p:spPr>
          <a:xfrm>
            <a:off x="0" y="4383"/>
            <a:ext cx="12192000" cy="1524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777240" y="365760"/>
            <a:ext cx="10890504" cy="1545336"/>
          </a:xfrm>
          <a:solidFill>
            <a:schemeClr val="bg1">
              <a:lumMod val="95000"/>
            </a:schemeClr>
          </a:solidFill>
        </p:spPr>
        <p:txBody>
          <a:bodyPr/>
          <a:lstStyle>
            <a:lvl1pPr>
              <a:defRPr baseline="0"/>
            </a:lvl1pPr>
          </a:lstStyle>
          <a:p>
            <a:r>
              <a:rPr lang="en-US" dirty="0"/>
              <a:t>Click to edit Master title style</a:t>
            </a:r>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777240" y="2093976"/>
            <a:ext cx="3419856" cy="3776472"/>
          </a:xfrm>
          <a:solidFill>
            <a:schemeClr val="tx1">
              <a:alpha val="5000"/>
            </a:schemeClr>
          </a:solidFill>
        </p:spPr>
        <p:txBody>
          <a:bodyPr rIns="45720" anchor="t" anchorCtr="0">
            <a:normAutofit/>
          </a:bodyPr>
          <a:lstStyle>
            <a:lvl1pPr>
              <a:spcAft>
                <a:spcPts val="1800"/>
              </a:spcAft>
              <a:defRPr sz="1800"/>
            </a:lvl1pPr>
            <a:lvl2pPr>
              <a:defRPr sz="1600"/>
            </a:lvl2pPr>
            <a:lvl3pPr>
              <a:defRPr sz="14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2">
            <a:extLst>
              <a:ext uri="{FF2B5EF4-FFF2-40B4-BE49-F238E27FC236}">
                <a16:creationId xmlns:a16="http://schemas.microsoft.com/office/drawing/2014/main" id="{33A182AF-83EB-0BA6-3ADD-B49BDD9E37ED}"/>
              </a:ext>
            </a:extLst>
          </p:cNvPr>
          <p:cNvSpPr>
            <a:spLocks noGrp="1"/>
          </p:cNvSpPr>
          <p:nvPr>
            <p:ph idx="13"/>
          </p:nvPr>
        </p:nvSpPr>
        <p:spPr>
          <a:xfrm>
            <a:off x="4864608" y="2093976"/>
            <a:ext cx="6382512" cy="3749040"/>
          </a:xfrm>
          <a:noFill/>
        </p:spPr>
        <p:txBody>
          <a:bodyPr anchor="t" anchorCtr="0">
            <a:normAutofit/>
          </a:bodyPr>
          <a:lstStyle>
            <a:lvl1pPr>
              <a:spcAft>
                <a:spcPts val="1800"/>
              </a:spcAft>
              <a:defRPr sz="2000"/>
            </a:lvl1pPr>
            <a:lvl2pPr>
              <a:defRPr sz="1800"/>
            </a:lvl2pPr>
            <a:lvl3pPr>
              <a:defRPr sz="16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fld id="{740AF595-6A16-4CBE-B354-30DE998CBD37}" type="datetime1">
              <a:rPr lang="en-US" smtClean="0"/>
              <a:t>10/20/2024</a:t>
            </a:fld>
            <a:endParaRPr lang="en-US" dirty="0"/>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pic>
        <p:nvPicPr>
          <p:cNvPr id="10" name="Graphic 9">
            <a:extLst>
              <a:ext uri="{FF2B5EF4-FFF2-40B4-BE49-F238E27FC236}">
                <a16:creationId xmlns:a16="http://schemas.microsoft.com/office/drawing/2014/main" id="{CB897DD0-4462-B31B-50A9-D399FD0F589C}"/>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23529"/>
          <a:stretch/>
        </p:blipFill>
        <p:spPr>
          <a:xfrm>
            <a:off x="3815" y="4389845"/>
            <a:ext cx="5024198" cy="2463772"/>
          </a:xfrm>
          <a:prstGeom prst="rect">
            <a:avLst/>
          </a:prstGeom>
        </p:spPr>
      </p:pic>
    </p:spTree>
    <p:extLst>
      <p:ext uri="{BB962C8B-B14F-4D97-AF65-F5344CB8AC3E}">
        <p14:creationId xmlns:p14="http://schemas.microsoft.com/office/powerpoint/2010/main" val="364542556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wo Content 2">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DCD020E-88CF-303D-F947-8EE980AC8093}"/>
              </a:ext>
              <a:ext uri="{C183D7F6-B498-43B3-948B-1728B52AA6E4}">
                <adec:decorative xmlns:adec="http://schemas.microsoft.com/office/drawing/2017/decorative" val="1"/>
              </a:ext>
            </a:extLst>
          </p:cNvPr>
          <p:cNvGrpSpPr/>
          <p:nvPr userDrawn="1"/>
        </p:nvGrpSpPr>
        <p:grpSpPr>
          <a:xfrm>
            <a:off x="1" y="1"/>
            <a:ext cx="12192000" cy="6800411"/>
            <a:chOff x="1" y="1"/>
            <a:chExt cx="12192000" cy="6800411"/>
          </a:xfrm>
        </p:grpSpPr>
        <p:sp>
          <p:nvSpPr>
            <p:cNvPr id="9" name="Freeform: Shape 8">
              <a:extLst>
                <a:ext uri="{FF2B5EF4-FFF2-40B4-BE49-F238E27FC236}">
                  <a16:creationId xmlns:a16="http://schemas.microsoft.com/office/drawing/2014/main" id="{30B88804-97CC-BE78-8D40-672973E4CD32}"/>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1" name="Freeform: Shape 10">
              <a:extLst>
                <a:ext uri="{FF2B5EF4-FFF2-40B4-BE49-F238E27FC236}">
                  <a16:creationId xmlns:a16="http://schemas.microsoft.com/office/drawing/2014/main" id="{77FB28C4-D7BE-9D2F-25D0-06D2480EA06A}"/>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8" name="Title 1">
            <a:extLst>
              <a:ext uri="{FF2B5EF4-FFF2-40B4-BE49-F238E27FC236}">
                <a16:creationId xmlns:a16="http://schemas.microsoft.com/office/drawing/2014/main" id="{694847DB-2FD4-A0B7-D27C-B0D097130852}"/>
              </a:ext>
            </a:extLst>
          </p:cNvPr>
          <p:cNvSpPr>
            <a:spLocks noGrp="1"/>
          </p:cNvSpPr>
          <p:nvPr>
            <p:ph type="title" hasCustomPrompt="1"/>
          </p:nvPr>
        </p:nvSpPr>
        <p:spPr>
          <a:xfrm>
            <a:off x="914400" y="914400"/>
            <a:ext cx="10360152" cy="914400"/>
          </a:xfrm>
        </p:spPr>
        <p:txBody>
          <a:bodyPr anchor="b"/>
          <a:lstStyle>
            <a:lvl1pPr>
              <a:defRPr sz="3200"/>
            </a:lvl1pPr>
          </a:lstStyle>
          <a:p>
            <a:r>
              <a:rPr lang="en-US" dirty="0"/>
              <a:t>click to add title</a:t>
            </a:r>
          </a:p>
        </p:txBody>
      </p:sp>
      <p:sp>
        <p:nvSpPr>
          <p:cNvPr id="10" name="Content Placeholder 6">
            <a:extLst>
              <a:ext uri="{FF2B5EF4-FFF2-40B4-BE49-F238E27FC236}">
                <a16:creationId xmlns:a16="http://schemas.microsoft.com/office/drawing/2014/main" id="{75BC41E0-D44A-D8E0-DC48-F6520F28F71A}"/>
              </a:ext>
            </a:extLst>
          </p:cNvPr>
          <p:cNvSpPr>
            <a:spLocks noGrp="1"/>
          </p:cNvSpPr>
          <p:nvPr>
            <p:ph sz="quarter" idx="13"/>
          </p:nvPr>
        </p:nvSpPr>
        <p:spPr>
          <a:xfrm>
            <a:off x="914399" y="2039112"/>
            <a:ext cx="3364992" cy="3904488"/>
          </a:xfrm>
        </p:spPr>
        <p:txBody>
          <a:bodyPr>
            <a:normAutofit/>
          </a:bodyPr>
          <a:lstStyle>
            <a:lvl1pPr marL="228600" indent="-228600">
              <a:buFont typeface="+mj-lt"/>
              <a:buAutoNum type="arabicPeriod"/>
              <a:defRPr sz="2000"/>
            </a:lvl1pPr>
            <a:lvl2pPr marL="685800" indent="-457200">
              <a:spcBef>
                <a:spcPts val="1000"/>
              </a:spcBef>
              <a:buFont typeface="+mj-lt"/>
              <a:buAutoNum type="alphaLcPeriod"/>
              <a:defRPr sz="2000"/>
            </a:lvl2pPr>
            <a:lvl3pPr marL="914400" indent="-457200">
              <a:spcBef>
                <a:spcPts val="1000"/>
              </a:spcBef>
              <a:buFont typeface="+mj-lt"/>
              <a:buAutoNum type="arabicParenR"/>
              <a:defRPr sz="2000"/>
            </a:lvl3pPr>
            <a:lvl4pPr marL="1143000" indent="-457200">
              <a:spcBef>
                <a:spcPts val="1000"/>
              </a:spcBef>
              <a:buFont typeface="+mj-lt"/>
              <a:buAutoNum type="alphaLcParenR"/>
              <a:defRPr sz="2000"/>
            </a:lvl4pPr>
            <a:lvl5pPr marL="11430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Content Placeholder 6">
            <a:extLst>
              <a:ext uri="{FF2B5EF4-FFF2-40B4-BE49-F238E27FC236}">
                <a16:creationId xmlns:a16="http://schemas.microsoft.com/office/drawing/2014/main" id="{25E9E434-8C66-15D8-D6B1-5DBED995F9B5}"/>
              </a:ext>
            </a:extLst>
          </p:cNvPr>
          <p:cNvSpPr>
            <a:spLocks noGrp="1"/>
          </p:cNvSpPr>
          <p:nvPr>
            <p:ph sz="quarter" idx="12"/>
          </p:nvPr>
        </p:nvSpPr>
        <p:spPr>
          <a:xfrm>
            <a:off x="4743451" y="2039112"/>
            <a:ext cx="6537960"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a:extLst>
              <a:ext uri="{FF2B5EF4-FFF2-40B4-BE49-F238E27FC236}">
                <a16:creationId xmlns:a16="http://schemas.microsoft.com/office/drawing/2014/main" id="{0BFE17F0-931A-B121-FFD2-AF3DBB5D6CF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271636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3" Type="http://schemas.openxmlformats.org/officeDocument/2006/relationships/slideLayout" Target="../slideLayouts/slideLayout14.xml"/><Relationship Id="rId21" Type="http://schemas.openxmlformats.org/officeDocument/2006/relationships/slideLayout" Target="../slideLayouts/slideLayout32.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slideLayout" Target="../slideLayouts/slideLayout31.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CC99">
            <a:alpha val="46000"/>
          </a:srgb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231136" y="964692"/>
            <a:ext cx="7729728" cy="1188720"/>
          </a:xfrm>
          <a:prstGeom prst="rect">
            <a:avLst/>
          </a:prstGeom>
          <a:solidFill>
            <a:schemeClr val="bg1"/>
          </a:solidFill>
          <a:ln w="31750" cap="sq">
            <a:solidFill>
              <a:schemeClr val="tx1">
                <a:lumMod val="75000"/>
                <a:lumOff val="25000"/>
              </a:schemeClr>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E92EB549-90B9-4D66-8C4C-8236878D37DF}" type="datetime1">
              <a:rPr lang="en-US" smtClean="0"/>
              <a:t>10/20/2024</a:t>
            </a:fld>
            <a:endParaRPr lang="en-US"/>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3DD08374-E544-47A5-94AF-CF56056772CB}" type="slidenum">
              <a:rPr lang="en-US" smtClean="0"/>
              <a:t>‹#›</a:t>
            </a:fld>
            <a:endParaRPr lang="en-US"/>
          </a:p>
        </p:txBody>
      </p:sp>
    </p:spTree>
    <p:extLst>
      <p:ext uri="{BB962C8B-B14F-4D97-AF65-F5344CB8AC3E}">
        <p14:creationId xmlns:p14="http://schemas.microsoft.com/office/powerpoint/2010/main" val="622497571"/>
      </p:ext>
    </p:extLst>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Lst>
  <p:hf hdr="0" ftr="0" dt="0"/>
  <p:txStyles>
    <p:titleStyle>
      <a:lvl1pPr algn="ctr" defTabSz="914400" rtl="0" eaLnBrk="1" latinLnBrk="0" hangingPunct="1">
        <a:lnSpc>
          <a:spcPct val="90000"/>
        </a:lnSpc>
        <a:spcBef>
          <a:spcPct val="0"/>
        </a:spcBef>
        <a:buNone/>
        <a:defRPr sz="2800" kern="1200" cap="all" spc="200" baseline="0">
          <a:solidFill>
            <a:schemeClr val="tx1">
              <a:lumMod val="85000"/>
              <a:lumOff val="15000"/>
            </a:schemeClr>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CC99">
            <a:alpha val="46000"/>
          </a:srgb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E92EB549-90B9-4D66-8C4C-8236878D37DF}" type="datetime1">
              <a:rPr lang="en-US" smtClean="0"/>
              <a:t>10/20/2024</a:t>
            </a:fld>
            <a:endParaRPr lang="en-US"/>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3DD08374-E544-47A5-94AF-CF56056772CB}" type="slidenum">
              <a:rPr lang="en-US" smtClean="0"/>
              <a:t>‹#›</a:t>
            </a:fld>
            <a:endParaRPr lang="en-US"/>
          </a:p>
        </p:txBody>
      </p:sp>
    </p:spTree>
    <p:extLst>
      <p:ext uri="{BB962C8B-B14F-4D97-AF65-F5344CB8AC3E}">
        <p14:creationId xmlns:p14="http://schemas.microsoft.com/office/powerpoint/2010/main" val="1787040297"/>
      </p:ext>
    </p:extLst>
  </p:cSld>
  <p:clrMap bg1="lt1" tx1="dk1" bg2="lt2" tx2="dk2" accent1="accent1" accent2="accent2" accent3="accent3" accent4="accent4" accent5="accent5" accent6="accent6" hlink="hlink" folHlink="folHlink"/>
  <p:sldLayoutIdLst>
    <p:sldLayoutId id="2147483845" r:id="rId1"/>
    <p:sldLayoutId id="2147483846" r:id="rId2"/>
    <p:sldLayoutId id="2147483847" r:id="rId3"/>
    <p:sldLayoutId id="2147483848" r:id="rId4"/>
    <p:sldLayoutId id="2147483849" r:id="rId5"/>
    <p:sldLayoutId id="2147483850" r:id="rId6"/>
    <p:sldLayoutId id="2147483851" r:id="rId7"/>
    <p:sldLayoutId id="2147483852" r:id="rId8"/>
    <p:sldLayoutId id="2147483853" r:id="rId9"/>
    <p:sldLayoutId id="2147483854" r:id="rId10"/>
    <p:sldLayoutId id="2147483855" r:id="rId11"/>
    <p:sldLayoutId id="2147483856" r:id="rId12"/>
    <p:sldLayoutId id="2147483857" r:id="rId13"/>
    <p:sldLayoutId id="2147483858" r:id="rId14"/>
    <p:sldLayoutId id="2147483859" r:id="rId15"/>
    <p:sldLayoutId id="2147483860" r:id="rId16"/>
    <p:sldLayoutId id="2147483861" r:id="rId17"/>
    <p:sldLayoutId id="2147483862" r:id="rId18"/>
    <p:sldLayoutId id="2147483863" r:id="rId19"/>
    <p:sldLayoutId id="2147483770" r:id="rId20"/>
    <p:sldLayoutId id="2147483684" r:id="rId21"/>
  </p:sldLayoutIdLst>
  <p:hf hdr="0" ftr="0" dt="0"/>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CC99">
            <a:alpha val="46000"/>
          </a:srgb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3B57D9-86AF-A333-72B5-F387677E33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716097B-2AAF-BB62-EE1B-3B3DA29D35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E44B38-E59B-D511-CC7B-CC87760C7CAA}"/>
              </a:ext>
            </a:extLst>
          </p:cNvPr>
          <p:cNvSpPr>
            <a:spLocks noGrp="1"/>
          </p:cNvSpPr>
          <p:nvPr>
            <p:ph type="dt" sz="half" idx="2"/>
          </p:nvPr>
        </p:nvSpPr>
        <p:spPr>
          <a:xfrm>
            <a:off x="365760" y="6464808"/>
            <a:ext cx="987552" cy="310896"/>
          </a:xfrm>
          <a:prstGeom prst="rect">
            <a:avLst/>
          </a:prstGeom>
        </p:spPr>
        <p:txBody>
          <a:bodyPr vert="horz" lIns="91440" tIns="45720" rIns="91440" bIns="45720" rtlCol="0" anchor="ctr"/>
          <a:lstStyle>
            <a:lvl1pPr algn="l">
              <a:defRPr sz="1400">
                <a:solidFill>
                  <a:schemeClr val="tx1"/>
                </a:solidFill>
              </a:defRPr>
            </a:lvl1pPr>
          </a:lstStyle>
          <a:p>
            <a:endParaRPr lang="en-US" dirty="0"/>
          </a:p>
        </p:txBody>
      </p:sp>
      <p:sp>
        <p:nvSpPr>
          <p:cNvPr id="5" name="Footer Placeholder 4">
            <a:extLst>
              <a:ext uri="{FF2B5EF4-FFF2-40B4-BE49-F238E27FC236}">
                <a16:creationId xmlns:a16="http://schemas.microsoft.com/office/drawing/2014/main" id="{64C4DA96-9345-993B-EDB3-7477F7A187E0}"/>
              </a:ext>
            </a:extLst>
          </p:cNvPr>
          <p:cNvSpPr>
            <a:spLocks noGrp="1"/>
          </p:cNvSpPr>
          <p:nvPr>
            <p:ph type="ftr" sz="quarter" idx="3"/>
          </p:nvPr>
        </p:nvSpPr>
        <p:spPr>
          <a:xfrm>
            <a:off x="4379976" y="6464808"/>
            <a:ext cx="3438144" cy="310896"/>
          </a:xfrm>
          <a:prstGeom prst="rect">
            <a:avLst/>
          </a:prstGeom>
        </p:spPr>
        <p:txBody>
          <a:bodyPr vert="horz" lIns="91440" tIns="45720" rIns="91440" bIns="45720" rtlCol="0" anchor="ctr"/>
          <a:lstStyle>
            <a:lvl1pPr algn="ctr">
              <a:defRPr sz="14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362B7E2D-2283-8730-5E1E-7F19B1CD941D}"/>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cxnSp>
        <p:nvCxnSpPr>
          <p:cNvPr id="8" name="Straight Connector 7">
            <a:extLst>
              <a:ext uri="{FF2B5EF4-FFF2-40B4-BE49-F238E27FC236}">
                <a16:creationId xmlns:a16="http://schemas.microsoft.com/office/drawing/2014/main" id="{AA994521-4157-D242-5242-0C3BD99E8EA8}"/>
              </a:ext>
            </a:extLst>
          </p:cNvPr>
          <p:cNvCxnSpPr>
            <a:cxnSpLocks/>
            <a:endCxn id="6" idx="1"/>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36003154"/>
      </p:ext>
    </p:extLst>
  </p:cSld>
  <p:clrMap bg1="lt1" tx1="dk1" bg2="lt2" tx2="dk2" accent1="accent1" accent2="accent2" accent3="accent3" accent4="accent4" accent5="accent5" accent6="accent6" hlink="hlink" folHlink="folHlink"/>
  <p:sldLayoutIdLst>
    <p:sldLayoutId id="2147483678" r:id="rId1"/>
  </p:sldLayoutIdLst>
  <p:hf hdr="0" ftr="0" dt="0"/>
  <p:txStyles>
    <p:titleStyle>
      <a:lvl1pPr algn="l" defTabSz="914400" rtl="0" eaLnBrk="1" latinLnBrk="0" hangingPunct="1">
        <a:lnSpc>
          <a:spcPct val="90000"/>
        </a:lnSpc>
        <a:spcBef>
          <a:spcPct val="0"/>
        </a:spcBef>
        <a:buNone/>
        <a:defRPr sz="6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3.xml"/><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3.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3.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3.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3.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3.xml"/><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2.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png"/><Relationship Id="rId1" Type="http://schemas.openxmlformats.org/officeDocument/2006/relationships/slideLayout" Target="../slideLayouts/slideLayout24.xml"/><Relationship Id="rId4" Type="http://schemas.openxmlformats.org/officeDocument/2006/relationships/image" Target="../media/image2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0.png"/><Relationship Id="rId1" Type="http://schemas.openxmlformats.org/officeDocument/2006/relationships/slideLayout" Target="../slideLayouts/slideLayout26.xml"/></Relationships>
</file>

<file path=ppt/slides/_rels/slide3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0.png"/><Relationship Id="rId1" Type="http://schemas.openxmlformats.org/officeDocument/2006/relationships/slideLayout" Target="../slideLayouts/slideLayout26.xml"/></Relationships>
</file>

<file path=ppt/slides/_rels/slide3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00.png"/><Relationship Id="rId1" Type="http://schemas.openxmlformats.org/officeDocument/2006/relationships/slideLayout" Target="../slideLayouts/slideLayout26.xml"/></Relationships>
</file>

<file path=ppt/slides/_rels/slide3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xml"/><Relationship Id="rId1" Type="http://schemas.openxmlformats.org/officeDocument/2006/relationships/slideLayout" Target="../slideLayouts/slideLayout27.xml"/></Relationships>
</file>

<file path=ppt/slides/_rels/slide3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8.xml"/></Relationships>
</file>

<file path=ppt/slides/_rels/slide93.xml.rels><?xml version="1.0" encoding="UTF-8" standalone="yes"?>
<Relationships xmlns="http://schemas.openxmlformats.org/package/2006/relationships"><Relationship Id="rId2" Type="http://schemas.openxmlformats.org/officeDocument/2006/relationships/image" Target="../media/image360.png"/><Relationship Id="rId1" Type="http://schemas.openxmlformats.org/officeDocument/2006/relationships/slideLayout" Target="../slideLayouts/slideLayout23.xml"/></Relationships>
</file>

<file path=ppt/slides/_rels/slide9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0.png"/><Relationship Id="rId1" Type="http://schemas.openxmlformats.org/officeDocument/2006/relationships/slideLayout" Target="../slideLayouts/slideLayout23.xml"/></Relationships>
</file>

<file path=ppt/slides/_rels/slide9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3.xml"/></Relationships>
</file>

<file path=ppt/slides/_rels/slide9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3.xml"/><Relationship Id="rId4" Type="http://schemas.openxmlformats.org/officeDocument/2006/relationships/image" Target="../media/image43.png"/></Relationships>
</file>

<file path=ppt/slides/_rels/slide9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xml"/><Relationship Id="rId1" Type="http://schemas.openxmlformats.org/officeDocument/2006/relationships/slideLayout" Target="../slideLayouts/slideLayout23.xml"/></Relationships>
</file>

<file path=ppt/slides/_rels/slide98.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3.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9.xml"/></Relationships>
</file>

<file path=ppt/slides/_rels/slide10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6.xml"/><Relationship Id="rId1" Type="http://schemas.openxmlformats.org/officeDocument/2006/relationships/slideLayout" Target="../slideLayouts/slideLayout30.xml"/></Relationships>
</file>

<file path=ppt/slides/_rels/slide10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7.xml"/><Relationship Id="rId1" Type="http://schemas.openxmlformats.org/officeDocument/2006/relationships/slideLayout" Target="../slideLayouts/slideLayout30.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10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8.xml"/><Relationship Id="rId1" Type="http://schemas.openxmlformats.org/officeDocument/2006/relationships/slideLayout" Target="../slideLayouts/slideLayout30.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network of dots and lines&#10;&#10;Description automatically generated">
            <a:extLst>
              <a:ext uri="{FF2B5EF4-FFF2-40B4-BE49-F238E27FC236}">
                <a16:creationId xmlns:a16="http://schemas.microsoft.com/office/drawing/2014/main" id="{D439EB71-7EF1-EA76-6890-D8F50E3CD33E}"/>
              </a:ext>
            </a:extLst>
          </p:cNvPr>
          <p:cNvPicPr>
            <a:picLocks noChangeAspect="1"/>
          </p:cNvPicPr>
          <p:nvPr/>
        </p:nvPicPr>
        <p:blipFill>
          <a:blip r:embed="rId2"/>
          <a:srcRect t="1040" r="-1" b="-1"/>
          <a:stretch/>
        </p:blipFill>
        <p:spPr>
          <a:xfrm>
            <a:off x="5261956" y="10"/>
            <a:ext cx="6930043" cy="6857990"/>
          </a:xfrm>
          <a:prstGeom prst="rect">
            <a:avLst/>
          </a:prstGeom>
        </p:spPr>
      </p:pic>
      <p:sp>
        <p:nvSpPr>
          <p:cNvPr id="2" name="Title 1">
            <a:extLst>
              <a:ext uri="{FF2B5EF4-FFF2-40B4-BE49-F238E27FC236}">
                <a16:creationId xmlns:a16="http://schemas.microsoft.com/office/drawing/2014/main" id="{0F5E65FA-12DF-A0A1-D520-61C332608A8E}"/>
              </a:ext>
            </a:extLst>
          </p:cNvPr>
          <p:cNvSpPr>
            <a:spLocks noGrp="1"/>
          </p:cNvSpPr>
          <p:nvPr>
            <p:ph type="ctrTitle"/>
          </p:nvPr>
        </p:nvSpPr>
        <p:spPr>
          <a:xfrm>
            <a:off x="514117" y="952500"/>
            <a:ext cx="4429075" cy="3003863"/>
          </a:xfrm>
        </p:spPr>
        <p:txBody>
          <a:bodyPr>
            <a:normAutofit fontScale="90000"/>
          </a:bodyPr>
          <a:lstStyle/>
          <a:p>
            <a:r>
              <a:rPr lang="en-US" sz="5800" dirty="0"/>
              <a:t>Variants of Graph Coloring</a:t>
            </a:r>
          </a:p>
        </p:txBody>
      </p:sp>
      <p:sp>
        <p:nvSpPr>
          <p:cNvPr id="5" name="Slide Number Placeholder 4">
            <a:extLst>
              <a:ext uri="{FF2B5EF4-FFF2-40B4-BE49-F238E27FC236}">
                <a16:creationId xmlns:a16="http://schemas.microsoft.com/office/drawing/2014/main" id="{2E4235E6-7667-EBC1-69A7-D692FED4BC73}"/>
              </a:ext>
            </a:extLst>
          </p:cNvPr>
          <p:cNvSpPr>
            <a:spLocks noGrp="1"/>
          </p:cNvSpPr>
          <p:nvPr>
            <p:ph type="sldNum" sz="quarter" idx="12"/>
          </p:nvPr>
        </p:nvSpPr>
        <p:spPr/>
        <p:txBody>
          <a:bodyPr/>
          <a:lstStyle/>
          <a:p>
            <a:fld id="{8A7A6979-0714-4377-B894-6BE4C2D6E202}" type="slidenum">
              <a:rPr lang="en-US" smtClean="0"/>
              <a:pPr/>
              <a:t>1</a:t>
            </a:fld>
            <a:endParaRPr lang="en-US" dirty="0"/>
          </a:p>
        </p:txBody>
      </p:sp>
    </p:spTree>
    <p:extLst>
      <p:ext uri="{BB962C8B-B14F-4D97-AF65-F5344CB8AC3E}">
        <p14:creationId xmlns:p14="http://schemas.microsoft.com/office/powerpoint/2010/main" val="9663272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42D5B3-A3E4-F196-6F99-7525A5EFB634}"/>
              </a:ext>
            </a:extLst>
          </p:cNvPr>
          <p:cNvSpPr>
            <a:spLocks noGrp="1"/>
          </p:cNvSpPr>
          <p:nvPr>
            <p:ph sz="quarter" idx="10"/>
          </p:nvPr>
        </p:nvSpPr>
        <p:spPr>
          <a:xfrm>
            <a:off x="5412509" y="3158646"/>
            <a:ext cx="9289336" cy="1327818"/>
          </a:xfrm>
        </p:spPr>
        <p:txBody>
          <a:bodyPr>
            <a:normAutofit/>
          </a:bodyPr>
          <a:lstStyle/>
          <a:p>
            <a:pPr marL="0" indent="0">
              <a:buNone/>
            </a:pPr>
            <a:r>
              <a:rPr lang="en-US" sz="3600" dirty="0"/>
              <a:t>ID: 1905098</a:t>
            </a:r>
          </a:p>
          <a:p>
            <a:pPr marL="0" indent="0">
              <a:buNone/>
            </a:pPr>
            <a:r>
              <a:rPr lang="en-US" sz="3600" dirty="0"/>
              <a:t>Name: Rakib Kibria</a:t>
            </a:r>
          </a:p>
        </p:txBody>
      </p:sp>
      <p:sp>
        <p:nvSpPr>
          <p:cNvPr id="5" name="Slide Number Placeholder 4">
            <a:extLst>
              <a:ext uri="{FF2B5EF4-FFF2-40B4-BE49-F238E27FC236}">
                <a16:creationId xmlns:a16="http://schemas.microsoft.com/office/drawing/2014/main" id="{199BAC91-51CF-9C9E-1C23-A965578D3015}"/>
              </a:ext>
            </a:extLst>
          </p:cNvPr>
          <p:cNvSpPr>
            <a:spLocks noGrp="1"/>
          </p:cNvSpPr>
          <p:nvPr>
            <p:ph type="sldNum" sz="quarter" idx="4"/>
          </p:nvPr>
        </p:nvSpPr>
        <p:spPr/>
        <p:txBody>
          <a:bodyPr/>
          <a:lstStyle/>
          <a:p>
            <a:fld id="{58FB4751-880F-D840-AAA9-3A15815CC996}" type="slidenum">
              <a:rPr lang="en-US" smtClean="0"/>
              <a:pPr/>
              <a:t>2</a:t>
            </a:fld>
            <a:endParaRPr lang="en-US" dirty="0"/>
          </a:p>
        </p:txBody>
      </p:sp>
    </p:spTree>
    <p:extLst>
      <p:ext uri="{BB962C8B-B14F-4D97-AF65-F5344CB8AC3E}">
        <p14:creationId xmlns:p14="http://schemas.microsoft.com/office/powerpoint/2010/main" val="3399109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F18DC7-96A1-223F-0AE0-5344449885F7}"/>
              </a:ext>
            </a:extLst>
          </p:cNvPr>
          <p:cNvSpPr>
            <a:spLocks noGrp="1"/>
          </p:cNvSpPr>
          <p:nvPr>
            <p:ph type="title"/>
          </p:nvPr>
        </p:nvSpPr>
        <p:spPr>
          <a:xfrm>
            <a:off x="2231136" y="723016"/>
            <a:ext cx="7729728" cy="1188720"/>
          </a:xfrm>
        </p:spPr>
        <p:txBody>
          <a:bodyPr/>
          <a:lstStyle/>
          <a:p>
            <a:r>
              <a:rPr lang="en-US" dirty="0"/>
              <a:t>Graph Coloring</a:t>
            </a:r>
          </a:p>
        </p:txBody>
      </p:sp>
      <p:sp>
        <p:nvSpPr>
          <p:cNvPr id="7" name="Slide Number Placeholder 6">
            <a:extLst>
              <a:ext uri="{FF2B5EF4-FFF2-40B4-BE49-F238E27FC236}">
                <a16:creationId xmlns:a16="http://schemas.microsoft.com/office/drawing/2014/main" id="{11A1EC95-2A5A-85F9-9ADE-2DE321613367}"/>
              </a:ext>
            </a:extLst>
          </p:cNvPr>
          <p:cNvSpPr>
            <a:spLocks noGrp="1"/>
          </p:cNvSpPr>
          <p:nvPr>
            <p:ph type="sldNum" sz="quarter" idx="12"/>
          </p:nvPr>
        </p:nvSpPr>
        <p:spPr/>
        <p:txBody>
          <a:bodyPr/>
          <a:lstStyle/>
          <a:p>
            <a:fld id="{3DD08374-E544-47A5-94AF-CF56056772CB}" type="slidenum">
              <a:rPr lang="en-US" smtClean="0"/>
              <a:t>3</a:t>
            </a:fld>
            <a:endParaRPr lang="en-US"/>
          </a:p>
        </p:txBody>
      </p:sp>
      <p:sp>
        <p:nvSpPr>
          <p:cNvPr id="9" name="Rectangle 3">
            <a:extLst>
              <a:ext uri="{FF2B5EF4-FFF2-40B4-BE49-F238E27FC236}">
                <a16:creationId xmlns:a16="http://schemas.microsoft.com/office/drawing/2014/main" id="{BC1B3D9E-DD60-6AE2-0E61-E34685BEF712}"/>
              </a:ext>
            </a:extLst>
          </p:cNvPr>
          <p:cNvSpPr>
            <a:spLocks noChangeArrowheads="1"/>
          </p:cNvSpPr>
          <p:nvPr/>
        </p:nvSpPr>
        <p:spPr bwMode="auto">
          <a:xfrm>
            <a:off x="1735229" y="2653539"/>
            <a:ext cx="8336100" cy="1423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rPr>
              <a:t> Definition</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a:ln>
                  <a:noFill/>
                </a:ln>
                <a:solidFill>
                  <a:schemeClr val="tx1"/>
                </a:solidFill>
                <a:effectLst/>
                <a:latin typeface="+mj-lt"/>
              </a:rPr>
              <a:t>A graph is said to have k-coloring if it </a:t>
            </a:r>
            <a:r>
              <a:rPr kumimoji="0" lang="en-US" altLang="en-US" sz="2000" b="0" i="0" u="none" strike="noStrike" cap="none" normalizeH="0" baseline="0">
                <a:ln>
                  <a:noFill/>
                </a:ln>
                <a:solidFill>
                  <a:schemeClr val="tx1"/>
                </a:solidFill>
                <a:effectLst/>
                <a:latin typeface="+mj-lt"/>
              </a:rPr>
              <a:t>uses at most </a:t>
            </a:r>
            <a:r>
              <a:rPr kumimoji="0" lang="en-US" altLang="en-US" sz="2000" b="0" i="0" u="none" strike="noStrike" cap="none" normalizeH="0" baseline="0" dirty="0">
                <a:ln>
                  <a:noFill/>
                </a:ln>
                <a:solidFill>
                  <a:schemeClr val="tx1"/>
                </a:solidFill>
                <a:effectLst/>
                <a:latin typeface="+mj-lt"/>
              </a:rPr>
              <a:t>k-colors to color all the vertices of that graph such that no two adjacent vertices share the same color.</a:t>
            </a:r>
            <a:endParaRPr kumimoji="0" lang="en-US" altLang="en-US" sz="1800" b="0" i="0" u="none" strike="noStrike" cap="none" normalizeH="0" baseline="0" dirty="0">
              <a:ln>
                <a:noFill/>
              </a:ln>
              <a:solidFill>
                <a:schemeClr val="tx1"/>
              </a:solidFill>
              <a:effectLst/>
              <a:latin typeface="+mj-lt"/>
            </a:endParaRPr>
          </a:p>
        </p:txBody>
      </p:sp>
      <p:sp>
        <p:nvSpPr>
          <p:cNvPr id="4" name="Oval 3">
            <a:extLst>
              <a:ext uri="{FF2B5EF4-FFF2-40B4-BE49-F238E27FC236}">
                <a16:creationId xmlns:a16="http://schemas.microsoft.com/office/drawing/2014/main" id="{30125F23-8C30-0CB7-B653-1D2DE31F4EEE}"/>
              </a:ext>
            </a:extLst>
          </p:cNvPr>
          <p:cNvSpPr/>
          <p:nvPr/>
        </p:nvSpPr>
        <p:spPr>
          <a:xfrm>
            <a:off x="5790686" y="4252880"/>
            <a:ext cx="405037" cy="3989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85337446-D31C-A0A2-1958-47DAA4C5C99C}"/>
              </a:ext>
            </a:extLst>
          </p:cNvPr>
          <p:cNvSpPr/>
          <p:nvPr/>
        </p:nvSpPr>
        <p:spPr>
          <a:xfrm>
            <a:off x="7121373" y="4252880"/>
            <a:ext cx="405037" cy="3989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60AEEDB8-13FC-B4A9-645D-098096D7E35C}"/>
              </a:ext>
            </a:extLst>
          </p:cNvPr>
          <p:cNvSpPr/>
          <p:nvPr/>
        </p:nvSpPr>
        <p:spPr>
          <a:xfrm>
            <a:off x="5802959" y="5479240"/>
            <a:ext cx="405037" cy="3989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7BFC489B-7C7A-DDC6-8573-6CA66A58A1EE}"/>
              </a:ext>
            </a:extLst>
          </p:cNvPr>
          <p:cNvSpPr/>
          <p:nvPr/>
        </p:nvSpPr>
        <p:spPr>
          <a:xfrm>
            <a:off x="7121372" y="5479240"/>
            <a:ext cx="405037" cy="3989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a:extLst>
              <a:ext uri="{FF2B5EF4-FFF2-40B4-BE49-F238E27FC236}">
                <a16:creationId xmlns:a16="http://schemas.microsoft.com/office/drawing/2014/main" id="{D9D9C70B-B990-1277-9AFC-BCA13E294833}"/>
              </a:ext>
            </a:extLst>
          </p:cNvPr>
          <p:cNvCxnSpPr>
            <a:stCxn id="4" idx="6"/>
            <a:endCxn id="5" idx="2"/>
          </p:cNvCxnSpPr>
          <p:nvPr/>
        </p:nvCxnSpPr>
        <p:spPr>
          <a:xfrm>
            <a:off x="6195723" y="4452330"/>
            <a:ext cx="925650"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2447FC44-7687-BAE2-462E-89D1A442AC6F}"/>
              </a:ext>
            </a:extLst>
          </p:cNvPr>
          <p:cNvCxnSpPr>
            <a:stCxn id="4" idx="4"/>
            <a:endCxn id="6" idx="0"/>
          </p:cNvCxnSpPr>
          <p:nvPr/>
        </p:nvCxnSpPr>
        <p:spPr>
          <a:xfrm>
            <a:off x="5993205" y="4651780"/>
            <a:ext cx="12273" cy="827460"/>
          </a:xfrm>
          <a:prstGeom prst="line">
            <a:avLst/>
          </a:prstGeom>
          <a:ln w="19050"/>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4BB84BAA-13F2-DA21-2D1C-EDE7692581E5}"/>
              </a:ext>
            </a:extLst>
          </p:cNvPr>
          <p:cNvCxnSpPr>
            <a:stCxn id="5" idx="4"/>
            <a:endCxn id="8" idx="0"/>
          </p:cNvCxnSpPr>
          <p:nvPr/>
        </p:nvCxnSpPr>
        <p:spPr>
          <a:xfrm flipH="1">
            <a:off x="7323891" y="4651780"/>
            <a:ext cx="1" cy="82746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92D3554-80A3-6AC4-42DE-CD6338BBED33}"/>
              </a:ext>
            </a:extLst>
          </p:cNvPr>
          <p:cNvCxnSpPr>
            <a:stCxn id="6" idx="6"/>
            <a:endCxn id="8" idx="2"/>
          </p:cNvCxnSpPr>
          <p:nvPr/>
        </p:nvCxnSpPr>
        <p:spPr>
          <a:xfrm>
            <a:off x="6207996" y="5678690"/>
            <a:ext cx="91337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xmlns:a16="http://schemas.microsoft.com/office/drawing/2014/main" id="{FFCB5CE9-AEF1-3E90-4AE2-E8ED57D294AD}"/>
              </a:ext>
            </a:extLst>
          </p:cNvPr>
          <p:cNvSpPr/>
          <p:nvPr/>
        </p:nvSpPr>
        <p:spPr>
          <a:xfrm>
            <a:off x="4269754" y="4265497"/>
            <a:ext cx="405037" cy="398900"/>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Straight Connector 16">
            <a:extLst>
              <a:ext uri="{FF2B5EF4-FFF2-40B4-BE49-F238E27FC236}">
                <a16:creationId xmlns:a16="http://schemas.microsoft.com/office/drawing/2014/main" id="{881D3A1E-1875-CD5D-E432-CA9D4BCAF06A}"/>
              </a:ext>
            </a:extLst>
          </p:cNvPr>
          <p:cNvCxnSpPr>
            <a:stCxn id="15" idx="6"/>
            <a:endCxn id="4" idx="2"/>
          </p:cNvCxnSpPr>
          <p:nvPr/>
        </p:nvCxnSpPr>
        <p:spPr>
          <a:xfrm flipV="1">
            <a:off x="4674791" y="4452330"/>
            <a:ext cx="1115895" cy="1261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03FE6768-54D9-8AD2-15A3-B7E5C4ED3D63}"/>
              </a:ext>
            </a:extLst>
          </p:cNvPr>
          <p:cNvCxnSpPr>
            <a:cxnSpLocks/>
            <a:stCxn id="15" idx="5"/>
            <a:endCxn id="6" idx="2"/>
          </p:cNvCxnSpPr>
          <p:nvPr/>
        </p:nvCxnSpPr>
        <p:spPr>
          <a:xfrm>
            <a:off x="4615475" y="4605979"/>
            <a:ext cx="1187484" cy="107271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BA401A18-1EBB-8DF1-E849-97E0E40C0AF0}"/>
              </a:ext>
            </a:extLst>
          </p:cNvPr>
          <p:cNvSpPr txBox="1"/>
          <p:nvPr/>
        </p:nvSpPr>
        <p:spPr>
          <a:xfrm>
            <a:off x="5529359" y="6214348"/>
            <a:ext cx="2126864" cy="369332"/>
          </a:xfrm>
          <a:prstGeom prst="rect">
            <a:avLst/>
          </a:prstGeom>
          <a:noFill/>
        </p:spPr>
        <p:txBody>
          <a:bodyPr wrap="none" rtlCol="0">
            <a:spAutoFit/>
          </a:bodyPr>
          <a:lstStyle/>
          <a:p>
            <a:r>
              <a:rPr lang="en-US" dirty="0"/>
              <a:t>3-coloring of a graph</a:t>
            </a:r>
          </a:p>
        </p:txBody>
      </p:sp>
    </p:spTree>
    <p:extLst>
      <p:ext uri="{BB962C8B-B14F-4D97-AF65-F5344CB8AC3E}">
        <p14:creationId xmlns:p14="http://schemas.microsoft.com/office/powerpoint/2010/main" val="8520546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6EC5E0-921A-FB91-2B23-0AB2A7D09E18}"/>
              </a:ext>
            </a:extLst>
          </p:cNvPr>
          <p:cNvSpPr>
            <a:spLocks noGrp="1"/>
          </p:cNvSpPr>
          <p:nvPr>
            <p:ph type="title"/>
          </p:nvPr>
        </p:nvSpPr>
        <p:spPr>
          <a:xfrm>
            <a:off x="2438767" y="2834640"/>
            <a:ext cx="7729728" cy="1188720"/>
          </a:xfrm>
        </p:spPr>
        <p:txBody>
          <a:bodyPr/>
          <a:lstStyle/>
          <a:p>
            <a:r>
              <a:rPr lang="en-US" dirty="0"/>
              <a:t>For k&gt;=3 Graph coloring problem is NP </a:t>
            </a:r>
            <a:r>
              <a:rPr lang="en-US" dirty="0" err="1"/>
              <a:t>COmplete</a:t>
            </a:r>
            <a:endParaRPr lang="en-US" dirty="0"/>
          </a:p>
        </p:txBody>
      </p:sp>
      <p:sp>
        <p:nvSpPr>
          <p:cNvPr id="4" name="Slide Number Placeholder 3">
            <a:extLst>
              <a:ext uri="{FF2B5EF4-FFF2-40B4-BE49-F238E27FC236}">
                <a16:creationId xmlns:a16="http://schemas.microsoft.com/office/drawing/2014/main" id="{7C3F88F4-E4A3-F1B9-2637-BC9C0F7B8F80}"/>
              </a:ext>
            </a:extLst>
          </p:cNvPr>
          <p:cNvSpPr>
            <a:spLocks noGrp="1"/>
          </p:cNvSpPr>
          <p:nvPr>
            <p:ph type="sldNum" sz="quarter" idx="12"/>
          </p:nvPr>
        </p:nvSpPr>
        <p:spPr/>
        <p:txBody>
          <a:bodyPr/>
          <a:lstStyle/>
          <a:p>
            <a:fld id="{3DD08374-E544-47A5-94AF-CF56056772CB}" type="slidenum">
              <a:rPr lang="en-US" smtClean="0"/>
              <a:t>4</a:t>
            </a:fld>
            <a:endParaRPr lang="en-US"/>
          </a:p>
        </p:txBody>
      </p:sp>
    </p:spTree>
    <p:extLst>
      <p:ext uri="{BB962C8B-B14F-4D97-AF65-F5344CB8AC3E}">
        <p14:creationId xmlns:p14="http://schemas.microsoft.com/office/powerpoint/2010/main" val="40964267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01F12E-C833-4CAA-B0EB-81383D4284E2}"/>
              </a:ext>
            </a:extLst>
          </p:cNvPr>
          <p:cNvSpPr>
            <a:spLocks noGrp="1"/>
          </p:cNvSpPr>
          <p:nvPr>
            <p:ph type="title"/>
          </p:nvPr>
        </p:nvSpPr>
        <p:spPr/>
        <p:txBody>
          <a:bodyPr/>
          <a:lstStyle/>
          <a:p>
            <a:r>
              <a:rPr lang="en-US" dirty="0"/>
              <a:t>Variations</a:t>
            </a:r>
          </a:p>
        </p:txBody>
      </p:sp>
      <p:sp>
        <p:nvSpPr>
          <p:cNvPr id="3" name="Content Placeholder 2">
            <a:extLst>
              <a:ext uri="{FF2B5EF4-FFF2-40B4-BE49-F238E27FC236}">
                <a16:creationId xmlns:a16="http://schemas.microsoft.com/office/drawing/2014/main" id="{E878D258-7001-3791-DFDB-0520F237BE30}"/>
              </a:ext>
            </a:extLst>
          </p:cNvPr>
          <p:cNvSpPr>
            <a:spLocks noGrp="1"/>
          </p:cNvSpPr>
          <p:nvPr>
            <p:ph idx="1"/>
          </p:nvPr>
        </p:nvSpPr>
        <p:spPr>
          <a:xfrm>
            <a:off x="1143755" y="3030807"/>
            <a:ext cx="9904490" cy="3101983"/>
          </a:xfrm>
        </p:spPr>
        <p:txBody>
          <a:bodyPr>
            <a:normAutofit/>
          </a:bodyPr>
          <a:lstStyle/>
          <a:p>
            <a:pPr algn="l"/>
            <a:r>
              <a:rPr lang="en-US" sz="3200" dirty="0"/>
              <a:t>Acyclic Coloring </a:t>
            </a:r>
          </a:p>
          <a:p>
            <a:pPr algn="l"/>
            <a:r>
              <a:rPr lang="en-US" sz="3200" dirty="0">
                <a:solidFill>
                  <a:schemeClr val="tx1"/>
                </a:solidFill>
              </a:rPr>
              <a:t>List Coloring</a:t>
            </a:r>
          </a:p>
          <a:p>
            <a:pPr algn="l"/>
            <a:r>
              <a:rPr lang="en-US" sz="3200" b="0" i="0" dirty="0">
                <a:solidFill>
                  <a:schemeClr val="tx1"/>
                </a:solidFill>
                <a:effectLst/>
              </a:rPr>
              <a:t>Distance Coloring</a:t>
            </a:r>
          </a:p>
          <a:p>
            <a:pPr algn="l"/>
            <a:r>
              <a:rPr lang="en-US" sz="3200" dirty="0">
                <a:solidFill>
                  <a:schemeClr val="tx1"/>
                </a:solidFill>
              </a:rPr>
              <a:t>Total Coloring</a:t>
            </a:r>
            <a:endParaRPr lang="en-US" b="0" i="0" dirty="0">
              <a:solidFill>
                <a:schemeClr val="tx1"/>
              </a:solidFill>
              <a:effectLst/>
            </a:endParaRPr>
          </a:p>
        </p:txBody>
      </p:sp>
      <p:sp>
        <p:nvSpPr>
          <p:cNvPr id="4" name="Slide Number Placeholder 3">
            <a:extLst>
              <a:ext uri="{FF2B5EF4-FFF2-40B4-BE49-F238E27FC236}">
                <a16:creationId xmlns:a16="http://schemas.microsoft.com/office/drawing/2014/main" id="{75A13EEE-BFD8-AF21-A766-CE5CE822FB02}"/>
              </a:ext>
            </a:extLst>
          </p:cNvPr>
          <p:cNvSpPr>
            <a:spLocks noGrp="1"/>
          </p:cNvSpPr>
          <p:nvPr>
            <p:ph type="sldNum" sz="quarter" idx="12"/>
          </p:nvPr>
        </p:nvSpPr>
        <p:spPr/>
        <p:txBody>
          <a:bodyPr/>
          <a:lstStyle/>
          <a:p>
            <a:fld id="{3DD08374-E544-47A5-94AF-CF56056772CB}" type="slidenum">
              <a:rPr lang="en-US" smtClean="0"/>
              <a:t>5</a:t>
            </a:fld>
            <a:endParaRPr lang="en-US"/>
          </a:p>
        </p:txBody>
      </p:sp>
    </p:spTree>
    <p:extLst>
      <p:ext uri="{BB962C8B-B14F-4D97-AF65-F5344CB8AC3E}">
        <p14:creationId xmlns:p14="http://schemas.microsoft.com/office/powerpoint/2010/main" val="36755636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A93C22-6CE7-EFA5-D127-25D92E9BBB35}"/>
              </a:ext>
            </a:extLst>
          </p:cNvPr>
          <p:cNvSpPr>
            <a:spLocks noGrp="1"/>
          </p:cNvSpPr>
          <p:nvPr>
            <p:ph type="title"/>
          </p:nvPr>
        </p:nvSpPr>
        <p:spPr>
          <a:xfrm>
            <a:off x="914400" y="502618"/>
            <a:ext cx="7534656" cy="914400"/>
          </a:xfrm>
        </p:spPr>
        <p:txBody>
          <a:bodyPr/>
          <a:lstStyle/>
          <a:p>
            <a:r>
              <a:rPr lang="en-US" dirty="0"/>
              <a:t>Acyclic Coloring</a:t>
            </a:r>
          </a:p>
        </p:txBody>
      </p:sp>
      <p:sp>
        <p:nvSpPr>
          <p:cNvPr id="3" name="Content Placeholder 2">
            <a:extLst>
              <a:ext uri="{FF2B5EF4-FFF2-40B4-BE49-F238E27FC236}">
                <a16:creationId xmlns:a16="http://schemas.microsoft.com/office/drawing/2014/main" id="{B342D5B3-A3E4-F196-6F99-7525A5EFB634}"/>
              </a:ext>
            </a:extLst>
          </p:cNvPr>
          <p:cNvSpPr>
            <a:spLocks noGrp="1"/>
          </p:cNvSpPr>
          <p:nvPr>
            <p:ph sz="quarter" idx="10"/>
          </p:nvPr>
        </p:nvSpPr>
        <p:spPr>
          <a:xfrm>
            <a:off x="914400" y="1905201"/>
            <a:ext cx="9536762" cy="1718959"/>
          </a:xfrm>
        </p:spPr>
        <p:txBody>
          <a:bodyPr>
            <a:normAutofit/>
          </a:bodyPr>
          <a:lstStyle/>
          <a:p>
            <a:pPr marL="0" indent="0">
              <a:buNone/>
            </a:pPr>
            <a:r>
              <a:rPr lang="en-US" sz="2800" b="1" dirty="0"/>
              <a:t>Definition:</a:t>
            </a:r>
            <a:r>
              <a:rPr lang="en-US" sz="2800" dirty="0"/>
              <a:t> </a:t>
            </a:r>
            <a:r>
              <a:rPr lang="en-US" sz="2400" dirty="0"/>
              <a:t>A graph G is said to have acyclic p-coloring if we can color the graph using p colors such that no two adjacent vertexes get the same color and there is no 2 colored cycle in the graph </a:t>
            </a:r>
          </a:p>
        </p:txBody>
      </p:sp>
      <p:sp>
        <p:nvSpPr>
          <p:cNvPr id="5" name="Slide Number Placeholder 4">
            <a:extLst>
              <a:ext uri="{FF2B5EF4-FFF2-40B4-BE49-F238E27FC236}">
                <a16:creationId xmlns:a16="http://schemas.microsoft.com/office/drawing/2014/main" id="{5B90D016-33BF-25B8-3453-C7D9808DCD50}"/>
              </a:ext>
            </a:extLst>
          </p:cNvPr>
          <p:cNvSpPr>
            <a:spLocks noGrp="1"/>
          </p:cNvSpPr>
          <p:nvPr>
            <p:ph type="sldNum" sz="quarter" idx="4"/>
          </p:nvPr>
        </p:nvSpPr>
        <p:spPr/>
        <p:txBody>
          <a:bodyPr/>
          <a:lstStyle/>
          <a:p>
            <a:fld id="{58FB4751-880F-D840-AAA9-3A15815CC996}" type="slidenum">
              <a:rPr lang="en-US" smtClean="0"/>
              <a:pPr/>
              <a:t>6</a:t>
            </a:fld>
            <a:endParaRPr lang="en-US" dirty="0"/>
          </a:p>
        </p:txBody>
      </p:sp>
      <p:sp>
        <p:nvSpPr>
          <p:cNvPr id="4" name="Oval 3">
            <a:extLst>
              <a:ext uri="{FF2B5EF4-FFF2-40B4-BE49-F238E27FC236}">
                <a16:creationId xmlns:a16="http://schemas.microsoft.com/office/drawing/2014/main" id="{91CC17B3-88C6-2DBA-2396-7406B625A046}"/>
              </a:ext>
            </a:extLst>
          </p:cNvPr>
          <p:cNvSpPr/>
          <p:nvPr/>
        </p:nvSpPr>
        <p:spPr>
          <a:xfrm>
            <a:off x="3262278" y="4093319"/>
            <a:ext cx="405037" cy="3989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CEA6A6DD-97E3-977C-ACC8-2EBF619945AE}"/>
              </a:ext>
            </a:extLst>
          </p:cNvPr>
          <p:cNvSpPr/>
          <p:nvPr/>
        </p:nvSpPr>
        <p:spPr>
          <a:xfrm>
            <a:off x="4592965" y="4093319"/>
            <a:ext cx="405037" cy="3989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0671CA68-2317-61B6-2825-7D7B822043B7}"/>
              </a:ext>
            </a:extLst>
          </p:cNvPr>
          <p:cNvSpPr/>
          <p:nvPr/>
        </p:nvSpPr>
        <p:spPr>
          <a:xfrm>
            <a:off x="3274551" y="5319679"/>
            <a:ext cx="405037" cy="3989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02E72651-2CAD-92D6-55DE-F3816F1F37F8}"/>
              </a:ext>
            </a:extLst>
          </p:cNvPr>
          <p:cNvSpPr/>
          <p:nvPr/>
        </p:nvSpPr>
        <p:spPr>
          <a:xfrm>
            <a:off x="4592964" y="5319679"/>
            <a:ext cx="405037" cy="3989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a:extLst>
              <a:ext uri="{FF2B5EF4-FFF2-40B4-BE49-F238E27FC236}">
                <a16:creationId xmlns:a16="http://schemas.microsoft.com/office/drawing/2014/main" id="{4D564DA0-CC81-51BC-4E26-F2A93DB646D1}"/>
              </a:ext>
            </a:extLst>
          </p:cNvPr>
          <p:cNvCxnSpPr>
            <a:stCxn id="4" idx="6"/>
            <a:endCxn id="6" idx="2"/>
          </p:cNvCxnSpPr>
          <p:nvPr/>
        </p:nvCxnSpPr>
        <p:spPr>
          <a:xfrm>
            <a:off x="3667315" y="4292769"/>
            <a:ext cx="925650"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3F959E27-8C22-9055-F6AA-79F7E1B72342}"/>
              </a:ext>
            </a:extLst>
          </p:cNvPr>
          <p:cNvCxnSpPr>
            <a:stCxn id="4" idx="4"/>
            <a:endCxn id="7" idx="0"/>
          </p:cNvCxnSpPr>
          <p:nvPr/>
        </p:nvCxnSpPr>
        <p:spPr>
          <a:xfrm>
            <a:off x="3464797" y="4492219"/>
            <a:ext cx="12273" cy="827460"/>
          </a:xfrm>
          <a:prstGeom prst="line">
            <a:avLst/>
          </a:prstGeom>
          <a:ln w="19050"/>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D340F517-DCB8-0662-0909-2BC3087218C7}"/>
              </a:ext>
            </a:extLst>
          </p:cNvPr>
          <p:cNvCxnSpPr>
            <a:stCxn id="6" idx="4"/>
            <a:endCxn id="8" idx="0"/>
          </p:cNvCxnSpPr>
          <p:nvPr/>
        </p:nvCxnSpPr>
        <p:spPr>
          <a:xfrm flipH="1">
            <a:off x="4795483" y="4492219"/>
            <a:ext cx="1" cy="82746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C80A586-02DD-26B2-B118-EABB1E43777D}"/>
              </a:ext>
            </a:extLst>
          </p:cNvPr>
          <p:cNvCxnSpPr>
            <a:stCxn id="7" idx="6"/>
            <a:endCxn id="8" idx="2"/>
          </p:cNvCxnSpPr>
          <p:nvPr/>
        </p:nvCxnSpPr>
        <p:spPr>
          <a:xfrm>
            <a:off x="3679588" y="5519129"/>
            <a:ext cx="91337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Oval 16">
            <a:extLst>
              <a:ext uri="{FF2B5EF4-FFF2-40B4-BE49-F238E27FC236}">
                <a16:creationId xmlns:a16="http://schemas.microsoft.com/office/drawing/2014/main" id="{3953507A-0995-7C1F-AA8B-B9C1B7E293FA}"/>
              </a:ext>
            </a:extLst>
          </p:cNvPr>
          <p:cNvSpPr/>
          <p:nvPr/>
        </p:nvSpPr>
        <p:spPr>
          <a:xfrm>
            <a:off x="7308040" y="4043202"/>
            <a:ext cx="405037" cy="3989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0F71A4C2-62F0-1CB9-98C9-22E3E34E6B9E}"/>
              </a:ext>
            </a:extLst>
          </p:cNvPr>
          <p:cNvSpPr/>
          <p:nvPr/>
        </p:nvSpPr>
        <p:spPr>
          <a:xfrm>
            <a:off x="8638727" y="4043202"/>
            <a:ext cx="405037" cy="3989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1622164D-6779-4604-B6DD-89F0F01DB756}"/>
              </a:ext>
            </a:extLst>
          </p:cNvPr>
          <p:cNvSpPr/>
          <p:nvPr/>
        </p:nvSpPr>
        <p:spPr>
          <a:xfrm>
            <a:off x="7320313" y="5269562"/>
            <a:ext cx="405037" cy="3989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2F2A4177-2AC2-4DBA-FA0D-EED1D9DEF02D}"/>
              </a:ext>
            </a:extLst>
          </p:cNvPr>
          <p:cNvSpPr/>
          <p:nvPr/>
        </p:nvSpPr>
        <p:spPr>
          <a:xfrm>
            <a:off x="8638726" y="5269562"/>
            <a:ext cx="405037" cy="398900"/>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 name="Straight Connector 20">
            <a:extLst>
              <a:ext uri="{FF2B5EF4-FFF2-40B4-BE49-F238E27FC236}">
                <a16:creationId xmlns:a16="http://schemas.microsoft.com/office/drawing/2014/main" id="{777F197A-AF34-1E16-0825-59DDFE791C9D}"/>
              </a:ext>
            </a:extLst>
          </p:cNvPr>
          <p:cNvCxnSpPr>
            <a:stCxn id="17" idx="6"/>
            <a:endCxn id="18" idx="2"/>
          </p:cNvCxnSpPr>
          <p:nvPr/>
        </p:nvCxnSpPr>
        <p:spPr>
          <a:xfrm>
            <a:off x="7713077" y="4242652"/>
            <a:ext cx="925650"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B2C7CE81-0E51-81D9-F34F-BDB811BAA716}"/>
              </a:ext>
            </a:extLst>
          </p:cNvPr>
          <p:cNvCxnSpPr>
            <a:stCxn id="17" idx="4"/>
            <a:endCxn id="19" idx="0"/>
          </p:cNvCxnSpPr>
          <p:nvPr/>
        </p:nvCxnSpPr>
        <p:spPr>
          <a:xfrm>
            <a:off x="7510559" y="4442102"/>
            <a:ext cx="12273" cy="827460"/>
          </a:xfrm>
          <a:prstGeom prst="line">
            <a:avLst/>
          </a:prstGeom>
          <a:ln w="19050"/>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E5231FCD-30C0-6CB4-CBC7-BB3F83F1B93F}"/>
              </a:ext>
            </a:extLst>
          </p:cNvPr>
          <p:cNvCxnSpPr>
            <a:stCxn id="18" idx="4"/>
            <a:endCxn id="20" idx="0"/>
          </p:cNvCxnSpPr>
          <p:nvPr/>
        </p:nvCxnSpPr>
        <p:spPr>
          <a:xfrm flipH="1">
            <a:off x="8841245" y="4442102"/>
            <a:ext cx="1" cy="82746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D44B9E13-7E51-577C-7329-A57F43E064B9}"/>
              </a:ext>
            </a:extLst>
          </p:cNvPr>
          <p:cNvCxnSpPr>
            <a:stCxn id="19" idx="6"/>
            <a:endCxn id="20" idx="2"/>
          </p:cNvCxnSpPr>
          <p:nvPr/>
        </p:nvCxnSpPr>
        <p:spPr>
          <a:xfrm>
            <a:off x="7725350" y="5469012"/>
            <a:ext cx="91337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963A8BFE-7CAB-803D-C4CE-A3CE4E38014F}"/>
              </a:ext>
            </a:extLst>
          </p:cNvPr>
          <p:cNvSpPr txBox="1"/>
          <p:nvPr/>
        </p:nvSpPr>
        <p:spPr>
          <a:xfrm>
            <a:off x="7423494" y="5927139"/>
            <a:ext cx="1763816" cy="369332"/>
          </a:xfrm>
          <a:prstGeom prst="rect">
            <a:avLst/>
          </a:prstGeom>
          <a:noFill/>
        </p:spPr>
        <p:txBody>
          <a:bodyPr wrap="none" rtlCol="0">
            <a:spAutoFit/>
          </a:bodyPr>
          <a:lstStyle/>
          <a:p>
            <a:r>
              <a:rPr lang="en-US" dirty="0"/>
              <a:t>acyclic 3-colored</a:t>
            </a:r>
          </a:p>
        </p:txBody>
      </p:sp>
      <p:sp>
        <p:nvSpPr>
          <p:cNvPr id="26" name="TextBox 25">
            <a:extLst>
              <a:ext uri="{FF2B5EF4-FFF2-40B4-BE49-F238E27FC236}">
                <a16:creationId xmlns:a16="http://schemas.microsoft.com/office/drawing/2014/main" id="{D0E2E2F5-CF46-8E5D-72F7-AFEFB90D3584}"/>
              </a:ext>
            </a:extLst>
          </p:cNvPr>
          <p:cNvSpPr txBox="1"/>
          <p:nvPr/>
        </p:nvSpPr>
        <p:spPr>
          <a:xfrm>
            <a:off x="3236708" y="5998784"/>
            <a:ext cx="2020297" cy="369332"/>
          </a:xfrm>
          <a:prstGeom prst="rect">
            <a:avLst/>
          </a:prstGeom>
          <a:noFill/>
        </p:spPr>
        <p:txBody>
          <a:bodyPr wrap="none" rtlCol="0">
            <a:spAutoFit/>
          </a:bodyPr>
          <a:lstStyle/>
          <a:p>
            <a:r>
              <a:rPr lang="en-US" dirty="0"/>
              <a:t>Not acyclic colored</a:t>
            </a:r>
          </a:p>
        </p:txBody>
      </p:sp>
    </p:spTree>
    <p:extLst>
      <p:ext uri="{BB962C8B-B14F-4D97-AF65-F5344CB8AC3E}">
        <p14:creationId xmlns:p14="http://schemas.microsoft.com/office/powerpoint/2010/main" val="24191204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C300C14-A5FA-6614-ADAC-73089CFDFCD4}"/>
              </a:ext>
            </a:extLst>
          </p:cNvPr>
          <p:cNvSpPr txBox="1"/>
          <p:nvPr/>
        </p:nvSpPr>
        <p:spPr>
          <a:xfrm>
            <a:off x="934660" y="691063"/>
            <a:ext cx="8799262" cy="830997"/>
          </a:xfrm>
          <a:prstGeom prst="rect">
            <a:avLst/>
          </a:prstGeom>
          <a:noFill/>
        </p:spPr>
        <p:txBody>
          <a:bodyPr wrap="square" rtlCol="0">
            <a:spAutoFit/>
          </a:bodyPr>
          <a:lstStyle/>
          <a:p>
            <a:r>
              <a:rPr lang="en-US" sz="2400" b="1" dirty="0">
                <a:latin typeface="+mj-lt"/>
              </a:rPr>
              <a:t>p-coloring problem is </a:t>
            </a:r>
            <a:r>
              <a:rPr lang="en-US" sz="2400" b="1" dirty="0" err="1">
                <a:latin typeface="+mj-lt"/>
              </a:rPr>
              <a:t>polynomially</a:t>
            </a:r>
            <a:r>
              <a:rPr lang="en-US" sz="2400" b="1" dirty="0">
                <a:latin typeface="+mj-lt"/>
              </a:rPr>
              <a:t> </a:t>
            </a:r>
            <a:r>
              <a:rPr lang="en-US" sz="2400" b="1" dirty="0" err="1">
                <a:latin typeface="+mj-lt"/>
              </a:rPr>
              <a:t>reducable</a:t>
            </a:r>
            <a:r>
              <a:rPr lang="en-US" sz="2400" b="1" dirty="0">
                <a:latin typeface="+mj-lt"/>
              </a:rPr>
              <a:t> </a:t>
            </a:r>
          </a:p>
          <a:p>
            <a:r>
              <a:rPr lang="en-US" sz="2400" b="1" dirty="0">
                <a:latin typeface="+mj-lt"/>
              </a:rPr>
              <a:t>to Acyclic p-coloring problem</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AF62EB8C-785C-DFBE-07D8-33F56F4AD184}"/>
                  </a:ext>
                </a:extLst>
              </p:cNvPr>
              <p:cNvSpPr txBox="1"/>
              <p:nvPr/>
            </p:nvSpPr>
            <p:spPr>
              <a:xfrm>
                <a:off x="1684224" y="2596107"/>
                <a:ext cx="6835930" cy="1840568"/>
              </a:xfrm>
              <a:prstGeom prst="rect">
                <a:avLst/>
              </a:prstGeom>
              <a:noFill/>
            </p:spPr>
            <p:txBody>
              <a:bodyPr wrap="square" rtlCol="0">
                <a:spAutoFit/>
              </a:bodyPr>
              <a:lstStyle/>
              <a:p>
                <a:r>
                  <a:rPr lang="en-US" dirty="0"/>
                  <a:t>Consider any arbitrary graph G=(V,E) and p </a:t>
                </a:r>
                <a14:m>
                  <m:oMath xmlns:m="http://schemas.openxmlformats.org/officeDocument/2006/math">
                    <m:r>
                      <a:rPr lang="en-US" smtClean="0">
                        <a:latin typeface="Cambria Math" panose="02040503050406030204" pitchFamily="18" charset="0"/>
                      </a:rPr>
                      <m:t>≥</m:t>
                    </m:r>
                  </m:oMath>
                </a14:m>
                <a:r>
                  <a:rPr lang="en-US" dirty="0"/>
                  <a:t> 3.</a:t>
                </a:r>
              </a:p>
              <a:p>
                <a:endParaRPr lang="en-US" dirty="0"/>
              </a:p>
              <a:p>
                <a:r>
                  <a:rPr lang="da-DK" dirty="0"/>
                  <a:t>Let </a:t>
                </a:r>
                <a14:m>
                  <m:oMath xmlns:m="http://schemas.openxmlformats.org/officeDocument/2006/math">
                    <m:d>
                      <m:dPr>
                        <m:begChr m:val="|"/>
                        <m:endChr m:val="|"/>
                        <m:ctrlPr>
                          <a:rPr lang="da-DK" i="1" smtClean="0">
                            <a:solidFill>
                              <a:srgbClr val="836967"/>
                            </a:solidFill>
                            <a:latin typeface="Cambria Math" panose="02040503050406030204" pitchFamily="18" charset="0"/>
                          </a:rPr>
                        </m:ctrlPr>
                      </m:dPr>
                      <m:e>
                        <m:r>
                          <a:rPr lang="en-US" b="0" i="1" smtClean="0">
                            <a:solidFill>
                              <a:srgbClr val="836967"/>
                            </a:solidFill>
                            <a:latin typeface="Cambria Math" panose="02040503050406030204" pitchFamily="18" charset="0"/>
                          </a:rPr>
                          <m:t>𝑉</m:t>
                        </m:r>
                      </m:e>
                    </m:d>
                    <m:r>
                      <a:rPr lang="da-DK" i="0" smtClean="0">
                        <a:latin typeface="Cambria Math" panose="02040503050406030204" pitchFamily="18" charset="0"/>
                      </a:rPr>
                      <m:t>=</m:t>
                    </m:r>
                    <m:r>
                      <m:rPr>
                        <m:sty m:val="p"/>
                      </m:rPr>
                      <a:rPr lang="en-US" b="0" i="0" smtClean="0">
                        <a:latin typeface="Cambria Math" panose="02040503050406030204" pitchFamily="18" charset="0"/>
                      </a:rPr>
                      <m:t>n</m:t>
                    </m:r>
                  </m:oMath>
                </a14:m>
                <a:r>
                  <a:rPr lang="da-DK" dirty="0"/>
                  <a:t> and </a:t>
                </a:r>
                <a14:m>
                  <m:oMath xmlns:m="http://schemas.openxmlformats.org/officeDocument/2006/math">
                    <m:d>
                      <m:dPr>
                        <m:begChr m:val="|"/>
                        <m:endChr m:val="|"/>
                        <m:ctrlPr>
                          <a:rPr lang="da-DK" i="1">
                            <a:solidFill>
                              <a:srgbClr val="836967"/>
                            </a:solidFill>
                            <a:latin typeface="Cambria Math" panose="02040503050406030204" pitchFamily="18" charset="0"/>
                          </a:rPr>
                        </m:ctrlPr>
                      </m:dPr>
                      <m:e>
                        <m:r>
                          <a:rPr lang="en-US" b="0" i="1" smtClean="0">
                            <a:solidFill>
                              <a:srgbClr val="836967"/>
                            </a:solidFill>
                            <a:latin typeface="Cambria Math" panose="02040503050406030204" pitchFamily="18" charset="0"/>
                          </a:rPr>
                          <m:t>𝐸</m:t>
                        </m:r>
                      </m:e>
                    </m:d>
                    <m:r>
                      <a:rPr lang="da-DK">
                        <a:latin typeface="Cambria Math" panose="02040503050406030204" pitchFamily="18" charset="0"/>
                      </a:rPr>
                      <m:t>=</m:t>
                    </m:r>
                    <m:r>
                      <m:rPr>
                        <m:sty m:val="p"/>
                      </m:rPr>
                      <a:rPr lang="en-US" b="0" i="0" smtClean="0">
                        <a:latin typeface="Cambria Math" panose="02040503050406030204" pitchFamily="18" charset="0"/>
                      </a:rPr>
                      <m:t>m</m:t>
                    </m:r>
                  </m:oMath>
                </a14:m>
                <a:r>
                  <a:rPr lang="en-US" dirty="0"/>
                  <a:t>, </a:t>
                </a:r>
                <a:br>
                  <a:rPr lang="en-US" dirty="0"/>
                </a:br>
                <a:endParaRPr lang="en-US" dirty="0"/>
              </a:p>
              <a:p>
                <a:r>
                  <a:rPr lang="en-US" sz="2000" dirty="0"/>
                  <a:t>We construct a new graph, G’= (V’, E’) as follows: </a:t>
                </a:r>
              </a:p>
              <a:p>
                <a:r>
                  <a:rPr lang="en-US" sz="2000" dirty="0"/>
                  <a:t>For each edge (</a:t>
                </a:r>
                <a14:m>
                  <m:oMath xmlns:m="http://schemas.openxmlformats.org/officeDocument/2006/math">
                    <m:sSub>
                      <m:sSubPr>
                        <m:ctrlPr>
                          <a:rPr lang="en-US" sz="2000" i="1" dirty="0" smtClean="0">
                            <a:solidFill>
                              <a:srgbClr val="836967"/>
                            </a:solidFill>
                            <a:latin typeface="Cambria Math" panose="02040503050406030204" pitchFamily="18" charset="0"/>
                          </a:rPr>
                        </m:ctrlPr>
                      </m:sSubPr>
                      <m:e>
                        <m:r>
                          <a:rPr lang="en-US" sz="2000" i="1" dirty="0" smtClean="0">
                            <a:latin typeface="Cambria Math" panose="02040503050406030204" pitchFamily="18" charset="0"/>
                          </a:rPr>
                          <m:t>𝑣</m:t>
                        </m:r>
                      </m:e>
                      <m:sub>
                        <m:r>
                          <a:rPr lang="en-US" sz="2000" i="1" dirty="0" smtClean="0">
                            <a:latin typeface="Cambria Math" panose="02040503050406030204" pitchFamily="18" charset="0"/>
                          </a:rPr>
                          <m:t>𝑖</m:t>
                        </m:r>
                      </m:sub>
                    </m:sSub>
                    <m:r>
                      <a:rPr lang="en-US" sz="2000" i="0" dirty="0" smtClean="0">
                        <a:latin typeface="Cambria Math" panose="02040503050406030204" pitchFamily="18" charset="0"/>
                      </a:rPr>
                      <m:t>,</m:t>
                    </m:r>
                    <m:sSub>
                      <m:sSubPr>
                        <m:ctrlPr>
                          <a:rPr lang="en-US" sz="2000" i="1" dirty="0" smtClean="0">
                            <a:solidFill>
                              <a:srgbClr val="836967"/>
                            </a:solidFill>
                            <a:latin typeface="Cambria Math" panose="02040503050406030204" pitchFamily="18" charset="0"/>
                          </a:rPr>
                        </m:ctrlPr>
                      </m:sSubPr>
                      <m:e>
                        <m:r>
                          <a:rPr lang="en-US" sz="2000" i="1" dirty="0" smtClean="0">
                            <a:latin typeface="Cambria Math" panose="02040503050406030204" pitchFamily="18" charset="0"/>
                          </a:rPr>
                          <m:t>𝑣</m:t>
                        </m:r>
                      </m:e>
                      <m:sub>
                        <m:r>
                          <a:rPr lang="en-US" sz="2000" i="1" dirty="0" smtClean="0">
                            <a:latin typeface="Cambria Math" panose="02040503050406030204" pitchFamily="18" charset="0"/>
                          </a:rPr>
                          <m:t>𝑗</m:t>
                        </m:r>
                      </m:sub>
                    </m:sSub>
                  </m:oMath>
                </a14:m>
                <a:r>
                  <a:rPr lang="en-US" sz="2000" dirty="0"/>
                  <a:t>) </a:t>
                </a:r>
                <a14:m>
                  <m:oMath xmlns:m="http://schemas.openxmlformats.org/officeDocument/2006/math">
                    <m:r>
                      <a:rPr lang="en-US" sz="2000" smtClean="0">
                        <a:latin typeface="Cambria Math" panose="02040503050406030204" pitchFamily="18" charset="0"/>
                      </a:rPr>
                      <m:t>∈</m:t>
                    </m:r>
                  </m:oMath>
                </a14:m>
                <a:r>
                  <a:rPr lang="en-US" sz="2000" dirty="0"/>
                  <a:t> E, we do the following transformation</a:t>
                </a:r>
              </a:p>
            </p:txBody>
          </p:sp>
        </mc:Choice>
        <mc:Fallback xmlns="">
          <p:sp>
            <p:nvSpPr>
              <p:cNvPr id="6" name="TextBox 5">
                <a:extLst>
                  <a:ext uri="{FF2B5EF4-FFF2-40B4-BE49-F238E27FC236}">
                    <a16:creationId xmlns:a16="http://schemas.microsoft.com/office/drawing/2014/main" id="{AF62EB8C-785C-DFBE-07D8-33F56F4AD184}"/>
                  </a:ext>
                </a:extLst>
              </p:cNvPr>
              <p:cNvSpPr txBox="1">
                <a:spLocks noRot="1" noChangeAspect="1" noMove="1" noResize="1" noEditPoints="1" noAdjustHandles="1" noChangeArrowheads="1" noChangeShapeType="1" noTextEdit="1"/>
              </p:cNvSpPr>
              <p:nvPr/>
            </p:nvSpPr>
            <p:spPr>
              <a:xfrm>
                <a:off x="1684224" y="2596107"/>
                <a:ext cx="6835930" cy="1840568"/>
              </a:xfrm>
              <a:prstGeom prst="rect">
                <a:avLst/>
              </a:prstGeom>
              <a:blipFill>
                <a:blip r:embed="rId2"/>
                <a:stretch>
                  <a:fillRect l="-891" t="-1987" b="-3642"/>
                </a:stretch>
              </a:blipFill>
            </p:spPr>
            <p:txBody>
              <a:bodyPr/>
              <a:lstStyle/>
              <a:p>
                <a:r>
                  <a:rPr lang="en-US">
                    <a:noFill/>
                  </a:rPr>
                  <a:t> </a:t>
                </a:r>
              </a:p>
            </p:txBody>
          </p:sp>
        </mc:Fallback>
      </mc:AlternateContent>
      <p:pic>
        <p:nvPicPr>
          <p:cNvPr id="8" name="Picture 7">
            <a:extLst>
              <a:ext uri="{FF2B5EF4-FFF2-40B4-BE49-F238E27FC236}">
                <a16:creationId xmlns:a16="http://schemas.microsoft.com/office/drawing/2014/main" id="{3FD68984-A7CB-6E63-AB3C-F27CC9B48419}"/>
              </a:ext>
            </a:extLst>
          </p:cNvPr>
          <p:cNvPicPr>
            <a:picLocks noChangeAspect="1"/>
          </p:cNvPicPr>
          <p:nvPr/>
        </p:nvPicPr>
        <p:blipFill>
          <a:blip r:embed="rId3"/>
          <a:stretch>
            <a:fillRect/>
          </a:stretch>
        </p:blipFill>
        <p:spPr>
          <a:xfrm>
            <a:off x="1965715" y="4802474"/>
            <a:ext cx="4130285" cy="1758528"/>
          </a:xfrm>
          <a:prstGeom prst="rect">
            <a:avLst/>
          </a:prstGeom>
        </p:spPr>
      </p:pic>
      <p:pic>
        <p:nvPicPr>
          <p:cNvPr id="3" name="Picture 2">
            <a:extLst>
              <a:ext uri="{FF2B5EF4-FFF2-40B4-BE49-F238E27FC236}">
                <a16:creationId xmlns:a16="http://schemas.microsoft.com/office/drawing/2014/main" id="{A38FD1A3-1E0A-5F9A-5323-836D9BFBEFAD}"/>
              </a:ext>
            </a:extLst>
          </p:cNvPr>
          <p:cNvPicPr>
            <a:picLocks noChangeAspect="1"/>
          </p:cNvPicPr>
          <p:nvPr/>
        </p:nvPicPr>
        <p:blipFill>
          <a:blip r:embed="rId4"/>
          <a:stretch>
            <a:fillRect/>
          </a:stretch>
        </p:blipFill>
        <p:spPr>
          <a:xfrm>
            <a:off x="6387651" y="4802474"/>
            <a:ext cx="4674498" cy="458715"/>
          </a:xfrm>
          <a:prstGeom prst="rect">
            <a:avLst/>
          </a:prstGeom>
        </p:spPr>
      </p:pic>
      <p:pic>
        <p:nvPicPr>
          <p:cNvPr id="9" name="Picture 8">
            <a:extLst>
              <a:ext uri="{FF2B5EF4-FFF2-40B4-BE49-F238E27FC236}">
                <a16:creationId xmlns:a16="http://schemas.microsoft.com/office/drawing/2014/main" id="{307F994B-68F9-E1EA-0735-6F634901253C}"/>
              </a:ext>
            </a:extLst>
          </p:cNvPr>
          <p:cNvPicPr>
            <a:picLocks noChangeAspect="1"/>
          </p:cNvPicPr>
          <p:nvPr/>
        </p:nvPicPr>
        <p:blipFill>
          <a:blip r:embed="rId5"/>
          <a:stretch>
            <a:fillRect/>
          </a:stretch>
        </p:blipFill>
        <p:spPr>
          <a:xfrm>
            <a:off x="6387651" y="5525418"/>
            <a:ext cx="1649000" cy="458715"/>
          </a:xfrm>
          <a:prstGeom prst="rect">
            <a:avLst/>
          </a:prstGeom>
        </p:spPr>
      </p:pic>
      <p:sp>
        <p:nvSpPr>
          <p:cNvPr id="2" name="Slide Number Placeholder 1">
            <a:extLst>
              <a:ext uri="{FF2B5EF4-FFF2-40B4-BE49-F238E27FC236}">
                <a16:creationId xmlns:a16="http://schemas.microsoft.com/office/drawing/2014/main" id="{9FBA1FB7-40CF-9E97-ACC3-1469AE8C2520}"/>
              </a:ext>
            </a:extLst>
          </p:cNvPr>
          <p:cNvSpPr>
            <a:spLocks noGrp="1"/>
          </p:cNvSpPr>
          <p:nvPr>
            <p:ph type="sldNum" sz="quarter" idx="4"/>
          </p:nvPr>
        </p:nvSpPr>
        <p:spPr/>
        <p:txBody>
          <a:bodyPr/>
          <a:lstStyle/>
          <a:p>
            <a:fld id="{58FB4751-880F-D840-AAA9-3A15815CC996}" type="slidenum">
              <a:rPr lang="en-US" smtClean="0"/>
              <a:pPr/>
              <a:t>7</a:t>
            </a:fld>
            <a:endParaRPr lang="en-US" dirty="0"/>
          </a:p>
        </p:txBody>
      </p:sp>
      <p:sp>
        <p:nvSpPr>
          <p:cNvPr id="4" name="TextBox 3">
            <a:extLst>
              <a:ext uri="{FF2B5EF4-FFF2-40B4-BE49-F238E27FC236}">
                <a16:creationId xmlns:a16="http://schemas.microsoft.com/office/drawing/2014/main" id="{1295404E-7B80-65ED-2559-30D3506486E3}"/>
              </a:ext>
            </a:extLst>
          </p:cNvPr>
          <p:cNvSpPr txBox="1"/>
          <p:nvPr/>
        </p:nvSpPr>
        <p:spPr>
          <a:xfrm>
            <a:off x="1002166" y="1874417"/>
            <a:ext cx="940001" cy="461665"/>
          </a:xfrm>
          <a:prstGeom prst="rect">
            <a:avLst/>
          </a:prstGeom>
          <a:noFill/>
        </p:spPr>
        <p:txBody>
          <a:bodyPr wrap="none" rtlCol="0">
            <a:spAutoFit/>
          </a:bodyPr>
          <a:lstStyle/>
          <a:p>
            <a:r>
              <a:rPr lang="en-US" sz="2400" dirty="0"/>
              <a:t>Proof:</a:t>
            </a:r>
          </a:p>
        </p:txBody>
      </p:sp>
    </p:spTree>
    <p:extLst>
      <p:ext uri="{BB962C8B-B14F-4D97-AF65-F5344CB8AC3E}">
        <p14:creationId xmlns:p14="http://schemas.microsoft.com/office/powerpoint/2010/main" val="17562796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00C6D0CB-F06F-CB43-CA90-C2BB2CF5981A}"/>
                  </a:ext>
                </a:extLst>
              </p:cNvPr>
              <p:cNvSpPr txBox="1"/>
              <p:nvPr/>
            </p:nvSpPr>
            <p:spPr>
              <a:xfrm>
                <a:off x="5905248" y="4219455"/>
                <a:ext cx="4346190" cy="1065035"/>
              </a:xfrm>
              <a:prstGeom prst="rect">
                <a:avLst/>
              </a:prstGeom>
              <a:noFill/>
            </p:spPr>
            <p:txBody>
              <a:bodyPr wrap="none" rtlCol="0">
                <a:spAutoFit/>
              </a:bodyPr>
              <a:lstStyle/>
              <a:p>
                <a:r>
                  <a:rPr lang="en-US" sz="2000" dirty="0"/>
                  <a:t>Since </a:t>
                </a:r>
                <a14:m>
                  <m:oMath xmlns:m="http://schemas.openxmlformats.org/officeDocument/2006/math">
                    <m:r>
                      <a:rPr lang="en-US" sz="2000" i="1" dirty="0" smtClean="0">
                        <a:latin typeface="Cambria Math" panose="02040503050406030204" pitchFamily="18" charset="0"/>
                      </a:rPr>
                      <m:t>𝜙</m:t>
                    </m:r>
                  </m:oMath>
                </a14:m>
                <a:r>
                  <a:rPr lang="en-US" sz="2000" dirty="0"/>
                  <a:t>(</a:t>
                </a:r>
                <a14:m>
                  <m:oMath xmlns:m="http://schemas.openxmlformats.org/officeDocument/2006/math">
                    <m:sSub>
                      <m:sSubPr>
                        <m:ctrlPr>
                          <a:rPr lang="en-US" sz="2000" i="1" dirty="0" smtClean="0">
                            <a:solidFill>
                              <a:srgbClr val="836967"/>
                            </a:solidFill>
                            <a:latin typeface="Cambria Math" panose="02040503050406030204" pitchFamily="18" charset="0"/>
                          </a:rPr>
                        </m:ctrlPr>
                      </m:sSubPr>
                      <m:e>
                        <m:r>
                          <a:rPr lang="en-US" sz="2000" i="1" dirty="0" smtClean="0">
                            <a:latin typeface="Cambria Math" panose="02040503050406030204" pitchFamily="18" charset="0"/>
                          </a:rPr>
                          <m:t>𝑣</m:t>
                        </m:r>
                      </m:e>
                      <m:sub>
                        <m:acc>
                          <m:accPr>
                            <m:chr m:val="̇"/>
                            <m:ctrlPr>
                              <a:rPr lang="en-US" sz="2000" i="1" dirty="0" smtClean="0">
                                <a:solidFill>
                                  <a:srgbClr val="836967"/>
                                </a:solidFill>
                                <a:latin typeface="Cambria Math" panose="02040503050406030204" pitchFamily="18" charset="0"/>
                              </a:rPr>
                            </m:ctrlPr>
                          </m:accPr>
                          <m:e>
                            <m:r>
                              <a:rPr lang="en-US" sz="2000" b="0" i="1" dirty="0" smtClean="0">
                                <a:solidFill>
                                  <a:srgbClr val="836967"/>
                                </a:solidFill>
                                <a:latin typeface="Cambria Math" panose="02040503050406030204" pitchFamily="18" charset="0"/>
                              </a:rPr>
                              <m:t>𝑖</m:t>
                            </m:r>
                          </m:e>
                        </m:acc>
                      </m:sub>
                    </m:sSub>
                  </m:oMath>
                </a14:m>
                <a:r>
                  <a:rPr lang="en-US" sz="2000" dirty="0"/>
                  <a:t>) </a:t>
                </a:r>
                <a14:m>
                  <m:oMath xmlns:m="http://schemas.openxmlformats.org/officeDocument/2006/math">
                    <m:r>
                      <a:rPr lang="en-US" sz="2000" smtClean="0">
                        <a:latin typeface="Cambria Math" panose="02040503050406030204" pitchFamily="18" charset="0"/>
                      </a:rPr>
                      <m:t>≠</m:t>
                    </m:r>
                  </m:oMath>
                </a14:m>
                <a:r>
                  <a:rPr lang="en-US" sz="2000" dirty="0"/>
                  <a:t> </a:t>
                </a:r>
                <a14:m>
                  <m:oMath xmlns:m="http://schemas.openxmlformats.org/officeDocument/2006/math">
                    <m:r>
                      <a:rPr lang="en-US" sz="2000" i="1" dirty="0">
                        <a:latin typeface="Cambria Math" panose="02040503050406030204" pitchFamily="18" charset="0"/>
                      </a:rPr>
                      <m:t>𝜙</m:t>
                    </m:r>
                  </m:oMath>
                </a14:m>
                <a:r>
                  <a:rPr lang="en-US" sz="2000" dirty="0"/>
                  <a:t>(</a:t>
                </a:r>
                <a14:m>
                  <m:oMath xmlns:m="http://schemas.openxmlformats.org/officeDocument/2006/math">
                    <m:sSub>
                      <m:sSubPr>
                        <m:ctrlPr>
                          <a:rPr lang="en-US" sz="2000" i="1" dirty="0">
                            <a:solidFill>
                              <a:srgbClr val="836967"/>
                            </a:solidFill>
                            <a:latin typeface="Cambria Math" panose="02040503050406030204" pitchFamily="18" charset="0"/>
                          </a:rPr>
                        </m:ctrlPr>
                      </m:sSubPr>
                      <m:e>
                        <m:r>
                          <a:rPr lang="en-US" sz="2000" i="1" dirty="0">
                            <a:latin typeface="Cambria Math" panose="02040503050406030204" pitchFamily="18" charset="0"/>
                          </a:rPr>
                          <m:t>𝑣</m:t>
                        </m:r>
                      </m:e>
                      <m:sub>
                        <m:r>
                          <a:rPr lang="en-US" sz="2000" b="0" i="1" dirty="0" smtClean="0">
                            <a:solidFill>
                              <a:srgbClr val="836967"/>
                            </a:solidFill>
                            <a:latin typeface="Cambria Math" panose="02040503050406030204" pitchFamily="18" charset="0"/>
                          </a:rPr>
                          <m:t>𝑗</m:t>
                        </m:r>
                      </m:sub>
                    </m:sSub>
                  </m:oMath>
                </a14:m>
                <a:r>
                  <a:rPr lang="en-US" sz="2000" dirty="0"/>
                  <a:t>) for each </a:t>
                </a:r>
                <a14:m>
                  <m:oMath xmlns:m="http://schemas.openxmlformats.org/officeDocument/2006/math">
                    <m:r>
                      <a:rPr lang="en-US" sz="2000" b="0" i="0" dirty="0" smtClean="0">
                        <a:solidFill>
                          <a:srgbClr val="836967"/>
                        </a:solidFill>
                        <a:latin typeface="Cambria Math" panose="02040503050406030204" pitchFamily="18" charset="0"/>
                      </a:rPr>
                      <m:t>(</m:t>
                    </m:r>
                    <m:sSub>
                      <m:sSubPr>
                        <m:ctrlPr>
                          <a:rPr lang="en-US" sz="2000" i="1" dirty="0">
                            <a:solidFill>
                              <a:srgbClr val="836967"/>
                            </a:solidFill>
                            <a:latin typeface="Cambria Math" panose="02040503050406030204" pitchFamily="18" charset="0"/>
                          </a:rPr>
                        </m:ctrlPr>
                      </m:sSubPr>
                      <m:e>
                        <m:r>
                          <a:rPr lang="en-US" sz="2000" i="1" dirty="0">
                            <a:latin typeface="Cambria Math" panose="02040503050406030204" pitchFamily="18" charset="0"/>
                          </a:rPr>
                          <m:t>𝑣</m:t>
                        </m:r>
                      </m:e>
                      <m:sub>
                        <m:acc>
                          <m:accPr>
                            <m:chr m:val="̇"/>
                            <m:ctrlPr>
                              <a:rPr lang="en-US" sz="2000" i="1" dirty="0">
                                <a:solidFill>
                                  <a:srgbClr val="836967"/>
                                </a:solidFill>
                                <a:latin typeface="Cambria Math" panose="02040503050406030204" pitchFamily="18" charset="0"/>
                              </a:rPr>
                            </m:ctrlPr>
                          </m:accPr>
                          <m:e>
                            <m:r>
                              <a:rPr lang="en-US" sz="2000" i="1" dirty="0">
                                <a:solidFill>
                                  <a:srgbClr val="836967"/>
                                </a:solidFill>
                                <a:latin typeface="Cambria Math" panose="02040503050406030204" pitchFamily="18" charset="0"/>
                              </a:rPr>
                              <m:t>𝑖</m:t>
                            </m:r>
                          </m:e>
                        </m:acc>
                      </m:sub>
                    </m:sSub>
                  </m:oMath>
                </a14:m>
                <a:r>
                  <a:rPr lang="en-US" sz="2000" dirty="0"/>
                  <a:t>,</a:t>
                </a:r>
                <a:r>
                  <a:rPr lang="en-US" sz="2000" dirty="0">
                    <a:solidFill>
                      <a:srgbClr val="836967"/>
                    </a:solidFill>
                  </a:rPr>
                  <a:t> </a:t>
                </a:r>
                <a14:m>
                  <m:oMath xmlns:m="http://schemas.openxmlformats.org/officeDocument/2006/math">
                    <m:sSub>
                      <m:sSubPr>
                        <m:ctrlPr>
                          <a:rPr lang="en-US" sz="2000" i="1" dirty="0">
                            <a:solidFill>
                              <a:srgbClr val="836967"/>
                            </a:solidFill>
                            <a:latin typeface="Cambria Math" panose="02040503050406030204" pitchFamily="18" charset="0"/>
                          </a:rPr>
                        </m:ctrlPr>
                      </m:sSubPr>
                      <m:e>
                        <m:r>
                          <a:rPr lang="en-US" sz="2000" i="1" dirty="0">
                            <a:latin typeface="Cambria Math" panose="02040503050406030204" pitchFamily="18" charset="0"/>
                          </a:rPr>
                          <m:t>𝑣</m:t>
                        </m:r>
                      </m:e>
                      <m:sub>
                        <m:r>
                          <a:rPr lang="en-US" sz="2000" b="0" i="1" dirty="0" smtClean="0">
                            <a:solidFill>
                              <a:srgbClr val="836967"/>
                            </a:solidFill>
                            <a:latin typeface="Cambria Math" panose="02040503050406030204" pitchFamily="18" charset="0"/>
                          </a:rPr>
                          <m:t>𝑗</m:t>
                        </m:r>
                      </m:sub>
                    </m:sSub>
                    <m:r>
                      <a:rPr lang="en-US" sz="2000" b="0" i="1" dirty="0" smtClean="0">
                        <a:solidFill>
                          <a:srgbClr val="836967"/>
                        </a:solidFill>
                        <a:latin typeface="Cambria Math" panose="02040503050406030204" pitchFamily="18" charset="0"/>
                      </a:rPr>
                      <m:t>)</m:t>
                    </m:r>
                  </m:oMath>
                </a14:m>
                <a:r>
                  <a:rPr lang="en-US" sz="2000" dirty="0"/>
                  <a:t> </a:t>
                </a:r>
                <a14:m>
                  <m:oMath xmlns:m="http://schemas.openxmlformats.org/officeDocument/2006/math">
                    <m:r>
                      <a:rPr lang="en-US" sz="2000" smtClean="0">
                        <a:latin typeface="Cambria Math" panose="02040503050406030204" pitchFamily="18" charset="0"/>
                      </a:rPr>
                      <m:t>∈</m:t>
                    </m:r>
                  </m:oMath>
                </a14:m>
                <a:r>
                  <a:rPr lang="en-US" sz="2000" dirty="0"/>
                  <a:t> E</a:t>
                </a:r>
              </a:p>
              <a:p>
                <a:endParaRPr lang="en-US" sz="2000" dirty="0"/>
              </a:p>
              <a:p>
                <a:r>
                  <a:rPr lang="en-US" sz="2000" dirty="0"/>
                  <a:t>Then, </a:t>
                </a:r>
                <a14:m>
                  <m:oMath xmlns:m="http://schemas.openxmlformats.org/officeDocument/2006/math">
                    <m:sSup>
                      <m:sSupPr>
                        <m:ctrlPr>
                          <a:rPr lang="en-US" sz="2000" i="1" dirty="0" smtClean="0">
                            <a:solidFill>
                              <a:srgbClr val="836967"/>
                            </a:solidFill>
                            <a:latin typeface="Cambria Math" panose="02040503050406030204" pitchFamily="18" charset="0"/>
                          </a:rPr>
                        </m:ctrlPr>
                      </m:sSupPr>
                      <m:e>
                        <m:r>
                          <a:rPr lang="en-US" sz="2000" i="1" dirty="0">
                            <a:latin typeface="Cambria Math" panose="02040503050406030204" pitchFamily="18" charset="0"/>
                          </a:rPr>
                          <m:t>𝜙</m:t>
                        </m:r>
                      </m:e>
                      <m:sup>
                        <m:r>
                          <a:rPr lang="en-US" sz="2000" dirty="0">
                            <a:latin typeface="Cambria Math" panose="02040503050406030204" pitchFamily="18" charset="0"/>
                          </a:rPr>
                          <m:t>′</m:t>
                        </m:r>
                      </m:sup>
                    </m:sSup>
                  </m:oMath>
                </a14:m>
                <a:r>
                  <a:rPr lang="en-US" sz="2000" dirty="0"/>
                  <a:t>(</a:t>
                </a:r>
                <a14:m>
                  <m:oMath xmlns:m="http://schemas.openxmlformats.org/officeDocument/2006/math">
                    <m:sSub>
                      <m:sSubPr>
                        <m:ctrlPr>
                          <a:rPr lang="en-US" sz="2000" i="1" dirty="0">
                            <a:solidFill>
                              <a:srgbClr val="836967"/>
                            </a:solidFill>
                            <a:latin typeface="Cambria Math" panose="02040503050406030204" pitchFamily="18" charset="0"/>
                          </a:rPr>
                        </m:ctrlPr>
                      </m:sSubPr>
                      <m:e>
                        <m:r>
                          <a:rPr lang="en-US" sz="2000" i="1" dirty="0">
                            <a:latin typeface="Cambria Math" panose="02040503050406030204" pitchFamily="18" charset="0"/>
                          </a:rPr>
                          <m:t>𝑣</m:t>
                        </m:r>
                      </m:e>
                      <m:sub>
                        <m:acc>
                          <m:accPr>
                            <m:chr m:val="̇"/>
                            <m:ctrlPr>
                              <a:rPr lang="en-US" sz="2000" i="1" dirty="0">
                                <a:solidFill>
                                  <a:srgbClr val="836967"/>
                                </a:solidFill>
                                <a:latin typeface="Cambria Math" panose="02040503050406030204" pitchFamily="18" charset="0"/>
                              </a:rPr>
                            </m:ctrlPr>
                          </m:accPr>
                          <m:e>
                            <m:r>
                              <a:rPr lang="en-US" sz="2000" i="1" dirty="0">
                                <a:solidFill>
                                  <a:srgbClr val="836967"/>
                                </a:solidFill>
                                <a:latin typeface="Cambria Math" panose="02040503050406030204" pitchFamily="18" charset="0"/>
                              </a:rPr>
                              <m:t>𝑖</m:t>
                            </m:r>
                          </m:e>
                        </m:acc>
                      </m:sub>
                    </m:sSub>
                  </m:oMath>
                </a14:m>
                <a:r>
                  <a:rPr lang="en-US" sz="2000" dirty="0"/>
                  <a:t>) </a:t>
                </a:r>
                <a14:m>
                  <m:oMath xmlns:m="http://schemas.openxmlformats.org/officeDocument/2006/math">
                    <m:r>
                      <a:rPr lang="en-US" sz="2000">
                        <a:latin typeface="Cambria Math" panose="02040503050406030204" pitchFamily="18" charset="0"/>
                      </a:rPr>
                      <m:t>≠</m:t>
                    </m:r>
                  </m:oMath>
                </a14:m>
                <a:r>
                  <a:rPr lang="en-US" sz="2000" dirty="0"/>
                  <a:t> </a:t>
                </a:r>
                <a14:m>
                  <m:oMath xmlns:m="http://schemas.openxmlformats.org/officeDocument/2006/math">
                    <m:sSup>
                      <m:sSupPr>
                        <m:ctrlPr>
                          <a:rPr lang="en-US" sz="2000" i="1" dirty="0">
                            <a:solidFill>
                              <a:srgbClr val="836967"/>
                            </a:solidFill>
                            <a:latin typeface="Cambria Math" panose="02040503050406030204" pitchFamily="18" charset="0"/>
                          </a:rPr>
                        </m:ctrlPr>
                      </m:sSupPr>
                      <m:e>
                        <m:r>
                          <a:rPr lang="en-US" sz="2000" i="1" dirty="0">
                            <a:latin typeface="Cambria Math" panose="02040503050406030204" pitchFamily="18" charset="0"/>
                          </a:rPr>
                          <m:t>𝜙</m:t>
                        </m:r>
                      </m:e>
                      <m:sup>
                        <m:r>
                          <a:rPr lang="en-US" sz="2000" dirty="0">
                            <a:latin typeface="Cambria Math" panose="02040503050406030204" pitchFamily="18" charset="0"/>
                          </a:rPr>
                          <m:t>′</m:t>
                        </m:r>
                      </m:sup>
                    </m:sSup>
                  </m:oMath>
                </a14:m>
                <a:r>
                  <a:rPr lang="en-US" sz="2000" dirty="0"/>
                  <a:t>(</a:t>
                </a:r>
                <a14:m>
                  <m:oMath xmlns:m="http://schemas.openxmlformats.org/officeDocument/2006/math">
                    <m:sSub>
                      <m:sSubPr>
                        <m:ctrlPr>
                          <a:rPr lang="en-US" sz="2000" i="1" dirty="0">
                            <a:solidFill>
                              <a:srgbClr val="836967"/>
                            </a:solidFill>
                            <a:latin typeface="Cambria Math" panose="02040503050406030204" pitchFamily="18" charset="0"/>
                          </a:rPr>
                        </m:ctrlPr>
                      </m:sSubPr>
                      <m:e>
                        <m:r>
                          <a:rPr lang="en-US" sz="2000" i="1" dirty="0">
                            <a:latin typeface="Cambria Math" panose="02040503050406030204" pitchFamily="18" charset="0"/>
                          </a:rPr>
                          <m:t>𝑣</m:t>
                        </m:r>
                      </m:e>
                      <m:sub>
                        <m:acc>
                          <m:accPr>
                            <m:chr m:val="̇"/>
                            <m:ctrlPr>
                              <a:rPr lang="en-US" sz="2000" i="1" dirty="0">
                                <a:solidFill>
                                  <a:srgbClr val="836967"/>
                                </a:solidFill>
                                <a:latin typeface="Cambria Math" panose="02040503050406030204" pitchFamily="18" charset="0"/>
                              </a:rPr>
                            </m:ctrlPr>
                          </m:accPr>
                          <m:e>
                            <m:r>
                              <a:rPr lang="en-US" sz="2000" b="0" i="1" dirty="0" smtClean="0">
                                <a:solidFill>
                                  <a:srgbClr val="836967"/>
                                </a:solidFill>
                                <a:latin typeface="Cambria Math" panose="02040503050406030204" pitchFamily="18" charset="0"/>
                              </a:rPr>
                              <m:t>𝑗</m:t>
                            </m:r>
                          </m:e>
                        </m:acc>
                      </m:sub>
                    </m:sSub>
                  </m:oMath>
                </a14:m>
                <a:r>
                  <a:rPr lang="en-US" sz="2000" dirty="0"/>
                  <a:t>) </a:t>
                </a:r>
              </a:p>
            </p:txBody>
          </p:sp>
        </mc:Choice>
        <mc:Fallback xmlns="">
          <p:sp>
            <p:nvSpPr>
              <p:cNvPr id="7" name="TextBox 6">
                <a:extLst>
                  <a:ext uri="{FF2B5EF4-FFF2-40B4-BE49-F238E27FC236}">
                    <a16:creationId xmlns:a16="http://schemas.microsoft.com/office/drawing/2014/main" id="{00C6D0CB-F06F-CB43-CA90-C2BB2CF5981A}"/>
                  </a:ext>
                </a:extLst>
              </p:cNvPr>
              <p:cNvSpPr txBox="1">
                <a:spLocks noRot="1" noChangeAspect="1" noMove="1" noResize="1" noEditPoints="1" noAdjustHandles="1" noChangeArrowheads="1" noChangeShapeType="1" noTextEdit="1"/>
              </p:cNvSpPr>
              <p:nvPr/>
            </p:nvSpPr>
            <p:spPr>
              <a:xfrm>
                <a:off x="5905248" y="4219455"/>
                <a:ext cx="4346190" cy="1065035"/>
              </a:xfrm>
              <a:prstGeom prst="rect">
                <a:avLst/>
              </a:prstGeom>
              <a:blipFill>
                <a:blip r:embed="rId2"/>
                <a:stretch>
                  <a:fillRect l="-1543" t="-2857" r="-2104" b="-685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9CDB97A9-3127-A915-21A3-138B0B65C23D}"/>
                  </a:ext>
                </a:extLst>
              </p:cNvPr>
              <p:cNvSpPr txBox="1"/>
              <p:nvPr/>
            </p:nvSpPr>
            <p:spPr>
              <a:xfrm>
                <a:off x="1271682" y="2227277"/>
                <a:ext cx="9439315" cy="646331"/>
              </a:xfrm>
              <a:prstGeom prst="rect">
                <a:avLst/>
              </a:prstGeom>
              <a:noFill/>
            </p:spPr>
            <p:txBody>
              <a:bodyPr wrap="none" rtlCol="0">
                <a:spAutoFit/>
              </a:bodyPr>
              <a:lstStyle/>
              <a:p>
                <a:r>
                  <a:rPr lang="en-US" dirty="0"/>
                  <a:t>Let G can be p-colored using an assignment</a:t>
                </a:r>
                <a14:m>
                  <m:oMath xmlns:m="http://schemas.openxmlformats.org/officeDocument/2006/math">
                    <m:r>
                      <a:rPr lang="en-US" b="0" i="0" dirty="0" smtClean="0">
                        <a:latin typeface="Cambria Math" panose="02040503050406030204" pitchFamily="18" charset="0"/>
                      </a:rPr>
                      <m:t> </m:t>
                    </m:r>
                    <m:r>
                      <a:rPr lang="en-US" i="1" dirty="0">
                        <a:latin typeface="Cambria Math" panose="02040503050406030204" pitchFamily="18" charset="0"/>
                      </a:rPr>
                      <m:t>𝜙</m:t>
                    </m:r>
                  </m:oMath>
                </a14:m>
                <a:r>
                  <a:rPr lang="en-US" dirty="0"/>
                  <a:t> and G’ can be colored using an assignment </a:t>
                </a:r>
                <a14:m>
                  <m:oMath xmlns:m="http://schemas.openxmlformats.org/officeDocument/2006/math">
                    <m:sSup>
                      <m:sSupPr>
                        <m:ctrlPr>
                          <a:rPr lang="en-US" i="1" dirty="0" smtClean="0">
                            <a:solidFill>
                              <a:srgbClr val="836967"/>
                            </a:solidFill>
                            <a:latin typeface="Cambria Math" panose="02040503050406030204" pitchFamily="18" charset="0"/>
                          </a:rPr>
                        </m:ctrlPr>
                      </m:sSupPr>
                      <m:e>
                        <m:r>
                          <a:rPr lang="en-US" i="1" dirty="0">
                            <a:latin typeface="Cambria Math" panose="02040503050406030204" pitchFamily="18" charset="0"/>
                          </a:rPr>
                          <m:t>𝜙</m:t>
                        </m:r>
                      </m:e>
                      <m:sup>
                        <m:r>
                          <a:rPr lang="en-US" i="0" dirty="0">
                            <a:latin typeface="Cambria Math" panose="02040503050406030204" pitchFamily="18" charset="0"/>
                          </a:rPr>
                          <m:t>′</m:t>
                        </m:r>
                      </m:sup>
                    </m:sSup>
                  </m:oMath>
                </a14:m>
                <a:r>
                  <a:rPr lang="en-US" dirty="0"/>
                  <a:t>. Now, </a:t>
                </a:r>
                <a:br>
                  <a:rPr lang="en-US" dirty="0"/>
                </a:br>
                <a:r>
                  <a:rPr lang="en-US" dirty="0"/>
                  <a:t>we have to show that </a:t>
                </a:r>
                <a14:m>
                  <m:oMath xmlns:m="http://schemas.openxmlformats.org/officeDocument/2006/math">
                    <m:sSup>
                      <m:sSupPr>
                        <m:ctrlPr>
                          <a:rPr lang="en-US" i="1" dirty="0">
                            <a:solidFill>
                              <a:srgbClr val="836967"/>
                            </a:solidFill>
                            <a:latin typeface="Cambria Math" panose="02040503050406030204" pitchFamily="18" charset="0"/>
                          </a:rPr>
                        </m:ctrlPr>
                      </m:sSupPr>
                      <m:e>
                        <m:r>
                          <a:rPr lang="en-US" i="1" dirty="0">
                            <a:latin typeface="Cambria Math" panose="02040503050406030204" pitchFamily="18" charset="0"/>
                          </a:rPr>
                          <m:t>𝜙</m:t>
                        </m:r>
                      </m:e>
                      <m:sup>
                        <m:r>
                          <a:rPr lang="en-US" dirty="0">
                            <a:latin typeface="Cambria Math" panose="02040503050406030204" pitchFamily="18" charset="0"/>
                          </a:rPr>
                          <m:t>′</m:t>
                        </m:r>
                      </m:sup>
                    </m:sSup>
                  </m:oMath>
                </a14:m>
                <a:r>
                  <a:rPr lang="en-US" dirty="0"/>
                  <a:t> is a acyclic p-coloring of G’</a:t>
                </a:r>
              </a:p>
            </p:txBody>
          </p:sp>
        </mc:Choice>
        <mc:Fallback xmlns="">
          <p:sp>
            <p:nvSpPr>
              <p:cNvPr id="2" name="TextBox 1">
                <a:extLst>
                  <a:ext uri="{FF2B5EF4-FFF2-40B4-BE49-F238E27FC236}">
                    <a16:creationId xmlns:a16="http://schemas.microsoft.com/office/drawing/2014/main" id="{9CDB97A9-3127-A915-21A3-138B0B65C23D}"/>
                  </a:ext>
                </a:extLst>
              </p:cNvPr>
              <p:cNvSpPr txBox="1">
                <a:spLocks noRot="1" noChangeAspect="1" noMove="1" noResize="1" noEditPoints="1" noAdjustHandles="1" noChangeArrowheads="1" noChangeShapeType="1" noTextEdit="1"/>
              </p:cNvSpPr>
              <p:nvPr/>
            </p:nvSpPr>
            <p:spPr>
              <a:xfrm>
                <a:off x="1271682" y="2227277"/>
                <a:ext cx="9439315" cy="646331"/>
              </a:xfrm>
              <a:prstGeom prst="rect">
                <a:avLst/>
              </a:prstGeom>
              <a:blipFill>
                <a:blip r:embed="rId3"/>
                <a:stretch>
                  <a:fillRect l="-581" t="-4717" b="-14151"/>
                </a:stretch>
              </a:blipFill>
            </p:spPr>
            <p:txBody>
              <a:bodyPr/>
              <a:lstStyle/>
              <a:p>
                <a:r>
                  <a:rPr lang="en-US">
                    <a:noFill/>
                  </a:rPr>
                  <a:t> </a:t>
                </a:r>
              </a:p>
            </p:txBody>
          </p:sp>
        </mc:Fallback>
      </mc:AlternateContent>
      <p:sp>
        <p:nvSpPr>
          <p:cNvPr id="3" name="TextBox 2">
            <a:extLst>
              <a:ext uri="{FF2B5EF4-FFF2-40B4-BE49-F238E27FC236}">
                <a16:creationId xmlns:a16="http://schemas.microsoft.com/office/drawing/2014/main" id="{18795390-A005-839B-BC06-65107521B6A6}"/>
              </a:ext>
            </a:extLst>
          </p:cNvPr>
          <p:cNvSpPr txBox="1"/>
          <p:nvPr/>
        </p:nvSpPr>
        <p:spPr>
          <a:xfrm>
            <a:off x="1271682" y="3228945"/>
            <a:ext cx="779124" cy="400110"/>
          </a:xfrm>
          <a:prstGeom prst="rect">
            <a:avLst/>
          </a:prstGeom>
          <a:noFill/>
        </p:spPr>
        <p:txBody>
          <a:bodyPr wrap="none" rtlCol="0">
            <a:spAutoFit/>
          </a:bodyPr>
          <a:lstStyle/>
          <a:p>
            <a:r>
              <a:rPr lang="en-US" sz="2000" dirty="0"/>
              <a:t>Proof:</a:t>
            </a:r>
          </a:p>
        </p:txBody>
      </p:sp>
      <p:pic>
        <p:nvPicPr>
          <p:cNvPr id="6" name="Picture 5">
            <a:extLst>
              <a:ext uri="{FF2B5EF4-FFF2-40B4-BE49-F238E27FC236}">
                <a16:creationId xmlns:a16="http://schemas.microsoft.com/office/drawing/2014/main" id="{286A1E03-A68E-8484-164F-D5753DD55159}"/>
              </a:ext>
            </a:extLst>
          </p:cNvPr>
          <p:cNvPicPr>
            <a:picLocks noChangeAspect="1"/>
          </p:cNvPicPr>
          <p:nvPr/>
        </p:nvPicPr>
        <p:blipFill>
          <a:blip r:embed="rId4"/>
          <a:stretch>
            <a:fillRect/>
          </a:stretch>
        </p:blipFill>
        <p:spPr>
          <a:xfrm>
            <a:off x="1314071" y="3787540"/>
            <a:ext cx="3871654" cy="1648412"/>
          </a:xfrm>
          <a:prstGeom prst="rect">
            <a:avLst/>
          </a:prstGeom>
        </p:spPr>
      </p:pic>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747A826D-1AD7-8698-20DD-65A11901957B}"/>
                  </a:ext>
                </a:extLst>
              </p:cNvPr>
              <p:cNvSpPr txBox="1"/>
              <p:nvPr/>
            </p:nvSpPr>
            <p:spPr>
              <a:xfrm>
                <a:off x="5905248" y="3702726"/>
                <a:ext cx="3473323" cy="400110"/>
              </a:xfrm>
              <a:prstGeom prst="rect">
                <a:avLst/>
              </a:prstGeom>
              <a:noFill/>
            </p:spPr>
            <p:txBody>
              <a:bodyPr wrap="none" rtlCol="0">
                <a:spAutoFit/>
              </a:bodyPr>
              <a:lstStyle/>
              <a:p>
                <a:r>
                  <a:rPr lang="en-US" sz="2000" dirty="0"/>
                  <a:t>Let </a:t>
                </a:r>
                <a14:m>
                  <m:oMath xmlns:m="http://schemas.openxmlformats.org/officeDocument/2006/math">
                    <m:r>
                      <a:rPr lang="en-US" sz="2000" i="1" dirty="0" smtClean="0">
                        <a:latin typeface="Cambria Math" panose="02040503050406030204" pitchFamily="18" charset="0"/>
                      </a:rPr>
                      <m:t>𝜙</m:t>
                    </m:r>
                  </m:oMath>
                </a14:m>
                <a:r>
                  <a:rPr lang="en-US" sz="2000" dirty="0"/>
                  <a:t>(v) = </a:t>
                </a:r>
                <a14:m>
                  <m:oMath xmlns:m="http://schemas.openxmlformats.org/officeDocument/2006/math">
                    <m:sSup>
                      <m:sSupPr>
                        <m:ctrlPr>
                          <a:rPr lang="en-US" sz="2000" i="1" dirty="0">
                            <a:solidFill>
                              <a:srgbClr val="836967"/>
                            </a:solidFill>
                            <a:latin typeface="Cambria Math" panose="02040503050406030204" pitchFamily="18" charset="0"/>
                          </a:rPr>
                        </m:ctrlPr>
                      </m:sSupPr>
                      <m:e>
                        <m:r>
                          <a:rPr lang="en-US" sz="2000" i="1" dirty="0">
                            <a:latin typeface="Cambria Math" panose="02040503050406030204" pitchFamily="18" charset="0"/>
                          </a:rPr>
                          <m:t>𝜙</m:t>
                        </m:r>
                      </m:e>
                      <m:sup>
                        <m:r>
                          <a:rPr lang="en-US" sz="2000" dirty="0">
                            <a:latin typeface="Cambria Math" panose="02040503050406030204" pitchFamily="18" charset="0"/>
                          </a:rPr>
                          <m:t>′</m:t>
                        </m:r>
                      </m:sup>
                    </m:sSup>
                  </m:oMath>
                </a14:m>
                <a:r>
                  <a:rPr lang="en-US" sz="2000" dirty="0"/>
                  <a:t>(v) for each v </a:t>
                </a:r>
                <a14:m>
                  <m:oMath xmlns:m="http://schemas.openxmlformats.org/officeDocument/2006/math">
                    <m:r>
                      <a:rPr lang="en-US" sz="2000" smtClean="0">
                        <a:latin typeface="Cambria Math" panose="02040503050406030204" pitchFamily="18" charset="0"/>
                      </a:rPr>
                      <m:t>∈</m:t>
                    </m:r>
                  </m:oMath>
                </a14:m>
                <a:r>
                  <a:rPr lang="en-US" sz="2000" dirty="0"/>
                  <a:t> V  </a:t>
                </a:r>
              </a:p>
            </p:txBody>
          </p:sp>
        </mc:Choice>
        <mc:Fallback xmlns="">
          <p:sp>
            <p:nvSpPr>
              <p:cNvPr id="9" name="TextBox 8">
                <a:extLst>
                  <a:ext uri="{FF2B5EF4-FFF2-40B4-BE49-F238E27FC236}">
                    <a16:creationId xmlns:a16="http://schemas.microsoft.com/office/drawing/2014/main" id="{747A826D-1AD7-8698-20DD-65A11901957B}"/>
                  </a:ext>
                </a:extLst>
              </p:cNvPr>
              <p:cNvSpPr txBox="1">
                <a:spLocks noRot="1" noChangeAspect="1" noMove="1" noResize="1" noEditPoints="1" noAdjustHandles="1" noChangeArrowheads="1" noChangeShapeType="1" noTextEdit="1"/>
              </p:cNvSpPr>
              <p:nvPr/>
            </p:nvSpPr>
            <p:spPr>
              <a:xfrm>
                <a:off x="5905248" y="3702726"/>
                <a:ext cx="3473323" cy="400110"/>
              </a:xfrm>
              <a:prstGeom prst="rect">
                <a:avLst/>
              </a:prstGeom>
              <a:blipFill>
                <a:blip r:embed="rId5"/>
                <a:stretch>
                  <a:fillRect l="-1933" t="-7576" r="-2812" b="-2575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31DB13B-978F-81E0-3FB3-626798AE4275}"/>
                  </a:ext>
                </a:extLst>
              </p:cNvPr>
              <p:cNvSpPr txBox="1"/>
              <p:nvPr/>
            </p:nvSpPr>
            <p:spPr>
              <a:xfrm>
                <a:off x="2287826" y="5761072"/>
                <a:ext cx="8231869" cy="722185"/>
              </a:xfrm>
              <a:prstGeom prst="rect">
                <a:avLst/>
              </a:prstGeom>
              <a:noFill/>
            </p:spPr>
            <p:txBody>
              <a:bodyPr wrap="none" rtlCol="0">
                <a:spAutoFit/>
              </a:bodyPr>
              <a:lstStyle/>
              <a:p>
                <a:r>
                  <a:rPr lang="en-US" dirty="0"/>
                  <a:t>Now, let </a:t>
                </a:r>
                <a14:m>
                  <m:oMath xmlns:m="http://schemas.openxmlformats.org/officeDocument/2006/math">
                    <m:sSup>
                      <m:sSupPr>
                        <m:ctrlPr>
                          <a:rPr lang="en-US" sz="1800" i="1" dirty="0" smtClean="0">
                            <a:solidFill>
                              <a:srgbClr val="836967"/>
                            </a:solidFill>
                            <a:latin typeface="Cambria Math" panose="02040503050406030204" pitchFamily="18" charset="0"/>
                          </a:rPr>
                        </m:ctrlPr>
                      </m:sSupPr>
                      <m:e>
                        <m:r>
                          <a:rPr lang="en-US" sz="1800" i="1" dirty="0">
                            <a:latin typeface="Cambria Math" panose="02040503050406030204" pitchFamily="18" charset="0"/>
                          </a:rPr>
                          <m:t>𝜙</m:t>
                        </m:r>
                      </m:e>
                      <m:sup>
                        <m:r>
                          <a:rPr lang="en-US" sz="1800" dirty="0">
                            <a:latin typeface="Cambria Math" panose="02040503050406030204" pitchFamily="18" charset="0"/>
                          </a:rPr>
                          <m:t>′</m:t>
                        </m:r>
                      </m:sup>
                    </m:sSup>
                  </m:oMath>
                </a14:m>
                <a:r>
                  <a:rPr lang="en-US" dirty="0"/>
                  <a:t> assign color to the remaining vertices </a:t>
                </a:r>
                <a14:m>
                  <m:oMath xmlns:m="http://schemas.openxmlformats.org/officeDocument/2006/math">
                    <m:sSubSup>
                      <m:sSubSupPr>
                        <m:ctrlPr>
                          <a:rPr lang="en-US" i="1" smtClean="0">
                            <a:solidFill>
                              <a:srgbClr val="836967"/>
                            </a:solidFill>
                            <a:latin typeface="Cambria Math" panose="02040503050406030204" pitchFamily="18" charset="0"/>
                          </a:rPr>
                        </m:ctrlPr>
                      </m:sSubSupPr>
                      <m:e>
                        <m:r>
                          <a:rPr lang="en-US" i="1" smtClean="0">
                            <a:latin typeface="Cambria Math" panose="02040503050406030204" pitchFamily="18" charset="0"/>
                          </a:rPr>
                          <m:t>𝑤</m:t>
                        </m:r>
                      </m:e>
                      <m:sub>
                        <m:r>
                          <a:rPr lang="en-US" i="1" smtClean="0">
                            <a:latin typeface="Cambria Math" panose="02040503050406030204" pitchFamily="18" charset="0"/>
                          </a:rPr>
                          <m:t>𝑗</m:t>
                        </m:r>
                      </m:sub>
                      <m:sup>
                        <m:r>
                          <a:rPr lang="en-US" b="0" i="1" smtClean="0">
                            <a:latin typeface="Cambria Math" panose="02040503050406030204" pitchFamily="18" charset="0"/>
                          </a:rPr>
                          <m:t>𝑙</m:t>
                        </m:r>
                      </m:sup>
                    </m:sSubSup>
                  </m:oMath>
                </a14:m>
                <a:r>
                  <a:rPr lang="en-US" dirty="0"/>
                  <a:t> where </a:t>
                </a:r>
                <a14:m>
                  <m:oMath xmlns:m="http://schemas.openxmlformats.org/officeDocument/2006/math">
                    <m:r>
                      <a:rPr lang="en-US" dirty="0" smtClean="0">
                        <a:latin typeface="Cambria Math" panose="02040503050406030204" pitchFamily="18" charset="0"/>
                      </a:rPr>
                      <m:t>1</m:t>
                    </m:r>
                    <m:r>
                      <a:rPr lang="en-US" i="0" dirty="0" smtClean="0">
                        <a:latin typeface="Cambria Math" panose="02040503050406030204" pitchFamily="18" charset="0"/>
                      </a:rPr>
                      <m:t>≤</m:t>
                    </m:r>
                    <m:r>
                      <a:rPr lang="en-US" i="1" dirty="0" smtClean="0">
                        <a:latin typeface="Cambria Math" panose="02040503050406030204" pitchFamily="18" charset="0"/>
                      </a:rPr>
                      <m:t>𝑗</m:t>
                    </m:r>
                    <m:r>
                      <a:rPr lang="en-US" i="0" dirty="0" smtClean="0">
                        <a:latin typeface="Cambria Math" panose="02040503050406030204" pitchFamily="18" charset="0"/>
                      </a:rPr>
                      <m:t>≤</m:t>
                    </m:r>
                    <m:r>
                      <m:rPr>
                        <m:sty m:val="p"/>
                      </m:rPr>
                      <a:rPr lang="en-US" b="0" i="0" dirty="0" smtClean="0">
                        <a:latin typeface="Cambria Math" panose="02040503050406030204" pitchFamily="18" charset="0"/>
                      </a:rPr>
                      <m:t>p</m:t>
                    </m:r>
                  </m:oMath>
                </a14:m>
                <a:r>
                  <a:rPr lang="en-US" dirty="0"/>
                  <a:t> with any color </a:t>
                </a:r>
                <a:br>
                  <a:rPr lang="en-US" dirty="0"/>
                </a:br>
                <a:r>
                  <a:rPr lang="en-US" dirty="0"/>
                  <a:t>different from </a:t>
                </a:r>
                <a14:m>
                  <m:oMath xmlns:m="http://schemas.openxmlformats.org/officeDocument/2006/math">
                    <m:sSup>
                      <m:sSupPr>
                        <m:ctrlPr>
                          <a:rPr lang="en-US" i="1" dirty="0">
                            <a:solidFill>
                              <a:srgbClr val="836967"/>
                            </a:solidFill>
                            <a:latin typeface="Cambria Math" panose="02040503050406030204" pitchFamily="18" charset="0"/>
                          </a:rPr>
                        </m:ctrlPr>
                      </m:sSupPr>
                      <m:e>
                        <m:r>
                          <a:rPr lang="en-US" i="1" dirty="0">
                            <a:latin typeface="Cambria Math" panose="02040503050406030204" pitchFamily="18" charset="0"/>
                          </a:rPr>
                          <m:t>𝜙</m:t>
                        </m:r>
                      </m:e>
                      <m:sup>
                        <m:r>
                          <a:rPr lang="en-US" dirty="0">
                            <a:latin typeface="Cambria Math" panose="02040503050406030204" pitchFamily="18" charset="0"/>
                          </a:rPr>
                          <m:t>′</m:t>
                        </m:r>
                      </m:sup>
                    </m:sSup>
                  </m:oMath>
                </a14:m>
                <a:r>
                  <a:rPr lang="en-US" dirty="0"/>
                  <a:t>(</a:t>
                </a:r>
                <a14:m>
                  <m:oMath xmlns:m="http://schemas.openxmlformats.org/officeDocument/2006/math">
                    <m:sSub>
                      <m:sSubPr>
                        <m:ctrlPr>
                          <a:rPr lang="en-US" i="1" dirty="0">
                            <a:solidFill>
                              <a:srgbClr val="836967"/>
                            </a:solidFill>
                            <a:latin typeface="Cambria Math" panose="02040503050406030204" pitchFamily="18" charset="0"/>
                          </a:rPr>
                        </m:ctrlPr>
                      </m:sSubPr>
                      <m:e>
                        <m:r>
                          <a:rPr lang="en-US" i="1" dirty="0">
                            <a:latin typeface="Cambria Math" panose="02040503050406030204" pitchFamily="18" charset="0"/>
                          </a:rPr>
                          <m:t>𝑣</m:t>
                        </m:r>
                      </m:e>
                      <m:sub>
                        <m:acc>
                          <m:accPr>
                            <m:chr m:val="̇"/>
                            <m:ctrlPr>
                              <a:rPr lang="en-US" i="1" dirty="0">
                                <a:solidFill>
                                  <a:srgbClr val="836967"/>
                                </a:solidFill>
                                <a:latin typeface="Cambria Math" panose="02040503050406030204" pitchFamily="18" charset="0"/>
                              </a:rPr>
                            </m:ctrlPr>
                          </m:accPr>
                          <m:e>
                            <m:r>
                              <a:rPr lang="en-US" i="1" dirty="0">
                                <a:solidFill>
                                  <a:srgbClr val="836967"/>
                                </a:solidFill>
                                <a:latin typeface="Cambria Math" panose="02040503050406030204" pitchFamily="18" charset="0"/>
                              </a:rPr>
                              <m:t>𝑖</m:t>
                            </m:r>
                          </m:e>
                        </m:acc>
                      </m:sub>
                    </m:sSub>
                  </m:oMath>
                </a14:m>
                <a:r>
                  <a:rPr lang="en-US" dirty="0"/>
                  <a:t>) and </a:t>
                </a:r>
                <a14:m>
                  <m:oMath xmlns:m="http://schemas.openxmlformats.org/officeDocument/2006/math">
                    <m:sSup>
                      <m:sSupPr>
                        <m:ctrlPr>
                          <a:rPr lang="en-US" i="1" dirty="0">
                            <a:solidFill>
                              <a:srgbClr val="836967"/>
                            </a:solidFill>
                            <a:latin typeface="Cambria Math" panose="02040503050406030204" pitchFamily="18" charset="0"/>
                          </a:rPr>
                        </m:ctrlPr>
                      </m:sSupPr>
                      <m:e>
                        <m:r>
                          <a:rPr lang="en-US" i="1" dirty="0">
                            <a:latin typeface="Cambria Math" panose="02040503050406030204" pitchFamily="18" charset="0"/>
                          </a:rPr>
                          <m:t>𝜙</m:t>
                        </m:r>
                      </m:e>
                      <m:sup>
                        <m:r>
                          <a:rPr lang="en-US" dirty="0">
                            <a:latin typeface="Cambria Math" panose="02040503050406030204" pitchFamily="18" charset="0"/>
                          </a:rPr>
                          <m:t>′</m:t>
                        </m:r>
                      </m:sup>
                    </m:sSup>
                  </m:oMath>
                </a14:m>
                <a:r>
                  <a:rPr lang="en-US" dirty="0"/>
                  <a:t>(</a:t>
                </a:r>
                <a14:m>
                  <m:oMath xmlns:m="http://schemas.openxmlformats.org/officeDocument/2006/math">
                    <m:sSub>
                      <m:sSubPr>
                        <m:ctrlPr>
                          <a:rPr lang="en-US" i="1" dirty="0">
                            <a:solidFill>
                              <a:srgbClr val="836967"/>
                            </a:solidFill>
                            <a:latin typeface="Cambria Math" panose="02040503050406030204" pitchFamily="18" charset="0"/>
                          </a:rPr>
                        </m:ctrlPr>
                      </m:sSubPr>
                      <m:e>
                        <m:r>
                          <a:rPr lang="en-US" i="1" dirty="0">
                            <a:latin typeface="Cambria Math" panose="02040503050406030204" pitchFamily="18" charset="0"/>
                          </a:rPr>
                          <m:t>𝑣</m:t>
                        </m:r>
                      </m:e>
                      <m:sub>
                        <m:acc>
                          <m:accPr>
                            <m:chr m:val="̇"/>
                            <m:ctrlPr>
                              <a:rPr lang="en-US" i="1" dirty="0">
                                <a:solidFill>
                                  <a:srgbClr val="836967"/>
                                </a:solidFill>
                                <a:latin typeface="Cambria Math" panose="02040503050406030204" pitchFamily="18" charset="0"/>
                              </a:rPr>
                            </m:ctrlPr>
                          </m:accPr>
                          <m:e>
                            <m:r>
                              <a:rPr lang="en-US" i="1" dirty="0">
                                <a:solidFill>
                                  <a:srgbClr val="836967"/>
                                </a:solidFill>
                                <a:latin typeface="Cambria Math" panose="02040503050406030204" pitchFamily="18" charset="0"/>
                              </a:rPr>
                              <m:t>𝑗</m:t>
                            </m:r>
                          </m:e>
                        </m:acc>
                      </m:sub>
                    </m:sSub>
                  </m:oMath>
                </a14:m>
                <a:r>
                  <a:rPr lang="en-US" dirty="0"/>
                  <a:t>)</a:t>
                </a:r>
              </a:p>
            </p:txBody>
          </p:sp>
        </mc:Choice>
        <mc:Fallback xmlns="">
          <p:sp>
            <p:nvSpPr>
              <p:cNvPr id="10" name="TextBox 9">
                <a:extLst>
                  <a:ext uri="{FF2B5EF4-FFF2-40B4-BE49-F238E27FC236}">
                    <a16:creationId xmlns:a16="http://schemas.microsoft.com/office/drawing/2014/main" id="{331DB13B-978F-81E0-3FB3-626798AE4275}"/>
                  </a:ext>
                </a:extLst>
              </p:cNvPr>
              <p:cNvSpPr txBox="1">
                <a:spLocks noRot="1" noChangeAspect="1" noMove="1" noResize="1" noEditPoints="1" noAdjustHandles="1" noChangeArrowheads="1" noChangeShapeType="1" noTextEdit="1"/>
              </p:cNvSpPr>
              <p:nvPr/>
            </p:nvSpPr>
            <p:spPr>
              <a:xfrm>
                <a:off x="2287826" y="5761072"/>
                <a:ext cx="8231869" cy="722185"/>
              </a:xfrm>
              <a:prstGeom prst="rect">
                <a:avLst/>
              </a:prstGeom>
              <a:blipFill>
                <a:blip r:embed="rId6"/>
                <a:stretch>
                  <a:fillRect l="-592" t="-1681" r="-444" b="-8403"/>
                </a:stretch>
              </a:blipFill>
            </p:spPr>
            <p:txBody>
              <a:bodyPr/>
              <a:lstStyle/>
              <a:p>
                <a:r>
                  <a:rPr lang="en-US">
                    <a:noFill/>
                  </a:rPr>
                  <a:t> </a:t>
                </a:r>
              </a:p>
            </p:txBody>
          </p:sp>
        </mc:Fallback>
      </mc:AlternateContent>
      <p:sp>
        <p:nvSpPr>
          <p:cNvPr id="12" name="TextBox 11">
            <a:extLst>
              <a:ext uri="{FF2B5EF4-FFF2-40B4-BE49-F238E27FC236}">
                <a16:creationId xmlns:a16="http://schemas.microsoft.com/office/drawing/2014/main" id="{C97FD5A8-0378-7701-8427-636C9A1337E4}"/>
              </a:ext>
            </a:extLst>
          </p:cNvPr>
          <p:cNvSpPr txBox="1"/>
          <p:nvPr/>
        </p:nvSpPr>
        <p:spPr>
          <a:xfrm>
            <a:off x="1314071" y="1433115"/>
            <a:ext cx="2648674" cy="461665"/>
          </a:xfrm>
          <a:prstGeom prst="rect">
            <a:avLst/>
          </a:prstGeom>
          <a:noFill/>
        </p:spPr>
        <p:txBody>
          <a:bodyPr wrap="none" rtlCol="0">
            <a:spAutoFit/>
          </a:bodyPr>
          <a:lstStyle/>
          <a:p>
            <a:r>
              <a:rPr lang="en-US" sz="2400" b="1" dirty="0"/>
              <a:t>Necessity Condition:</a:t>
            </a:r>
          </a:p>
        </p:txBody>
      </p:sp>
      <p:sp>
        <p:nvSpPr>
          <p:cNvPr id="8" name="Slide Number Placeholder 7">
            <a:extLst>
              <a:ext uri="{FF2B5EF4-FFF2-40B4-BE49-F238E27FC236}">
                <a16:creationId xmlns:a16="http://schemas.microsoft.com/office/drawing/2014/main" id="{0660BA28-18DD-E48B-38AA-E9DB49FBFC2E}"/>
              </a:ext>
            </a:extLst>
          </p:cNvPr>
          <p:cNvSpPr>
            <a:spLocks noGrp="1"/>
          </p:cNvSpPr>
          <p:nvPr>
            <p:ph type="sldNum" sz="quarter" idx="4"/>
          </p:nvPr>
        </p:nvSpPr>
        <p:spPr/>
        <p:txBody>
          <a:bodyPr/>
          <a:lstStyle/>
          <a:p>
            <a:fld id="{58FB4751-880F-D840-AAA9-3A15815CC996}" type="slidenum">
              <a:rPr lang="en-US" smtClean="0"/>
              <a:pPr/>
              <a:t>8</a:t>
            </a:fld>
            <a:endParaRPr lang="en-US" dirty="0"/>
          </a:p>
        </p:txBody>
      </p:sp>
      <p:sp>
        <p:nvSpPr>
          <p:cNvPr id="11" name="TextBox 10">
            <a:extLst>
              <a:ext uri="{FF2B5EF4-FFF2-40B4-BE49-F238E27FC236}">
                <a16:creationId xmlns:a16="http://schemas.microsoft.com/office/drawing/2014/main" id="{CE93BBEB-F34D-D87D-BC65-38B430C47B07}"/>
              </a:ext>
            </a:extLst>
          </p:cNvPr>
          <p:cNvSpPr txBox="1"/>
          <p:nvPr/>
        </p:nvSpPr>
        <p:spPr>
          <a:xfrm>
            <a:off x="1314071" y="596987"/>
            <a:ext cx="8811266" cy="707886"/>
          </a:xfrm>
          <a:prstGeom prst="rect">
            <a:avLst/>
          </a:prstGeom>
          <a:noFill/>
        </p:spPr>
        <p:txBody>
          <a:bodyPr wrap="square">
            <a:spAutoFit/>
          </a:bodyPr>
          <a:lstStyle/>
          <a:p>
            <a:r>
              <a:rPr lang="en-US" sz="2000" b="1" dirty="0"/>
              <a:t>Now, we claim that if G is p-colorable if and only if G’ is acyclic p-colorable </a:t>
            </a:r>
          </a:p>
        </p:txBody>
      </p:sp>
      <p:sp>
        <p:nvSpPr>
          <p:cNvPr id="14" name="TextBox 13">
            <a:extLst>
              <a:ext uri="{FF2B5EF4-FFF2-40B4-BE49-F238E27FC236}">
                <a16:creationId xmlns:a16="http://schemas.microsoft.com/office/drawing/2014/main" id="{B29399F0-1ED5-48B0-2DCC-A5067B99C930}"/>
              </a:ext>
            </a:extLst>
          </p:cNvPr>
          <p:cNvSpPr txBox="1"/>
          <p:nvPr/>
        </p:nvSpPr>
        <p:spPr>
          <a:xfrm>
            <a:off x="4468700" y="1463358"/>
            <a:ext cx="6100090" cy="400110"/>
          </a:xfrm>
          <a:prstGeom prst="rect">
            <a:avLst/>
          </a:prstGeom>
          <a:noFill/>
        </p:spPr>
        <p:txBody>
          <a:bodyPr wrap="square">
            <a:spAutoFit/>
          </a:bodyPr>
          <a:lstStyle/>
          <a:p>
            <a:r>
              <a:rPr lang="en-US" sz="2000" dirty="0"/>
              <a:t>If G is p-colorable then G’ is acyclic p-colorable</a:t>
            </a:r>
          </a:p>
        </p:txBody>
      </p:sp>
    </p:spTree>
    <p:extLst>
      <p:ext uri="{BB962C8B-B14F-4D97-AF65-F5344CB8AC3E}">
        <p14:creationId xmlns:p14="http://schemas.microsoft.com/office/powerpoint/2010/main" val="22259763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D8EE18C4-37C9-AE74-E21B-0C0F7B5D9BFE}"/>
              </a:ext>
            </a:extLst>
          </p:cNvPr>
          <p:cNvSpPr txBox="1"/>
          <p:nvPr/>
        </p:nvSpPr>
        <p:spPr>
          <a:xfrm>
            <a:off x="859899" y="479329"/>
            <a:ext cx="8823890" cy="646331"/>
          </a:xfrm>
          <a:prstGeom prst="rect">
            <a:avLst/>
          </a:prstGeom>
          <a:noFill/>
        </p:spPr>
        <p:txBody>
          <a:bodyPr wrap="none" rtlCol="0">
            <a:spAutoFit/>
          </a:bodyPr>
          <a:lstStyle/>
          <a:p>
            <a:r>
              <a:rPr lang="en-US" dirty="0"/>
              <a:t>Following this construction, we can see that, any cycle in G’ will be </a:t>
            </a:r>
            <a:r>
              <a:rPr lang="en-US" dirty="0" err="1"/>
              <a:t>atleast</a:t>
            </a:r>
            <a:r>
              <a:rPr lang="en-US" dirty="0"/>
              <a:t> 3 </a:t>
            </a:r>
            <a:r>
              <a:rPr lang="en-US" dirty="0" err="1"/>
              <a:t>coloured</a:t>
            </a:r>
            <a:r>
              <a:rPr lang="en-US" dirty="0"/>
              <a:t>. Moreover,</a:t>
            </a:r>
            <a:br>
              <a:rPr lang="en-US" dirty="0"/>
            </a:br>
            <a:r>
              <a:rPr lang="en-US" dirty="0"/>
              <a:t>the transformation from G to G’ can be done in P time. </a:t>
            </a:r>
          </a:p>
        </p:txBody>
      </p:sp>
      <p:sp>
        <p:nvSpPr>
          <p:cNvPr id="8" name="TextBox 7">
            <a:extLst>
              <a:ext uri="{FF2B5EF4-FFF2-40B4-BE49-F238E27FC236}">
                <a16:creationId xmlns:a16="http://schemas.microsoft.com/office/drawing/2014/main" id="{7CE81F7D-2088-1E9B-CE50-525F1320B4C2}"/>
              </a:ext>
            </a:extLst>
          </p:cNvPr>
          <p:cNvSpPr txBox="1"/>
          <p:nvPr/>
        </p:nvSpPr>
        <p:spPr>
          <a:xfrm>
            <a:off x="859899" y="1303748"/>
            <a:ext cx="5681876" cy="369332"/>
          </a:xfrm>
          <a:prstGeom prst="rect">
            <a:avLst/>
          </a:prstGeom>
          <a:noFill/>
        </p:spPr>
        <p:txBody>
          <a:bodyPr wrap="none" rtlCol="0">
            <a:spAutoFit/>
          </a:bodyPr>
          <a:lstStyle/>
          <a:p>
            <a:r>
              <a:rPr lang="en-US" dirty="0"/>
              <a:t>So, if G is p-colorable then G’ is acyclic p-colorable  [Proved]</a:t>
            </a:r>
          </a:p>
        </p:txBody>
      </p:sp>
      <p:sp>
        <p:nvSpPr>
          <p:cNvPr id="9" name="TextBox 8">
            <a:extLst>
              <a:ext uri="{FF2B5EF4-FFF2-40B4-BE49-F238E27FC236}">
                <a16:creationId xmlns:a16="http://schemas.microsoft.com/office/drawing/2014/main" id="{A77798D1-62B6-665A-93A7-CAAC5DE12A7C}"/>
              </a:ext>
            </a:extLst>
          </p:cNvPr>
          <p:cNvSpPr txBox="1"/>
          <p:nvPr/>
        </p:nvSpPr>
        <p:spPr>
          <a:xfrm>
            <a:off x="866767" y="1958919"/>
            <a:ext cx="2399439" cy="400110"/>
          </a:xfrm>
          <a:prstGeom prst="rect">
            <a:avLst/>
          </a:prstGeom>
          <a:noFill/>
        </p:spPr>
        <p:txBody>
          <a:bodyPr wrap="none" rtlCol="0">
            <a:spAutoFit/>
          </a:bodyPr>
          <a:lstStyle/>
          <a:p>
            <a:r>
              <a:rPr lang="en-US" sz="2000" b="1" dirty="0"/>
              <a:t>Sufficiency Condition: </a:t>
            </a:r>
          </a:p>
        </p:txBody>
      </p:sp>
      <p:sp>
        <p:nvSpPr>
          <p:cNvPr id="11" name="TextBox 10">
            <a:extLst>
              <a:ext uri="{FF2B5EF4-FFF2-40B4-BE49-F238E27FC236}">
                <a16:creationId xmlns:a16="http://schemas.microsoft.com/office/drawing/2014/main" id="{79F23651-2E2E-DA72-A056-05436B102093}"/>
              </a:ext>
            </a:extLst>
          </p:cNvPr>
          <p:cNvSpPr txBox="1"/>
          <p:nvPr/>
        </p:nvSpPr>
        <p:spPr>
          <a:xfrm>
            <a:off x="859899" y="2377444"/>
            <a:ext cx="8060043" cy="369332"/>
          </a:xfrm>
          <a:prstGeom prst="rect">
            <a:avLst/>
          </a:prstGeom>
          <a:noFill/>
        </p:spPr>
        <p:txBody>
          <a:bodyPr wrap="square">
            <a:spAutoFit/>
          </a:bodyPr>
          <a:lstStyle/>
          <a:p>
            <a:r>
              <a:rPr lang="en-US" dirty="0"/>
              <a:t>if G’ is an acyclic p-colorable, then G can be also p-colorable</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4859FA18-9F04-6512-C7B7-B68C268A993F}"/>
                  </a:ext>
                </a:extLst>
              </p:cNvPr>
              <p:cNvSpPr txBox="1"/>
              <p:nvPr/>
            </p:nvSpPr>
            <p:spPr>
              <a:xfrm>
                <a:off x="802976" y="4877894"/>
                <a:ext cx="10625216" cy="923330"/>
              </a:xfrm>
              <a:prstGeom prst="rect">
                <a:avLst/>
              </a:prstGeom>
              <a:noFill/>
            </p:spPr>
            <p:txBody>
              <a:bodyPr wrap="none" rtlCol="0">
                <a:spAutoFit/>
              </a:bodyPr>
              <a:lstStyle/>
              <a:p>
                <a:r>
                  <a:rPr lang="en-US" dirty="0"/>
                  <a:t>Assume, </a:t>
                </a:r>
                <a14:m>
                  <m:oMath xmlns:m="http://schemas.openxmlformats.org/officeDocument/2006/math">
                    <m:sSup>
                      <m:sSupPr>
                        <m:ctrlPr>
                          <a:rPr lang="en-US" i="1" dirty="0" smtClean="0">
                            <a:solidFill>
                              <a:srgbClr val="836967"/>
                            </a:solidFill>
                            <a:latin typeface="Cambria Math" panose="02040503050406030204" pitchFamily="18" charset="0"/>
                          </a:rPr>
                        </m:ctrlPr>
                      </m:sSupPr>
                      <m:e>
                        <m:r>
                          <a:rPr lang="en-US" i="1" dirty="0">
                            <a:latin typeface="Cambria Math" panose="02040503050406030204" pitchFamily="18" charset="0"/>
                          </a:rPr>
                          <m:t>𝜙</m:t>
                        </m:r>
                      </m:e>
                      <m:sup>
                        <m:r>
                          <a:rPr lang="en-US" dirty="0">
                            <a:latin typeface="Cambria Math" panose="02040503050406030204" pitchFamily="18" charset="0"/>
                          </a:rPr>
                          <m:t>′</m:t>
                        </m:r>
                      </m:sup>
                    </m:sSup>
                  </m:oMath>
                </a14:m>
                <a:r>
                  <a:rPr lang="en-US" dirty="0"/>
                  <a:t> be the acyclic p-coloring of G’ and </a:t>
                </a:r>
                <a14:m>
                  <m:oMath xmlns:m="http://schemas.openxmlformats.org/officeDocument/2006/math">
                    <m:r>
                      <a:rPr lang="en-US" i="1" dirty="0">
                        <a:latin typeface="Cambria Math" panose="02040503050406030204" pitchFamily="18" charset="0"/>
                      </a:rPr>
                      <m:t>𝜙</m:t>
                    </m:r>
                  </m:oMath>
                </a14:m>
                <a:r>
                  <a:rPr lang="en-US" dirty="0"/>
                  <a:t> be the vertex coloring of G. Let, </a:t>
                </a:r>
                <a14:m>
                  <m:oMath xmlns:m="http://schemas.openxmlformats.org/officeDocument/2006/math">
                    <m:sSup>
                      <m:sSupPr>
                        <m:ctrlPr>
                          <a:rPr lang="en-US" i="1" dirty="0">
                            <a:solidFill>
                              <a:srgbClr val="836967"/>
                            </a:solidFill>
                            <a:latin typeface="Cambria Math" panose="02040503050406030204" pitchFamily="18" charset="0"/>
                          </a:rPr>
                        </m:ctrlPr>
                      </m:sSupPr>
                      <m:e>
                        <m:r>
                          <a:rPr lang="en-US" i="1" dirty="0">
                            <a:latin typeface="Cambria Math" panose="02040503050406030204" pitchFamily="18" charset="0"/>
                          </a:rPr>
                          <m:t>𝜙</m:t>
                        </m:r>
                      </m:e>
                      <m:sup>
                        <m:r>
                          <a:rPr lang="en-US" dirty="0">
                            <a:latin typeface="Cambria Math" panose="02040503050406030204" pitchFamily="18" charset="0"/>
                          </a:rPr>
                          <m:t>′</m:t>
                        </m:r>
                      </m:sup>
                    </m:sSup>
                  </m:oMath>
                </a14:m>
                <a:r>
                  <a:rPr lang="en-US" dirty="0"/>
                  <a:t>(v) = </a:t>
                </a:r>
                <a14:m>
                  <m:oMath xmlns:m="http://schemas.openxmlformats.org/officeDocument/2006/math">
                    <m:r>
                      <a:rPr lang="en-US" i="1" dirty="0">
                        <a:latin typeface="Cambria Math" panose="02040503050406030204" pitchFamily="18" charset="0"/>
                      </a:rPr>
                      <m:t>𝜙</m:t>
                    </m:r>
                  </m:oMath>
                </a14:m>
                <a:r>
                  <a:rPr lang="en-US" dirty="0"/>
                  <a:t>(v) , for each v </a:t>
                </a:r>
                <a14:m>
                  <m:oMath xmlns:m="http://schemas.openxmlformats.org/officeDocument/2006/math">
                    <m:r>
                      <a:rPr lang="en-US">
                        <a:latin typeface="Cambria Math" panose="02040503050406030204" pitchFamily="18" charset="0"/>
                      </a:rPr>
                      <m:t>∈</m:t>
                    </m:r>
                  </m:oMath>
                </a14:m>
                <a:r>
                  <a:rPr lang="en-US" dirty="0"/>
                  <a:t> V  </a:t>
                </a:r>
                <a:br>
                  <a:rPr lang="en-US" dirty="0"/>
                </a:br>
                <a:r>
                  <a:rPr lang="en-US" dirty="0"/>
                  <a:t> </a:t>
                </a:r>
                <a:br>
                  <a:rPr lang="en-US" dirty="0"/>
                </a:br>
                <a:r>
                  <a:rPr lang="en-US" dirty="0"/>
                  <a:t>Now, we claim that, </a:t>
                </a:r>
                <a14:m>
                  <m:oMath xmlns:m="http://schemas.openxmlformats.org/officeDocument/2006/math">
                    <m:r>
                      <a:rPr lang="en-US" i="1" dirty="0">
                        <a:latin typeface="Cambria Math" panose="02040503050406030204" pitchFamily="18" charset="0"/>
                      </a:rPr>
                      <m:t>𝜙</m:t>
                    </m:r>
                  </m:oMath>
                </a14:m>
                <a:r>
                  <a:rPr lang="en-US" dirty="0"/>
                  <a:t> is a p-coloring of G.</a:t>
                </a:r>
              </a:p>
            </p:txBody>
          </p:sp>
        </mc:Choice>
        <mc:Fallback xmlns="">
          <p:sp>
            <p:nvSpPr>
              <p:cNvPr id="12" name="TextBox 11">
                <a:extLst>
                  <a:ext uri="{FF2B5EF4-FFF2-40B4-BE49-F238E27FC236}">
                    <a16:creationId xmlns:a16="http://schemas.microsoft.com/office/drawing/2014/main" id="{4859FA18-9F04-6512-C7B7-B68C268A993F}"/>
                  </a:ext>
                </a:extLst>
              </p:cNvPr>
              <p:cNvSpPr txBox="1">
                <a:spLocks noRot="1" noChangeAspect="1" noMove="1" noResize="1" noEditPoints="1" noAdjustHandles="1" noChangeArrowheads="1" noChangeShapeType="1" noTextEdit="1"/>
              </p:cNvSpPr>
              <p:nvPr/>
            </p:nvSpPr>
            <p:spPr>
              <a:xfrm>
                <a:off x="802976" y="4877894"/>
                <a:ext cx="10625216" cy="923330"/>
              </a:xfrm>
              <a:prstGeom prst="rect">
                <a:avLst/>
              </a:prstGeom>
              <a:blipFill>
                <a:blip r:embed="rId2"/>
                <a:stretch>
                  <a:fillRect l="-516" t="-3289" b="-92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43ED4608-EC12-0EDE-E5D9-CCD6705F2B25}"/>
                  </a:ext>
                </a:extLst>
              </p:cNvPr>
              <p:cNvSpPr txBox="1"/>
              <p:nvPr/>
            </p:nvSpPr>
            <p:spPr>
              <a:xfrm>
                <a:off x="802976" y="5833514"/>
                <a:ext cx="10149235" cy="945643"/>
              </a:xfrm>
              <a:prstGeom prst="rect">
                <a:avLst/>
              </a:prstGeom>
              <a:noFill/>
            </p:spPr>
            <p:txBody>
              <a:bodyPr wrap="square" rtlCol="0">
                <a:spAutoFit/>
              </a:bodyPr>
              <a:lstStyle/>
              <a:p>
                <a:r>
                  <a:rPr lang="en-US" dirty="0"/>
                  <a:t>If </a:t>
                </a:r>
                <a14:m>
                  <m:oMath xmlns:m="http://schemas.openxmlformats.org/officeDocument/2006/math">
                    <m:r>
                      <a:rPr lang="en-US" i="1" dirty="0">
                        <a:latin typeface="Cambria Math" panose="02040503050406030204" pitchFamily="18" charset="0"/>
                      </a:rPr>
                      <m:t>𝜙</m:t>
                    </m:r>
                  </m:oMath>
                </a14:m>
                <a:r>
                  <a:rPr lang="en-US" dirty="0"/>
                  <a:t>(</a:t>
                </a:r>
                <a14:m>
                  <m:oMath xmlns:m="http://schemas.openxmlformats.org/officeDocument/2006/math">
                    <m:sSub>
                      <m:sSubPr>
                        <m:ctrlPr>
                          <a:rPr lang="en-US" i="1" dirty="0">
                            <a:solidFill>
                              <a:srgbClr val="836967"/>
                            </a:solidFill>
                            <a:latin typeface="Cambria Math" panose="02040503050406030204" pitchFamily="18" charset="0"/>
                          </a:rPr>
                        </m:ctrlPr>
                      </m:sSubPr>
                      <m:e>
                        <m:r>
                          <a:rPr lang="en-US" i="1" dirty="0">
                            <a:latin typeface="Cambria Math" panose="02040503050406030204" pitchFamily="18" charset="0"/>
                          </a:rPr>
                          <m:t>𝑣</m:t>
                        </m:r>
                      </m:e>
                      <m:sub>
                        <m:acc>
                          <m:accPr>
                            <m:chr m:val="̇"/>
                            <m:ctrlPr>
                              <a:rPr lang="en-US" i="1" dirty="0">
                                <a:solidFill>
                                  <a:srgbClr val="836967"/>
                                </a:solidFill>
                                <a:latin typeface="Cambria Math" panose="02040503050406030204" pitchFamily="18" charset="0"/>
                              </a:rPr>
                            </m:ctrlPr>
                          </m:accPr>
                          <m:e>
                            <m:r>
                              <a:rPr lang="en-US" i="1" dirty="0">
                                <a:solidFill>
                                  <a:srgbClr val="836967"/>
                                </a:solidFill>
                                <a:latin typeface="Cambria Math" panose="02040503050406030204" pitchFamily="18" charset="0"/>
                              </a:rPr>
                              <m:t>𝑖</m:t>
                            </m:r>
                          </m:e>
                        </m:acc>
                      </m:sub>
                    </m:sSub>
                  </m:oMath>
                </a14:m>
                <a:r>
                  <a:rPr lang="en-US" dirty="0"/>
                  <a:t>) </a:t>
                </a:r>
                <a14:m>
                  <m:oMath xmlns:m="http://schemas.openxmlformats.org/officeDocument/2006/math">
                    <m:r>
                      <a:rPr lang="en-US">
                        <a:latin typeface="Cambria Math" panose="02040503050406030204" pitchFamily="18" charset="0"/>
                      </a:rPr>
                      <m:t>≠</m:t>
                    </m:r>
                    <m:r>
                      <a:rPr lang="en-US" i="1" dirty="0">
                        <a:latin typeface="Cambria Math" panose="02040503050406030204" pitchFamily="18" charset="0"/>
                      </a:rPr>
                      <m:t>𝜙</m:t>
                    </m:r>
                  </m:oMath>
                </a14:m>
                <a:r>
                  <a:rPr lang="en-US" dirty="0"/>
                  <a:t>(</a:t>
                </a:r>
                <a14:m>
                  <m:oMath xmlns:m="http://schemas.openxmlformats.org/officeDocument/2006/math">
                    <m:sSub>
                      <m:sSubPr>
                        <m:ctrlPr>
                          <a:rPr lang="en-US" i="1" dirty="0">
                            <a:solidFill>
                              <a:srgbClr val="836967"/>
                            </a:solidFill>
                            <a:latin typeface="Cambria Math" panose="02040503050406030204" pitchFamily="18" charset="0"/>
                          </a:rPr>
                        </m:ctrlPr>
                      </m:sSubPr>
                      <m:e>
                        <m:r>
                          <a:rPr lang="en-US" i="1" dirty="0">
                            <a:latin typeface="Cambria Math" panose="02040503050406030204" pitchFamily="18" charset="0"/>
                          </a:rPr>
                          <m:t>𝑣</m:t>
                        </m:r>
                      </m:e>
                      <m:sub>
                        <m:r>
                          <a:rPr lang="en-US" b="0" i="1" dirty="0" smtClean="0">
                            <a:solidFill>
                              <a:srgbClr val="836967"/>
                            </a:solidFill>
                            <a:latin typeface="Cambria Math" panose="02040503050406030204" pitchFamily="18" charset="0"/>
                          </a:rPr>
                          <m:t>𝑗</m:t>
                        </m:r>
                      </m:sub>
                    </m:sSub>
                  </m:oMath>
                </a14:m>
                <a:r>
                  <a:rPr lang="en-US" dirty="0"/>
                  <a:t>) , for each </a:t>
                </a:r>
                <a14:m>
                  <m:oMath xmlns:m="http://schemas.openxmlformats.org/officeDocument/2006/math">
                    <m:r>
                      <a:rPr lang="en-US" b="0" i="0" dirty="0" smtClean="0">
                        <a:solidFill>
                          <a:srgbClr val="836967"/>
                        </a:solidFill>
                        <a:latin typeface="Cambria Math" panose="02040503050406030204" pitchFamily="18" charset="0"/>
                      </a:rPr>
                      <m:t>(</m:t>
                    </m:r>
                    <m:sSub>
                      <m:sSubPr>
                        <m:ctrlPr>
                          <a:rPr lang="en-US" i="1" dirty="0">
                            <a:solidFill>
                              <a:srgbClr val="836967"/>
                            </a:solidFill>
                            <a:latin typeface="Cambria Math" panose="02040503050406030204" pitchFamily="18" charset="0"/>
                          </a:rPr>
                        </m:ctrlPr>
                      </m:sSubPr>
                      <m:e>
                        <m:r>
                          <a:rPr lang="en-US" i="1" dirty="0">
                            <a:latin typeface="Cambria Math" panose="02040503050406030204" pitchFamily="18" charset="0"/>
                          </a:rPr>
                          <m:t>𝑣</m:t>
                        </m:r>
                      </m:e>
                      <m:sub>
                        <m:acc>
                          <m:accPr>
                            <m:chr m:val="̇"/>
                            <m:ctrlPr>
                              <a:rPr lang="en-US" i="1" dirty="0">
                                <a:solidFill>
                                  <a:srgbClr val="836967"/>
                                </a:solidFill>
                                <a:latin typeface="Cambria Math" panose="02040503050406030204" pitchFamily="18" charset="0"/>
                              </a:rPr>
                            </m:ctrlPr>
                          </m:accPr>
                          <m:e>
                            <m:r>
                              <a:rPr lang="en-US" i="1" dirty="0">
                                <a:solidFill>
                                  <a:srgbClr val="836967"/>
                                </a:solidFill>
                                <a:latin typeface="Cambria Math" panose="02040503050406030204" pitchFamily="18" charset="0"/>
                              </a:rPr>
                              <m:t>𝑖</m:t>
                            </m:r>
                          </m:e>
                        </m:acc>
                      </m:sub>
                    </m:sSub>
                  </m:oMath>
                </a14:m>
                <a:r>
                  <a:rPr lang="en-US" dirty="0"/>
                  <a:t>,</a:t>
                </a:r>
                <a:r>
                  <a:rPr lang="en-US" dirty="0">
                    <a:solidFill>
                      <a:srgbClr val="836967"/>
                    </a:solidFill>
                  </a:rPr>
                  <a:t> </a:t>
                </a:r>
                <a14:m>
                  <m:oMath xmlns:m="http://schemas.openxmlformats.org/officeDocument/2006/math">
                    <m:sSub>
                      <m:sSubPr>
                        <m:ctrlPr>
                          <a:rPr lang="en-US" i="1" dirty="0">
                            <a:solidFill>
                              <a:srgbClr val="836967"/>
                            </a:solidFill>
                            <a:latin typeface="Cambria Math" panose="02040503050406030204" pitchFamily="18" charset="0"/>
                          </a:rPr>
                        </m:ctrlPr>
                      </m:sSubPr>
                      <m:e>
                        <m:r>
                          <a:rPr lang="en-US" i="1" dirty="0">
                            <a:latin typeface="Cambria Math" panose="02040503050406030204" pitchFamily="18" charset="0"/>
                          </a:rPr>
                          <m:t>𝑣</m:t>
                        </m:r>
                      </m:e>
                      <m:sub>
                        <m:r>
                          <a:rPr lang="en-US" b="0" i="1" dirty="0" smtClean="0">
                            <a:solidFill>
                              <a:srgbClr val="836967"/>
                            </a:solidFill>
                            <a:latin typeface="Cambria Math" panose="02040503050406030204" pitchFamily="18" charset="0"/>
                          </a:rPr>
                          <m:t>𝑗</m:t>
                        </m:r>
                      </m:sub>
                    </m:sSub>
                    <m:r>
                      <a:rPr lang="en-US" b="0" i="1" dirty="0" smtClean="0">
                        <a:solidFill>
                          <a:srgbClr val="836967"/>
                        </a:solidFill>
                        <a:latin typeface="Cambria Math" panose="02040503050406030204" pitchFamily="18" charset="0"/>
                      </a:rPr>
                      <m:t>)</m:t>
                    </m:r>
                  </m:oMath>
                </a14:m>
                <a:r>
                  <a:rPr lang="en-US" dirty="0"/>
                  <a:t> </a:t>
                </a:r>
                <a14:m>
                  <m:oMath xmlns:m="http://schemas.openxmlformats.org/officeDocument/2006/math">
                    <m:r>
                      <a:rPr lang="en-US">
                        <a:latin typeface="Cambria Math" panose="02040503050406030204" pitchFamily="18" charset="0"/>
                      </a:rPr>
                      <m:t>∈</m:t>
                    </m:r>
                  </m:oMath>
                </a14:m>
                <a:r>
                  <a:rPr lang="en-US" dirty="0"/>
                  <a:t> E, then we are done. Because, </a:t>
                </a:r>
                <a14:m>
                  <m:oMath xmlns:m="http://schemas.openxmlformats.org/officeDocument/2006/math">
                    <m:sSup>
                      <m:sSupPr>
                        <m:ctrlPr>
                          <a:rPr lang="en-US" i="1" dirty="0">
                            <a:solidFill>
                              <a:srgbClr val="836967"/>
                            </a:solidFill>
                            <a:latin typeface="Cambria Math" panose="02040503050406030204" pitchFamily="18" charset="0"/>
                          </a:rPr>
                        </m:ctrlPr>
                      </m:sSupPr>
                      <m:e>
                        <m:r>
                          <a:rPr lang="en-US" i="1" dirty="0">
                            <a:latin typeface="Cambria Math" panose="02040503050406030204" pitchFamily="18" charset="0"/>
                          </a:rPr>
                          <m:t>𝜙</m:t>
                        </m:r>
                      </m:e>
                      <m:sup>
                        <m:r>
                          <a:rPr lang="en-US" dirty="0">
                            <a:latin typeface="Cambria Math" panose="02040503050406030204" pitchFamily="18" charset="0"/>
                          </a:rPr>
                          <m:t>′</m:t>
                        </m:r>
                      </m:sup>
                    </m:sSup>
                  </m:oMath>
                </a14:m>
                <a:r>
                  <a:rPr lang="en-US" dirty="0"/>
                  <a:t> assigns acyclic p-coloring in G’ and</a:t>
                </a:r>
                <a:br>
                  <a:rPr lang="en-US" dirty="0"/>
                </a:br>
                <a:br>
                  <a:rPr lang="en-US" dirty="0"/>
                </a:br>
                <a14:m>
                  <m:oMath xmlns:m="http://schemas.openxmlformats.org/officeDocument/2006/math">
                    <m:sSup>
                      <m:sSupPr>
                        <m:ctrlPr>
                          <a:rPr lang="en-US" i="1" dirty="0">
                            <a:solidFill>
                              <a:srgbClr val="836967"/>
                            </a:solidFill>
                            <a:latin typeface="Cambria Math" panose="02040503050406030204" pitchFamily="18" charset="0"/>
                          </a:rPr>
                        </m:ctrlPr>
                      </m:sSupPr>
                      <m:e>
                        <m:r>
                          <a:rPr lang="en-US" i="1" dirty="0">
                            <a:latin typeface="Cambria Math" panose="02040503050406030204" pitchFamily="18" charset="0"/>
                          </a:rPr>
                          <m:t>𝜙</m:t>
                        </m:r>
                      </m:e>
                      <m:sup>
                        <m:r>
                          <a:rPr lang="en-US" dirty="0">
                            <a:latin typeface="Cambria Math" panose="02040503050406030204" pitchFamily="18" charset="0"/>
                          </a:rPr>
                          <m:t>′</m:t>
                        </m:r>
                      </m:sup>
                    </m:sSup>
                  </m:oMath>
                </a14:m>
                <a:r>
                  <a:rPr lang="en-US" dirty="0"/>
                  <a:t>(v) = </a:t>
                </a:r>
                <a14:m>
                  <m:oMath xmlns:m="http://schemas.openxmlformats.org/officeDocument/2006/math">
                    <m:r>
                      <a:rPr lang="en-US" i="1" dirty="0">
                        <a:latin typeface="Cambria Math" panose="02040503050406030204" pitchFamily="18" charset="0"/>
                      </a:rPr>
                      <m:t>𝜙</m:t>
                    </m:r>
                  </m:oMath>
                </a14:m>
                <a:r>
                  <a:rPr lang="en-US" dirty="0"/>
                  <a:t>(v) for each v </a:t>
                </a:r>
                <a14:m>
                  <m:oMath xmlns:m="http://schemas.openxmlformats.org/officeDocument/2006/math">
                    <m:r>
                      <a:rPr lang="en-US">
                        <a:latin typeface="Cambria Math" panose="02040503050406030204" pitchFamily="18" charset="0"/>
                      </a:rPr>
                      <m:t>∈</m:t>
                    </m:r>
                  </m:oMath>
                </a14:m>
                <a:r>
                  <a:rPr lang="en-US" dirty="0"/>
                  <a:t> V. So, </a:t>
                </a:r>
                <a14:m>
                  <m:oMath xmlns:m="http://schemas.openxmlformats.org/officeDocument/2006/math">
                    <m:r>
                      <a:rPr lang="en-US" i="1" dirty="0">
                        <a:latin typeface="Cambria Math" panose="02040503050406030204" pitchFamily="18" charset="0"/>
                      </a:rPr>
                      <m:t>𝜙</m:t>
                    </m:r>
                  </m:oMath>
                </a14:m>
                <a:r>
                  <a:rPr lang="en-US" dirty="0"/>
                  <a:t> is also p-colorable.</a:t>
                </a:r>
              </a:p>
            </p:txBody>
          </p:sp>
        </mc:Choice>
        <mc:Fallback xmlns="">
          <p:sp>
            <p:nvSpPr>
              <p:cNvPr id="13" name="TextBox 12">
                <a:extLst>
                  <a:ext uri="{FF2B5EF4-FFF2-40B4-BE49-F238E27FC236}">
                    <a16:creationId xmlns:a16="http://schemas.microsoft.com/office/drawing/2014/main" id="{43ED4608-EC12-0EDE-E5D9-CCD6705F2B25}"/>
                  </a:ext>
                </a:extLst>
              </p:cNvPr>
              <p:cNvSpPr txBox="1">
                <a:spLocks noRot="1" noChangeAspect="1" noMove="1" noResize="1" noEditPoints="1" noAdjustHandles="1" noChangeArrowheads="1" noChangeShapeType="1" noTextEdit="1"/>
              </p:cNvSpPr>
              <p:nvPr/>
            </p:nvSpPr>
            <p:spPr>
              <a:xfrm>
                <a:off x="802976" y="5833514"/>
                <a:ext cx="10149235" cy="945643"/>
              </a:xfrm>
              <a:prstGeom prst="rect">
                <a:avLst/>
              </a:prstGeom>
              <a:blipFill>
                <a:blip r:embed="rId3"/>
                <a:stretch>
                  <a:fillRect l="-541" t="-3871" b="-9677"/>
                </a:stretch>
              </a:blipFill>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719293B6-4D2F-8DAB-B0CC-D6527564EA81}"/>
              </a:ext>
            </a:extLst>
          </p:cNvPr>
          <p:cNvSpPr>
            <a:spLocks noGrp="1"/>
          </p:cNvSpPr>
          <p:nvPr>
            <p:ph type="sldNum" sz="quarter" idx="4"/>
          </p:nvPr>
        </p:nvSpPr>
        <p:spPr/>
        <p:txBody>
          <a:bodyPr/>
          <a:lstStyle/>
          <a:p>
            <a:fld id="{58FB4751-880F-D840-AAA9-3A15815CC996}" type="slidenum">
              <a:rPr lang="en-US" smtClean="0"/>
              <a:pPr/>
              <a:t>9</a:t>
            </a:fld>
            <a:endParaRPr lang="en-US" dirty="0"/>
          </a:p>
        </p:txBody>
      </p:sp>
      <p:pic>
        <p:nvPicPr>
          <p:cNvPr id="3" name="Picture 2">
            <a:extLst>
              <a:ext uri="{FF2B5EF4-FFF2-40B4-BE49-F238E27FC236}">
                <a16:creationId xmlns:a16="http://schemas.microsoft.com/office/drawing/2014/main" id="{9436B6B2-D726-4893-4104-7376826D118B}"/>
              </a:ext>
            </a:extLst>
          </p:cNvPr>
          <p:cNvPicPr>
            <a:picLocks noChangeAspect="1"/>
          </p:cNvPicPr>
          <p:nvPr/>
        </p:nvPicPr>
        <p:blipFill>
          <a:blip r:embed="rId4"/>
          <a:stretch>
            <a:fillRect/>
          </a:stretch>
        </p:blipFill>
        <p:spPr>
          <a:xfrm>
            <a:off x="3044682" y="3063393"/>
            <a:ext cx="3957681" cy="1685039"/>
          </a:xfrm>
          <a:prstGeom prst="rect">
            <a:avLst/>
          </a:prstGeom>
        </p:spPr>
      </p:pic>
    </p:spTree>
    <p:extLst>
      <p:ext uri="{BB962C8B-B14F-4D97-AF65-F5344CB8AC3E}">
        <p14:creationId xmlns:p14="http://schemas.microsoft.com/office/powerpoint/2010/main" val="2455346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EB94DF1F-3D71-93CE-7EAE-E4B07147B08D}"/>
                  </a:ext>
                </a:extLst>
              </p:cNvPr>
              <p:cNvSpPr txBox="1"/>
              <p:nvPr/>
            </p:nvSpPr>
            <p:spPr>
              <a:xfrm>
                <a:off x="1033051" y="2809251"/>
                <a:ext cx="9897928" cy="2825453"/>
              </a:xfrm>
              <a:prstGeom prst="rect">
                <a:avLst/>
              </a:prstGeom>
              <a:noFill/>
            </p:spPr>
            <p:txBody>
              <a:bodyPr wrap="square">
                <a:spAutoFit/>
              </a:bodyPr>
              <a:lstStyle/>
              <a:p>
                <a:r>
                  <a:rPr lang="en-US" sz="2000" dirty="0"/>
                  <a:t>Now, If </a:t>
                </a:r>
                <a14:m>
                  <m:oMath xmlns:m="http://schemas.openxmlformats.org/officeDocument/2006/math">
                    <m:r>
                      <a:rPr lang="en-US" sz="2000" i="1" dirty="0">
                        <a:latin typeface="Cambria Math" panose="02040503050406030204" pitchFamily="18" charset="0"/>
                      </a:rPr>
                      <m:t>𝜙</m:t>
                    </m:r>
                  </m:oMath>
                </a14:m>
                <a:r>
                  <a:rPr lang="en-US" sz="2000" dirty="0"/>
                  <a:t>(</a:t>
                </a:r>
                <a14:m>
                  <m:oMath xmlns:m="http://schemas.openxmlformats.org/officeDocument/2006/math">
                    <m:sSub>
                      <m:sSubPr>
                        <m:ctrlPr>
                          <a:rPr lang="en-US" sz="2000" i="1" dirty="0">
                            <a:solidFill>
                              <a:srgbClr val="836967"/>
                            </a:solidFill>
                            <a:latin typeface="Cambria Math" panose="02040503050406030204" pitchFamily="18" charset="0"/>
                          </a:rPr>
                        </m:ctrlPr>
                      </m:sSubPr>
                      <m:e>
                        <m:r>
                          <a:rPr lang="en-US" sz="2000" i="1" dirty="0">
                            <a:latin typeface="Cambria Math" panose="02040503050406030204" pitchFamily="18" charset="0"/>
                          </a:rPr>
                          <m:t>𝑣</m:t>
                        </m:r>
                      </m:e>
                      <m:sub>
                        <m:acc>
                          <m:accPr>
                            <m:chr m:val="̇"/>
                            <m:ctrlPr>
                              <a:rPr lang="en-US" sz="2000" i="1" dirty="0">
                                <a:solidFill>
                                  <a:srgbClr val="836967"/>
                                </a:solidFill>
                                <a:latin typeface="Cambria Math" panose="02040503050406030204" pitchFamily="18" charset="0"/>
                              </a:rPr>
                            </m:ctrlPr>
                          </m:accPr>
                          <m:e>
                            <m:r>
                              <a:rPr lang="en-US" sz="2000" i="1" dirty="0">
                                <a:solidFill>
                                  <a:srgbClr val="836967"/>
                                </a:solidFill>
                                <a:latin typeface="Cambria Math" panose="02040503050406030204" pitchFamily="18" charset="0"/>
                              </a:rPr>
                              <m:t>𝑖</m:t>
                            </m:r>
                          </m:e>
                        </m:acc>
                      </m:sub>
                    </m:sSub>
                  </m:oMath>
                </a14:m>
                <a:r>
                  <a:rPr lang="en-US" sz="2000" dirty="0"/>
                  <a:t>) = </a:t>
                </a:r>
                <a14:m>
                  <m:oMath xmlns:m="http://schemas.openxmlformats.org/officeDocument/2006/math">
                    <m:r>
                      <a:rPr lang="en-US" sz="2000" i="1" dirty="0">
                        <a:latin typeface="Cambria Math" panose="02040503050406030204" pitchFamily="18" charset="0"/>
                      </a:rPr>
                      <m:t>𝜙</m:t>
                    </m:r>
                  </m:oMath>
                </a14:m>
                <a:r>
                  <a:rPr lang="en-US" sz="2000" dirty="0"/>
                  <a:t>(</a:t>
                </a:r>
                <a14:m>
                  <m:oMath xmlns:m="http://schemas.openxmlformats.org/officeDocument/2006/math">
                    <m:sSub>
                      <m:sSubPr>
                        <m:ctrlPr>
                          <a:rPr lang="en-US" sz="2000" i="1" dirty="0">
                            <a:solidFill>
                              <a:srgbClr val="836967"/>
                            </a:solidFill>
                            <a:latin typeface="Cambria Math" panose="02040503050406030204" pitchFamily="18" charset="0"/>
                          </a:rPr>
                        </m:ctrlPr>
                      </m:sSubPr>
                      <m:e>
                        <m:r>
                          <a:rPr lang="en-US" sz="2000" i="1" dirty="0">
                            <a:latin typeface="Cambria Math" panose="02040503050406030204" pitchFamily="18" charset="0"/>
                          </a:rPr>
                          <m:t>𝑣</m:t>
                        </m:r>
                      </m:e>
                      <m:sub>
                        <m:r>
                          <a:rPr lang="en-US" sz="2000" b="0" i="1" dirty="0" smtClean="0">
                            <a:solidFill>
                              <a:srgbClr val="836967"/>
                            </a:solidFill>
                            <a:latin typeface="Cambria Math" panose="02040503050406030204" pitchFamily="18" charset="0"/>
                          </a:rPr>
                          <m:t>𝑗</m:t>
                        </m:r>
                      </m:sub>
                    </m:sSub>
                  </m:oMath>
                </a14:m>
                <a:r>
                  <a:rPr lang="en-US" sz="2000" dirty="0"/>
                  <a:t>) , for any </a:t>
                </a:r>
                <a14:m>
                  <m:oMath xmlns:m="http://schemas.openxmlformats.org/officeDocument/2006/math">
                    <m:sSup>
                      <m:sSupPr>
                        <m:ctrlPr>
                          <a:rPr lang="en-US" sz="2000" b="0" i="1" dirty="0" smtClean="0">
                            <a:solidFill>
                              <a:srgbClr val="836967"/>
                            </a:solidFill>
                            <a:latin typeface="Cambria Math" panose="02040503050406030204" pitchFamily="18" charset="0"/>
                          </a:rPr>
                        </m:ctrlPr>
                      </m:sSupPr>
                      <m:e>
                        <m:r>
                          <a:rPr lang="en-US" sz="2000" b="0" i="0" dirty="0" smtClean="0">
                            <a:solidFill>
                              <a:srgbClr val="836967"/>
                            </a:solidFill>
                            <a:latin typeface="Cambria Math" panose="02040503050406030204" pitchFamily="18" charset="0"/>
                          </a:rPr>
                          <m:t>ⅇ</m:t>
                        </m:r>
                      </m:e>
                      <m:sup>
                        <m:r>
                          <a:rPr lang="en-US" sz="2000" b="0" i="0" dirty="0" smtClean="0">
                            <a:solidFill>
                              <a:srgbClr val="836967"/>
                            </a:solidFill>
                            <a:latin typeface="Cambria Math" panose="02040503050406030204" pitchFamily="18" charset="0"/>
                          </a:rPr>
                          <m:t>𝑙</m:t>
                        </m:r>
                      </m:sup>
                    </m:sSup>
                    <m:r>
                      <a:rPr lang="en-US" sz="2000" b="0" i="0" dirty="0" smtClean="0">
                        <a:solidFill>
                          <a:srgbClr val="836967"/>
                        </a:solidFill>
                        <a:latin typeface="Cambria Math" panose="02040503050406030204" pitchFamily="18" charset="0"/>
                      </a:rPr>
                      <m:t>=(</m:t>
                    </m:r>
                    <m:sSub>
                      <m:sSubPr>
                        <m:ctrlPr>
                          <a:rPr lang="en-US" sz="2000" i="1" dirty="0">
                            <a:solidFill>
                              <a:srgbClr val="836967"/>
                            </a:solidFill>
                            <a:latin typeface="Cambria Math" panose="02040503050406030204" pitchFamily="18" charset="0"/>
                          </a:rPr>
                        </m:ctrlPr>
                      </m:sSubPr>
                      <m:e>
                        <m:r>
                          <a:rPr lang="en-US" sz="2000" i="1" dirty="0">
                            <a:latin typeface="Cambria Math" panose="02040503050406030204" pitchFamily="18" charset="0"/>
                          </a:rPr>
                          <m:t>𝑣</m:t>
                        </m:r>
                      </m:e>
                      <m:sub>
                        <m:acc>
                          <m:accPr>
                            <m:chr m:val="̇"/>
                            <m:ctrlPr>
                              <a:rPr lang="en-US" sz="2000" i="1" dirty="0">
                                <a:solidFill>
                                  <a:srgbClr val="836967"/>
                                </a:solidFill>
                                <a:latin typeface="Cambria Math" panose="02040503050406030204" pitchFamily="18" charset="0"/>
                              </a:rPr>
                            </m:ctrlPr>
                          </m:accPr>
                          <m:e>
                            <m:r>
                              <a:rPr lang="en-US" sz="2000" i="1" dirty="0">
                                <a:solidFill>
                                  <a:srgbClr val="836967"/>
                                </a:solidFill>
                                <a:latin typeface="Cambria Math" panose="02040503050406030204" pitchFamily="18" charset="0"/>
                              </a:rPr>
                              <m:t>𝑖</m:t>
                            </m:r>
                          </m:e>
                        </m:acc>
                      </m:sub>
                    </m:sSub>
                  </m:oMath>
                </a14:m>
                <a:r>
                  <a:rPr lang="en-US" sz="2000" dirty="0"/>
                  <a:t>,</a:t>
                </a:r>
                <a:r>
                  <a:rPr lang="en-US" sz="2000" dirty="0">
                    <a:solidFill>
                      <a:srgbClr val="836967"/>
                    </a:solidFill>
                  </a:rPr>
                  <a:t> </a:t>
                </a:r>
                <a14:m>
                  <m:oMath xmlns:m="http://schemas.openxmlformats.org/officeDocument/2006/math">
                    <m:sSub>
                      <m:sSubPr>
                        <m:ctrlPr>
                          <a:rPr lang="en-US" sz="2000" i="1" dirty="0">
                            <a:solidFill>
                              <a:srgbClr val="836967"/>
                            </a:solidFill>
                            <a:latin typeface="Cambria Math" panose="02040503050406030204" pitchFamily="18" charset="0"/>
                          </a:rPr>
                        </m:ctrlPr>
                      </m:sSubPr>
                      <m:e>
                        <m:r>
                          <a:rPr lang="en-US" sz="2000" i="1" dirty="0">
                            <a:latin typeface="Cambria Math" panose="02040503050406030204" pitchFamily="18" charset="0"/>
                          </a:rPr>
                          <m:t>𝑣</m:t>
                        </m:r>
                      </m:e>
                      <m:sub>
                        <m:r>
                          <a:rPr lang="en-US" sz="2000" b="0" i="1" dirty="0" smtClean="0">
                            <a:solidFill>
                              <a:srgbClr val="836967"/>
                            </a:solidFill>
                            <a:latin typeface="Cambria Math" panose="02040503050406030204" pitchFamily="18" charset="0"/>
                          </a:rPr>
                          <m:t>𝑗</m:t>
                        </m:r>
                      </m:sub>
                    </m:sSub>
                    <m:r>
                      <a:rPr lang="en-US" sz="2000" b="0" i="1" dirty="0" smtClean="0">
                        <a:solidFill>
                          <a:srgbClr val="836967"/>
                        </a:solidFill>
                        <a:latin typeface="Cambria Math" panose="02040503050406030204" pitchFamily="18" charset="0"/>
                      </a:rPr>
                      <m:t>)</m:t>
                    </m:r>
                  </m:oMath>
                </a14:m>
                <a:r>
                  <a:rPr lang="en-US" sz="2000" dirty="0"/>
                  <a:t> </a:t>
                </a:r>
                <a14:m>
                  <m:oMath xmlns:m="http://schemas.openxmlformats.org/officeDocument/2006/math">
                    <m:r>
                      <a:rPr lang="en-US" sz="2000">
                        <a:latin typeface="Cambria Math" panose="02040503050406030204" pitchFamily="18" charset="0"/>
                      </a:rPr>
                      <m:t>∈</m:t>
                    </m:r>
                  </m:oMath>
                </a14:m>
                <a:r>
                  <a:rPr lang="en-US" sz="2000" dirty="0"/>
                  <a:t> E, then </a:t>
                </a:r>
                <a14:m>
                  <m:oMath xmlns:m="http://schemas.openxmlformats.org/officeDocument/2006/math">
                    <m:sSup>
                      <m:sSupPr>
                        <m:ctrlPr>
                          <a:rPr lang="en-US" sz="2000" i="1" dirty="0">
                            <a:solidFill>
                              <a:srgbClr val="836967"/>
                            </a:solidFill>
                            <a:latin typeface="Cambria Math" panose="02040503050406030204" pitchFamily="18" charset="0"/>
                          </a:rPr>
                        </m:ctrlPr>
                      </m:sSupPr>
                      <m:e>
                        <m:r>
                          <a:rPr lang="en-US" sz="2000" i="1" dirty="0">
                            <a:latin typeface="Cambria Math" panose="02040503050406030204" pitchFamily="18" charset="0"/>
                          </a:rPr>
                          <m:t>𝜙</m:t>
                        </m:r>
                      </m:e>
                      <m:sup>
                        <m:r>
                          <a:rPr lang="en-US" sz="2000" dirty="0">
                            <a:latin typeface="Cambria Math" panose="02040503050406030204" pitchFamily="18" charset="0"/>
                          </a:rPr>
                          <m:t>′</m:t>
                        </m:r>
                      </m:sup>
                    </m:sSup>
                    <m:r>
                      <a:rPr lang="en-US" sz="2000" i="1" dirty="0">
                        <a:latin typeface="Cambria Math" panose="02040503050406030204" pitchFamily="18" charset="0"/>
                      </a:rPr>
                      <m:t> </m:t>
                    </m:r>
                  </m:oMath>
                </a14:m>
                <a:r>
                  <a:rPr lang="en-US" sz="2000" dirty="0"/>
                  <a:t>must assign a different color to each </a:t>
                </a:r>
                <a14:m>
                  <m:oMath xmlns:m="http://schemas.openxmlformats.org/officeDocument/2006/math">
                    <m:sSubSup>
                      <m:sSubSupPr>
                        <m:ctrlPr>
                          <a:rPr lang="en-US" sz="2000" i="1">
                            <a:solidFill>
                              <a:srgbClr val="836967"/>
                            </a:solidFill>
                            <a:latin typeface="Cambria Math" panose="02040503050406030204" pitchFamily="18" charset="0"/>
                          </a:rPr>
                        </m:ctrlPr>
                      </m:sSubSupPr>
                      <m:e>
                        <m:r>
                          <a:rPr lang="en-US" sz="2000" i="1">
                            <a:latin typeface="Cambria Math" panose="02040503050406030204" pitchFamily="18" charset="0"/>
                          </a:rPr>
                          <m:t>𝑤</m:t>
                        </m:r>
                      </m:e>
                      <m:sub>
                        <m:r>
                          <a:rPr lang="en-US" sz="2000" b="0" i="1" smtClean="0">
                            <a:latin typeface="Cambria Math" panose="02040503050406030204" pitchFamily="18" charset="0"/>
                          </a:rPr>
                          <m:t>𝑘</m:t>
                        </m:r>
                      </m:sub>
                      <m:sup>
                        <m:r>
                          <a:rPr lang="en-US" sz="2000" i="1">
                            <a:latin typeface="Cambria Math" panose="02040503050406030204" pitchFamily="18" charset="0"/>
                          </a:rPr>
                          <m:t>𝑙</m:t>
                        </m:r>
                      </m:sup>
                    </m:sSubSup>
                  </m:oMath>
                </a14:m>
                <a:r>
                  <a:rPr lang="en-US" sz="2000" dirty="0"/>
                  <a:t> where </a:t>
                </a:r>
                <a14:m>
                  <m:oMath xmlns:m="http://schemas.openxmlformats.org/officeDocument/2006/math">
                    <m:r>
                      <a:rPr lang="en-US" sz="2000" dirty="0">
                        <a:latin typeface="Cambria Math" panose="02040503050406030204" pitchFamily="18" charset="0"/>
                      </a:rPr>
                      <m:t>1≤</m:t>
                    </m:r>
                    <m:r>
                      <m:rPr>
                        <m:sty m:val="p"/>
                      </m:rPr>
                      <a:rPr lang="en-US" sz="2000" b="0" i="0" dirty="0" smtClean="0">
                        <a:latin typeface="Cambria Math" panose="02040503050406030204" pitchFamily="18" charset="0"/>
                      </a:rPr>
                      <m:t>k</m:t>
                    </m:r>
                    <m:r>
                      <a:rPr lang="en-US" sz="2000" dirty="0">
                        <a:latin typeface="Cambria Math" panose="02040503050406030204" pitchFamily="18" charset="0"/>
                      </a:rPr>
                      <m:t>≤</m:t>
                    </m:r>
                    <m:r>
                      <m:rPr>
                        <m:sty m:val="p"/>
                      </m:rPr>
                      <a:rPr lang="en-US" sz="2000" dirty="0">
                        <a:latin typeface="Cambria Math" panose="02040503050406030204" pitchFamily="18" charset="0"/>
                      </a:rPr>
                      <m:t>p</m:t>
                    </m:r>
                  </m:oMath>
                </a14:m>
                <a:r>
                  <a:rPr lang="en-US" sz="2000" dirty="0"/>
                  <a:t> ; otherwise, there is a bi-colored cycle in </a:t>
                </a:r>
                <a14:m>
                  <m:oMath xmlns:m="http://schemas.openxmlformats.org/officeDocument/2006/math">
                    <m:sSubSup>
                      <m:sSubSupPr>
                        <m:ctrlPr>
                          <a:rPr lang="en-US" sz="2000" i="1" smtClean="0">
                            <a:solidFill>
                              <a:srgbClr val="836967"/>
                            </a:solidFill>
                            <a:latin typeface="Cambria Math" panose="02040503050406030204" pitchFamily="18" charset="0"/>
                          </a:rPr>
                        </m:ctrlPr>
                      </m:sSubSupPr>
                      <m:e>
                        <m:r>
                          <a:rPr lang="en-US" sz="2000" b="0" i="1" smtClean="0">
                            <a:solidFill>
                              <a:srgbClr val="836967"/>
                            </a:solidFill>
                            <a:latin typeface="Cambria Math" panose="02040503050406030204" pitchFamily="18" charset="0"/>
                          </a:rPr>
                          <m:t>𝐺</m:t>
                        </m:r>
                      </m:e>
                      <m:sub>
                        <m:r>
                          <a:rPr lang="en-US" sz="2000" i="1" smtClean="0">
                            <a:latin typeface="Cambria Math" panose="02040503050406030204" pitchFamily="18" charset="0"/>
                          </a:rPr>
                          <m:t>𝑙</m:t>
                        </m:r>
                      </m:sub>
                      <m:sup>
                        <m:r>
                          <a:rPr lang="en-US" sz="2000" i="0" smtClean="0">
                            <a:latin typeface="Cambria Math" panose="02040503050406030204" pitchFamily="18" charset="0"/>
                          </a:rPr>
                          <m:t>′</m:t>
                        </m:r>
                      </m:sup>
                    </m:sSubSup>
                  </m:oMath>
                </a14:m>
                <a:r>
                  <a:rPr lang="en-US" sz="2000" dirty="0"/>
                  <a:t>. But it follows that </a:t>
                </a:r>
                <a14:m>
                  <m:oMath xmlns:m="http://schemas.openxmlformats.org/officeDocument/2006/math">
                    <m:sSup>
                      <m:sSupPr>
                        <m:ctrlPr>
                          <a:rPr lang="en-US" sz="2000" i="1" dirty="0">
                            <a:solidFill>
                              <a:srgbClr val="836967"/>
                            </a:solidFill>
                            <a:latin typeface="Cambria Math" panose="02040503050406030204" pitchFamily="18" charset="0"/>
                          </a:rPr>
                        </m:ctrlPr>
                      </m:sSupPr>
                      <m:e>
                        <m:r>
                          <a:rPr lang="en-US" sz="2000" i="1" dirty="0">
                            <a:latin typeface="Cambria Math" panose="02040503050406030204" pitchFamily="18" charset="0"/>
                          </a:rPr>
                          <m:t>𝜙</m:t>
                        </m:r>
                      </m:e>
                      <m:sup>
                        <m:r>
                          <a:rPr lang="en-US" sz="2000" dirty="0">
                            <a:latin typeface="Cambria Math" panose="02040503050406030204" pitchFamily="18" charset="0"/>
                          </a:rPr>
                          <m:t>′</m:t>
                        </m:r>
                      </m:sup>
                    </m:sSup>
                    <m:r>
                      <a:rPr lang="en-US" sz="2000" i="1" dirty="0">
                        <a:latin typeface="Cambria Math" panose="02040503050406030204" pitchFamily="18" charset="0"/>
                      </a:rPr>
                      <m:t> </m:t>
                    </m:r>
                  </m:oMath>
                </a14:m>
                <a:r>
                  <a:rPr lang="en-US" sz="2000" dirty="0"/>
                  <a:t>uses at least p+1 colors which contradicts the hypothesis that </a:t>
                </a:r>
                <a14:m>
                  <m:oMath xmlns:m="http://schemas.openxmlformats.org/officeDocument/2006/math">
                    <m:sSup>
                      <m:sSupPr>
                        <m:ctrlPr>
                          <a:rPr lang="en-US" sz="2000" i="1" dirty="0">
                            <a:solidFill>
                              <a:srgbClr val="836967"/>
                            </a:solidFill>
                            <a:latin typeface="Cambria Math" panose="02040503050406030204" pitchFamily="18" charset="0"/>
                          </a:rPr>
                        </m:ctrlPr>
                      </m:sSupPr>
                      <m:e>
                        <m:r>
                          <a:rPr lang="en-US" sz="2000" i="1" dirty="0">
                            <a:latin typeface="Cambria Math" panose="02040503050406030204" pitchFamily="18" charset="0"/>
                          </a:rPr>
                          <m:t>𝜙</m:t>
                        </m:r>
                      </m:e>
                      <m:sup>
                        <m:r>
                          <a:rPr lang="en-US" sz="2000" dirty="0">
                            <a:latin typeface="Cambria Math" panose="02040503050406030204" pitchFamily="18" charset="0"/>
                          </a:rPr>
                          <m:t>′</m:t>
                        </m:r>
                      </m:sup>
                    </m:sSup>
                  </m:oMath>
                </a14:m>
                <a:r>
                  <a:rPr lang="en-US" sz="2000" dirty="0"/>
                  <a:t> is acyclic p-colorable. </a:t>
                </a:r>
                <a:br>
                  <a:rPr lang="en-US" sz="2000" dirty="0"/>
                </a:br>
                <a:br>
                  <a:rPr lang="en-US" sz="2000" dirty="0"/>
                </a:br>
                <a:br>
                  <a:rPr lang="en-US" sz="2000" dirty="0"/>
                </a:br>
                <a:r>
                  <a:rPr lang="en-US" sz="2000" dirty="0"/>
                  <a:t>So, we can conclude that, if G’ can be assigned an acyclic p-coloring, then G will also be a p-coloring. [Proved]</a:t>
                </a:r>
                <a:br>
                  <a:rPr lang="en-US" i="1" dirty="0">
                    <a:latin typeface="Cambria Math" panose="02040503050406030204" pitchFamily="18" charset="0"/>
                  </a:rPr>
                </a:br>
                <a:br>
                  <a:rPr lang="en-US" dirty="0"/>
                </a:br>
                <a:endParaRPr lang="en-US" dirty="0"/>
              </a:p>
            </p:txBody>
          </p:sp>
        </mc:Choice>
        <mc:Fallback xmlns="">
          <p:sp>
            <p:nvSpPr>
              <p:cNvPr id="6" name="TextBox 5">
                <a:extLst>
                  <a:ext uri="{FF2B5EF4-FFF2-40B4-BE49-F238E27FC236}">
                    <a16:creationId xmlns:a16="http://schemas.microsoft.com/office/drawing/2014/main" id="{EB94DF1F-3D71-93CE-7EAE-E4B07147B08D}"/>
                  </a:ext>
                </a:extLst>
              </p:cNvPr>
              <p:cNvSpPr txBox="1">
                <a:spLocks noRot="1" noChangeAspect="1" noMove="1" noResize="1" noEditPoints="1" noAdjustHandles="1" noChangeArrowheads="1" noChangeShapeType="1" noTextEdit="1"/>
              </p:cNvSpPr>
              <p:nvPr/>
            </p:nvSpPr>
            <p:spPr>
              <a:xfrm>
                <a:off x="1033051" y="2809251"/>
                <a:ext cx="9897928" cy="2825453"/>
              </a:xfrm>
              <a:prstGeom prst="rect">
                <a:avLst/>
              </a:prstGeom>
              <a:blipFill>
                <a:blip r:embed="rId2"/>
                <a:stretch>
                  <a:fillRect l="-616" t="-129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589C4425-D5B5-85F7-87AB-DD291D1311DE}"/>
                  </a:ext>
                </a:extLst>
              </p:cNvPr>
              <p:cNvSpPr txBox="1"/>
              <p:nvPr/>
            </p:nvSpPr>
            <p:spPr>
              <a:xfrm>
                <a:off x="3121106" y="5634704"/>
                <a:ext cx="6098018" cy="490199"/>
              </a:xfrm>
              <a:prstGeom prst="rect">
                <a:avLst/>
              </a:prstGeom>
              <a:noFill/>
            </p:spPr>
            <p:txBody>
              <a:bodyPr wrap="square">
                <a:spAutoFit/>
              </a:bodyPr>
              <a:lstStyle/>
              <a:p>
                <a:r>
                  <a:rPr lang="en-US" sz="2400" dirty="0"/>
                  <a:t>So, p-coloring  </a:t>
                </a:r>
                <a14:m>
                  <m:oMath xmlns:m="http://schemas.openxmlformats.org/officeDocument/2006/math">
                    <m:sSub>
                      <m:sSubPr>
                        <m:ctrlPr>
                          <a:rPr lang="en-US" sz="2400" i="1" dirty="0" smtClean="0">
                            <a:solidFill>
                              <a:srgbClr val="836967"/>
                            </a:solidFill>
                            <a:latin typeface="Cambria Math" panose="02040503050406030204" pitchFamily="18" charset="0"/>
                          </a:rPr>
                        </m:ctrlPr>
                      </m:sSubPr>
                      <m:e>
                        <m:r>
                          <a:rPr lang="en-US" sz="2400" b="0" i="1" dirty="0" smtClean="0">
                            <a:solidFill>
                              <a:srgbClr val="836967"/>
                            </a:solidFill>
                            <a:latin typeface="Cambria Math" panose="02040503050406030204" pitchFamily="18" charset="0"/>
                          </a:rPr>
                          <m:t>≤</m:t>
                        </m:r>
                      </m:e>
                      <m:sub>
                        <m:r>
                          <a:rPr lang="en-US" sz="2400" i="1" dirty="0">
                            <a:latin typeface="Cambria Math" panose="02040503050406030204" pitchFamily="18" charset="0"/>
                          </a:rPr>
                          <m:t>𝑝</m:t>
                        </m:r>
                      </m:sub>
                    </m:sSub>
                  </m:oMath>
                </a14:m>
                <a:r>
                  <a:rPr lang="en-US" sz="2400" dirty="0"/>
                  <a:t> Acyclic p-coloring  </a:t>
                </a:r>
              </a:p>
            </p:txBody>
          </p:sp>
        </mc:Choice>
        <mc:Fallback xmlns="">
          <p:sp>
            <p:nvSpPr>
              <p:cNvPr id="8" name="TextBox 7">
                <a:extLst>
                  <a:ext uri="{FF2B5EF4-FFF2-40B4-BE49-F238E27FC236}">
                    <a16:creationId xmlns:a16="http://schemas.microsoft.com/office/drawing/2014/main" id="{589C4425-D5B5-85F7-87AB-DD291D1311DE}"/>
                  </a:ext>
                </a:extLst>
              </p:cNvPr>
              <p:cNvSpPr txBox="1">
                <a:spLocks noRot="1" noChangeAspect="1" noMove="1" noResize="1" noEditPoints="1" noAdjustHandles="1" noChangeArrowheads="1" noChangeShapeType="1" noTextEdit="1"/>
              </p:cNvSpPr>
              <p:nvPr/>
            </p:nvSpPr>
            <p:spPr>
              <a:xfrm>
                <a:off x="3121106" y="5634704"/>
                <a:ext cx="6098018" cy="490199"/>
              </a:xfrm>
              <a:prstGeom prst="rect">
                <a:avLst/>
              </a:prstGeom>
              <a:blipFill>
                <a:blip r:embed="rId3"/>
                <a:stretch>
                  <a:fillRect l="-1600" t="-9877" b="-20988"/>
                </a:stretch>
              </a:blipFill>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6ED4AD38-2C9D-8911-3623-15AC577190E8}"/>
              </a:ext>
            </a:extLst>
          </p:cNvPr>
          <p:cNvSpPr>
            <a:spLocks noGrp="1"/>
          </p:cNvSpPr>
          <p:nvPr>
            <p:ph type="sldNum" sz="quarter" idx="4"/>
          </p:nvPr>
        </p:nvSpPr>
        <p:spPr/>
        <p:txBody>
          <a:bodyPr/>
          <a:lstStyle/>
          <a:p>
            <a:fld id="{58FB4751-880F-D840-AAA9-3A15815CC996}" type="slidenum">
              <a:rPr lang="en-US" smtClean="0"/>
              <a:pPr/>
              <a:t>10</a:t>
            </a:fld>
            <a:endParaRPr lang="en-US" dirty="0"/>
          </a:p>
        </p:txBody>
      </p:sp>
      <p:pic>
        <p:nvPicPr>
          <p:cNvPr id="3" name="Picture 2">
            <a:extLst>
              <a:ext uri="{FF2B5EF4-FFF2-40B4-BE49-F238E27FC236}">
                <a16:creationId xmlns:a16="http://schemas.microsoft.com/office/drawing/2014/main" id="{7A15E9CF-E408-240D-E43B-814AAB43168E}"/>
              </a:ext>
            </a:extLst>
          </p:cNvPr>
          <p:cNvPicPr>
            <a:picLocks noChangeAspect="1"/>
          </p:cNvPicPr>
          <p:nvPr/>
        </p:nvPicPr>
        <p:blipFill>
          <a:blip r:embed="rId4"/>
          <a:stretch>
            <a:fillRect/>
          </a:stretch>
        </p:blipFill>
        <p:spPr>
          <a:xfrm>
            <a:off x="3547909" y="651587"/>
            <a:ext cx="3957681" cy="1685039"/>
          </a:xfrm>
          <a:prstGeom prst="rect">
            <a:avLst/>
          </a:prstGeom>
        </p:spPr>
      </p:pic>
    </p:spTree>
    <p:extLst>
      <p:ext uri="{BB962C8B-B14F-4D97-AF65-F5344CB8AC3E}">
        <p14:creationId xmlns:p14="http://schemas.microsoft.com/office/powerpoint/2010/main" val="7318505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DC3CA5-2B45-4B86-DDEF-D2B9C961A11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B23E2AF-D6E7-0601-EA51-2EEF34DA41D0}"/>
              </a:ext>
            </a:extLst>
          </p:cNvPr>
          <p:cNvSpPr>
            <a:spLocks noGrp="1"/>
          </p:cNvSpPr>
          <p:nvPr>
            <p:ph sz="quarter" idx="10"/>
          </p:nvPr>
        </p:nvSpPr>
        <p:spPr>
          <a:xfrm>
            <a:off x="5412509" y="3158646"/>
            <a:ext cx="9289336" cy="1327818"/>
          </a:xfrm>
        </p:spPr>
        <p:txBody>
          <a:bodyPr>
            <a:normAutofit/>
          </a:bodyPr>
          <a:lstStyle/>
          <a:p>
            <a:pPr marL="0" indent="0">
              <a:buNone/>
            </a:pPr>
            <a:r>
              <a:rPr lang="en-US" sz="3600" dirty="0"/>
              <a:t>ID: 1905085</a:t>
            </a:r>
          </a:p>
          <a:p>
            <a:pPr marL="0" indent="0">
              <a:buNone/>
            </a:pPr>
            <a:r>
              <a:rPr lang="en-US" sz="3600" dirty="0"/>
              <a:t>Name: MD </a:t>
            </a:r>
            <a:r>
              <a:rPr lang="en-US" sz="3600" dirty="0" err="1"/>
              <a:t>Hasibul</a:t>
            </a:r>
            <a:r>
              <a:rPr lang="en-US" sz="3600" dirty="0"/>
              <a:t> Hasan</a:t>
            </a:r>
          </a:p>
        </p:txBody>
      </p:sp>
      <p:sp>
        <p:nvSpPr>
          <p:cNvPr id="5" name="Slide Number Placeholder 4">
            <a:extLst>
              <a:ext uri="{FF2B5EF4-FFF2-40B4-BE49-F238E27FC236}">
                <a16:creationId xmlns:a16="http://schemas.microsoft.com/office/drawing/2014/main" id="{9442D229-D3EB-A954-E429-412C55C955CA}"/>
              </a:ext>
            </a:extLst>
          </p:cNvPr>
          <p:cNvSpPr>
            <a:spLocks noGrp="1"/>
          </p:cNvSpPr>
          <p:nvPr>
            <p:ph type="sldNum" sz="quarter" idx="4"/>
          </p:nvPr>
        </p:nvSpPr>
        <p:spPr/>
        <p:txBody>
          <a:bodyPr/>
          <a:lstStyle/>
          <a:p>
            <a:fld id="{58FB4751-880F-D840-AAA9-3A15815CC996}" type="slidenum">
              <a:rPr lang="en-US" smtClean="0"/>
              <a:pPr/>
              <a:t>11</a:t>
            </a:fld>
            <a:endParaRPr lang="en-US" dirty="0"/>
          </a:p>
        </p:txBody>
      </p:sp>
    </p:spTree>
    <p:extLst>
      <p:ext uri="{BB962C8B-B14F-4D97-AF65-F5344CB8AC3E}">
        <p14:creationId xmlns:p14="http://schemas.microsoft.com/office/powerpoint/2010/main" val="20145956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FD8D4E-78E0-7CCF-6E62-C8A70E296B46}"/>
              </a:ext>
            </a:extLst>
          </p:cNvPr>
          <p:cNvSpPr>
            <a:spLocks noGrp="1"/>
          </p:cNvSpPr>
          <p:nvPr>
            <p:ph type="title"/>
          </p:nvPr>
        </p:nvSpPr>
        <p:spPr/>
        <p:txBody>
          <a:bodyPr/>
          <a:lstStyle/>
          <a:p>
            <a:r>
              <a:rPr lang="en-US" dirty="0"/>
              <a:t>Exact Algorithm</a:t>
            </a:r>
          </a:p>
        </p:txBody>
      </p:sp>
      <p:sp>
        <p:nvSpPr>
          <p:cNvPr id="3" name="Content Placeholder 2">
            <a:extLst>
              <a:ext uri="{FF2B5EF4-FFF2-40B4-BE49-F238E27FC236}">
                <a16:creationId xmlns:a16="http://schemas.microsoft.com/office/drawing/2014/main" id="{5CEBB81A-1B7D-94D2-2FC1-4682003FAD98}"/>
              </a:ext>
            </a:extLst>
          </p:cNvPr>
          <p:cNvSpPr>
            <a:spLocks noGrp="1"/>
          </p:cNvSpPr>
          <p:nvPr>
            <p:ph sz="quarter" idx="10"/>
          </p:nvPr>
        </p:nvSpPr>
        <p:spPr>
          <a:xfrm>
            <a:off x="1381187" y="3429000"/>
            <a:ext cx="10021058" cy="1440358"/>
          </a:xfrm>
        </p:spPr>
        <p:txBody>
          <a:bodyPr>
            <a:normAutofit/>
          </a:bodyPr>
          <a:lstStyle/>
          <a:p>
            <a:r>
              <a:rPr lang="en-US" dirty="0"/>
              <a:t>Try to color the uncolored vertices from the color set. </a:t>
            </a:r>
          </a:p>
          <a:p>
            <a:r>
              <a:rPr lang="en-US" dirty="0"/>
              <a:t>If a conflict occurs (i.e., two adjacent vertices have the same color or violates acyclic condition) then backtrack</a:t>
            </a:r>
          </a:p>
        </p:txBody>
      </p:sp>
      <p:sp>
        <p:nvSpPr>
          <p:cNvPr id="5" name="Slide Number Placeholder 4">
            <a:extLst>
              <a:ext uri="{FF2B5EF4-FFF2-40B4-BE49-F238E27FC236}">
                <a16:creationId xmlns:a16="http://schemas.microsoft.com/office/drawing/2014/main" id="{E0B34B7A-6D15-20ED-BD2B-F895B43A34D5}"/>
              </a:ext>
            </a:extLst>
          </p:cNvPr>
          <p:cNvSpPr>
            <a:spLocks noGrp="1"/>
          </p:cNvSpPr>
          <p:nvPr>
            <p:ph type="sldNum" sz="quarter" idx="4"/>
          </p:nvPr>
        </p:nvSpPr>
        <p:spPr/>
        <p:txBody>
          <a:bodyPr/>
          <a:lstStyle/>
          <a:p>
            <a:fld id="{58FB4751-880F-D840-AAA9-3A15815CC996}" type="slidenum">
              <a:rPr lang="en-US" smtClean="0"/>
              <a:pPr/>
              <a:t>12</a:t>
            </a:fld>
            <a:endParaRPr lang="en-US" dirty="0"/>
          </a:p>
        </p:txBody>
      </p:sp>
      <p:sp>
        <p:nvSpPr>
          <p:cNvPr id="7" name="TextBox 6">
            <a:extLst>
              <a:ext uri="{FF2B5EF4-FFF2-40B4-BE49-F238E27FC236}">
                <a16:creationId xmlns:a16="http://schemas.microsoft.com/office/drawing/2014/main" id="{64C337AC-5F21-F9FC-CDFB-836CDBCA016A}"/>
              </a:ext>
            </a:extLst>
          </p:cNvPr>
          <p:cNvSpPr txBox="1"/>
          <p:nvPr/>
        </p:nvSpPr>
        <p:spPr>
          <a:xfrm>
            <a:off x="1066800" y="2410362"/>
            <a:ext cx="6098018" cy="523220"/>
          </a:xfrm>
          <a:prstGeom prst="rect">
            <a:avLst/>
          </a:prstGeom>
          <a:noFill/>
        </p:spPr>
        <p:txBody>
          <a:bodyPr wrap="square">
            <a:spAutoFit/>
          </a:bodyPr>
          <a:lstStyle/>
          <a:p>
            <a:r>
              <a:rPr lang="en-US" sz="2800" dirty="0"/>
              <a:t>Backtracking:</a:t>
            </a:r>
          </a:p>
        </p:txBody>
      </p:sp>
    </p:spTree>
    <p:extLst>
      <p:ext uri="{BB962C8B-B14F-4D97-AF65-F5344CB8AC3E}">
        <p14:creationId xmlns:p14="http://schemas.microsoft.com/office/powerpoint/2010/main" val="27135724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8509EB-783F-052D-5D0C-099ADFBB186A}"/>
              </a:ext>
            </a:extLst>
          </p:cNvPr>
          <p:cNvSpPr>
            <a:spLocks noGrp="1"/>
          </p:cNvSpPr>
          <p:nvPr>
            <p:ph type="title"/>
          </p:nvPr>
        </p:nvSpPr>
        <p:spPr/>
        <p:txBody>
          <a:bodyPr/>
          <a:lstStyle/>
          <a:p>
            <a:r>
              <a:rPr lang="en-US" dirty="0"/>
              <a:t>Approximation Algorithm</a:t>
            </a:r>
          </a:p>
        </p:txBody>
      </p:sp>
      <p:sp>
        <p:nvSpPr>
          <p:cNvPr id="3" name="Content Placeholder 2">
            <a:extLst>
              <a:ext uri="{FF2B5EF4-FFF2-40B4-BE49-F238E27FC236}">
                <a16:creationId xmlns:a16="http://schemas.microsoft.com/office/drawing/2014/main" id="{7B5B2040-403A-F7E5-AD34-D2F7A1441B6C}"/>
              </a:ext>
            </a:extLst>
          </p:cNvPr>
          <p:cNvSpPr>
            <a:spLocks noGrp="1"/>
          </p:cNvSpPr>
          <p:nvPr>
            <p:ph sz="quarter" idx="10"/>
          </p:nvPr>
        </p:nvSpPr>
        <p:spPr>
          <a:xfrm>
            <a:off x="919514" y="2771131"/>
            <a:ext cx="10352972" cy="3356576"/>
          </a:xfrm>
        </p:spPr>
        <p:txBody>
          <a:bodyPr>
            <a:normAutofit/>
          </a:bodyPr>
          <a:lstStyle/>
          <a:p>
            <a:r>
              <a:rPr lang="en-US" sz="2400" dirty="0"/>
              <a:t>We know efficient heuristic approaches exist for k-coloring problem.</a:t>
            </a:r>
            <a:br>
              <a:rPr lang="en-US" sz="2400" dirty="0"/>
            </a:br>
            <a:br>
              <a:rPr lang="en-US" sz="2400" dirty="0"/>
            </a:br>
            <a:endParaRPr lang="en-US" sz="2400" dirty="0"/>
          </a:p>
          <a:p>
            <a:r>
              <a:rPr lang="en-US" sz="2400" dirty="0"/>
              <a:t>So, we will transform our input graph in such a way that if we k-color the transformed graph</a:t>
            </a:r>
            <a:br>
              <a:rPr lang="en-US" sz="2400" dirty="0"/>
            </a:br>
            <a:r>
              <a:rPr lang="en-US" sz="2400" dirty="0"/>
              <a:t>then our input graph will also be k-acyclic colored</a:t>
            </a:r>
          </a:p>
        </p:txBody>
      </p:sp>
      <p:sp>
        <p:nvSpPr>
          <p:cNvPr id="4" name="Slide Number Placeholder 3">
            <a:extLst>
              <a:ext uri="{FF2B5EF4-FFF2-40B4-BE49-F238E27FC236}">
                <a16:creationId xmlns:a16="http://schemas.microsoft.com/office/drawing/2014/main" id="{2FD717E2-B6D1-3B35-2FAB-C0D70ED73B29}"/>
              </a:ext>
            </a:extLst>
          </p:cNvPr>
          <p:cNvSpPr>
            <a:spLocks noGrp="1"/>
          </p:cNvSpPr>
          <p:nvPr>
            <p:ph type="sldNum" sz="quarter" idx="4"/>
          </p:nvPr>
        </p:nvSpPr>
        <p:spPr/>
        <p:txBody>
          <a:bodyPr/>
          <a:lstStyle/>
          <a:p>
            <a:fld id="{58FB4751-880F-D840-AAA9-3A15815CC996}" type="slidenum">
              <a:rPr lang="en-US" smtClean="0"/>
              <a:pPr/>
              <a:t>13</a:t>
            </a:fld>
            <a:endParaRPr lang="en-US" dirty="0"/>
          </a:p>
        </p:txBody>
      </p:sp>
    </p:spTree>
    <p:extLst>
      <p:ext uri="{BB962C8B-B14F-4D97-AF65-F5344CB8AC3E}">
        <p14:creationId xmlns:p14="http://schemas.microsoft.com/office/powerpoint/2010/main" val="41755839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0AA612B6-554F-6509-9BCA-E20D93A442C2}"/>
              </a:ext>
            </a:extLst>
          </p:cNvPr>
          <p:cNvSpPr>
            <a:spLocks noGrp="1"/>
          </p:cNvSpPr>
          <p:nvPr>
            <p:ph type="title"/>
          </p:nvPr>
        </p:nvSpPr>
        <p:spPr>
          <a:xfrm>
            <a:off x="914400" y="1017345"/>
            <a:ext cx="7534656" cy="914400"/>
          </a:xfrm>
        </p:spPr>
        <p:txBody>
          <a:bodyPr/>
          <a:lstStyle/>
          <a:p>
            <a:r>
              <a:rPr lang="en-US" dirty="0"/>
              <a:t>Graph Transformation</a:t>
            </a:r>
          </a:p>
        </p:txBody>
      </p:sp>
      <p:pic>
        <p:nvPicPr>
          <p:cNvPr id="6" name="Content Placeholder 5">
            <a:extLst>
              <a:ext uri="{FF2B5EF4-FFF2-40B4-BE49-F238E27FC236}">
                <a16:creationId xmlns:a16="http://schemas.microsoft.com/office/drawing/2014/main" id="{DBC3348B-74E5-0802-BFF0-67AD820C54CC}"/>
              </a:ext>
            </a:extLst>
          </p:cNvPr>
          <p:cNvPicPr>
            <a:picLocks noGrp="1" noChangeAspect="1"/>
          </p:cNvPicPr>
          <p:nvPr>
            <p:ph sz="quarter" idx="10"/>
          </p:nvPr>
        </p:nvPicPr>
        <p:blipFill>
          <a:blip r:embed="rId2"/>
          <a:stretch>
            <a:fillRect/>
          </a:stretch>
        </p:blipFill>
        <p:spPr>
          <a:xfrm>
            <a:off x="1830916" y="2449293"/>
            <a:ext cx="7470530" cy="2163686"/>
          </a:xfrm>
        </p:spPr>
      </p:pic>
      <p:sp>
        <p:nvSpPr>
          <p:cNvPr id="2" name="Slide Number Placeholder 1">
            <a:extLst>
              <a:ext uri="{FF2B5EF4-FFF2-40B4-BE49-F238E27FC236}">
                <a16:creationId xmlns:a16="http://schemas.microsoft.com/office/drawing/2014/main" id="{707928E8-DCD3-DA70-0CD0-DFF343831376}"/>
              </a:ext>
            </a:extLst>
          </p:cNvPr>
          <p:cNvSpPr>
            <a:spLocks noGrp="1"/>
          </p:cNvSpPr>
          <p:nvPr>
            <p:ph type="sldNum" sz="quarter" idx="4"/>
          </p:nvPr>
        </p:nvSpPr>
        <p:spPr/>
        <p:txBody>
          <a:bodyPr/>
          <a:lstStyle/>
          <a:p>
            <a:fld id="{58FB4751-880F-D840-AAA9-3A15815CC996}" type="slidenum">
              <a:rPr lang="en-US" smtClean="0"/>
              <a:pPr/>
              <a:t>14</a:t>
            </a:fld>
            <a:endParaRPr lang="en-US" dirty="0"/>
          </a:p>
        </p:txBody>
      </p:sp>
      <p:sp>
        <p:nvSpPr>
          <p:cNvPr id="8" name="TextBox 7">
            <a:extLst>
              <a:ext uri="{FF2B5EF4-FFF2-40B4-BE49-F238E27FC236}">
                <a16:creationId xmlns:a16="http://schemas.microsoft.com/office/drawing/2014/main" id="{6297F981-F8E8-D725-C7CC-11853C966F16}"/>
              </a:ext>
            </a:extLst>
          </p:cNvPr>
          <p:cNvSpPr txBox="1"/>
          <p:nvPr/>
        </p:nvSpPr>
        <p:spPr>
          <a:xfrm>
            <a:off x="2415468" y="5038474"/>
            <a:ext cx="8360707" cy="646331"/>
          </a:xfrm>
          <a:prstGeom prst="rect">
            <a:avLst/>
          </a:prstGeom>
          <a:noFill/>
        </p:spPr>
        <p:txBody>
          <a:bodyPr wrap="square" rtlCol="0">
            <a:spAutoFit/>
          </a:bodyPr>
          <a:lstStyle/>
          <a:p>
            <a:r>
              <a:rPr lang="en-US" dirty="0"/>
              <a:t>Now if we do vertex coloring on this Graph G’ then these coloring will be acyclic coloring on graph G. </a:t>
            </a:r>
          </a:p>
        </p:txBody>
      </p:sp>
    </p:spTree>
    <p:extLst>
      <p:ext uri="{BB962C8B-B14F-4D97-AF65-F5344CB8AC3E}">
        <p14:creationId xmlns:p14="http://schemas.microsoft.com/office/powerpoint/2010/main" val="17711313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D414C04-AEBC-26E6-B306-263763D17D06}"/>
              </a:ext>
            </a:extLst>
          </p:cNvPr>
          <p:cNvSpPr>
            <a:spLocks noGrp="1"/>
          </p:cNvSpPr>
          <p:nvPr>
            <p:ph type="title"/>
          </p:nvPr>
        </p:nvSpPr>
        <p:spPr/>
        <p:txBody>
          <a:bodyPr/>
          <a:lstStyle/>
          <a:p>
            <a:r>
              <a:rPr lang="en-US" dirty="0"/>
              <a:t>Graph Transformation</a:t>
            </a:r>
          </a:p>
        </p:txBody>
      </p:sp>
      <p:pic>
        <p:nvPicPr>
          <p:cNvPr id="6" name="Content Placeholder 5">
            <a:extLst>
              <a:ext uri="{FF2B5EF4-FFF2-40B4-BE49-F238E27FC236}">
                <a16:creationId xmlns:a16="http://schemas.microsoft.com/office/drawing/2014/main" id="{7CEF8479-DDEB-F197-72E0-4D62C11E38DF}"/>
              </a:ext>
            </a:extLst>
          </p:cNvPr>
          <p:cNvPicPr>
            <a:picLocks noGrp="1" noChangeAspect="1"/>
          </p:cNvPicPr>
          <p:nvPr>
            <p:ph sz="quarter" idx="10"/>
          </p:nvPr>
        </p:nvPicPr>
        <p:blipFill>
          <a:blip r:embed="rId2"/>
          <a:stretch>
            <a:fillRect/>
          </a:stretch>
        </p:blipFill>
        <p:spPr>
          <a:xfrm>
            <a:off x="1558413" y="2150380"/>
            <a:ext cx="7470530" cy="2163686"/>
          </a:xfrm>
        </p:spPr>
      </p:pic>
      <p:sp>
        <p:nvSpPr>
          <p:cNvPr id="2" name="Slide Number Placeholder 1">
            <a:extLst>
              <a:ext uri="{FF2B5EF4-FFF2-40B4-BE49-F238E27FC236}">
                <a16:creationId xmlns:a16="http://schemas.microsoft.com/office/drawing/2014/main" id="{FBE3C0B3-A18A-048A-4A3B-614BF7433944}"/>
              </a:ext>
            </a:extLst>
          </p:cNvPr>
          <p:cNvSpPr>
            <a:spLocks noGrp="1"/>
          </p:cNvSpPr>
          <p:nvPr>
            <p:ph type="sldNum" sz="quarter" idx="4"/>
          </p:nvPr>
        </p:nvSpPr>
        <p:spPr/>
        <p:txBody>
          <a:bodyPr/>
          <a:lstStyle/>
          <a:p>
            <a:fld id="{58FB4751-880F-D840-AAA9-3A15815CC996}" type="slidenum">
              <a:rPr lang="en-US" smtClean="0"/>
              <a:pPr/>
              <a:t>15</a:t>
            </a:fld>
            <a:endParaRPr lang="en-US" dirty="0"/>
          </a:p>
        </p:txBody>
      </p:sp>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8FE62A16-B762-A861-681E-D597E2CB48B5}"/>
                  </a:ext>
                </a:extLst>
              </p:cNvPr>
              <p:cNvSpPr txBox="1"/>
              <p:nvPr/>
            </p:nvSpPr>
            <p:spPr>
              <a:xfrm>
                <a:off x="1558413" y="4684093"/>
                <a:ext cx="8360707" cy="967957"/>
              </a:xfrm>
              <a:prstGeom prst="rect">
                <a:avLst/>
              </a:prstGeom>
              <a:noFill/>
            </p:spPr>
            <p:txBody>
              <a:bodyPr wrap="square" rtlCol="0">
                <a:spAutoFit/>
              </a:bodyPr>
              <a:lstStyle/>
              <a:p>
                <a:r>
                  <a:rPr lang="en-US" b="1" dirty="0"/>
                  <a:t>Proof:</a:t>
                </a:r>
                <a:r>
                  <a:rPr lang="en-US" dirty="0"/>
                  <a:t> Suppose in any cycle O in G, let </a:t>
                </a:r>
                <a14:m>
                  <m:oMath xmlns:m="http://schemas.openxmlformats.org/officeDocument/2006/math">
                    <m:sSub>
                      <m:sSubPr>
                        <m:ctrlPr>
                          <a:rPr lang="en-US" sz="1800" i="1" dirty="0" smtClean="0">
                            <a:solidFill>
                              <a:srgbClr val="836967"/>
                            </a:solidFill>
                            <a:latin typeface="Cambria Math" panose="02040503050406030204" pitchFamily="18" charset="0"/>
                          </a:rPr>
                        </m:ctrlPr>
                      </m:sSubPr>
                      <m:e>
                        <m:r>
                          <a:rPr lang="en-US" sz="1800" i="1" dirty="0" smtClean="0">
                            <a:latin typeface="Cambria Math" panose="02040503050406030204" pitchFamily="18" charset="0"/>
                          </a:rPr>
                          <m:t>𝑣</m:t>
                        </m:r>
                      </m:e>
                      <m:sub>
                        <m:acc>
                          <m:accPr>
                            <m:chr m:val="̇"/>
                            <m:ctrlPr>
                              <a:rPr lang="en-US" sz="1800" i="1" dirty="0" smtClean="0">
                                <a:solidFill>
                                  <a:srgbClr val="836967"/>
                                </a:solidFill>
                                <a:latin typeface="Cambria Math" panose="02040503050406030204" pitchFamily="18" charset="0"/>
                              </a:rPr>
                            </m:ctrlPr>
                          </m:accPr>
                          <m:e>
                            <m:r>
                              <a:rPr lang="en-US" sz="1800" b="0" i="1" dirty="0" smtClean="0">
                                <a:solidFill>
                                  <a:srgbClr val="836967"/>
                                </a:solidFill>
                                <a:latin typeface="Cambria Math" panose="02040503050406030204" pitchFamily="18" charset="0"/>
                              </a:rPr>
                              <m:t>𝑖</m:t>
                            </m:r>
                          </m:e>
                        </m:acc>
                      </m:sub>
                    </m:sSub>
                  </m:oMath>
                </a14:m>
                <a:r>
                  <a:rPr lang="en-US" dirty="0"/>
                  <a:t> be the vertex of largest value </a:t>
                </a:r>
                <a14:m>
                  <m:oMath xmlns:m="http://schemas.openxmlformats.org/officeDocument/2006/math">
                    <m:r>
                      <a:rPr lang="en-US" i="1" dirty="0" smtClean="0">
                        <a:latin typeface="Cambria Math" panose="02040503050406030204" pitchFamily="18" charset="0"/>
                      </a:rPr>
                      <m:t>𝜋</m:t>
                    </m:r>
                  </m:oMath>
                </a14:m>
                <a:r>
                  <a:rPr lang="en-US" dirty="0"/>
                  <a:t>. Let </a:t>
                </a:r>
                <a14:m>
                  <m:oMath xmlns:m="http://schemas.openxmlformats.org/officeDocument/2006/math">
                    <m:sSub>
                      <m:sSubPr>
                        <m:ctrlPr>
                          <a:rPr lang="en-US" i="1" dirty="0">
                            <a:solidFill>
                              <a:srgbClr val="836967"/>
                            </a:solidFill>
                            <a:latin typeface="Cambria Math" panose="02040503050406030204" pitchFamily="18" charset="0"/>
                          </a:rPr>
                        </m:ctrlPr>
                      </m:sSubPr>
                      <m:e>
                        <m:r>
                          <a:rPr lang="en-US" i="1" dirty="0">
                            <a:latin typeface="Cambria Math" panose="02040503050406030204" pitchFamily="18" charset="0"/>
                          </a:rPr>
                          <m:t>𝑣</m:t>
                        </m:r>
                      </m:e>
                      <m:sub>
                        <m:r>
                          <a:rPr lang="en-US" b="0" i="1" dirty="0" smtClean="0">
                            <a:solidFill>
                              <a:srgbClr val="836967"/>
                            </a:solidFill>
                            <a:latin typeface="Cambria Math" panose="02040503050406030204" pitchFamily="18" charset="0"/>
                          </a:rPr>
                          <m:t>𝑗</m:t>
                        </m:r>
                      </m:sub>
                    </m:sSub>
                    <m:r>
                      <a:rPr lang="en-US" b="0" i="1" dirty="0" smtClean="0">
                        <a:solidFill>
                          <a:srgbClr val="836967"/>
                        </a:solidFill>
                        <a:latin typeface="Cambria Math" panose="02040503050406030204" pitchFamily="18" charset="0"/>
                      </a:rPr>
                      <m:t>,</m:t>
                    </m:r>
                    <m:sSub>
                      <m:sSubPr>
                        <m:ctrlPr>
                          <a:rPr lang="en-US" i="1" dirty="0">
                            <a:solidFill>
                              <a:srgbClr val="836967"/>
                            </a:solidFill>
                            <a:latin typeface="Cambria Math" panose="02040503050406030204" pitchFamily="18" charset="0"/>
                          </a:rPr>
                        </m:ctrlPr>
                      </m:sSubPr>
                      <m:e>
                        <m:r>
                          <a:rPr lang="en-US" i="1" dirty="0">
                            <a:latin typeface="Cambria Math" panose="02040503050406030204" pitchFamily="18" charset="0"/>
                          </a:rPr>
                          <m:t>𝑣</m:t>
                        </m:r>
                      </m:e>
                      <m:sub>
                        <m:r>
                          <a:rPr lang="en-US" b="0" i="1" dirty="0" smtClean="0">
                            <a:solidFill>
                              <a:srgbClr val="836967"/>
                            </a:solidFill>
                            <a:latin typeface="Cambria Math" panose="02040503050406030204" pitchFamily="18" charset="0"/>
                          </a:rPr>
                          <m:t>𝑘</m:t>
                        </m:r>
                      </m:sub>
                    </m:sSub>
                  </m:oMath>
                </a14:m>
                <a:r>
                  <a:rPr lang="en-US" dirty="0"/>
                  <a:t> denote the </a:t>
                </a:r>
                <a:r>
                  <a:rPr lang="en-US" dirty="0" err="1"/>
                  <a:t>neighbours</a:t>
                </a:r>
                <a:r>
                  <a:rPr lang="en-US" dirty="0"/>
                  <a:t> of </a:t>
                </a:r>
                <a14:m>
                  <m:oMath xmlns:m="http://schemas.openxmlformats.org/officeDocument/2006/math">
                    <m:sSub>
                      <m:sSubPr>
                        <m:ctrlPr>
                          <a:rPr lang="en-US" i="1" dirty="0">
                            <a:solidFill>
                              <a:srgbClr val="836967"/>
                            </a:solidFill>
                            <a:latin typeface="Cambria Math" panose="02040503050406030204" pitchFamily="18" charset="0"/>
                          </a:rPr>
                        </m:ctrlPr>
                      </m:sSubPr>
                      <m:e>
                        <m:r>
                          <a:rPr lang="en-US" i="1" dirty="0">
                            <a:latin typeface="Cambria Math" panose="02040503050406030204" pitchFamily="18" charset="0"/>
                          </a:rPr>
                          <m:t>𝑣</m:t>
                        </m:r>
                      </m:e>
                      <m:sub>
                        <m:r>
                          <a:rPr lang="en-US" b="0" i="1" dirty="0" smtClean="0">
                            <a:latin typeface="Cambria Math" panose="02040503050406030204" pitchFamily="18" charset="0"/>
                          </a:rPr>
                          <m:t>𝑖</m:t>
                        </m:r>
                      </m:sub>
                    </m:sSub>
                  </m:oMath>
                </a14:m>
                <a:r>
                  <a:rPr lang="en-US" dirty="0"/>
                  <a:t> on O. The algo shown above will add edge between </a:t>
                </a:r>
                <a14:m>
                  <m:oMath xmlns:m="http://schemas.openxmlformats.org/officeDocument/2006/math">
                    <m:sSub>
                      <m:sSubPr>
                        <m:ctrlPr>
                          <a:rPr lang="en-US" i="1" dirty="0">
                            <a:solidFill>
                              <a:srgbClr val="836967"/>
                            </a:solidFill>
                            <a:latin typeface="Cambria Math" panose="02040503050406030204" pitchFamily="18" charset="0"/>
                          </a:rPr>
                        </m:ctrlPr>
                      </m:sSubPr>
                      <m:e>
                        <m:r>
                          <a:rPr lang="en-US" i="1" dirty="0">
                            <a:latin typeface="Cambria Math" panose="02040503050406030204" pitchFamily="18" charset="0"/>
                          </a:rPr>
                          <m:t>𝑣</m:t>
                        </m:r>
                      </m:e>
                      <m:sub>
                        <m:r>
                          <a:rPr lang="en-US" i="1" dirty="0">
                            <a:solidFill>
                              <a:srgbClr val="836967"/>
                            </a:solidFill>
                            <a:latin typeface="Cambria Math" panose="02040503050406030204" pitchFamily="18" charset="0"/>
                          </a:rPr>
                          <m:t>𝑗</m:t>
                        </m:r>
                      </m:sub>
                    </m:sSub>
                    <m:r>
                      <a:rPr lang="en-US" b="0" i="1" dirty="0" smtClean="0">
                        <a:solidFill>
                          <a:srgbClr val="836967"/>
                        </a:solidFill>
                        <a:latin typeface="Cambria Math" panose="02040503050406030204" pitchFamily="18" charset="0"/>
                      </a:rPr>
                      <m:t> </m:t>
                    </m:r>
                    <m:r>
                      <a:rPr lang="en-US" b="0" i="1" dirty="0" smtClean="0">
                        <a:solidFill>
                          <a:srgbClr val="836967"/>
                        </a:solidFill>
                        <a:latin typeface="Cambria Math" panose="02040503050406030204" pitchFamily="18" charset="0"/>
                      </a:rPr>
                      <m:t>𝑎𝑛𝑑</m:t>
                    </m:r>
                    <m:r>
                      <a:rPr lang="en-US" b="0" i="1" dirty="0" smtClean="0">
                        <a:solidFill>
                          <a:srgbClr val="836967"/>
                        </a:solidFill>
                        <a:latin typeface="Cambria Math" panose="02040503050406030204" pitchFamily="18" charset="0"/>
                      </a:rPr>
                      <m:t> </m:t>
                    </m:r>
                    <m:sSub>
                      <m:sSubPr>
                        <m:ctrlPr>
                          <a:rPr lang="en-US" i="1" dirty="0">
                            <a:solidFill>
                              <a:srgbClr val="836967"/>
                            </a:solidFill>
                            <a:latin typeface="Cambria Math" panose="02040503050406030204" pitchFamily="18" charset="0"/>
                          </a:rPr>
                        </m:ctrlPr>
                      </m:sSubPr>
                      <m:e>
                        <m:r>
                          <a:rPr lang="en-US" i="1" dirty="0">
                            <a:latin typeface="Cambria Math" panose="02040503050406030204" pitchFamily="18" charset="0"/>
                          </a:rPr>
                          <m:t>𝑣</m:t>
                        </m:r>
                      </m:e>
                      <m:sub>
                        <m:r>
                          <a:rPr lang="en-US" i="1" dirty="0">
                            <a:solidFill>
                              <a:srgbClr val="836967"/>
                            </a:solidFill>
                            <a:latin typeface="Cambria Math" panose="02040503050406030204" pitchFamily="18" charset="0"/>
                          </a:rPr>
                          <m:t>𝑘</m:t>
                        </m:r>
                      </m:sub>
                    </m:sSub>
                  </m:oMath>
                </a14:m>
                <a:r>
                  <a:rPr lang="en-US" dirty="0"/>
                  <a:t> in Graph G’. Hence O will need </a:t>
                </a:r>
                <a:r>
                  <a:rPr lang="en-US" dirty="0" err="1"/>
                  <a:t>atleast</a:t>
                </a:r>
                <a:r>
                  <a:rPr lang="en-US" dirty="0"/>
                  <a:t> 3 colors when G’ will be colored</a:t>
                </a:r>
              </a:p>
            </p:txBody>
          </p:sp>
        </mc:Choice>
        <mc:Fallback>
          <p:sp>
            <p:nvSpPr>
              <p:cNvPr id="9" name="TextBox 8">
                <a:extLst>
                  <a:ext uri="{FF2B5EF4-FFF2-40B4-BE49-F238E27FC236}">
                    <a16:creationId xmlns:a16="http://schemas.microsoft.com/office/drawing/2014/main" id="{8FE62A16-B762-A861-681E-D597E2CB48B5}"/>
                  </a:ext>
                </a:extLst>
              </p:cNvPr>
              <p:cNvSpPr txBox="1">
                <a:spLocks noRot="1" noChangeAspect="1" noMove="1" noResize="1" noEditPoints="1" noAdjustHandles="1" noChangeArrowheads="1" noChangeShapeType="1" noTextEdit="1"/>
              </p:cNvSpPr>
              <p:nvPr/>
            </p:nvSpPr>
            <p:spPr>
              <a:xfrm>
                <a:off x="1558413" y="4684093"/>
                <a:ext cx="8360707" cy="967957"/>
              </a:xfrm>
              <a:prstGeom prst="rect">
                <a:avLst/>
              </a:prstGeom>
              <a:blipFill>
                <a:blip r:embed="rId3"/>
                <a:stretch>
                  <a:fillRect l="-656" t="-3145" b="-628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58ED2B8B-F625-896F-1702-B1658CB02DD0}"/>
                  </a:ext>
                </a:extLst>
              </p:cNvPr>
              <p:cNvSpPr txBox="1"/>
              <p:nvPr/>
            </p:nvSpPr>
            <p:spPr>
              <a:xfrm>
                <a:off x="1632528" y="5777881"/>
                <a:ext cx="9007212" cy="646331"/>
              </a:xfrm>
              <a:prstGeom prst="rect">
                <a:avLst/>
              </a:prstGeom>
              <a:noFill/>
            </p:spPr>
            <p:txBody>
              <a:bodyPr wrap="square">
                <a:spAutoFit/>
              </a:bodyPr>
              <a:lstStyle/>
              <a:p>
                <a:r>
                  <a:rPr lang="en-US" dirty="0"/>
                  <a:t>It is clear that the initial ordering </a:t>
                </a:r>
                <a14:m>
                  <m:oMath xmlns:m="http://schemas.openxmlformats.org/officeDocument/2006/math">
                    <m:r>
                      <a:rPr lang="en-US" i="1" dirty="0" smtClean="0">
                        <a:latin typeface="Cambria Math" panose="02040503050406030204" pitchFamily="18" charset="0"/>
                      </a:rPr>
                      <m:t>𝜋</m:t>
                    </m:r>
                  </m:oMath>
                </a14:m>
                <a:r>
                  <a:rPr lang="en-US" dirty="0"/>
                  <a:t> will affect the resulting graph G’ and consequently the number of colors used. </a:t>
                </a:r>
              </a:p>
            </p:txBody>
          </p:sp>
        </mc:Choice>
        <mc:Fallback xmlns="">
          <p:sp>
            <p:nvSpPr>
              <p:cNvPr id="11" name="TextBox 10">
                <a:extLst>
                  <a:ext uri="{FF2B5EF4-FFF2-40B4-BE49-F238E27FC236}">
                    <a16:creationId xmlns:a16="http://schemas.microsoft.com/office/drawing/2014/main" id="{58ED2B8B-F625-896F-1702-B1658CB02DD0}"/>
                  </a:ext>
                </a:extLst>
              </p:cNvPr>
              <p:cNvSpPr txBox="1">
                <a:spLocks noRot="1" noChangeAspect="1" noMove="1" noResize="1" noEditPoints="1" noAdjustHandles="1" noChangeArrowheads="1" noChangeShapeType="1" noTextEdit="1"/>
              </p:cNvSpPr>
              <p:nvPr/>
            </p:nvSpPr>
            <p:spPr>
              <a:xfrm>
                <a:off x="1632528" y="5777881"/>
                <a:ext cx="9007212" cy="646331"/>
              </a:xfrm>
              <a:prstGeom prst="rect">
                <a:avLst/>
              </a:prstGeom>
              <a:blipFill>
                <a:blip r:embed="rId4"/>
                <a:stretch>
                  <a:fillRect l="-609" t="-5660" b="-14151"/>
                </a:stretch>
              </a:blipFill>
            </p:spPr>
            <p:txBody>
              <a:bodyPr/>
              <a:lstStyle/>
              <a:p>
                <a:r>
                  <a:rPr lang="en-US">
                    <a:noFill/>
                  </a:rPr>
                  <a:t> </a:t>
                </a:r>
              </a:p>
            </p:txBody>
          </p:sp>
        </mc:Fallback>
      </mc:AlternateContent>
    </p:spTree>
    <p:extLst>
      <p:ext uri="{BB962C8B-B14F-4D97-AF65-F5344CB8AC3E}">
        <p14:creationId xmlns:p14="http://schemas.microsoft.com/office/powerpoint/2010/main" val="27662577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5A411B-F158-0F35-7213-F3A56ACBF291}"/>
              </a:ext>
            </a:extLst>
          </p:cNvPr>
          <p:cNvSpPr>
            <a:spLocks noGrp="1"/>
          </p:cNvSpPr>
          <p:nvPr>
            <p:ph type="title"/>
          </p:nvPr>
        </p:nvSpPr>
        <p:spPr/>
        <p:txBody>
          <a:bodyPr/>
          <a:lstStyle/>
          <a:p>
            <a:r>
              <a:rPr lang="en-US" dirty="0"/>
              <a:t>Greedy Coloring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0DB3FF0-041F-618D-22A0-694289D650C8}"/>
                  </a:ext>
                </a:extLst>
              </p:cNvPr>
              <p:cNvSpPr>
                <a:spLocks noGrp="1"/>
              </p:cNvSpPr>
              <p:nvPr>
                <p:ph sz="quarter" idx="10"/>
              </p:nvPr>
            </p:nvSpPr>
            <p:spPr>
              <a:xfrm>
                <a:off x="914400" y="2496355"/>
                <a:ext cx="10548907" cy="1389888"/>
              </a:xfrm>
            </p:spPr>
            <p:txBody>
              <a:bodyPr>
                <a:normAutofit fontScale="92500"/>
              </a:bodyPr>
              <a:lstStyle/>
              <a:p>
                <a:r>
                  <a:rPr lang="en-US" dirty="0"/>
                  <a:t>The greedy algorithm considers the vertices in a </a:t>
                </a:r>
                <a:r>
                  <a:rPr lang="en-US" b="1" dirty="0"/>
                  <a:t>specific order </a:t>
                </a:r>
                <a14:m>
                  <m:oMath xmlns:m="http://schemas.openxmlformats.org/officeDocument/2006/math">
                    <m:sSub>
                      <m:sSubPr>
                        <m:ctrlPr>
                          <a:rPr lang="en-US" i="1" dirty="0" smtClean="0">
                            <a:solidFill>
                              <a:srgbClr val="836967"/>
                            </a:solidFill>
                            <a:latin typeface="Cambria Math" panose="02040503050406030204" pitchFamily="18" charset="0"/>
                          </a:rPr>
                        </m:ctrlPr>
                      </m:sSubPr>
                      <m:e>
                        <m:r>
                          <a:rPr lang="en-US" i="1" dirty="0">
                            <a:latin typeface="Cambria Math" panose="02040503050406030204" pitchFamily="18" charset="0"/>
                          </a:rPr>
                          <m:t>𝑣</m:t>
                        </m:r>
                      </m:e>
                      <m:sub>
                        <m:r>
                          <a:rPr lang="en-US" b="0" i="1" dirty="0" smtClean="0">
                            <a:solidFill>
                              <a:srgbClr val="836967"/>
                            </a:solidFill>
                            <a:latin typeface="Cambria Math" panose="02040503050406030204" pitchFamily="18" charset="0"/>
                          </a:rPr>
                          <m:t>1</m:t>
                        </m:r>
                      </m:sub>
                    </m:sSub>
                  </m:oMath>
                </a14:m>
                <a:r>
                  <a:rPr lang="en-US" dirty="0"/>
                  <a:t>,…,</a:t>
                </a:r>
                <a:r>
                  <a:rPr lang="en-US" dirty="0">
                    <a:solidFill>
                      <a:srgbClr val="836967"/>
                    </a:solidFill>
                  </a:rPr>
                  <a:t> </a:t>
                </a:r>
                <a14:m>
                  <m:oMath xmlns:m="http://schemas.openxmlformats.org/officeDocument/2006/math">
                    <m:sSub>
                      <m:sSubPr>
                        <m:ctrlPr>
                          <a:rPr lang="en-US" i="1" dirty="0">
                            <a:solidFill>
                              <a:srgbClr val="836967"/>
                            </a:solidFill>
                            <a:latin typeface="Cambria Math" panose="02040503050406030204" pitchFamily="18" charset="0"/>
                          </a:rPr>
                        </m:ctrlPr>
                      </m:sSubPr>
                      <m:e>
                        <m:r>
                          <a:rPr lang="en-US" i="1" dirty="0">
                            <a:latin typeface="Cambria Math" panose="02040503050406030204" pitchFamily="18" charset="0"/>
                          </a:rPr>
                          <m:t>𝑣</m:t>
                        </m:r>
                      </m:e>
                      <m:sub>
                        <m:r>
                          <a:rPr lang="en-US" b="0" i="1" dirty="0" smtClean="0">
                            <a:solidFill>
                              <a:srgbClr val="836967"/>
                            </a:solidFill>
                            <a:latin typeface="Cambria Math" panose="02040503050406030204" pitchFamily="18" charset="0"/>
                          </a:rPr>
                          <m:t>𝑛</m:t>
                        </m:r>
                      </m:sub>
                    </m:sSub>
                  </m:oMath>
                </a14:m>
                <a:r>
                  <a:rPr lang="en-US" dirty="0"/>
                  <a:t> and assigns to</a:t>
                </a:r>
                <a:r>
                  <a:rPr lang="en-US" dirty="0">
                    <a:solidFill>
                      <a:srgbClr val="836967"/>
                    </a:solidFill>
                  </a:rPr>
                  <a:t> </a:t>
                </a:r>
                <a14:m>
                  <m:oMath xmlns:m="http://schemas.openxmlformats.org/officeDocument/2006/math">
                    <m:sSub>
                      <m:sSubPr>
                        <m:ctrlPr>
                          <a:rPr lang="en-US" i="1" dirty="0">
                            <a:solidFill>
                              <a:srgbClr val="836967"/>
                            </a:solidFill>
                            <a:latin typeface="Cambria Math" panose="02040503050406030204" pitchFamily="18" charset="0"/>
                          </a:rPr>
                        </m:ctrlPr>
                      </m:sSubPr>
                      <m:e>
                        <m:r>
                          <a:rPr lang="en-US" i="1" dirty="0">
                            <a:latin typeface="Cambria Math" panose="02040503050406030204" pitchFamily="18" charset="0"/>
                          </a:rPr>
                          <m:t>𝑣</m:t>
                        </m:r>
                      </m:e>
                      <m:sub>
                        <m:acc>
                          <m:accPr>
                            <m:chr m:val="̇"/>
                            <m:ctrlPr>
                              <a:rPr lang="en-US" i="1" dirty="0">
                                <a:solidFill>
                                  <a:srgbClr val="836967"/>
                                </a:solidFill>
                                <a:latin typeface="Cambria Math" panose="02040503050406030204" pitchFamily="18" charset="0"/>
                              </a:rPr>
                            </m:ctrlPr>
                          </m:accPr>
                          <m:e>
                            <m:r>
                              <a:rPr lang="en-US" i="1" dirty="0">
                                <a:solidFill>
                                  <a:srgbClr val="836967"/>
                                </a:solidFill>
                                <a:latin typeface="Cambria Math" panose="02040503050406030204" pitchFamily="18" charset="0"/>
                              </a:rPr>
                              <m:t>𝑖</m:t>
                            </m:r>
                          </m:e>
                        </m:acc>
                      </m:sub>
                    </m:sSub>
                  </m:oMath>
                </a14:m>
                <a:r>
                  <a:rPr lang="en-US" dirty="0"/>
                  <a:t> the smallest available color not used by </a:t>
                </a:r>
                <a14:m>
                  <m:oMath xmlns:m="http://schemas.openxmlformats.org/officeDocument/2006/math">
                    <m:sSub>
                      <m:sSubPr>
                        <m:ctrlPr>
                          <a:rPr lang="en-US" i="1" dirty="0">
                            <a:solidFill>
                              <a:srgbClr val="836967"/>
                            </a:solidFill>
                            <a:latin typeface="Cambria Math" panose="02040503050406030204" pitchFamily="18" charset="0"/>
                          </a:rPr>
                        </m:ctrlPr>
                      </m:sSubPr>
                      <m:e>
                        <m:r>
                          <a:rPr lang="en-US" i="1" dirty="0">
                            <a:latin typeface="Cambria Math" panose="02040503050406030204" pitchFamily="18" charset="0"/>
                          </a:rPr>
                          <m:t>𝑣</m:t>
                        </m:r>
                      </m:e>
                      <m:sub>
                        <m:acc>
                          <m:accPr>
                            <m:chr m:val="̇"/>
                            <m:ctrlPr>
                              <a:rPr lang="en-US" i="1" dirty="0">
                                <a:solidFill>
                                  <a:srgbClr val="836967"/>
                                </a:solidFill>
                                <a:latin typeface="Cambria Math" panose="02040503050406030204" pitchFamily="18" charset="0"/>
                              </a:rPr>
                            </m:ctrlPr>
                          </m:accPr>
                          <m:e>
                            <m:r>
                              <a:rPr lang="en-US" i="1" dirty="0">
                                <a:solidFill>
                                  <a:srgbClr val="836967"/>
                                </a:solidFill>
                                <a:latin typeface="Cambria Math" panose="02040503050406030204" pitchFamily="18" charset="0"/>
                              </a:rPr>
                              <m:t>𝑖</m:t>
                            </m:r>
                          </m:e>
                        </m:acc>
                      </m:sub>
                    </m:sSub>
                  </m:oMath>
                </a14:m>
                <a:r>
                  <a:rPr lang="en-US" dirty="0"/>
                  <a:t>’s </a:t>
                </a:r>
                <a:r>
                  <a:rPr lang="en-US" dirty="0" err="1"/>
                  <a:t>neighbour</a:t>
                </a:r>
                <a:r>
                  <a:rPr lang="en-US" dirty="0"/>
                  <a:t> among </a:t>
                </a:r>
                <a14:m>
                  <m:oMath xmlns:m="http://schemas.openxmlformats.org/officeDocument/2006/math">
                    <m:sSub>
                      <m:sSubPr>
                        <m:ctrlPr>
                          <a:rPr lang="en-US" i="1" dirty="0">
                            <a:solidFill>
                              <a:srgbClr val="836967"/>
                            </a:solidFill>
                            <a:latin typeface="Cambria Math" panose="02040503050406030204" pitchFamily="18" charset="0"/>
                          </a:rPr>
                        </m:ctrlPr>
                      </m:sSubPr>
                      <m:e>
                        <m:r>
                          <a:rPr lang="en-US" i="1" dirty="0">
                            <a:latin typeface="Cambria Math" panose="02040503050406030204" pitchFamily="18" charset="0"/>
                          </a:rPr>
                          <m:t>𝑣</m:t>
                        </m:r>
                      </m:e>
                      <m:sub>
                        <m:r>
                          <a:rPr lang="en-US" i="1" dirty="0">
                            <a:solidFill>
                              <a:srgbClr val="836967"/>
                            </a:solidFill>
                            <a:latin typeface="Cambria Math" panose="02040503050406030204" pitchFamily="18" charset="0"/>
                          </a:rPr>
                          <m:t>1</m:t>
                        </m:r>
                      </m:sub>
                    </m:sSub>
                  </m:oMath>
                </a14:m>
                <a:r>
                  <a:rPr lang="en-US" dirty="0"/>
                  <a:t>,…,</a:t>
                </a:r>
                <a:r>
                  <a:rPr lang="en-US" dirty="0">
                    <a:solidFill>
                      <a:srgbClr val="836967"/>
                    </a:solidFill>
                  </a:rPr>
                  <a:t> </a:t>
                </a:r>
                <a14:m>
                  <m:oMath xmlns:m="http://schemas.openxmlformats.org/officeDocument/2006/math">
                    <m:sSub>
                      <m:sSubPr>
                        <m:ctrlPr>
                          <a:rPr lang="en-US" i="1" dirty="0">
                            <a:solidFill>
                              <a:srgbClr val="836967"/>
                            </a:solidFill>
                            <a:latin typeface="Cambria Math" panose="02040503050406030204" pitchFamily="18" charset="0"/>
                          </a:rPr>
                        </m:ctrlPr>
                      </m:sSubPr>
                      <m:e>
                        <m:r>
                          <a:rPr lang="en-US" i="1" dirty="0">
                            <a:latin typeface="Cambria Math" panose="02040503050406030204" pitchFamily="18" charset="0"/>
                          </a:rPr>
                          <m:t>𝑣</m:t>
                        </m:r>
                      </m:e>
                      <m:sub>
                        <m:r>
                          <a:rPr lang="en-US" b="0" i="1" dirty="0" smtClean="0">
                            <a:latin typeface="Cambria Math" panose="02040503050406030204" pitchFamily="18" charset="0"/>
                          </a:rPr>
                          <m:t>𝑖</m:t>
                        </m:r>
                        <m:r>
                          <a:rPr lang="en-US" b="0" i="1" dirty="0" smtClean="0">
                            <a:latin typeface="Cambria Math" panose="02040503050406030204" pitchFamily="18" charset="0"/>
                          </a:rPr>
                          <m:t>−1</m:t>
                        </m:r>
                      </m:sub>
                    </m:sSub>
                  </m:oMath>
                </a14:m>
                <a:r>
                  <a:rPr lang="en-US" dirty="0"/>
                  <a:t>, adding a fresh color if needed. </a:t>
                </a:r>
                <a:br>
                  <a:rPr lang="en-US" dirty="0"/>
                </a:br>
                <a:br>
                  <a:rPr lang="en-US" dirty="0"/>
                </a:br>
                <a:r>
                  <a:rPr lang="en-US" dirty="0"/>
                  <a:t>The quality of the resulting color depends on the chosen ordering.</a:t>
                </a:r>
              </a:p>
            </p:txBody>
          </p:sp>
        </mc:Choice>
        <mc:Fallback xmlns="">
          <p:sp>
            <p:nvSpPr>
              <p:cNvPr id="3" name="Content Placeholder 2">
                <a:extLst>
                  <a:ext uri="{FF2B5EF4-FFF2-40B4-BE49-F238E27FC236}">
                    <a16:creationId xmlns:a16="http://schemas.microsoft.com/office/drawing/2014/main" id="{E0DB3FF0-041F-618D-22A0-694289D650C8}"/>
                  </a:ext>
                </a:extLst>
              </p:cNvPr>
              <p:cNvSpPr>
                <a:spLocks noGrp="1" noRot="1" noChangeAspect="1" noMove="1" noResize="1" noEditPoints="1" noAdjustHandles="1" noChangeArrowheads="1" noChangeShapeType="1" noTextEdit="1"/>
              </p:cNvSpPr>
              <p:nvPr>
                <p:ph sz="quarter" idx="10"/>
              </p:nvPr>
            </p:nvSpPr>
            <p:spPr>
              <a:xfrm>
                <a:off x="914400" y="2496355"/>
                <a:ext cx="10548907" cy="1389888"/>
              </a:xfrm>
              <a:blipFill>
                <a:blip r:embed="rId2"/>
                <a:stretch>
                  <a:fillRect l="-405" t="-2632"/>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7426D8C1-38E9-7972-A8BD-F290BF3B81D2}"/>
              </a:ext>
            </a:extLst>
          </p:cNvPr>
          <p:cNvSpPr>
            <a:spLocks noGrp="1"/>
          </p:cNvSpPr>
          <p:nvPr>
            <p:ph type="sldNum" sz="quarter" idx="4"/>
          </p:nvPr>
        </p:nvSpPr>
        <p:spPr/>
        <p:txBody>
          <a:bodyPr/>
          <a:lstStyle/>
          <a:p>
            <a:fld id="{58FB4751-880F-D840-AAA9-3A15815CC996}" type="slidenum">
              <a:rPr lang="en-US" smtClean="0"/>
              <a:pPr/>
              <a:t>16</a:t>
            </a:fld>
            <a:endParaRPr lang="en-US" dirty="0"/>
          </a:p>
        </p:txBody>
      </p:sp>
      <p:sp>
        <p:nvSpPr>
          <p:cNvPr id="20" name="TextBox 19">
            <a:extLst>
              <a:ext uri="{FF2B5EF4-FFF2-40B4-BE49-F238E27FC236}">
                <a16:creationId xmlns:a16="http://schemas.microsoft.com/office/drawing/2014/main" id="{721C49BE-A3AD-7D59-3F9E-F8F0C2A1440E}"/>
              </a:ext>
            </a:extLst>
          </p:cNvPr>
          <p:cNvSpPr txBox="1"/>
          <p:nvPr/>
        </p:nvSpPr>
        <p:spPr>
          <a:xfrm>
            <a:off x="1183875" y="4033821"/>
            <a:ext cx="9504310" cy="707886"/>
          </a:xfrm>
          <a:prstGeom prst="rect">
            <a:avLst/>
          </a:prstGeom>
          <a:noFill/>
        </p:spPr>
        <p:txBody>
          <a:bodyPr wrap="square">
            <a:spAutoFit/>
          </a:bodyPr>
          <a:lstStyle/>
          <a:p>
            <a:r>
              <a:rPr lang="en-US" sz="2000" dirty="0"/>
              <a:t>For example, Welsh–Powell algorithm sort the vertices in </a:t>
            </a:r>
            <a:r>
              <a:rPr lang="en-US" sz="2000" b="1" dirty="0"/>
              <a:t>descending order</a:t>
            </a:r>
            <a:r>
              <a:rPr lang="en-US" sz="2000" dirty="0"/>
              <a:t> </a:t>
            </a:r>
            <a:r>
              <a:rPr lang="en-US" sz="2000" b="1" dirty="0"/>
              <a:t>based on their degrees</a:t>
            </a:r>
          </a:p>
        </p:txBody>
      </p:sp>
    </p:spTree>
    <p:extLst>
      <p:ext uri="{BB962C8B-B14F-4D97-AF65-F5344CB8AC3E}">
        <p14:creationId xmlns:p14="http://schemas.microsoft.com/office/powerpoint/2010/main" val="12880132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1D9668-F56F-3337-B3CA-80EC41669E56}"/>
              </a:ext>
            </a:extLst>
          </p:cNvPr>
          <p:cNvSpPr>
            <a:spLocks noGrp="1"/>
          </p:cNvSpPr>
          <p:nvPr>
            <p:ph type="title"/>
          </p:nvPr>
        </p:nvSpPr>
        <p:spPr/>
        <p:txBody>
          <a:bodyPr/>
          <a:lstStyle/>
          <a:p>
            <a:r>
              <a:rPr lang="en-US" dirty="0"/>
              <a:t>Heuristic Algorithm</a:t>
            </a:r>
          </a:p>
        </p:txBody>
      </p:sp>
      <p:sp>
        <p:nvSpPr>
          <p:cNvPr id="3" name="Content Placeholder 2">
            <a:extLst>
              <a:ext uri="{FF2B5EF4-FFF2-40B4-BE49-F238E27FC236}">
                <a16:creationId xmlns:a16="http://schemas.microsoft.com/office/drawing/2014/main" id="{AC002DA9-8A8A-BACC-C666-AF1AD65F2C2C}"/>
              </a:ext>
            </a:extLst>
          </p:cNvPr>
          <p:cNvSpPr>
            <a:spLocks noGrp="1"/>
          </p:cNvSpPr>
          <p:nvPr>
            <p:ph sz="quarter" idx="10"/>
          </p:nvPr>
        </p:nvSpPr>
        <p:spPr>
          <a:xfrm>
            <a:off x="1173026" y="2723187"/>
            <a:ext cx="10052344" cy="1383833"/>
          </a:xfrm>
        </p:spPr>
        <p:txBody>
          <a:bodyPr>
            <a:normAutofit lnSpcReduction="10000"/>
          </a:bodyPr>
          <a:lstStyle/>
          <a:p>
            <a:r>
              <a:rPr lang="en-US" b="1" dirty="0"/>
              <a:t>Degree of saturation: </a:t>
            </a:r>
            <a:r>
              <a:rPr lang="en-US" dirty="0"/>
              <a:t>refers to how many </a:t>
            </a:r>
            <a:r>
              <a:rPr lang="en-US" b="1" dirty="0"/>
              <a:t>different colors </a:t>
            </a:r>
            <a:r>
              <a:rPr lang="en-US" dirty="0"/>
              <a:t>are already assigned to a vertex's neighbors. </a:t>
            </a:r>
          </a:p>
          <a:p>
            <a:r>
              <a:rPr lang="en-US" b="1" dirty="0"/>
              <a:t>Algorithm</a:t>
            </a:r>
            <a:r>
              <a:rPr lang="en-US" dirty="0"/>
              <a:t>: Sort the vertices in </a:t>
            </a:r>
            <a:r>
              <a:rPr lang="en-US" b="1" dirty="0"/>
              <a:t>decreasing order of degree of saturation </a:t>
            </a:r>
            <a:r>
              <a:rPr lang="en-US" dirty="0"/>
              <a:t>and assign least possible (lowest numbered) color to the uncolored vertex.</a:t>
            </a:r>
          </a:p>
          <a:p>
            <a:pPr marL="0" indent="0">
              <a:buNone/>
            </a:pPr>
            <a:endParaRPr lang="en-US" b="1" dirty="0"/>
          </a:p>
        </p:txBody>
      </p:sp>
      <p:sp>
        <p:nvSpPr>
          <p:cNvPr id="5" name="Slide Number Placeholder 4">
            <a:extLst>
              <a:ext uri="{FF2B5EF4-FFF2-40B4-BE49-F238E27FC236}">
                <a16:creationId xmlns:a16="http://schemas.microsoft.com/office/drawing/2014/main" id="{6AF38528-DDD4-EAC6-FA94-C37B5A4EB6E8}"/>
              </a:ext>
            </a:extLst>
          </p:cNvPr>
          <p:cNvSpPr>
            <a:spLocks noGrp="1"/>
          </p:cNvSpPr>
          <p:nvPr>
            <p:ph type="sldNum" sz="quarter" idx="4"/>
          </p:nvPr>
        </p:nvSpPr>
        <p:spPr/>
        <p:txBody>
          <a:bodyPr/>
          <a:lstStyle/>
          <a:p>
            <a:fld id="{58FB4751-880F-D840-AAA9-3A15815CC996}" type="slidenum">
              <a:rPr lang="en-US" smtClean="0"/>
              <a:pPr/>
              <a:t>17</a:t>
            </a:fld>
            <a:endParaRPr lang="en-US" dirty="0"/>
          </a:p>
        </p:txBody>
      </p:sp>
      <p:sp>
        <p:nvSpPr>
          <p:cNvPr id="6" name="TextBox 5">
            <a:extLst>
              <a:ext uri="{FF2B5EF4-FFF2-40B4-BE49-F238E27FC236}">
                <a16:creationId xmlns:a16="http://schemas.microsoft.com/office/drawing/2014/main" id="{1D5F0A02-B1B5-6538-38F8-70F4117F3F8E}"/>
              </a:ext>
            </a:extLst>
          </p:cNvPr>
          <p:cNvSpPr txBox="1"/>
          <p:nvPr/>
        </p:nvSpPr>
        <p:spPr>
          <a:xfrm>
            <a:off x="1122815" y="4107020"/>
            <a:ext cx="10152765" cy="1477328"/>
          </a:xfrm>
          <a:prstGeom prst="rect">
            <a:avLst/>
          </a:prstGeom>
          <a:noFill/>
        </p:spPr>
        <p:txBody>
          <a:bodyPr wrap="square">
            <a:spAutoFit/>
          </a:bodyPr>
          <a:lstStyle/>
          <a:p>
            <a:endParaRPr lang="en-US" dirty="0"/>
          </a:p>
          <a:p>
            <a:r>
              <a:rPr lang="en-US" b="1" dirty="0"/>
              <a:t>Key Idea:</a:t>
            </a:r>
            <a:br>
              <a:rPr lang="en-US" b="1" dirty="0"/>
            </a:br>
            <a:endParaRPr lang="en-US" b="1" dirty="0"/>
          </a:p>
          <a:p>
            <a:r>
              <a:rPr lang="en-US" dirty="0"/>
              <a:t>The idea is that vertices with many differently colored neighbors are harder to color because there are fewer color options left. The heuristic prioritizes these "difficult" vertices by coloring them earlier in the process.</a:t>
            </a:r>
          </a:p>
        </p:txBody>
      </p:sp>
      <p:sp>
        <p:nvSpPr>
          <p:cNvPr id="8" name="TextBox 7">
            <a:extLst>
              <a:ext uri="{FF2B5EF4-FFF2-40B4-BE49-F238E27FC236}">
                <a16:creationId xmlns:a16="http://schemas.microsoft.com/office/drawing/2014/main" id="{3D6E866B-4DEF-B83F-4C03-F81BC987817B}"/>
              </a:ext>
            </a:extLst>
          </p:cNvPr>
          <p:cNvSpPr txBox="1"/>
          <p:nvPr/>
        </p:nvSpPr>
        <p:spPr>
          <a:xfrm>
            <a:off x="981011" y="2045163"/>
            <a:ext cx="6697527" cy="461665"/>
          </a:xfrm>
          <a:prstGeom prst="rect">
            <a:avLst/>
          </a:prstGeom>
          <a:noFill/>
        </p:spPr>
        <p:txBody>
          <a:bodyPr wrap="square">
            <a:spAutoFit/>
          </a:bodyPr>
          <a:lstStyle/>
          <a:p>
            <a:pPr marL="0" indent="0">
              <a:buNone/>
            </a:pPr>
            <a:r>
              <a:rPr lang="en-US" sz="2400" b="1" dirty="0" err="1"/>
              <a:t>Dsatur</a:t>
            </a:r>
            <a:r>
              <a:rPr lang="en-US" sz="2400" b="1" dirty="0"/>
              <a:t> Algorithm</a:t>
            </a:r>
            <a:endParaRPr lang="en-US" sz="2400" dirty="0"/>
          </a:p>
        </p:txBody>
      </p:sp>
    </p:spTree>
    <p:extLst>
      <p:ext uri="{BB962C8B-B14F-4D97-AF65-F5344CB8AC3E}">
        <p14:creationId xmlns:p14="http://schemas.microsoft.com/office/powerpoint/2010/main" val="35630378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6658F56B-5CCE-34DD-83CF-78FA2303043D}"/>
              </a:ext>
            </a:extLst>
          </p:cNvPr>
          <p:cNvSpPr>
            <a:spLocks noGrp="1"/>
          </p:cNvSpPr>
          <p:nvPr>
            <p:ph type="title"/>
          </p:nvPr>
        </p:nvSpPr>
        <p:spPr/>
        <p:txBody>
          <a:bodyPr/>
          <a:lstStyle/>
          <a:p>
            <a:r>
              <a:rPr lang="en-US" dirty="0"/>
              <a:t>Heuristic Algorithm</a:t>
            </a:r>
          </a:p>
        </p:txBody>
      </p:sp>
      <p:sp>
        <p:nvSpPr>
          <p:cNvPr id="3" name="Content Placeholder 2">
            <a:extLst>
              <a:ext uri="{FF2B5EF4-FFF2-40B4-BE49-F238E27FC236}">
                <a16:creationId xmlns:a16="http://schemas.microsoft.com/office/drawing/2014/main" id="{DE410956-3BF2-E705-1097-B4C1E6487A54}"/>
              </a:ext>
            </a:extLst>
          </p:cNvPr>
          <p:cNvSpPr>
            <a:spLocks noGrp="1"/>
          </p:cNvSpPr>
          <p:nvPr>
            <p:ph sz="quarter" idx="10"/>
          </p:nvPr>
        </p:nvSpPr>
        <p:spPr>
          <a:xfrm>
            <a:off x="1351478" y="2947455"/>
            <a:ext cx="11040259" cy="1794102"/>
          </a:xfrm>
        </p:spPr>
        <p:txBody>
          <a:bodyPr>
            <a:normAutofit lnSpcReduction="10000"/>
          </a:bodyPr>
          <a:lstStyle/>
          <a:p>
            <a:pPr marL="0" indent="0">
              <a:buNone/>
            </a:pPr>
            <a:r>
              <a:rPr lang="en-US" sz="1800" dirty="0"/>
              <a:t>Constructs each </a:t>
            </a:r>
            <a:r>
              <a:rPr lang="en-US" sz="1800" b="1" dirty="0"/>
              <a:t>color class</a:t>
            </a:r>
            <a:r>
              <a:rPr lang="en-US" sz="1800" dirty="0"/>
              <a:t> (a set of vertices that can all share </a:t>
            </a:r>
            <a:r>
              <a:rPr lang="en-US" sz="1800" b="1" dirty="0"/>
              <a:t>the same color</a:t>
            </a:r>
            <a:r>
              <a:rPr lang="en-US" sz="1800" dirty="0"/>
              <a:t>) one at a time. It does this by iteratively identifying </a:t>
            </a:r>
            <a:r>
              <a:rPr lang="en-US" sz="1800" b="1" dirty="0"/>
              <a:t>maximal independent sets</a:t>
            </a:r>
            <a:r>
              <a:rPr lang="en-US" sz="1800" dirty="0"/>
              <a:t> of vertices from the graph and assigning each set the same color. </a:t>
            </a:r>
            <a:br>
              <a:rPr lang="en-US" sz="1800" dirty="0"/>
            </a:br>
            <a:br>
              <a:rPr lang="en-US" sz="1800" dirty="0"/>
            </a:br>
            <a:r>
              <a:rPr lang="en-US" sz="1800" dirty="0"/>
              <a:t>Then, it removes those vertices from the graph and repeats the process on the remaining subgraph. </a:t>
            </a:r>
            <a:br>
              <a:rPr lang="en-US" sz="1800" dirty="0"/>
            </a:br>
            <a:endParaRPr lang="en-US" sz="1800" dirty="0"/>
          </a:p>
          <a:p>
            <a:pPr marL="0" indent="0">
              <a:buNone/>
            </a:pPr>
            <a:r>
              <a:rPr lang="en-US" sz="1800" dirty="0"/>
              <a:t>The algorithm continues until all vertices have been assigned a color.</a:t>
            </a:r>
            <a:endParaRPr lang="en-US" dirty="0"/>
          </a:p>
        </p:txBody>
      </p:sp>
      <p:sp>
        <p:nvSpPr>
          <p:cNvPr id="2" name="Slide Number Placeholder 1">
            <a:extLst>
              <a:ext uri="{FF2B5EF4-FFF2-40B4-BE49-F238E27FC236}">
                <a16:creationId xmlns:a16="http://schemas.microsoft.com/office/drawing/2014/main" id="{9C0C7966-0F60-128B-9807-DC2D1D12C9AB}"/>
              </a:ext>
            </a:extLst>
          </p:cNvPr>
          <p:cNvSpPr>
            <a:spLocks noGrp="1"/>
          </p:cNvSpPr>
          <p:nvPr>
            <p:ph type="sldNum" sz="quarter" idx="4"/>
          </p:nvPr>
        </p:nvSpPr>
        <p:spPr/>
        <p:txBody>
          <a:bodyPr/>
          <a:lstStyle/>
          <a:p>
            <a:fld id="{58FB4751-880F-D840-AAA9-3A15815CC996}" type="slidenum">
              <a:rPr lang="en-US" smtClean="0"/>
              <a:pPr/>
              <a:t>18</a:t>
            </a:fld>
            <a:endParaRPr lang="en-US" dirty="0"/>
          </a:p>
        </p:txBody>
      </p:sp>
      <p:sp>
        <p:nvSpPr>
          <p:cNvPr id="7" name="TextBox 6">
            <a:extLst>
              <a:ext uri="{FF2B5EF4-FFF2-40B4-BE49-F238E27FC236}">
                <a16:creationId xmlns:a16="http://schemas.microsoft.com/office/drawing/2014/main" id="{95EC95C3-119F-0B74-9AD0-A6F860EB1E6E}"/>
              </a:ext>
            </a:extLst>
          </p:cNvPr>
          <p:cNvSpPr txBox="1"/>
          <p:nvPr/>
        </p:nvSpPr>
        <p:spPr>
          <a:xfrm>
            <a:off x="1024474" y="2106322"/>
            <a:ext cx="6098018" cy="461665"/>
          </a:xfrm>
          <a:prstGeom prst="rect">
            <a:avLst/>
          </a:prstGeom>
          <a:noFill/>
        </p:spPr>
        <p:txBody>
          <a:bodyPr wrap="square">
            <a:spAutoFit/>
          </a:bodyPr>
          <a:lstStyle/>
          <a:p>
            <a:pPr marL="0" indent="0">
              <a:buNone/>
            </a:pPr>
            <a:r>
              <a:rPr lang="en-US" sz="2400" b="1" dirty="0"/>
              <a:t>Recursive Largest First Algorithm:</a:t>
            </a:r>
          </a:p>
        </p:txBody>
      </p:sp>
    </p:spTree>
    <p:extLst>
      <p:ext uri="{BB962C8B-B14F-4D97-AF65-F5344CB8AC3E}">
        <p14:creationId xmlns:p14="http://schemas.microsoft.com/office/powerpoint/2010/main" val="17237598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9E62C-E331-108D-B7C9-CC158409EB21}"/>
              </a:ext>
            </a:extLst>
          </p:cNvPr>
          <p:cNvSpPr>
            <a:spLocks noGrp="1"/>
          </p:cNvSpPr>
          <p:nvPr>
            <p:ph type="title"/>
          </p:nvPr>
        </p:nvSpPr>
        <p:spPr/>
        <p:txBody>
          <a:bodyPr/>
          <a:lstStyle/>
          <a:p>
            <a:r>
              <a:rPr lang="en-US" dirty="0"/>
              <a:t>Experiment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7877C16-C916-64FA-9C17-98B71509ACE7}"/>
                  </a:ext>
                </a:extLst>
              </p:cNvPr>
              <p:cNvSpPr>
                <a:spLocks noGrp="1"/>
              </p:cNvSpPr>
              <p:nvPr>
                <p:ph sz="quarter" idx="10"/>
              </p:nvPr>
            </p:nvSpPr>
            <p:spPr>
              <a:xfrm>
                <a:off x="1669241" y="2677351"/>
                <a:ext cx="7150608" cy="1256410"/>
              </a:xfrm>
            </p:spPr>
            <p:txBody>
              <a:bodyPr/>
              <a:lstStyle/>
              <a:p>
                <a:r>
                  <a:rPr lang="en-US" dirty="0">
                    <a:latin typeface="Gill Sans MT" panose="020B0502020104020203" pitchFamily="34" charset="0"/>
                  </a:rPr>
                  <a:t>We will implement the </a:t>
                </a:r>
                <a:r>
                  <a:rPr lang="en-US" dirty="0" err="1">
                    <a:latin typeface="Gill Sans MT" panose="020B0502020104020203" pitchFamily="34" charset="0"/>
                  </a:rPr>
                  <a:t>Dsatur</a:t>
                </a:r>
                <a:r>
                  <a:rPr lang="en-US" dirty="0">
                    <a:latin typeface="Gill Sans MT" panose="020B0502020104020203" pitchFamily="34" charset="0"/>
                  </a:rPr>
                  <a:t> Heuristic Algorithm for acyclic coloring and determine how the initial ordering of </a:t>
                </a:r>
                <a14:m>
                  <m:oMath xmlns:m="http://schemas.openxmlformats.org/officeDocument/2006/math">
                    <m:r>
                      <a:rPr lang="en-US" i="1" smtClean="0">
                        <a:latin typeface="Cambria Math" panose="02040503050406030204" pitchFamily="18" charset="0"/>
                      </a:rPr>
                      <m:t>𝜋</m:t>
                    </m:r>
                  </m:oMath>
                </a14:m>
                <a:r>
                  <a:rPr lang="en-US" dirty="0">
                    <a:latin typeface="Gill Sans MT" panose="020B0502020104020203" pitchFamily="34" charset="0"/>
                  </a:rPr>
                  <a:t> will affect the number of colors used.</a:t>
                </a:r>
              </a:p>
              <a:p>
                <a:endParaRPr lang="en-US" dirty="0"/>
              </a:p>
            </p:txBody>
          </p:sp>
        </mc:Choice>
        <mc:Fallback xmlns="">
          <p:sp>
            <p:nvSpPr>
              <p:cNvPr id="3" name="Content Placeholder 2">
                <a:extLst>
                  <a:ext uri="{FF2B5EF4-FFF2-40B4-BE49-F238E27FC236}">
                    <a16:creationId xmlns:a16="http://schemas.microsoft.com/office/drawing/2014/main" id="{67877C16-C916-64FA-9C17-98B71509ACE7}"/>
                  </a:ext>
                </a:extLst>
              </p:cNvPr>
              <p:cNvSpPr>
                <a:spLocks noGrp="1" noRot="1" noChangeAspect="1" noMove="1" noResize="1" noEditPoints="1" noAdjustHandles="1" noChangeArrowheads="1" noChangeShapeType="1" noTextEdit="1"/>
              </p:cNvSpPr>
              <p:nvPr>
                <p:ph sz="quarter" idx="10"/>
              </p:nvPr>
            </p:nvSpPr>
            <p:spPr>
              <a:xfrm>
                <a:off x="1669241" y="2677351"/>
                <a:ext cx="7150608" cy="1256410"/>
              </a:xfrm>
              <a:blipFill>
                <a:blip r:embed="rId2"/>
                <a:stretch>
                  <a:fillRect l="-767" t="-2427"/>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6B045ED2-5D58-3A96-65C9-A0D280EC0B4F}"/>
              </a:ext>
            </a:extLst>
          </p:cNvPr>
          <p:cNvSpPr>
            <a:spLocks noGrp="1"/>
          </p:cNvSpPr>
          <p:nvPr>
            <p:ph type="sldNum" sz="quarter" idx="4"/>
          </p:nvPr>
        </p:nvSpPr>
        <p:spPr/>
        <p:txBody>
          <a:bodyPr/>
          <a:lstStyle/>
          <a:p>
            <a:fld id="{58FB4751-880F-D840-AAA9-3A15815CC996}" type="slidenum">
              <a:rPr lang="en-US" smtClean="0"/>
              <a:pPr/>
              <a:t>19</a:t>
            </a:fld>
            <a:endParaRPr lang="en-US" dirty="0"/>
          </a:p>
        </p:txBody>
      </p:sp>
    </p:spTree>
    <p:extLst>
      <p:ext uri="{BB962C8B-B14F-4D97-AF65-F5344CB8AC3E}">
        <p14:creationId xmlns:p14="http://schemas.microsoft.com/office/powerpoint/2010/main" val="26478020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A7BE12AD-D808-BDE0-3EB8-5BC50B1D8474}"/>
              </a:ext>
            </a:extLst>
          </p:cNvPr>
          <p:cNvSpPr>
            <a:spLocks noGrp="1"/>
          </p:cNvSpPr>
          <p:nvPr>
            <p:ph type="title"/>
          </p:nvPr>
        </p:nvSpPr>
        <p:spPr/>
        <p:txBody>
          <a:bodyPr/>
          <a:lstStyle/>
          <a:p>
            <a:r>
              <a:rPr lang="en-US" dirty="0"/>
              <a:t>An interesting result </a:t>
            </a:r>
          </a:p>
        </p:txBody>
      </p:sp>
      <p:sp>
        <p:nvSpPr>
          <p:cNvPr id="4" name="Content Placeholder 3">
            <a:extLst>
              <a:ext uri="{FF2B5EF4-FFF2-40B4-BE49-F238E27FC236}">
                <a16:creationId xmlns:a16="http://schemas.microsoft.com/office/drawing/2014/main" id="{96B96F0B-6D20-29B6-C204-37601A40B818}"/>
              </a:ext>
            </a:extLst>
          </p:cNvPr>
          <p:cNvSpPr>
            <a:spLocks noGrp="1"/>
          </p:cNvSpPr>
          <p:nvPr>
            <p:ph sz="quarter" idx="10"/>
          </p:nvPr>
        </p:nvSpPr>
        <p:spPr>
          <a:xfrm>
            <a:off x="1660693" y="2290420"/>
            <a:ext cx="9021435" cy="3856044"/>
          </a:xfrm>
        </p:spPr>
        <p:txBody>
          <a:bodyPr>
            <a:normAutofit/>
          </a:bodyPr>
          <a:lstStyle/>
          <a:p>
            <a:r>
              <a:rPr lang="en-US" sz="2200" dirty="0"/>
              <a:t>Guillaume et al. Information Processing </a:t>
            </a:r>
            <a:r>
              <a:rPr lang="en-US" sz="2200" dirty="0" err="1"/>
              <a:t>Letters,Volume</a:t>
            </a:r>
            <a:r>
              <a:rPr lang="en-US" sz="2200" dirty="0"/>
              <a:t> 105, Issue 2</a:t>
            </a:r>
          </a:p>
          <a:p>
            <a:pPr marL="0" indent="0">
              <a:buNone/>
            </a:pPr>
            <a:endParaRPr lang="en-US" sz="2200" dirty="0"/>
          </a:p>
          <a:p>
            <a:r>
              <a:rPr lang="en-US" dirty="0"/>
              <a:t>For any graph G of </a:t>
            </a:r>
            <a:r>
              <a:rPr lang="en-US" b="1" dirty="0"/>
              <a:t>maximum degree 5</a:t>
            </a:r>
            <a:r>
              <a:rPr lang="en-US" dirty="0"/>
              <a:t>, a linear-time algorithm exists that </a:t>
            </a:r>
            <a:r>
              <a:rPr lang="en-US" dirty="0" err="1"/>
              <a:t>acyclically</a:t>
            </a:r>
            <a:r>
              <a:rPr lang="en-US" dirty="0"/>
              <a:t> colors G in at most 9 colors.</a:t>
            </a:r>
          </a:p>
          <a:p>
            <a:endParaRPr lang="en-US" dirty="0"/>
          </a:p>
          <a:p>
            <a:r>
              <a:rPr lang="en-US" sz="2200" dirty="0"/>
              <a:t>Key idea:</a:t>
            </a:r>
          </a:p>
          <a:p>
            <a:pPr marL="0" indent="0">
              <a:buNone/>
            </a:pPr>
            <a:r>
              <a:rPr lang="en-US" sz="3200" dirty="0"/>
              <a:t>	</a:t>
            </a:r>
            <a:r>
              <a:rPr lang="en-US" sz="1900" dirty="0"/>
              <a:t>It can be proved that any partially colored graph G of maximum degree 5 that uses at most 9 colors, and for any uncolored vertex u, there exists a way to color u in such a way that (</a:t>
            </a:r>
            <a:r>
              <a:rPr lang="en-US" sz="1900" dirty="0" err="1"/>
              <a:t>i</a:t>
            </a:r>
            <a:r>
              <a:rPr lang="en-US" sz="1900" dirty="0"/>
              <a:t>) G remains partially colored and (ii) at most 9 colors are used</a:t>
            </a:r>
            <a:r>
              <a:rPr lang="en-US" dirty="0"/>
              <a:t>. </a:t>
            </a:r>
          </a:p>
        </p:txBody>
      </p:sp>
      <p:sp>
        <p:nvSpPr>
          <p:cNvPr id="2" name="Slide Number Placeholder 1">
            <a:extLst>
              <a:ext uri="{FF2B5EF4-FFF2-40B4-BE49-F238E27FC236}">
                <a16:creationId xmlns:a16="http://schemas.microsoft.com/office/drawing/2014/main" id="{F16A8314-DBCC-AE50-662A-F5DEB0CB64F0}"/>
              </a:ext>
            </a:extLst>
          </p:cNvPr>
          <p:cNvSpPr>
            <a:spLocks noGrp="1"/>
          </p:cNvSpPr>
          <p:nvPr>
            <p:ph type="sldNum" sz="quarter" idx="4"/>
          </p:nvPr>
        </p:nvSpPr>
        <p:spPr/>
        <p:txBody>
          <a:bodyPr/>
          <a:lstStyle/>
          <a:p>
            <a:fld id="{58FB4751-880F-D840-AAA9-3A15815CC996}" type="slidenum">
              <a:rPr lang="en-US" smtClean="0"/>
              <a:pPr/>
              <a:t>20</a:t>
            </a:fld>
            <a:endParaRPr lang="en-US" dirty="0"/>
          </a:p>
        </p:txBody>
      </p:sp>
    </p:spTree>
    <p:extLst>
      <p:ext uri="{BB962C8B-B14F-4D97-AF65-F5344CB8AC3E}">
        <p14:creationId xmlns:p14="http://schemas.microsoft.com/office/powerpoint/2010/main" val="19669132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8">
            <a:extLst>
              <a:ext uri="{FF2B5EF4-FFF2-40B4-BE49-F238E27FC236}">
                <a16:creationId xmlns:a16="http://schemas.microsoft.com/office/drawing/2014/main" id="{64D4EF89-D424-BB20-9A75-50021EC23143}"/>
              </a:ext>
            </a:extLst>
          </p:cNvPr>
          <p:cNvSpPr>
            <a:spLocks noGrp="1"/>
          </p:cNvSpPr>
          <p:nvPr>
            <p:ph type="title"/>
          </p:nvPr>
        </p:nvSpPr>
        <p:spPr/>
        <p:txBody>
          <a:bodyPr/>
          <a:lstStyle/>
          <a:p>
            <a:r>
              <a:rPr lang="en-US" dirty="0"/>
              <a:t>An interesting result </a:t>
            </a:r>
          </a:p>
        </p:txBody>
      </p:sp>
      <p:sp>
        <p:nvSpPr>
          <p:cNvPr id="3" name="Slide Number Placeholder 2">
            <a:extLst>
              <a:ext uri="{FF2B5EF4-FFF2-40B4-BE49-F238E27FC236}">
                <a16:creationId xmlns:a16="http://schemas.microsoft.com/office/drawing/2014/main" id="{D014E36B-1CB6-1455-322F-B0223FB3EF21}"/>
              </a:ext>
            </a:extLst>
          </p:cNvPr>
          <p:cNvSpPr>
            <a:spLocks noGrp="1"/>
          </p:cNvSpPr>
          <p:nvPr>
            <p:ph type="sldNum" sz="quarter" idx="4"/>
          </p:nvPr>
        </p:nvSpPr>
        <p:spPr/>
        <p:txBody>
          <a:bodyPr/>
          <a:lstStyle/>
          <a:p>
            <a:fld id="{58FB4751-880F-D840-AAA9-3A15815CC996}" type="slidenum">
              <a:rPr lang="en-US" smtClean="0"/>
              <a:pPr/>
              <a:t>21</a:t>
            </a:fld>
            <a:endParaRPr lang="en-US" dirty="0"/>
          </a:p>
        </p:txBody>
      </p:sp>
      <p:sp>
        <p:nvSpPr>
          <p:cNvPr id="6" name="TextBox 5">
            <a:extLst>
              <a:ext uri="{FF2B5EF4-FFF2-40B4-BE49-F238E27FC236}">
                <a16:creationId xmlns:a16="http://schemas.microsoft.com/office/drawing/2014/main" id="{FFBF3BA7-C9D5-96D4-96D3-8C229DCA3A81}"/>
              </a:ext>
            </a:extLst>
          </p:cNvPr>
          <p:cNvSpPr txBox="1"/>
          <p:nvPr/>
        </p:nvSpPr>
        <p:spPr>
          <a:xfrm>
            <a:off x="1650158" y="2155516"/>
            <a:ext cx="8153906" cy="1661993"/>
          </a:xfrm>
          <a:prstGeom prst="rect">
            <a:avLst/>
          </a:prstGeom>
          <a:noFill/>
        </p:spPr>
        <p:txBody>
          <a:bodyPr wrap="square">
            <a:spAutoFit/>
          </a:bodyPr>
          <a:lstStyle/>
          <a:p>
            <a:r>
              <a:rPr lang="en-US" sz="2400" b="1" dirty="0"/>
              <a:t>Algorithm:</a:t>
            </a:r>
            <a:r>
              <a:rPr lang="en-US" sz="2400" dirty="0"/>
              <a:t> </a:t>
            </a:r>
            <a:br>
              <a:rPr lang="en-US" dirty="0"/>
            </a:br>
            <a:endParaRPr lang="en-US" dirty="0"/>
          </a:p>
          <a:p>
            <a:pPr marL="342900" indent="-342900">
              <a:buAutoNum type="arabicPeriod"/>
            </a:pPr>
            <a:r>
              <a:rPr lang="en-US" sz="2000" dirty="0"/>
              <a:t>From the graph G, arbitrarily pick an uncolored vertex u, and find a suitable color (among the 9 colors that are available) to color u</a:t>
            </a:r>
          </a:p>
          <a:p>
            <a:pPr marL="342900" indent="-342900">
              <a:buAutoNum type="arabicPeriod"/>
            </a:pPr>
            <a:r>
              <a:rPr lang="en-US" sz="2000" dirty="0"/>
              <a:t>continue this process until all vertices are colored</a:t>
            </a:r>
          </a:p>
        </p:txBody>
      </p:sp>
      <p:sp>
        <p:nvSpPr>
          <p:cNvPr id="7" name="TextBox 6">
            <a:extLst>
              <a:ext uri="{FF2B5EF4-FFF2-40B4-BE49-F238E27FC236}">
                <a16:creationId xmlns:a16="http://schemas.microsoft.com/office/drawing/2014/main" id="{E22990BD-603B-4110-B905-20EED094C8B6}"/>
              </a:ext>
            </a:extLst>
          </p:cNvPr>
          <p:cNvSpPr txBox="1"/>
          <p:nvPr/>
        </p:nvSpPr>
        <p:spPr>
          <a:xfrm>
            <a:off x="1650158" y="4498799"/>
            <a:ext cx="8608078" cy="707886"/>
          </a:xfrm>
          <a:prstGeom prst="rect">
            <a:avLst/>
          </a:prstGeom>
          <a:noFill/>
        </p:spPr>
        <p:txBody>
          <a:bodyPr wrap="square" rtlCol="0">
            <a:spAutoFit/>
          </a:bodyPr>
          <a:lstStyle/>
          <a:p>
            <a:r>
              <a:rPr lang="en-US" sz="2000" dirty="0"/>
              <a:t>It runs in linear time since for each of the n uncolored vertices considered, we need to look at distance at most 3 from it. So constant number of vertices consulted.</a:t>
            </a:r>
          </a:p>
        </p:txBody>
      </p:sp>
    </p:spTree>
    <p:extLst>
      <p:ext uri="{BB962C8B-B14F-4D97-AF65-F5344CB8AC3E}">
        <p14:creationId xmlns:p14="http://schemas.microsoft.com/office/powerpoint/2010/main" val="28184396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979680-7C22-BFF1-165D-52AB411C0F66}"/>
              </a:ext>
            </a:extLst>
          </p:cNvPr>
          <p:cNvSpPr>
            <a:spLocks noGrp="1"/>
          </p:cNvSpPr>
          <p:nvPr>
            <p:ph type="title"/>
          </p:nvPr>
        </p:nvSpPr>
        <p:spPr>
          <a:xfrm>
            <a:off x="768096" y="644999"/>
            <a:ext cx="5009448" cy="3814096"/>
          </a:xfrm>
        </p:spPr>
        <p:txBody>
          <a:bodyPr/>
          <a:lstStyle/>
          <a:p>
            <a:r>
              <a:rPr lang="en-US" b="1" dirty="0">
                <a:latin typeface="+mn-lt"/>
              </a:rPr>
              <a:t>List coloring</a:t>
            </a:r>
            <a:br>
              <a:rPr lang="en-US" b="1" dirty="0">
                <a:latin typeface="+mn-lt"/>
              </a:rPr>
            </a:br>
            <a:br>
              <a:rPr lang="en-US" sz="3000" dirty="0">
                <a:latin typeface="+mn-lt"/>
              </a:rPr>
            </a:br>
            <a:endParaRPr lang="en-US" sz="3000" dirty="0">
              <a:latin typeface="+mn-lt"/>
              <a:cs typeface="Segoe UI Light"/>
            </a:endParaRPr>
          </a:p>
        </p:txBody>
      </p:sp>
      <p:sp>
        <p:nvSpPr>
          <p:cNvPr id="3" name="Text Placeholder 2">
            <a:extLst>
              <a:ext uri="{FF2B5EF4-FFF2-40B4-BE49-F238E27FC236}">
                <a16:creationId xmlns:a16="http://schemas.microsoft.com/office/drawing/2014/main" id="{302F459B-002E-E89C-3A0E-589730DD7197}"/>
              </a:ext>
            </a:extLst>
          </p:cNvPr>
          <p:cNvSpPr>
            <a:spLocks noGrp="1"/>
          </p:cNvSpPr>
          <p:nvPr>
            <p:ph type="body" sz="quarter" idx="10"/>
          </p:nvPr>
        </p:nvSpPr>
        <p:spPr/>
        <p:txBody>
          <a:bodyPr/>
          <a:lstStyle/>
          <a:p>
            <a:r>
              <a:rPr lang="en-US" b="1" dirty="0">
                <a:solidFill>
                  <a:schemeClr val="tx1"/>
                </a:solidFill>
              </a:rPr>
              <a:t>ARNOB SAHA ANKON</a:t>
            </a:r>
            <a:endParaRPr lang="en-US" b="1" dirty="0">
              <a:solidFill>
                <a:schemeClr val="tx1"/>
              </a:solidFill>
              <a:cs typeface="Segoe UI Light"/>
            </a:endParaRPr>
          </a:p>
          <a:p>
            <a:r>
              <a:rPr lang="en-US" b="1" dirty="0">
                <a:solidFill>
                  <a:schemeClr val="tx1"/>
                </a:solidFill>
                <a:cs typeface="Segoe UI Light"/>
              </a:rPr>
              <a:t>1905108</a:t>
            </a:r>
          </a:p>
          <a:p>
            <a:endParaRPr lang="en-US" dirty="0"/>
          </a:p>
        </p:txBody>
      </p:sp>
      <p:pic>
        <p:nvPicPr>
          <p:cNvPr id="5" name="Picture Placeholder 4" descr="A collection of sewing implements">
            <a:extLst>
              <a:ext uri="{FF2B5EF4-FFF2-40B4-BE49-F238E27FC236}">
                <a16:creationId xmlns:a16="http://schemas.microsoft.com/office/drawing/2014/main" id="{0672830B-5F52-9AD6-1CF1-D12BDF673ACE}"/>
              </a:ext>
            </a:extLst>
          </p:cNvPr>
          <p:cNvPicPr>
            <a:picLocks noGrp="1" noChangeAspect="1"/>
          </p:cNvPicPr>
          <p:nvPr>
            <p:ph type="pic" sz="quarter" idx="11"/>
          </p:nvPr>
        </p:nvPicPr>
        <p:blipFill>
          <a:blip r:embed="rId2">
            <a:extLst>
              <a:ext uri="{96DAC541-7B7A-43D3-8B79-37D633B846F1}">
                <asvg:svgBlip xmlns:asvg="http://schemas.microsoft.com/office/drawing/2016/SVG/main" r:embed="rId3"/>
              </a:ext>
            </a:extLst>
          </a:blip>
          <a:srcRect l="27057" r="27057"/>
          <a:stretch/>
        </p:blipFill>
        <p:spPr>
          <a:xfrm>
            <a:off x="6414457" y="1717964"/>
            <a:ext cx="5413291" cy="3937996"/>
          </a:xfrm>
        </p:spPr>
      </p:pic>
      <p:pic>
        <p:nvPicPr>
          <p:cNvPr id="6" name="Picture 5"/>
          <p:cNvPicPr>
            <a:picLocks noChangeAspect="1"/>
          </p:cNvPicPr>
          <p:nvPr/>
        </p:nvPicPr>
        <p:blipFill>
          <a:blip r:embed="rId4"/>
          <a:stretch>
            <a:fillRect/>
          </a:stretch>
        </p:blipFill>
        <p:spPr>
          <a:xfrm>
            <a:off x="7082245" y="2811038"/>
            <a:ext cx="4553924" cy="2552467"/>
          </a:xfrm>
          <a:prstGeom prst="rect">
            <a:avLst/>
          </a:prstGeom>
        </p:spPr>
      </p:pic>
    </p:spTree>
    <p:extLst>
      <p:ext uri="{BB962C8B-B14F-4D97-AF65-F5344CB8AC3E}">
        <p14:creationId xmlns:p14="http://schemas.microsoft.com/office/powerpoint/2010/main" val="32627655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Title 56">
            <a:extLst>
              <a:ext uri="{FF2B5EF4-FFF2-40B4-BE49-F238E27FC236}">
                <a16:creationId xmlns:a16="http://schemas.microsoft.com/office/drawing/2014/main" id="{00326D99-DAD3-4FED-A95F-BFF05E5EF0AC}"/>
              </a:ext>
            </a:extLst>
          </p:cNvPr>
          <p:cNvSpPr>
            <a:spLocks noGrp="1"/>
          </p:cNvSpPr>
          <p:nvPr>
            <p:ph type="title"/>
          </p:nvPr>
        </p:nvSpPr>
        <p:spPr/>
        <p:txBody>
          <a:bodyPr>
            <a:normAutofit fontScale="90000"/>
          </a:bodyPr>
          <a:lstStyle/>
          <a:p>
            <a:r>
              <a:rPr lang="en-US" b="1" dirty="0">
                <a:solidFill>
                  <a:schemeClr val="tx1"/>
                </a:solidFill>
                <a:latin typeface="+mn-lt"/>
              </a:rPr>
              <a:t>List coloring problem</a:t>
            </a:r>
          </a:p>
        </p:txBody>
      </p:sp>
      <p:sp>
        <p:nvSpPr>
          <p:cNvPr id="15" name="TextBox 14"/>
          <p:cNvSpPr txBox="1"/>
          <p:nvPr/>
        </p:nvSpPr>
        <p:spPr>
          <a:xfrm>
            <a:off x="838200" y="1265382"/>
            <a:ext cx="10356273" cy="1477328"/>
          </a:xfrm>
          <a:prstGeom prst="rect">
            <a:avLst/>
          </a:prstGeom>
          <a:noFill/>
        </p:spPr>
        <p:txBody>
          <a:bodyPr wrap="square" rtlCol="0">
            <a:spAutoFit/>
          </a:bodyPr>
          <a:lstStyle/>
          <a:p>
            <a:r>
              <a:rPr lang="en-US" dirty="0"/>
              <a:t>Given G = (V, E) be a graph where V be the set of vertices and E be the set of edges, C be a set of colors and for each vertex v ∈ V  there is a list of colors </a:t>
            </a:r>
            <a:r>
              <a:rPr lang="en-US" i="1" dirty="0"/>
              <a:t>L</a:t>
            </a:r>
            <a:r>
              <a:rPr lang="en-US" dirty="0"/>
              <a:t>(</a:t>
            </a:r>
            <a:r>
              <a:rPr lang="en-US" i="1" dirty="0"/>
              <a:t>v</a:t>
            </a:r>
            <a:r>
              <a:rPr lang="en-US" dirty="0"/>
              <a:t>)  ⊆ C. </a:t>
            </a:r>
          </a:p>
          <a:p>
            <a:endParaRPr lang="en-US" dirty="0"/>
          </a:p>
          <a:p>
            <a:r>
              <a:rPr lang="en-US" dirty="0"/>
              <a:t>Is there is a function f : V  → C such that f (v) ∈ L(v) for all v ∈ V and f (u) ≠  f (v) for (</a:t>
            </a:r>
            <a:r>
              <a:rPr lang="en-US" dirty="0" err="1"/>
              <a:t>u,v</a:t>
            </a:r>
            <a:r>
              <a:rPr lang="en-US" dirty="0"/>
              <a:t>) ∈ E?</a:t>
            </a:r>
          </a:p>
          <a:p>
            <a:endParaRPr lang="en-US" dirty="0"/>
          </a:p>
        </p:txBody>
      </p:sp>
      <p:sp>
        <p:nvSpPr>
          <p:cNvPr id="24" name="TextBox 23"/>
          <p:cNvSpPr txBox="1"/>
          <p:nvPr/>
        </p:nvSpPr>
        <p:spPr>
          <a:xfrm>
            <a:off x="9155574" y="4788194"/>
            <a:ext cx="1932973" cy="923330"/>
          </a:xfrm>
          <a:prstGeom prst="rect">
            <a:avLst/>
          </a:prstGeom>
          <a:solidFill>
            <a:schemeClr val="accent2">
              <a:lumMod val="20000"/>
              <a:lumOff val="80000"/>
            </a:schemeClr>
          </a:solidFill>
          <a:ln>
            <a:solidFill>
              <a:schemeClr val="accent1">
                <a:lumMod val="50000"/>
              </a:schemeClr>
            </a:solidFill>
          </a:ln>
        </p:spPr>
        <p:txBody>
          <a:bodyPr wrap="square" rtlCol="0">
            <a:spAutoFit/>
          </a:bodyPr>
          <a:lstStyle/>
          <a:p>
            <a:r>
              <a:rPr lang="en-US" dirty="0"/>
              <a:t>Is there a proper coloring of this graph?</a:t>
            </a:r>
          </a:p>
        </p:txBody>
      </p:sp>
      <p:grpSp>
        <p:nvGrpSpPr>
          <p:cNvPr id="60" name="Group 59"/>
          <p:cNvGrpSpPr/>
          <p:nvPr/>
        </p:nvGrpSpPr>
        <p:grpSpPr>
          <a:xfrm>
            <a:off x="4330469" y="4177322"/>
            <a:ext cx="3186510" cy="2220616"/>
            <a:chOff x="4330469" y="4177322"/>
            <a:chExt cx="3186510" cy="2220616"/>
          </a:xfrm>
        </p:grpSpPr>
        <p:grpSp>
          <p:nvGrpSpPr>
            <p:cNvPr id="25" name="Group 24"/>
            <p:cNvGrpSpPr/>
            <p:nvPr/>
          </p:nvGrpSpPr>
          <p:grpSpPr>
            <a:xfrm>
              <a:off x="4330469" y="4177322"/>
              <a:ext cx="3186510" cy="2220616"/>
              <a:chOff x="4596725" y="2205342"/>
              <a:chExt cx="3186510" cy="2220616"/>
            </a:xfrm>
          </p:grpSpPr>
          <p:sp>
            <p:nvSpPr>
              <p:cNvPr id="27" name="Oval 26"/>
              <p:cNvSpPr/>
              <p:nvPr/>
            </p:nvSpPr>
            <p:spPr>
              <a:xfrm>
                <a:off x="5988247" y="3238108"/>
                <a:ext cx="335280" cy="3556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p:cNvSpPr/>
              <p:nvPr/>
            </p:nvSpPr>
            <p:spPr>
              <a:xfrm>
                <a:off x="4596725" y="3252314"/>
                <a:ext cx="335280" cy="3556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p:cNvSpPr/>
              <p:nvPr/>
            </p:nvSpPr>
            <p:spPr>
              <a:xfrm>
                <a:off x="5938520" y="4070358"/>
                <a:ext cx="335280" cy="3556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p:cNvSpPr/>
              <p:nvPr/>
            </p:nvSpPr>
            <p:spPr>
              <a:xfrm>
                <a:off x="7447955" y="3277879"/>
                <a:ext cx="335280" cy="3556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p:cNvSpPr/>
              <p:nvPr/>
            </p:nvSpPr>
            <p:spPr>
              <a:xfrm>
                <a:off x="5956032" y="2205342"/>
                <a:ext cx="335280" cy="3556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5" name="Straight Connector 34"/>
              <p:cNvCxnSpPr>
                <a:stCxn id="27" idx="0"/>
                <a:endCxn id="31" idx="4"/>
              </p:cNvCxnSpPr>
              <p:nvPr/>
            </p:nvCxnSpPr>
            <p:spPr>
              <a:xfrm flipH="1" flipV="1">
                <a:off x="6123672" y="2560942"/>
                <a:ext cx="32215" cy="67716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a:stCxn id="27" idx="4"/>
                <a:endCxn id="29" idx="0"/>
              </p:cNvCxnSpPr>
              <p:nvPr/>
            </p:nvCxnSpPr>
            <p:spPr>
              <a:xfrm flipH="1">
                <a:off x="6106160" y="3593708"/>
                <a:ext cx="49727" cy="47665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a:stCxn id="27" idx="6"/>
                <a:endCxn id="30" idx="2"/>
              </p:cNvCxnSpPr>
              <p:nvPr/>
            </p:nvCxnSpPr>
            <p:spPr>
              <a:xfrm>
                <a:off x="6323527" y="3415908"/>
                <a:ext cx="1124428" cy="3977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0" name="Straight Connector 39"/>
            <p:cNvCxnSpPr>
              <a:stCxn id="31" idx="3"/>
              <a:endCxn id="28" idx="0"/>
            </p:cNvCxnSpPr>
            <p:nvPr/>
          </p:nvCxnSpPr>
          <p:spPr>
            <a:xfrm flipH="1">
              <a:off x="4498109" y="4480846"/>
              <a:ext cx="1240768" cy="74344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a:stCxn id="30" idx="3"/>
              <a:endCxn id="29" idx="6"/>
            </p:cNvCxnSpPr>
            <p:nvPr/>
          </p:nvCxnSpPr>
          <p:spPr>
            <a:xfrm flipH="1">
              <a:off x="6007544" y="5553383"/>
              <a:ext cx="1223256" cy="66675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a:stCxn id="31" idx="5"/>
              <a:endCxn id="30" idx="0"/>
            </p:cNvCxnSpPr>
            <p:nvPr/>
          </p:nvCxnSpPr>
          <p:spPr>
            <a:xfrm>
              <a:off x="5975955" y="4480846"/>
              <a:ext cx="1373384" cy="76901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a:stCxn id="29" idx="2"/>
              <a:endCxn id="28" idx="4"/>
            </p:cNvCxnSpPr>
            <p:nvPr/>
          </p:nvCxnSpPr>
          <p:spPr>
            <a:xfrm flipH="1" flipV="1">
              <a:off x="4498109" y="5579894"/>
              <a:ext cx="1174155" cy="64024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2" name="Group 31"/>
          <p:cNvGrpSpPr/>
          <p:nvPr/>
        </p:nvGrpSpPr>
        <p:grpSpPr>
          <a:xfrm>
            <a:off x="5246847" y="4061923"/>
            <a:ext cx="289210" cy="338689"/>
            <a:chOff x="9220199" y="5081066"/>
            <a:chExt cx="714186" cy="969849"/>
          </a:xfrm>
        </p:grpSpPr>
        <p:sp>
          <p:nvSpPr>
            <p:cNvPr id="34" name="Rectangle 33"/>
            <p:cNvSpPr/>
            <p:nvPr/>
          </p:nvSpPr>
          <p:spPr>
            <a:xfrm>
              <a:off x="9220200" y="5419756"/>
              <a:ext cx="714185" cy="325724"/>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p:cNvSpPr/>
            <p:nvPr/>
          </p:nvSpPr>
          <p:spPr>
            <a:xfrm>
              <a:off x="9220200" y="5725191"/>
              <a:ext cx="714185" cy="325724"/>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p:cNvSpPr/>
            <p:nvPr/>
          </p:nvSpPr>
          <p:spPr>
            <a:xfrm>
              <a:off x="9220199" y="5081066"/>
              <a:ext cx="714185" cy="325724"/>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1" name="Group 40"/>
          <p:cNvGrpSpPr/>
          <p:nvPr/>
        </p:nvGrpSpPr>
        <p:grpSpPr>
          <a:xfrm>
            <a:off x="3816906" y="5249859"/>
            <a:ext cx="289210" cy="338689"/>
            <a:chOff x="9220199" y="5081066"/>
            <a:chExt cx="714186" cy="969849"/>
          </a:xfrm>
        </p:grpSpPr>
        <p:sp>
          <p:nvSpPr>
            <p:cNvPr id="42" name="Rectangle 41"/>
            <p:cNvSpPr/>
            <p:nvPr/>
          </p:nvSpPr>
          <p:spPr>
            <a:xfrm>
              <a:off x="9220200" y="5419756"/>
              <a:ext cx="714185" cy="325724"/>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p:cNvSpPr/>
            <p:nvPr/>
          </p:nvSpPr>
          <p:spPr>
            <a:xfrm>
              <a:off x="9220200" y="5725191"/>
              <a:ext cx="714185" cy="325724"/>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p:cNvSpPr/>
            <p:nvPr/>
          </p:nvSpPr>
          <p:spPr>
            <a:xfrm>
              <a:off x="9220199" y="5081066"/>
              <a:ext cx="714185" cy="325724"/>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7" name="Group 46"/>
          <p:cNvGrpSpPr/>
          <p:nvPr/>
        </p:nvGrpSpPr>
        <p:grpSpPr>
          <a:xfrm>
            <a:off x="7734821" y="5271689"/>
            <a:ext cx="289210" cy="232026"/>
            <a:chOff x="9220199" y="5081066"/>
            <a:chExt cx="714186" cy="664414"/>
          </a:xfrm>
        </p:grpSpPr>
        <p:sp>
          <p:nvSpPr>
            <p:cNvPr id="48" name="Rectangle 47"/>
            <p:cNvSpPr/>
            <p:nvPr/>
          </p:nvSpPr>
          <p:spPr>
            <a:xfrm>
              <a:off x="9220200" y="5419756"/>
              <a:ext cx="714185" cy="325724"/>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p:cNvSpPr/>
            <p:nvPr/>
          </p:nvSpPr>
          <p:spPr>
            <a:xfrm>
              <a:off x="9220199" y="5081066"/>
              <a:ext cx="714185" cy="325724"/>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2" name="Group 51"/>
          <p:cNvGrpSpPr/>
          <p:nvPr/>
        </p:nvGrpSpPr>
        <p:grpSpPr>
          <a:xfrm>
            <a:off x="5253894" y="5271689"/>
            <a:ext cx="289210" cy="232026"/>
            <a:chOff x="9220199" y="5081066"/>
            <a:chExt cx="714186" cy="664414"/>
          </a:xfrm>
        </p:grpSpPr>
        <p:sp>
          <p:nvSpPr>
            <p:cNvPr id="53" name="Rectangle 52"/>
            <p:cNvSpPr/>
            <p:nvPr/>
          </p:nvSpPr>
          <p:spPr>
            <a:xfrm>
              <a:off x="9220200" y="5419756"/>
              <a:ext cx="714185" cy="325724"/>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p:cNvSpPr/>
            <p:nvPr/>
          </p:nvSpPr>
          <p:spPr>
            <a:xfrm>
              <a:off x="9220199" y="5081066"/>
              <a:ext cx="714185" cy="325724"/>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6" name="Group 55"/>
          <p:cNvGrpSpPr/>
          <p:nvPr/>
        </p:nvGrpSpPr>
        <p:grpSpPr>
          <a:xfrm>
            <a:off x="6373437" y="6139694"/>
            <a:ext cx="289210" cy="338689"/>
            <a:chOff x="9220199" y="5081066"/>
            <a:chExt cx="714186" cy="969849"/>
          </a:xfrm>
        </p:grpSpPr>
        <p:sp>
          <p:nvSpPr>
            <p:cNvPr id="58" name="Rectangle 57"/>
            <p:cNvSpPr/>
            <p:nvPr/>
          </p:nvSpPr>
          <p:spPr>
            <a:xfrm>
              <a:off x="9220200" y="5419756"/>
              <a:ext cx="714185" cy="325724"/>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p:cNvSpPr/>
            <p:nvPr/>
          </p:nvSpPr>
          <p:spPr>
            <a:xfrm>
              <a:off x="9220200" y="5725191"/>
              <a:ext cx="714185" cy="325724"/>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p:cNvSpPr/>
            <p:nvPr/>
          </p:nvSpPr>
          <p:spPr>
            <a:xfrm>
              <a:off x="9220199" y="5081066"/>
              <a:ext cx="714185" cy="325724"/>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3600996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0AF76D-A0D2-8179-168C-8025D377329E}"/>
              </a:ext>
            </a:extLst>
          </p:cNvPr>
          <p:cNvSpPr>
            <a:spLocks noGrp="1"/>
          </p:cNvSpPr>
          <p:nvPr>
            <p:ph type="title"/>
          </p:nvPr>
        </p:nvSpPr>
        <p:spPr>
          <a:xfrm>
            <a:off x="768096" y="667512"/>
            <a:ext cx="3545839" cy="5558005"/>
          </a:xfrm>
        </p:spPr>
        <p:txBody>
          <a:bodyPr/>
          <a:lstStyle/>
          <a:p>
            <a:r>
              <a:rPr lang="en-US" dirty="0">
                <a:latin typeface="+mn-lt"/>
                <a:cs typeface="Segoe UI Light"/>
              </a:rPr>
              <a:t>Some Notation</a:t>
            </a:r>
          </a:p>
        </p:txBody>
      </p:sp>
      <p:sp>
        <p:nvSpPr>
          <p:cNvPr id="3" name="Slide Number Placeholder 2">
            <a:extLst>
              <a:ext uri="{FF2B5EF4-FFF2-40B4-BE49-F238E27FC236}">
                <a16:creationId xmlns:a16="http://schemas.microsoft.com/office/drawing/2014/main" id="{40D0AE5D-DCE2-E86E-EF8D-9554C85C4FE3}"/>
              </a:ext>
            </a:extLst>
          </p:cNvPr>
          <p:cNvSpPr>
            <a:spLocks noGrp="1"/>
          </p:cNvSpPr>
          <p:nvPr>
            <p:ph type="sldNum" sz="quarter" idx="12"/>
          </p:nvPr>
        </p:nvSpPr>
        <p:spPr/>
        <p:txBody>
          <a:bodyPr/>
          <a:lstStyle/>
          <a:p>
            <a:fld id="{3DD08374-E544-47A5-94AF-CF56056772CB}" type="slidenum">
              <a:rPr lang="en-US" smtClean="0"/>
              <a:t>24</a:t>
            </a:fld>
            <a:endParaRPr lang="en-US"/>
          </a:p>
        </p:txBody>
      </p:sp>
      <p:sp>
        <p:nvSpPr>
          <p:cNvPr id="4" name="TextBox 3">
            <a:extLst>
              <a:ext uri="{FF2B5EF4-FFF2-40B4-BE49-F238E27FC236}">
                <a16:creationId xmlns:a16="http://schemas.microsoft.com/office/drawing/2014/main" id="{ABFE8F0E-F245-308B-42AE-6546095A7464}"/>
              </a:ext>
            </a:extLst>
          </p:cNvPr>
          <p:cNvSpPr txBox="1"/>
          <p:nvPr/>
        </p:nvSpPr>
        <p:spPr>
          <a:xfrm>
            <a:off x="4854012" y="1042587"/>
            <a:ext cx="6761414" cy="3970318"/>
          </a:xfrm>
          <a:prstGeom prst="rect">
            <a:avLst/>
          </a:prstGeom>
          <a:noFill/>
        </p:spPr>
        <p:txBody>
          <a:bodyPr wrap="square" rtlCol="0">
            <a:spAutoFit/>
          </a:bodyPr>
          <a:lstStyle/>
          <a:p>
            <a:pPr marL="457200" indent="-457200" algn="l">
              <a:buFont typeface="Arial" panose="020B0604020202020204" pitchFamily="34" charset="0"/>
              <a:buChar char="•"/>
            </a:pPr>
            <a:r>
              <a:rPr lang="en-US" sz="2800" dirty="0"/>
              <a:t>A graph is </a:t>
            </a:r>
            <a:r>
              <a:rPr lang="en-US" sz="2800" b="1" i="1" dirty="0"/>
              <a:t>k</a:t>
            </a:r>
            <a:r>
              <a:rPr lang="en-US" sz="2800" b="1" dirty="0"/>
              <a:t>-</a:t>
            </a:r>
            <a:r>
              <a:rPr lang="en-US" sz="2800" b="1" dirty="0" err="1"/>
              <a:t>choosable</a:t>
            </a:r>
            <a:r>
              <a:rPr lang="en-US" sz="2800" dirty="0"/>
              <a:t> (or </a:t>
            </a:r>
            <a:r>
              <a:rPr lang="en-US" sz="2800" b="1" i="1" dirty="0"/>
              <a:t>k</a:t>
            </a:r>
            <a:r>
              <a:rPr lang="en-US" sz="2800" b="1" dirty="0"/>
              <a:t>-list-colorable</a:t>
            </a:r>
            <a:r>
              <a:rPr lang="en-US" sz="2800" dirty="0"/>
              <a:t>) if it has a proper list coloring where  |L(v)| = k for all v  ∈  V</a:t>
            </a:r>
          </a:p>
          <a:p>
            <a:pPr algn="l"/>
            <a:endParaRPr lang="en-US" sz="2800" dirty="0"/>
          </a:p>
          <a:p>
            <a:pPr marL="457200" indent="-457200" algn="l">
              <a:buFont typeface="Arial" panose="020B0604020202020204" pitchFamily="34" charset="0"/>
              <a:buChar char="•"/>
            </a:pPr>
            <a:r>
              <a:rPr lang="en-US" sz="2800" dirty="0"/>
              <a:t>The </a:t>
            </a:r>
            <a:r>
              <a:rPr lang="en-US" sz="2800" b="1" dirty="0" err="1"/>
              <a:t>choosability</a:t>
            </a:r>
            <a:r>
              <a:rPr lang="en-US" sz="2800" dirty="0"/>
              <a:t> (or </a:t>
            </a:r>
            <a:r>
              <a:rPr lang="en-US" sz="2800" b="1" dirty="0"/>
              <a:t>list </a:t>
            </a:r>
            <a:r>
              <a:rPr lang="en-US" sz="2800" b="1" dirty="0" err="1"/>
              <a:t>colorability</a:t>
            </a:r>
            <a:r>
              <a:rPr lang="en-US" sz="2800" dirty="0"/>
              <a:t> or </a:t>
            </a:r>
            <a:r>
              <a:rPr lang="en-US" sz="2800" b="1" dirty="0"/>
              <a:t>list chromatic number</a:t>
            </a:r>
            <a:r>
              <a:rPr lang="en-US" sz="2800" dirty="0"/>
              <a:t>) </a:t>
            </a:r>
            <a:r>
              <a:rPr lang="en-US" sz="2800" dirty="0" err="1"/>
              <a:t>ch</a:t>
            </a:r>
            <a:r>
              <a:rPr lang="en-US" sz="2800" dirty="0"/>
              <a:t>(</a:t>
            </a:r>
            <a:r>
              <a:rPr lang="en-US" sz="2800" i="1" dirty="0"/>
              <a:t>G</a:t>
            </a:r>
            <a:r>
              <a:rPr lang="en-US" sz="2800" dirty="0"/>
              <a:t>) of a graph </a:t>
            </a:r>
            <a:r>
              <a:rPr lang="en-US" sz="2800" i="1" dirty="0"/>
              <a:t>G</a:t>
            </a:r>
            <a:r>
              <a:rPr lang="en-US" sz="2800" dirty="0"/>
              <a:t> is the least number </a:t>
            </a:r>
            <a:r>
              <a:rPr lang="en-US" sz="2800" i="1" dirty="0"/>
              <a:t>k</a:t>
            </a:r>
            <a:r>
              <a:rPr lang="en-US" sz="2800" dirty="0"/>
              <a:t> such that </a:t>
            </a:r>
            <a:r>
              <a:rPr lang="en-US" sz="2800" i="1" dirty="0"/>
              <a:t>G</a:t>
            </a:r>
            <a:r>
              <a:rPr lang="en-US" sz="2800" dirty="0"/>
              <a:t> is </a:t>
            </a:r>
            <a:r>
              <a:rPr lang="en-US" sz="2800" i="1" dirty="0"/>
              <a:t>k</a:t>
            </a:r>
            <a:r>
              <a:rPr lang="en-US" sz="2800" dirty="0"/>
              <a:t>-</a:t>
            </a:r>
            <a:r>
              <a:rPr lang="en-US" sz="2800" dirty="0" err="1"/>
              <a:t>choosable</a:t>
            </a:r>
            <a:r>
              <a:rPr lang="en-US" sz="2800" dirty="0"/>
              <a:t>. </a:t>
            </a:r>
          </a:p>
          <a:p>
            <a:pPr marL="457200" indent="-457200">
              <a:buFont typeface="Arial" panose="020B0604020202020204" pitchFamily="34" charset="0"/>
              <a:buChar char="•"/>
            </a:pPr>
            <a:endParaRPr lang="en-US" sz="2800" dirty="0"/>
          </a:p>
        </p:txBody>
      </p:sp>
    </p:spTree>
    <p:extLst>
      <p:ext uri="{BB962C8B-B14F-4D97-AF65-F5344CB8AC3E}">
        <p14:creationId xmlns:p14="http://schemas.microsoft.com/office/powerpoint/2010/main" val="8522095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0AF76D-A0D2-8179-168C-8025D377329E}"/>
              </a:ext>
            </a:extLst>
          </p:cNvPr>
          <p:cNvSpPr>
            <a:spLocks noGrp="1"/>
          </p:cNvSpPr>
          <p:nvPr>
            <p:ph type="title"/>
          </p:nvPr>
        </p:nvSpPr>
        <p:spPr>
          <a:xfrm>
            <a:off x="2430813" y="547912"/>
            <a:ext cx="7330373" cy="957615"/>
          </a:xfrm>
        </p:spPr>
        <p:txBody>
          <a:bodyPr/>
          <a:lstStyle/>
          <a:p>
            <a:r>
              <a:rPr lang="en-US" dirty="0">
                <a:latin typeface="+mn-lt"/>
                <a:cs typeface="Segoe UI Light"/>
              </a:rPr>
              <a:t>Properties</a:t>
            </a:r>
          </a:p>
        </p:txBody>
      </p:sp>
      <p:sp>
        <p:nvSpPr>
          <p:cNvPr id="3" name="Content Placeholder 2">
            <a:extLst>
              <a:ext uri="{FF2B5EF4-FFF2-40B4-BE49-F238E27FC236}">
                <a16:creationId xmlns:a16="http://schemas.microsoft.com/office/drawing/2014/main" id="{B16F5ACA-5B20-DED2-F6EA-E50B5B17F3AE}"/>
              </a:ext>
            </a:extLst>
          </p:cNvPr>
          <p:cNvSpPr>
            <a:spLocks noGrp="1"/>
          </p:cNvSpPr>
          <p:nvPr>
            <p:ph idx="1"/>
          </p:nvPr>
        </p:nvSpPr>
        <p:spPr>
          <a:xfrm>
            <a:off x="803564" y="2161707"/>
            <a:ext cx="9850117" cy="5568696"/>
          </a:xfrm>
        </p:spPr>
        <p:txBody>
          <a:bodyPr>
            <a:normAutofit/>
          </a:bodyPr>
          <a:lstStyle/>
          <a:p>
            <a:pPr lvl="1" algn="l"/>
            <a:r>
              <a:rPr lang="en-US" sz="2400" dirty="0" err="1">
                <a:solidFill>
                  <a:schemeClr val="tx1"/>
                </a:solidFill>
                <a:latin typeface="+mn-lt"/>
              </a:rPr>
              <a:t>ch</a:t>
            </a:r>
            <a:r>
              <a:rPr lang="en-US" sz="2400" dirty="0">
                <a:solidFill>
                  <a:schemeClr val="tx1"/>
                </a:solidFill>
                <a:latin typeface="+mn-lt"/>
              </a:rPr>
              <a:t>(G) ≥ </a:t>
            </a:r>
            <a:r>
              <a:rPr lang="el-GR" sz="2400" dirty="0">
                <a:solidFill>
                  <a:schemeClr val="tx1"/>
                </a:solidFill>
                <a:latin typeface="+mn-lt"/>
              </a:rPr>
              <a:t>χ(</a:t>
            </a:r>
            <a:r>
              <a:rPr lang="en-US" sz="2400" dirty="0">
                <a:solidFill>
                  <a:schemeClr val="tx1"/>
                </a:solidFill>
                <a:latin typeface="+mn-lt"/>
              </a:rPr>
              <a:t>G) where </a:t>
            </a:r>
            <a:r>
              <a:rPr lang="el-GR" sz="2400" dirty="0">
                <a:solidFill>
                  <a:schemeClr val="tx1"/>
                </a:solidFill>
                <a:latin typeface="+mn-lt"/>
              </a:rPr>
              <a:t>χ(</a:t>
            </a:r>
            <a:r>
              <a:rPr lang="en-US" sz="2400" dirty="0">
                <a:solidFill>
                  <a:schemeClr val="tx1"/>
                </a:solidFill>
                <a:latin typeface="+mn-lt"/>
              </a:rPr>
              <a:t>G) is chromatic number of G for graph coloring.</a:t>
            </a:r>
          </a:p>
        </p:txBody>
      </p:sp>
      <p:sp>
        <p:nvSpPr>
          <p:cNvPr id="4" name="Slide Number Placeholder 3">
            <a:extLst>
              <a:ext uri="{FF2B5EF4-FFF2-40B4-BE49-F238E27FC236}">
                <a16:creationId xmlns:a16="http://schemas.microsoft.com/office/drawing/2014/main" id="{65AC7A94-D0DE-767A-5DE3-2E71FCF3D454}"/>
              </a:ext>
            </a:extLst>
          </p:cNvPr>
          <p:cNvSpPr>
            <a:spLocks noGrp="1"/>
          </p:cNvSpPr>
          <p:nvPr>
            <p:ph type="sldNum" sz="quarter" idx="12"/>
          </p:nvPr>
        </p:nvSpPr>
        <p:spPr/>
        <p:txBody>
          <a:bodyPr/>
          <a:lstStyle/>
          <a:p>
            <a:fld id="{3DD08374-E544-47A5-94AF-CF56056772CB}" type="slidenum">
              <a:rPr lang="en-US" smtClean="0"/>
              <a:t>25</a:t>
            </a:fld>
            <a:endParaRPr lang="en-US"/>
          </a:p>
        </p:txBody>
      </p:sp>
      <p:grpSp>
        <p:nvGrpSpPr>
          <p:cNvPr id="26" name="Group 25">
            <a:extLst>
              <a:ext uri="{FF2B5EF4-FFF2-40B4-BE49-F238E27FC236}">
                <a16:creationId xmlns:a16="http://schemas.microsoft.com/office/drawing/2014/main" id="{20843A7E-2656-9EDE-B08E-ABE0BEC1EA20}"/>
              </a:ext>
            </a:extLst>
          </p:cNvPr>
          <p:cNvGrpSpPr/>
          <p:nvPr/>
        </p:nvGrpSpPr>
        <p:grpSpPr>
          <a:xfrm>
            <a:off x="1336310" y="3429000"/>
            <a:ext cx="3256656" cy="1637877"/>
            <a:chOff x="4269754" y="4252880"/>
            <a:chExt cx="3256656" cy="1637877"/>
          </a:xfrm>
        </p:grpSpPr>
        <p:sp>
          <p:nvSpPr>
            <p:cNvPr id="5" name="Oval 4">
              <a:extLst>
                <a:ext uri="{FF2B5EF4-FFF2-40B4-BE49-F238E27FC236}">
                  <a16:creationId xmlns:a16="http://schemas.microsoft.com/office/drawing/2014/main" id="{F583E438-0976-DE66-3E4C-1438103E8026}"/>
                </a:ext>
              </a:extLst>
            </p:cNvPr>
            <p:cNvSpPr/>
            <p:nvPr/>
          </p:nvSpPr>
          <p:spPr>
            <a:xfrm>
              <a:off x="5790686" y="4252880"/>
              <a:ext cx="405037" cy="398900"/>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7E6FD91F-9AE6-A565-00D8-49817E00E401}"/>
                </a:ext>
              </a:extLst>
            </p:cNvPr>
            <p:cNvSpPr/>
            <p:nvPr/>
          </p:nvSpPr>
          <p:spPr>
            <a:xfrm>
              <a:off x="7121373" y="4252880"/>
              <a:ext cx="405037" cy="398900"/>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E6E8EC18-9B80-BD7A-8DEB-D13C478EF79D}"/>
                </a:ext>
              </a:extLst>
            </p:cNvPr>
            <p:cNvCxnSpPr>
              <a:stCxn id="5" idx="4"/>
            </p:cNvCxnSpPr>
            <p:nvPr/>
          </p:nvCxnSpPr>
          <p:spPr>
            <a:xfrm>
              <a:off x="5993205" y="4651780"/>
              <a:ext cx="12273" cy="827460"/>
            </a:xfrm>
            <a:prstGeom prst="line">
              <a:avLst/>
            </a:prstGeom>
            <a:ln w="19050"/>
          </p:spPr>
          <p:style>
            <a:lnRef idx="1">
              <a:schemeClr val="dk1"/>
            </a:lnRef>
            <a:fillRef idx="0">
              <a:schemeClr val="dk1"/>
            </a:fillRef>
            <a:effectRef idx="0">
              <a:schemeClr val="dk1"/>
            </a:effectRef>
            <a:fontRef idx="minor">
              <a:schemeClr val="tx1"/>
            </a:fontRef>
          </p:style>
        </p:cxnSp>
        <p:sp>
          <p:nvSpPr>
            <p:cNvPr id="8" name="Oval 7">
              <a:extLst>
                <a:ext uri="{FF2B5EF4-FFF2-40B4-BE49-F238E27FC236}">
                  <a16:creationId xmlns:a16="http://schemas.microsoft.com/office/drawing/2014/main" id="{BC2406C4-66A6-1DBF-74A7-DA487FF167DC}"/>
                </a:ext>
              </a:extLst>
            </p:cNvPr>
            <p:cNvSpPr/>
            <p:nvPr/>
          </p:nvSpPr>
          <p:spPr>
            <a:xfrm>
              <a:off x="4269754" y="4265497"/>
              <a:ext cx="405037" cy="398900"/>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487F569E-6C4F-9B65-9E70-B7A03DD303A5}"/>
                </a:ext>
              </a:extLst>
            </p:cNvPr>
            <p:cNvSpPr/>
            <p:nvPr/>
          </p:nvSpPr>
          <p:spPr>
            <a:xfrm>
              <a:off x="5796822" y="5479240"/>
              <a:ext cx="405037" cy="398900"/>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C67C569A-9350-E20F-A169-3810ACD449BA}"/>
                </a:ext>
              </a:extLst>
            </p:cNvPr>
            <p:cNvSpPr/>
            <p:nvPr/>
          </p:nvSpPr>
          <p:spPr>
            <a:xfrm>
              <a:off x="7121373" y="5479240"/>
              <a:ext cx="405037" cy="398900"/>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05B697BC-6C00-8AE0-9277-578F0B3742A8}"/>
                </a:ext>
              </a:extLst>
            </p:cNvPr>
            <p:cNvCxnSpPr>
              <a:cxnSpLocks/>
            </p:cNvCxnSpPr>
            <p:nvPr/>
          </p:nvCxnSpPr>
          <p:spPr>
            <a:xfrm>
              <a:off x="7302921" y="4664397"/>
              <a:ext cx="12273" cy="827460"/>
            </a:xfrm>
            <a:prstGeom prst="line">
              <a:avLst/>
            </a:prstGeom>
            <a:ln w="19050"/>
          </p:spPr>
          <p:style>
            <a:lnRef idx="1">
              <a:schemeClr val="dk1"/>
            </a:lnRef>
            <a:fillRef idx="0">
              <a:schemeClr val="dk1"/>
            </a:fillRef>
            <a:effectRef idx="0">
              <a:schemeClr val="dk1"/>
            </a:effectRef>
            <a:fontRef idx="minor">
              <a:schemeClr val="tx1"/>
            </a:fontRef>
          </p:style>
        </p:cxnSp>
        <p:sp>
          <p:nvSpPr>
            <p:cNvPr id="12" name="Oval 11">
              <a:extLst>
                <a:ext uri="{FF2B5EF4-FFF2-40B4-BE49-F238E27FC236}">
                  <a16:creationId xmlns:a16="http://schemas.microsoft.com/office/drawing/2014/main" id="{736E56A8-A8FC-C85A-4ABB-B13C64411187}"/>
                </a:ext>
              </a:extLst>
            </p:cNvPr>
            <p:cNvSpPr/>
            <p:nvPr/>
          </p:nvSpPr>
          <p:spPr>
            <a:xfrm>
              <a:off x="4275890" y="5491857"/>
              <a:ext cx="405037" cy="398900"/>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Connector 12">
              <a:extLst>
                <a:ext uri="{FF2B5EF4-FFF2-40B4-BE49-F238E27FC236}">
                  <a16:creationId xmlns:a16="http://schemas.microsoft.com/office/drawing/2014/main" id="{F41E10A1-DC4F-CCFC-8713-32873670D827}"/>
                </a:ext>
              </a:extLst>
            </p:cNvPr>
            <p:cNvCxnSpPr>
              <a:cxnSpLocks/>
            </p:cNvCxnSpPr>
            <p:nvPr/>
          </p:nvCxnSpPr>
          <p:spPr>
            <a:xfrm>
              <a:off x="4472272" y="4651780"/>
              <a:ext cx="12273" cy="827460"/>
            </a:xfrm>
            <a:prstGeom prst="line">
              <a:avLst/>
            </a:prstGeom>
            <a:ln w="19050"/>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31945C0F-1EA4-A9CB-3AF5-04B9FFD28B80}"/>
                </a:ext>
              </a:extLst>
            </p:cNvPr>
            <p:cNvCxnSpPr>
              <a:cxnSpLocks/>
              <a:stCxn id="6" idx="4"/>
              <a:endCxn id="9" idx="0"/>
            </p:cNvCxnSpPr>
            <p:nvPr/>
          </p:nvCxnSpPr>
          <p:spPr>
            <a:xfrm flipH="1">
              <a:off x="5999341" y="4651780"/>
              <a:ext cx="1324551" cy="827460"/>
            </a:xfrm>
            <a:prstGeom prst="line">
              <a:avLst/>
            </a:prstGeom>
            <a:ln w="19050"/>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D5559609-1654-DEDD-1F40-2CBA99254950}"/>
                </a:ext>
              </a:extLst>
            </p:cNvPr>
            <p:cNvCxnSpPr>
              <a:cxnSpLocks/>
              <a:stCxn id="5" idx="4"/>
              <a:endCxn id="10" idx="0"/>
            </p:cNvCxnSpPr>
            <p:nvPr/>
          </p:nvCxnSpPr>
          <p:spPr>
            <a:xfrm>
              <a:off x="5993205" y="4651780"/>
              <a:ext cx="1330687" cy="827460"/>
            </a:xfrm>
            <a:prstGeom prst="line">
              <a:avLst/>
            </a:prstGeom>
            <a:ln w="19050"/>
          </p:spPr>
          <p:style>
            <a:lnRef idx="1">
              <a:schemeClr val="dk1"/>
            </a:lnRef>
            <a:fillRef idx="0">
              <a:schemeClr val="dk1"/>
            </a:fillRef>
            <a:effectRef idx="0">
              <a:schemeClr val="dk1"/>
            </a:effectRef>
            <a:fontRef idx="minor">
              <a:schemeClr val="tx1"/>
            </a:fontRef>
          </p:style>
        </p:cxnSp>
        <p:cxnSp>
          <p:nvCxnSpPr>
            <p:cNvPr id="20" name="Straight Connector 19">
              <a:extLst>
                <a:ext uri="{FF2B5EF4-FFF2-40B4-BE49-F238E27FC236}">
                  <a16:creationId xmlns:a16="http://schemas.microsoft.com/office/drawing/2014/main" id="{FEF0AE24-64F4-CE77-79A7-C58396908E71}"/>
                </a:ext>
              </a:extLst>
            </p:cNvPr>
            <p:cNvCxnSpPr>
              <a:cxnSpLocks/>
              <a:endCxn id="9" idx="0"/>
            </p:cNvCxnSpPr>
            <p:nvPr/>
          </p:nvCxnSpPr>
          <p:spPr>
            <a:xfrm>
              <a:off x="4484543" y="4658089"/>
              <a:ext cx="1514798" cy="821151"/>
            </a:xfrm>
            <a:prstGeom prst="line">
              <a:avLst/>
            </a:prstGeom>
            <a:ln w="19050"/>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09C35B05-AA84-87FC-8AED-52AD45F88EC2}"/>
                </a:ext>
              </a:extLst>
            </p:cNvPr>
            <p:cNvCxnSpPr>
              <a:cxnSpLocks/>
              <a:stCxn id="5" idx="4"/>
              <a:endCxn id="12" idx="0"/>
            </p:cNvCxnSpPr>
            <p:nvPr/>
          </p:nvCxnSpPr>
          <p:spPr>
            <a:xfrm flipH="1">
              <a:off x="4478409" y="4651780"/>
              <a:ext cx="1514796" cy="840077"/>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47" name="Group 46">
            <a:extLst>
              <a:ext uri="{FF2B5EF4-FFF2-40B4-BE49-F238E27FC236}">
                <a16:creationId xmlns:a16="http://schemas.microsoft.com/office/drawing/2014/main" id="{5C745B3E-CD06-7736-A8FA-F97A10C2C250}"/>
              </a:ext>
            </a:extLst>
          </p:cNvPr>
          <p:cNvGrpSpPr/>
          <p:nvPr/>
        </p:nvGrpSpPr>
        <p:grpSpPr>
          <a:xfrm>
            <a:off x="6344198" y="2962816"/>
            <a:ext cx="3478736" cy="2466159"/>
            <a:chOff x="6344198" y="2962816"/>
            <a:chExt cx="3478736" cy="2466159"/>
          </a:xfrm>
        </p:grpSpPr>
        <p:grpSp>
          <p:nvGrpSpPr>
            <p:cNvPr id="27" name="Group 26">
              <a:extLst>
                <a:ext uri="{FF2B5EF4-FFF2-40B4-BE49-F238E27FC236}">
                  <a16:creationId xmlns:a16="http://schemas.microsoft.com/office/drawing/2014/main" id="{172548C1-77D2-832D-61F8-CFAC87478D0C}"/>
                </a:ext>
              </a:extLst>
            </p:cNvPr>
            <p:cNvGrpSpPr/>
            <p:nvPr/>
          </p:nvGrpSpPr>
          <p:grpSpPr>
            <a:xfrm>
              <a:off x="6417419" y="3416383"/>
              <a:ext cx="3256656" cy="1637877"/>
              <a:chOff x="4269754" y="4252880"/>
              <a:chExt cx="3256656" cy="1637877"/>
            </a:xfrm>
          </p:grpSpPr>
          <p:sp>
            <p:nvSpPr>
              <p:cNvPr id="28" name="Oval 27">
                <a:extLst>
                  <a:ext uri="{FF2B5EF4-FFF2-40B4-BE49-F238E27FC236}">
                    <a16:creationId xmlns:a16="http://schemas.microsoft.com/office/drawing/2014/main" id="{9769A6CA-2D71-6888-0895-239E9CFEF68E}"/>
                  </a:ext>
                </a:extLst>
              </p:cNvPr>
              <p:cNvSpPr/>
              <p:nvPr/>
            </p:nvSpPr>
            <p:spPr>
              <a:xfrm>
                <a:off x="5790686" y="4252880"/>
                <a:ext cx="405037" cy="398900"/>
              </a:xfrm>
              <a:prstGeom prst="ellipse">
                <a:avLst/>
              </a:prstGeom>
              <a:noFill/>
              <a:ln w="28575">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Oval 28">
                <a:extLst>
                  <a:ext uri="{FF2B5EF4-FFF2-40B4-BE49-F238E27FC236}">
                    <a16:creationId xmlns:a16="http://schemas.microsoft.com/office/drawing/2014/main" id="{08D4E0B3-F6C4-DB37-EC9E-6FBDDF8F0F5A}"/>
                  </a:ext>
                </a:extLst>
              </p:cNvPr>
              <p:cNvSpPr/>
              <p:nvPr/>
            </p:nvSpPr>
            <p:spPr>
              <a:xfrm>
                <a:off x="7121373" y="4252880"/>
                <a:ext cx="405037" cy="398900"/>
              </a:xfrm>
              <a:prstGeom prst="ellipse">
                <a:avLst/>
              </a:prstGeom>
              <a:noFill/>
              <a:ln w="28575">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0" name="Straight Connector 29">
                <a:extLst>
                  <a:ext uri="{FF2B5EF4-FFF2-40B4-BE49-F238E27FC236}">
                    <a16:creationId xmlns:a16="http://schemas.microsoft.com/office/drawing/2014/main" id="{82DA6834-CE18-D7EE-B0D5-D04AE07B7272}"/>
                  </a:ext>
                </a:extLst>
              </p:cNvPr>
              <p:cNvCxnSpPr>
                <a:stCxn id="28" idx="4"/>
              </p:cNvCxnSpPr>
              <p:nvPr/>
            </p:nvCxnSpPr>
            <p:spPr>
              <a:xfrm>
                <a:off x="5993205" y="4651780"/>
                <a:ext cx="12273" cy="827460"/>
              </a:xfrm>
              <a:prstGeom prst="line">
                <a:avLst/>
              </a:prstGeom>
              <a:ln w="19050"/>
            </p:spPr>
            <p:style>
              <a:lnRef idx="1">
                <a:schemeClr val="dk1"/>
              </a:lnRef>
              <a:fillRef idx="0">
                <a:schemeClr val="dk1"/>
              </a:fillRef>
              <a:effectRef idx="0">
                <a:schemeClr val="dk1"/>
              </a:effectRef>
              <a:fontRef idx="minor">
                <a:schemeClr val="tx1"/>
              </a:fontRef>
            </p:style>
          </p:cxnSp>
          <p:sp>
            <p:nvSpPr>
              <p:cNvPr id="31" name="Oval 30">
                <a:extLst>
                  <a:ext uri="{FF2B5EF4-FFF2-40B4-BE49-F238E27FC236}">
                    <a16:creationId xmlns:a16="http://schemas.microsoft.com/office/drawing/2014/main" id="{7AA8C808-7840-3F7D-775B-3ED2084EA5C0}"/>
                  </a:ext>
                </a:extLst>
              </p:cNvPr>
              <p:cNvSpPr/>
              <p:nvPr/>
            </p:nvSpPr>
            <p:spPr>
              <a:xfrm>
                <a:off x="4269754" y="4265497"/>
                <a:ext cx="405037" cy="398900"/>
              </a:xfrm>
              <a:prstGeom prst="ellipse">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Oval 31">
                <a:extLst>
                  <a:ext uri="{FF2B5EF4-FFF2-40B4-BE49-F238E27FC236}">
                    <a16:creationId xmlns:a16="http://schemas.microsoft.com/office/drawing/2014/main" id="{40330FA3-AA31-65F2-39E5-5F5A5DFB8B37}"/>
                  </a:ext>
                </a:extLst>
              </p:cNvPr>
              <p:cNvSpPr/>
              <p:nvPr/>
            </p:nvSpPr>
            <p:spPr>
              <a:xfrm>
                <a:off x="5796822" y="5479240"/>
                <a:ext cx="405037" cy="398900"/>
              </a:xfrm>
              <a:prstGeom prst="ellipse">
                <a:avLst/>
              </a:prstGeom>
              <a:noFill/>
              <a:ln w="28575">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A6803D88-D0F1-E780-4004-CCA456089D9D}"/>
                  </a:ext>
                </a:extLst>
              </p:cNvPr>
              <p:cNvSpPr/>
              <p:nvPr/>
            </p:nvSpPr>
            <p:spPr>
              <a:xfrm>
                <a:off x="7121373" y="5479240"/>
                <a:ext cx="405037" cy="398900"/>
              </a:xfrm>
              <a:prstGeom prst="ellipse">
                <a:avLst/>
              </a:prstGeom>
              <a:noFill/>
              <a:ln w="28575">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4" name="Straight Connector 33">
                <a:extLst>
                  <a:ext uri="{FF2B5EF4-FFF2-40B4-BE49-F238E27FC236}">
                    <a16:creationId xmlns:a16="http://schemas.microsoft.com/office/drawing/2014/main" id="{7B404EA7-003C-A80B-A51E-8202FF84BE48}"/>
                  </a:ext>
                </a:extLst>
              </p:cNvPr>
              <p:cNvCxnSpPr>
                <a:cxnSpLocks/>
              </p:cNvCxnSpPr>
              <p:nvPr/>
            </p:nvCxnSpPr>
            <p:spPr>
              <a:xfrm>
                <a:off x="7302921" y="4664397"/>
                <a:ext cx="12273" cy="827460"/>
              </a:xfrm>
              <a:prstGeom prst="line">
                <a:avLst/>
              </a:prstGeom>
              <a:ln w="19050"/>
            </p:spPr>
            <p:style>
              <a:lnRef idx="1">
                <a:schemeClr val="dk1"/>
              </a:lnRef>
              <a:fillRef idx="0">
                <a:schemeClr val="dk1"/>
              </a:fillRef>
              <a:effectRef idx="0">
                <a:schemeClr val="dk1"/>
              </a:effectRef>
              <a:fontRef idx="minor">
                <a:schemeClr val="tx1"/>
              </a:fontRef>
            </p:style>
          </p:cxnSp>
          <p:sp>
            <p:nvSpPr>
              <p:cNvPr id="35" name="Oval 34">
                <a:extLst>
                  <a:ext uri="{FF2B5EF4-FFF2-40B4-BE49-F238E27FC236}">
                    <a16:creationId xmlns:a16="http://schemas.microsoft.com/office/drawing/2014/main" id="{DC7F3529-978D-BC0B-E8BE-842EE76BE6FF}"/>
                  </a:ext>
                </a:extLst>
              </p:cNvPr>
              <p:cNvSpPr/>
              <p:nvPr/>
            </p:nvSpPr>
            <p:spPr>
              <a:xfrm>
                <a:off x="4275890" y="5491857"/>
                <a:ext cx="405037" cy="398900"/>
              </a:xfrm>
              <a:prstGeom prst="ellipse">
                <a:avLst/>
              </a:prstGeom>
              <a:noFill/>
              <a:ln w="28575">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6" name="Straight Connector 35">
                <a:extLst>
                  <a:ext uri="{FF2B5EF4-FFF2-40B4-BE49-F238E27FC236}">
                    <a16:creationId xmlns:a16="http://schemas.microsoft.com/office/drawing/2014/main" id="{C319E209-40FE-329E-1960-291733AEA425}"/>
                  </a:ext>
                </a:extLst>
              </p:cNvPr>
              <p:cNvCxnSpPr>
                <a:cxnSpLocks/>
              </p:cNvCxnSpPr>
              <p:nvPr/>
            </p:nvCxnSpPr>
            <p:spPr>
              <a:xfrm>
                <a:off x="4472272" y="4651780"/>
                <a:ext cx="12273" cy="827460"/>
              </a:xfrm>
              <a:prstGeom prst="line">
                <a:avLst/>
              </a:prstGeom>
              <a:ln w="19050"/>
            </p:spPr>
            <p:style>
              <a:lnRef idx="1">
                <a:schemeClr val="dk1"/>
              </a:lnRef>
              <a:fillRef idx="0">
                <a:schemeClr val="dk1"/>
              </a:fillRef>
              <a:effectRef idx="0">
                <a:schemeClr val="dk1"/>
              </a:effectRef>
              <a:fontRef idx="minor">
                <a:schemeClr val="tx1"/>
              </a:fontRef>
            </p:style>
          </p:cxnSp>
          <p:cxnSp>
            <p:nvCxnSpPr>
              <p:cNvPr id="37" name="Straight Connector 36">
                <a:extLst>
                  <a:ext uri="{FF2B5EF4-FFF2-40B4-BE49-F238E27FC236}">
                    <a16:creationId xmlns:a16="http://schemas.microsoft.com/office/drawing/2014/main" id="{1A238431-FA37-5496-8D27-99656BA35389}"/>
                  </a:ext>
                </a:extLst>
              </p:cNvPr>
              <p:cNvCxnSpPr>
                <a:cxnSpLocks/>
                <a:stCxn id="29" idx="4"/>
                <a:endCxn id="32" idx="0"/>
              </p:cNvCxnSpPr>
              <p:nvPr/>
            </p:nvCxnSpPr>
            <p:spPr>
              <a:xfrm flipH="1">
                <a:off x="5999341" y="4651780"/>
                <a:ext cx="1324551" cy="827460"/>
              </a:xfrm>
              <a:prstGeom prst="line">
                <a:avLst/>
              </a:prstGeom>
              <a:ln w="19050"/>
            </p:spPr>
            <p:style>
              <a:lnRef idx="1">
                <a:schemeClr val="dk1"/>
              </a:lnRef>
              <a:fillRef idx="0">
                <a:schemeClr val="dk1"/>
              </a:fillRef>
              <a:effectRef idx="0">
                <a:schemeClr val="dk1"/>
              </a:effectRef>
              <a:fontRef idx="minor">
                <a:schemeClr val="tx1"/>
              </a:fontRef>
            </p:style>
          </p:cxnSp>
          <p:cxnSp>
            <p:nvCxnSpPr>
              <p:cNvPr id="38" name="Straight Connector 37">
                <a:extLst>
                  <a:ext uri="{FF2B5EF4-FFF2-40B4-BE49-F238E27FC236}">
                    <a16:creationId xmlns:a16="http://schemas.microsoft.com/office/drawing/2014/main" id="{80B80BD6-C3F9-43D6-B4BF-93CD3D0AD1C1}"/>
                  </a:ext>
                </a:extLst>
              </p:cNvPr>
              <p:cNvCxnSpPr>
                <a:cxnSpLocks/>
                <a:stCxn id="28" idx="4"/>
                <a:endCxn id="33" idx="0"/>
              </p:cNvCxnSpPr>
              <p:nvPr/>
            </p:nvCxnSpPr>
            <p:spPr>
              <a:xfrm>
                <a:off x="5993205" y="4651780"/>
                <a:ext cx="1330687" cy="827460"/>
              </a:xfrm>
              <a:prstGeom prst="line">
                <a:avLst/>
              </a:prstGeom>
              <a:ln w="19050"/>
            </p:spPr>
            <p:style>
              <a:lnRef idx="1">
                <a:schemeClr val="dk1"/>
              </a:lnRef>
              <a:fillRef idx="0">
                <a:schemeClr val="dk1"/>
              </a:fillRef>
              <a:effectRef idx="0">
                <a:schemeClr val="dk1"/>
              </a:effectRef>
              <a:fontRef idx="minor">
                <a:schemeClr val="tx1"/>
              </a:fontRef>
            </p:style>
          </p:cxnSp>
          <p:cxnSp>
            <p:nvCxnSpPr>
              <p:cNvPr id="39" name="Straight Connector 38">
                <a:extLst>
                  <a:ext uri="{FF2B5EF4-FFF2-40B4-BE49-F238E27FC236}">
                    <a16:creationId xmlns:a16="http://schemas.microsoft.com/office/drawing/2014/main" id="{C01F4FBD-3DA8-00B9-04C4-01EBDEF46574}"/>
                  </a:ext>
                </a:extLst>
              </p:cNvPr>
              <p:cNvCxnSpPr>
                <a:cxnSpLocks/>
                <a:endCxn id="32" idx="0"/>
              </p:cNvCxnSpPr>
              <p:nvPr/>
            </p:nvCxnSpPr>
            <p:spPr>
              <a:xfrm>
                <a:off x="4484543" y="4658089"/>
                <a:ext cx="1514798" cy="821151"/>
              </a:xfrm>
              <a:prstGeom prst="line">
                <a:avLst/>
              </a:prstGeom>
              <a:ln w="19050"/>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D8663064-E0F5-10C4-8723-8644446F6C34}"/>
                  </a:ext>
                </a:extLst>
              </p:cNvPr>
              <p:cNvCxnSpPr>
                <a:cxnSpLocks/>
                <a:stCxn id="28" idx="4"/>
                <a:endCxn id="35" idx="0"/>
              </p:cNvCxnSpPr>
              <p:nvPr/>
            </p:nvCxnSpPr>
            <p:spPr>
              <a:xfrm flipH="1">
                <a:off x="4478409" y="4651780"/>
                <a:ext cx="1514796" cy="840077"/>
              </a:xfrm>
              <a:prstGeom prst="line">
                <a:avLst/>
              </a:prstGeom>
              <a:ln w="19050"/>
            </p:spPr>
            <p:style>
              <a:lnRef idx="1">
                <a:schemeClr val="dk1"/>
              </a:lnRef>
              <a:fillRef idx="0">
                <a:schemeClr val="dk1"/>
              </a:fillRef>
              <a:effectRef idx="0">
                <a:schemeClr val="dk1"/>
              </a:effectRef>
              <a:fontRef idx="minor">
                <a:schemeClr val="tx1"/>
              </a:fontRef>
            </p:style>
          </p:cxnSp>
        </p:grpSp>
        <p:sp>
          <p:nvSpPr>
            <p:cNvPr id="41" name="TextBox 40">
              <a:extLst>
                <a:ext uri="{FF2B5EF4-FFF2-40B4-BE49-F238E27FC236}">
                  <a16:creationId xmlns:a16="http://schemas.microsoft.com/office/drawing/2014/main" id="{725658E8-C2D8-D782-9009-2DA4204B0D37}"/>
                </a:ext>
              </a:extLst>
            </p:cNvPr>
            <p:cNvSpPr txBox="1"/>
            <p:nvPr/>
          </p:nvSpPr>
          <p:spPr>
            <a:xfrm>
              <a:off x="6344198" y="2979271"/>
              <a:ext cx="661720" cy="369332"/>
            </a:xfrm>
            <a:prstGeom prst="rect">
              <a:avLst/>
            </a:prstGeom>
            <a:noFill/>
          </p:spPr>
          <p:txBody>
            <a:bodyPr wrap="none" rtlCol="0">
              <a:spAutoFit/>
            </a:bodyPr>
            <a:lstStyle/>
            <a:p>
              <a:r>
                <a:rPr lang="en-US" dirty="0"/>
                <a:t>[2, 3]</a:t>
              </a:r>
            </a:p>
          </p:txBody>
        </p:sp>
        <p:sp>
          <p:nvSpPr>
            <p:cNvPr id="42" name="TextBox 41">
              <a:extLst>
                <a:ext uri="{FF2B5EF4-FFF2-40B4-BE49-F238E27FC236}">
                  <a16:creationId xmlns:a16="http://schemas.microsoft.com/office/drawing/2014/main" id="{317673A1-1234-4247-8AA4-9576A14CE057}"/>
                </a:ext>
              </a:extLst>
            </p:cNvPr>
            <p:cNvSpPr txBox="1"/>
            <p:nvPr/>
          </p:nvSpPr>
          <p:spPr>
            <a:xfrm>
              <a:off x="9140503" y="5050022"/>
              <a:ext cx="661720" cy="369332"/>
            </a:xfrm>
            <a:prstGeom prst="rect">
              <a:avLst/>
            </a:prstGeom>
            <a:noFill/>
          </p:spPr>
          <p:txBody>
            <a:bodyPr wrap="none" rtlCol="0">
              <a:spAutoFit/>
            </a:bodyPr>
            <a:lstStyle/>
            <a:p>
              <a:r>
                <a:rPr lang="en-US" dirty="0"/>
                <a:t>[2, 3]</a:t>
              </a:r>
            </a:p>
          </p:txBody>
        </p:sp>
        <p:sp>
          <p:nvSpPr>
            <p:cNvPr id="43" name="TextBox 42">
              <a:extLst>
                <a:ext uri="{FF2B5EF4-FFF2-40B4-BE49-F238E27FC236}">
                  <a16:creationId xmlns:a16="http://schemas.microsoft.com/office/drawing/2014/main" id="{064C90D3-3EBE-C246-DEE1-F61DFA71D7F2}"/>
                </a:ext>
              </a:extLst>
            </p:cNvPr>
            <p:cNvSpPr txBox="1"/>
            <p:nvPr/>
          </p:nvSpPr>
          <p:spPr>
            <a:xfrm>
              <a:off x="6344198" y="5040236"/>
              <a:ext cx="661720" cy="369332"/>
            </a:xfrm>
            <a:prstGeom prst="rect">
              <a:avLst/>
            </a:prstGeom>
            <a:noFill/>
          </p:spPr>
          <p:txBody>
            <a:bodyPr wrap="none" rtlCol="0">
              <a:spAutoFit/>
            </a:bodyPr>
            <a:lstStyle/>
            <a:p>
              <a:r>
                <a:rPr lang="en-US" dirty="0"/>
                <a:t>[1, 3]</a:t>
              </a:r>
            </a:p>
          </p:txBody>
        </p:sp>
        <p:sp>
          <p:nvSpPr>
            <p:cNvPr id="44" name="TextBox 43">
              <a:extLst>
                <a:ext uri="{FF2B5EF4-FFF2-40B4-BE49-F238E27FC236}">
                  <a16:creationId xmlns:a16="http://schemas.microsoft.com/office/drawing/2014/main" id="{F29BB8C9-1C1B-C6A1-42CE-EFDBC5881838}"/>
                </a:ext>
              </a:extLst>
            </p:cNvPr>
            <p:cNvSpPr txBox="1"/>
            <p:nvPr/>
          </p:nvSpPr>
          <p:spPr>
            <a:xfrm>
              <a:off x="9161214" y="2962816"/>
              <a:ext cx="661720" cy="369332"/>
            </a:xfrm>
            <a:prstGeom prst="rect">
              <a:avLst/>
            </a:prstGeom>
            <a:noFill/>
          </p:spPr>
          <p:txBody>
            <a:bodyPr wrap="none" rtlCol="0">
              <a:spAutoFit/>
            </a:bodyPr>
            <a:lstStyle/>
            <a:p>
              <a:r>
                <a:rPr lang="en-US" dirty="0"/>
                <a:t>[1, 3]</a:t>
              </a:r>
            </a:p>
          </p:txBody>
        </p:sp>
        <p:sp>
          <p:nvSpPr>
            <p:cNvPr id="45" name="TextBox 44">
              <a:extLst>
                <a:ext uri="{FF2B5EF4-FFF2-40B4-BE49-F238E27FC236}">
                  <a16:creationId xmlns:a16="http://schemas.microsoft.com/office/drawing/2014/main" id="{E0E0ADCF-24BD-38F6-C254-DD69788CF714}"/>
                </a:ext>
              </a:extLst>
            </p:cNvPr>
            <p:cNvSpPr txBox="1"/>
            <p:nvPr/>
          </p:nvSpPr>
          <p:spPr>
            <a:xfrm>
              <a:off x="7810009" y="5059643"/>
              <a:ext cx="661720" cy="369332"/>
            </a:xfrm>
            <a:prstGeom prst="rect">
              <a:avLst/>
            </a:prstGeom>
            <a:noFill/>
          </p:spPr>
          <p:txBody>
            <a:bodyPr wrap="none" rtlCol="0">
              <a:spAutoFit/>
            </a:bodyPr>
            <a:lstStyle/>
            <a:p>
              <a:r>
                <a:rPr lang="en-US" dirty="0"/>
                <a:t>[1, 2]</a:t>
              </a:r>
            </a:p>
          </p:txBody>
        </p:sp>
        <p:sp>
          <p:nvSpPr>
            <p:cNvPr id="46" name="TextBox 45">
              <a:extLst>
                <a:ext uri="{FF2B5EF4-FFF2-40B4-BE49-F238E27FC236}">
                  <a16:creationId xmlns:a16="http://schemas.microsoft.com/office/drawing/2014/main" id="{A689585B-7611-89D0-C797-4278FB3BD79A}"/>
                </a:ext>
              </a:extLst>
            </p:cNvPr>
            <p:cNvSpPr txBox="1"/>
            <p:nvPr/>
          </p:nvSpPr>
          <p:spPr>
            <a:xfrm>
              <a:off x="7827715" y="2967546"/>
              <a:ext cx="661720" cy="369332"/>
            </a:xfrm>
            <a:prstGeom prst="rect">
              <a:avLst/>
            </a:prstGeom>
            <a:noFill/>
          </p:spPr>
          <p:txBody>
            <a:bodyPr wrap="none" rtlCol="0">
              <a:spAutoFit/>
            </a:bodyPr>
            <a:lstStyle/>
            <a:p>
              <a:r>
                <a:rPr lang="en-US" dirty="0"/>
                <a:t>[1, 2]</a:t>
              </a:r>
            </a:p>
          </p:txBody>
        </p:sp>
      </p:grpSp>
    </p:spTree>
    <p:extLst>
      <p:ext uri="{BB962C8B-B14F-4D97-AF65-F5344CB8AC3E}">
        <p14:creationId xmlns:p14="http://schemas.microsoft.com/office/powerpoint/2010/main" val="9214931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2A5FB9-8092-6AC4-0B88-415B5224C3DC}"/>
              </a:ext>
            </a:extLst>
          </p:cNvPr>
          <p:cNvSpPr>
            <a:spLocks noGrp="1"/>
          </p:cNvSpPr>
          <p:nvPr>
            <p:ph type="title"/>
          </p:nvPr>
        </p:nvSpPr>
        <p:spPr>
          <a:xfrm>
            <a:off x="777240" y="365760"/>
            <a:ext cx="10890504" cy="1554480"/>
          </a:xfrm>
        </p:spPr>
        <p:txBody>
          <a:bodyPr>
            <a:normAutofit/>
          </a:bodyPr>
          <a:lstStyle/>
          <a:p>
            <a:r>
              <a:rPr lang="en-US" dirty="0">
                <a:latin typeface="+mn-lt"/>
              </a:rPr>
              <a:t>Reducing From NP-complete problem</a:t>
            </a:r>
            <a:br>
              <a:rPr lang="en-US" dirty="0">
                <a:latin typeface="+mn-lt"/>
              </a:rPr>
            </a:br>
            <a:r>
              <a:rPr lang="en-US" sz="3600" dirty="0">
                <a:latin typeface="+mn-lt"/>
              </a:rPr>
              <a:t>List coloring is in NP</a:t>
            </a:r>
            <a:endParaRPr lang="en-US" dirty="0">
              <a:latin typeface="+mn-lt"/>
            </a:endParaRPr>
          </a:p>
        </p:txBody>
      </p:sp>
      <p:sp>
        <p:nvSpPr>
          <p:cNvPr id="4" name="Slide Number Placeholder 3">
            <a:extLst>
              <a:ext uri="{FF2B5EF4-FFF2-40B4-BE49-F238E27FC236}">
                <a16:creationId xmlns:a16="http://schemas.microsoft.com/office/drawing/2014/main" id="{79627B8A-FEDE-CE99-B351-2FB05863D86C}"/>
              </a:ext>
            </a:extLst>
          </p:cNvPr>
          <p:cNvSpPr>
            <a:spLocks noGrp="1"/>
          </p:cNvSpPr>
          <p:nvPr>
            <p:ph type="sldNum" sz="quarter" idx="12"/>
          </p:nvPr>
        </p:nvSpPr>
        <p:spPr/>
        <p:txBody>
          <a:bodyPr/>
          <a:lstStyle/>
          <a:p>
            <a:fld id="{CBD12358-51D2-46B3-9BDE-DF29528B9454}" type="slidenum">
              <a:rPr lang="en-US" smtClean="0"/>
              <a:t>26</a:t>
            </a:fld>
            <a:endParaRPr lang="en-US" dirty="0"/>
          </a:p>
        </p:txBody>
      </p:sp>
      <p:sp>
        <p:nvSpPr>
          <p:cNvPr id="3" name="TextBox 2"/>
          <p:cNvSpPr txBox="1"/>
          <p:nvPr/>
        </p:nvSpPr>
        <p:spPr>
          <a:xfrm>
            <a:off x="777240" y="2606040"/>
            <a:ext cx="10890504" cy="3323987"/>
          </a:xfrm>
          <a:prstGeom prst="rect">
            <a:avLst/>
          </a:prstGeom>
          <a:noFill/>
        </p:spPr>
        <p:txBody>
          <a:bodyPr wrap="square" rtlCol="0">
            <a:spAutoFit/>
          </a:bodyPr>
          <a:lstStyle/>
          <a:p>
            <a:r>
              <a:rPr lang="en-US" sz="3200" dirty="0"/>
              <a:t>If we have an assignment of colors f of a graph we can check in polynomial time-</a:t>
            </a:r>
          </a:p>
          <a:p>
            <a:pPr marL="914400" lvl="1" indent="-457200">
              <a:buFont typeface="Arial" panose="020B0604020202020204" pitchFamily="34" charset="0"/>
              <a:buChar char="•"/>
            </a:pPr>
            <a:r>
              <a:rPr lang="en-US" sz="3200" dirty="0"/>
              <a:t>f(v) ∈ L(v) for </a:t>
            </a:r>
            <a:r>
              <a:rPr lang="en-US" sz="3200" dirty="0">
                <a:ea typeface="+mn-lt"/>
                <a:cs typeface="+mn-lt"/>
              </a:rPr>
              <a:t>∀v </a:t>
            </a:r>
            <a:r>
              <a:rPr lang="en-US" sz="3200" dirty="0"/>
              <a:t>∈ V</a:t>
            </a:r>
          </a:p>
          <a:p>
            <a:pPr marL="914400" lvl="1" indent="-457200">
              <a:buFont typeface="Arial" panose="020B0604020202020204" pitchFamily="34" charset="0"/>
              <a:buChar char="•"/>
            </a:pPr>
            <a:r>
              <a:rPr lang="en-US" sz="3200" dirty="0"/>
              <a:t>f(u) ≠ f(v) for (u, v) ∈ E</a:t>
            </a:r>
          </a:p>
          <a:p>
            <a:pPr marL="914400" lvl="1" indent="-457200">
              <a:buFont typeface="Arial" panose="020B0604020202020204" pitchFamily="34" charset="0"/>
              <a:buChar char="•"/>
            </a:pPr>
            <a:endParaRPr lang="en-US" sz="3200" dirty="0"/>
          </a:p>
          <a:p>
            <a:r>
              <a:rPr lang="en-US" sz="3200" dirty="0"/>
              <a:t>So, list coloring is in NP.</a:t>
            </a:r>
          </a:p>
          <a:p>
            <a:pPr marL="742950" lvl="1" indent="-285750">
              <a:buFont typeface="Arial" panose="020B0604020202020204" pitchFamily="34" charset="0"/>
              <a:buChar char="•"/>
            </a:pPr>
            <a:endParaRPr lang="en-US" dirty="0"/>
          </a:p>
        </p:txBody>
      </p:sp>
    </p:spTree>
    <p:extLst>
      <p:ext uri="{BB962C8B-B14F-4D97-AF65-F5344CB8AC3E}">
        <p14:creationId xmlns:p14="http://schemas.microsoft.com/office/powerpoint/2010/main" val="2458437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2A5FB9-8092-6AC4-0B88-415B5224C3DC}"/>
              </a:ext>
            </a:extLst>
          </p:cNvPr>
          <p:cNvSpPr>
            <a:spLocks noGrp="1"/>
          </p:cNvSpPr>
          <p:nvPr>
            <p:ph type="title"/>
          </p:nvPr>
        </p:nvSpPr>
        <p:spPr>
          <a:xfrm>
            <a:off x="777240" y="365760"/>
            <a:ext cx="10890504" cy="1554480"/>
          </a:xfrm>
        </p:spPr>
        <p:txBody>
          <a:bodyPr>
            <a:normAutofit/>
          </a:bodyPr>
          <a:lstStyle/>
          <a:p>
            <a:r>
              <a:rPr lang="en-US" dirty="0">
                <a:latin typeface="+mn-lt"/>
              </a:rPr>
              <a:t>Reducing From NP-complete problem</a:t>
            </a:r>
            <a:br>
              <a:rPr lang="en-US" dirty="0">
                <a:latin typeface="+mn-lt"/>
              </a:rPr>
            </a:br>
            <a:r>
              <a:rPr lang="en-US" sz="3600" dirty="0">
                <a:latin typeface="+mn-lt"/>
              </a:rPr>
              <a:t>Graph coloring to List coloring</a:t>
            </a:r>
            <a:endParaRPr lang="en-US" dirty="0">
              <a:latin typeface="+mn-lt"/>
            </a:endParaRPr>
          </a:p>
        </p:txBody>
      </p:sp>
      <p:sp>
        <p:nvSpPr>
          <p:cNvPr id="3" name="Slide Number Placeholder 2">
            <a:extLst>
              <a:ext uri="{FF2B5EF4-FFF2-40B4-BE49-F238E27FC236}">
                <a16:creationId xmlns:a16="http://schemas.microsoft.com/office/drawing/2014/main" id="{AF910333-33A8-333A-9B65-40A4F873A189}"/>
              </a:ext>
            </a:extLst>
          </p:cNvPr>
          <p:cNvSpPr>
            <a:spLocks noGrp="1"/>
          </p:cNvSpPr>
          <p:nvPr>
            <p:ph type="sldNum" sz="quarter" idx="12"/>
          </p:nvPr>
        </p:nvSpPr>
        <p:spPr/>
        <p:txBody>
          <a:bodyPr/>
          <a:lstStyle/>
          <a:p>
            <a:fld id="{CBD12358-51D2-46B3-9BDE-DF29528B9454}" type="slidenum">
              <a:rPr lang="en-US" smtClean="0"/>
              <a:t>27</a:t>
            </a:fld>
            <a:endParaRPr lang="en-US" dirty="0"/>
          </a:p>
        </p:txBody>
      </p:sp>
      <p:grpSp>
        <p:nvGrpSpPr>
          <p:cNvPr id="33" name="Group 32"/>
          <p:cNvGrpSpPr/>
          <p:nvPr/>
        </p:nvGrpSpPr>
        <p:grpSpPr>
          <a:xfrm>
            <a:off x="262971" y="3336030"/>
            <a:ext cx="12157901" cy="1984795"/>
            <a:chOff x="115252" y="3422015"/>
            <a:chExt cx="12157901" cy="1984795"/>
          </a:xfrm>
        </p:grpSpPr>
        <p:sp>
          <p:nvSpPr>
            <p:cNvPr id="6" name="Rounded Rectangle 5"/>
            <p:cNvSpPr/>
            <p:nvPr/>
          </p:nvSpPr>
          <p:spPr>
            <a:xfrm>
              <a:off x="4871276" y="3433127"/>
              <a:ext cx="2641473" cy="1432560"/>
            </a:xfrm>
            <a:prstGeom prst="roundRect">
              <a:avLst/>
            </a:prstGeom>
            <a:solidFill>
              <a:schemeClr val="accent3">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ysClr val="windowText" lastClr="000000"/>
                  </a:solidFill>
                </a:rPr>
                <a:t>Black box solver of List coloring</a:t>
              </a:r>
              <a:r>
                <a:rPr lang="en-US" b="1" dirty="0">
                  <a:solidFill>
                    <a:sysClr val="windowText" lastClr="000000"/>
                  </a:solidFill>
                </a:rPr>
                <a:t> </a:t>
              </a:r>
            </a:p>
          </p:txBody>
        </p:sp>
        <p:sp>
          <p:nvSpPr>
            <p:cNvPr id="7" name="Rounded Rectangle 6"/>
            <p:cNvSpPr/>
            <p:nvPr/>
          </p:nvSpPr>
          <p:spPr>
            <a:xfrm>
              <a:off x="1792224" y="3422015"/>
              <a:ext cx="1402080" cy="1432560"/>
            </a:xfrm>
            <a:prstGeom prst="round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9250680" y="3433127"/>
              <a:ext cx="1463040" cy="1432560"/>
            </a:xfrm>
            <a:prstGeom prst="round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Arrow Connector 9"/>
            <p:cNvCxnSpPr>
              <a:stCxn id="7" idx="3"/>
              <a:endCxn id="6" idx="1"/>
            </p:cNvCxnSpPr>
            <p:nvPr/>
          </p:nvCxnSpPr>
          <p:spPr>
            <a:xfrm>
              <a:off x="3194304" y="4138295"/>
              <a:ext cx="1676972" cy="11112"/>
            </a:xfrm>
            <a:prstGeom prst="straightConnector1">
              <a:avLst/>
            </a:prstGeom>
            <a:ln w="76200">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stCxn id="6" idx="3"/>
              <a:endCxn id="8" idx="1"/>
            </p:cNvCxnSpPr>
            <p:nvPr/>
          </p:nvCxnSpPr>
          <p:spPr>
            <a:xfrm>
              <a:off x="7512749" y="4149407"/>
              <a:ext cx="1737931" cy="0"/>
            </a:xfrm>
            <a:prstGeom prst="straightConnector1">
              <a:avLst/>
            </a:prstGeom>
            <a:ln w="76200">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endCxn id="7" idx="1"/>
            </p:cNvCxnSpPr>
            <p:nvPr/>
          </p:nvCxnSpPr>
          <p:spPr>
            <a:xfrm>
              <a:off x="268224" y="4116070"/>
              <a:ext cx="1524000" cy="22225"/>
            </a:xfrm>
            <a:prstGeom prst="straightConnector1">
              <a:avLst/>
            </a:prstGeom>
            <a:ln w="76200">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stCxn id="8" idx="3"/>
            </p:cNvCxnSpPr>
            <p:nvPr/>
          </p:nvCxnSpPr>
          <p:spPr>
            <a:xfrm flipV="1">
              <a:off x="10713720" y="4127182"/>
              <a:ext cx="1112520" cy="22225"/>
            </a:xfrm>
            <a:prstGeom prst="straightConnector1">
              <a:avLst/>
            </a:prstGeom>
            <a:ln w="76200">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115252" y="4357855"/>
              <a:ext cx="1778889" cy="1015663"/>
            </a:xfrm>
            <a:prstGeom prst="rect">
              <a:avLst/>
            </a:prstGeom>
            <a:noFill/>
          </p:spPr>
          <p:txBody>
            <a:bodyPr wrap="square" rtlCol="0">
              <a:spAutoFit/>
            </a:bodyPr>
            <a:lstStyle/>
            <a:p>
              <a:r>
                <a:rPr lang="en-US" sz="2000" b="1" dirty="0"/>
                <a:t>Input Instance of graph coloring</a:t>
              </a:r>
            </a:p>
          </p:txBody>
        </p:sp>
        <p:sp>
          <p:nvSpPr>
            <p:cNvPr id="29" name="TextBox 28"/>
            <p:cNvSpPr txBox="1"/>
            <p:nvPr/>
          </p:nvSpPr>
          <p:spPr>
            <a:xfrm>
              <a:off x="3256692" y="4357855"/>
              <a:ext cx="1778889" cy="707886"/>
            </a:xfrm>
            <a:prstGeom prst="rect">
              <a:avLst/>
            </a:prstGeom>
            <a:noFill/>
          </p:spPr>
          <p:txBody>
            <a:bodyPr wrap="square" rtlCol="0">
              <a:spAutoFit/>
            </a:bodyPr>
            <a:lstStyle/>
            <a:p>
              <a:r>
                <a:rPr lang="en-US" sz="2000" b="1" dirty="0"/>
                <a:t>Input Instance of list coloring</a:t>
              </a:r>
            </a:p>
          </p:txBody>
        </p:sp>
        <p:sp>
          <p:nvSpPr>
            <p:cNvPr id="30" name="TextBox 29"/>
            <p:cNvSpPr txBox="1"/>
            <p:nvPr/>
          </p:nvSpPr>
          <p:spPr>
            <a:xfrm>
              <a:off x="7739445" y="4391147"/>
              <a:ext cx="1511236" cy="707886"/>
            </a:xfrm>
            <a:prstGeom prst="rect">
              <a:avLst/>
            </a:prstGeom>
            <a:noFill/>
          </p:spPr>
          <p:txBody>
            <a:bodyPr wrap="square" rtlCol="0">
              <a:spAutoFit/>
            </a:bodyPr>
            <a:lstStyle/>
            <a:p>
              <a:r>
                <a:rPr lang="en-US" sz="2000" b="1" dirty="0"/>
                <a:t>Output of list coloring</a:t>
              </a:r>
            </a:p>
          </p:txBody>
        </p:sp>
        <p:sp>
          <p:nvSpPr>
            <p:cNvPr id="31" name="TextBox 30"/>
            <p:cNvSpPr txBox="1"/>
            <p:nvPr/>
          </p:nvSpPr>
          <p:spPr>
            <a:xfrm>
              <a:off x="10761917" y="4391147"/>
              <a:ext cx="1511236" cy="1015663"/>
            </a:xfrm>
            <a:prstGeom prst="rect">
              <a:avLst/>
            </a:prstGeom>
            <a:noFill/>
          </p:spPr>
          <p:txBody>
            <a:bodyPr wrap="square" rtlCol="0">
              <a:spAutoFit/>
            </a:bodyPr>
            <a:lstStyle/>
            <a:p>
              <a:r>
                <a:rPr lang="en-US" sz="2000" b="1" dirty="0"/>
                <a:t>Output of graph coloring</a:t>
              </a:r>
            </a:p>
          </p:txBody>
        </p:sp>
      </p:grpSp>
      <mc:AlternateContent xmlns:mc="http://schemas.openxmlformats.org/markup-compatibility/2006">
        <mc:Choice xmlns:a14="http://schemas.microsoft.com/office/drawing/2010/main" Requires="a14">
          <p:sp>
            <p:nvSpPr>
              <p:cNvPr id="32" name="Rectangle 31"/>
              <p:cNvSpPr/>
              <p:nvPr/>
            </p:nvSpPr>
            <p:spPr>
              <a:xfrm>
                <a:off x="640080" y="2127794"/>
                <a:ext cx="11027664" cy="859531"/>
              </a:xfrm>
              <a:prstGeom prst="rect">
                <a:avLst/>
              </a:prstGeom>
            </p:spPr>
            <p:txBody>
              <a:bodyPr wrap="square">
                <a:spAutoFit/>
              </a:bodyPr>
              <a:lstStyle/>
              <a:p>
                <a:r>
                  <a:rPr lang="en-US" sz="2400" dirty="0"/>
                  <a:t>We will show :	</a:t>
                </a:r>
              </a:p>
              <a:p>
                <a:r>
                  <a:rPr lang="en-US" sz="2400" dirty="0"/>
                  <a:t>	</a:t>
                </a:r>
                <a14:m>
                  <m:oMath xmlns:m="http://schemas.openxmlformats.org/officeDocument/2006/math">
                    <m:r>
                      <a:rPr lang="en-US" sz="2400" b="1" i="1" dirty="0" smtClean="0">
                        <a:solidFill>
                          <a:srgbClr val="FF0000"/>
                        </a:solidFill>
                        <a:latin typeface="Cambria Math" panose="02040503050406030204" pitchFamily="18" charset="0"/>
                      </a:rPr>
                      <m:t>𝐆</m:t>
                    </m:r>
                    <m:r>
                      <a:rPr lang="en-US" sz="2400" b="1" i="0" dirty="0" smtClean="0">
                        <a:solidFill>
                          <a:srgbClr val="FF0000"/>
                        </a:solidFill>
                        <a:latin typeface="Cambria Math" panose="02040503050406030204" pitchFamily="18" charset="0"/>
                      </a:rPr>
                      <m:t>𝐫𝐚𝐩𝐡</m:t>
                    </m:r>
                    <m:r>
                      <a:rPr lang="en-US" sz="2400" b="1" dirty="0">
                        <a:solidFill>
                          <a:srgbClr val="FF0000"/>
                        </a:solidFill>
                        <a:latin typeface="Cambria Math" panose="02040503050406030204" pitchFamily="18" charset="0"/>
                      </a:rPr>
                      <m:t> </m:t>
                    </m:r>
                    <m:r>
                      <a:rPr lang="en-US" sz="2400" b="1" i="1" dirty="0">
                        <a:solidFill>
                          <a:srgbClr val="FF0000"/>
                        </a:solidFill>
                        <a:latin typeface="Cambria Math" panose="02040503050406030204" pitchFamily="18" charset="0"/>
                      </a:rPr>
                      <m:t>𝐂𝐨𝐥𝐨𝐫𝐢𝐧𝐠</m:t>
                    </m:r>
                    <m:r>
                      <a:rPr lang="en-US" sz="2400" b="1" dirty="0">
                        <a:solidFill>
                          <a:srgbClr val="FF0000"/>
                        </a:solidFill>
                        <a:latin typeface="Cambria Math" panose="02040503050406030204" pitchFamily="18" charset="0"/>
                      </a:rPr>
                      <m:t> </m:t>
                    </m:r>
                    <m:sSub>
                      <m:sSubPr>
                        <m:ctrlPr>
                          <a:rPr lang="en-US" sz="2400" b="1" i="1" dirty="0" smtClean="0">
                            <a:solidFill>
                              <a:srgbClr val="FF0000"/>
                            </a:solidFill>
                            <a:latin typeface="Cambria Math" panose="02040503050406030204" pitchFamily="18" charset="0"/>
                          </a:rPr>
                        </m:ctrlPr>
                      </m:sSubPr>
                      <m:e>
                        <m:r>
                          <a:rPr lang="en-US" sz="2400" b="1" i="1" dirty="0">
                            <a:solidFill>
                              <a:srgbClr val="FF0000"/>
                            </a:solidFill>
                            <a:latin typeface="Cambria Math" panose="02040503050406030204" pitchFamily="18" charset="0"/>
                          </a:rPr>
                          <m:t>≤</m:t>
                        </m:r>
                      </m:e>
                      <m:sub>
                        <m:r>
                          <a:rPr lang="en-US" sz="2400" b="1" i="1" dirty="0" smtClean="0">
                            <a:solidFill>
                              <a:srgbClr val="FF0000"/>
                            </a:solidFill>
                            <a:latin typeface="Cambria Math" panose="02040503050406030204" pitchFamily="18" charset="0"/>
                          </a:rPr>
                          <m:t>𝒑</m:t>
                        </m:r>
                      </m:sub>
                    </m:sSub>
                    <m:r>
                      <a:rPr lang="en-US" sz="2400" b="1" i="0" dirty="0" smtClean="0">
                        <a:solidFill>
                          <a:srgbClr val="FF0000"/>
                        </a:solidFill>
                        <a:latin typeface="Cambria Math" panose="02040503050406030204" pitchFamily="18" charset="0"/>
                      </a:rPr>
                      <m:t>𝐋𝐢𝐬𝐭</m:t>
                    </m:r>
                    <m:r>
                      <a:rPr lang="en-US" sz="2400" b="1" dirty="0">
                        <a:solidFill>
                          <a:srgbClr val="FF0000"/>
                        </a:solidFill>
                        <a:latin typeface="Cambria Math" panose="02040503050406030204" pitchFamily="18" charset="0"/>
                      </a:rPr>
                      <m:t> </m:t>
                    </m:r>
                    <m:r>
                      <a:rPr lang="en-US" sz="2400" b="1" i="1" dirty="0">
                        <a:solidFill>
                          <a:srgbClr val="FF0000"/>
                        </a:solidFill>
                        <a:latin typeface="Cambria Math" panose="02040503050406030204" pitchFamily="18" charset="0"/>
                      </a:rPr>
                      <m:t>𝐂𝐨𝐥𝐨𝐫𝐢𝐧𝐠</m:t>
                    </m:r>
                  </m:oMath>
                </a14:m>
                <a:endParaRPr lang="en-US" sz="2400" b="1" dirty="0"/>
              </a:p>
            </p:txBody>
          </p:sp>
        </mc:Choice>
        <mc:Fallback>
          <p:sp>
            <p:nvSpPr>
              <p:cNvPr id="32" name="Rectangle 31"/>
              <p:cNvSpPr>
                <a:spLocks noRot="1" noChangeAspect="1" noMove="1" noResize="1" noEditPoints="1" noAdjustHandles="1" noChangeArrowheads="1" noChangeShapeType="1" noTextEdit="1"/>
              </p:cNvSpPr>
              <p:nvPr/>
            </p:nvSpPr>
            <p:spPr>
              <a:xfrm>
                <a:off x="640080" y="2127794"/>
                <a:ext cx="11027664" cy="859531"/>
              </a:xfrm>
              <a:prstGeom prst="rect">
                <a:avLst/>
              </a:prstGeom>
              <a:blipFill>
                <a:blip r:embed="rId2"/>
                <a:stretch>
                  <a:fillRect l="-829" t="-5674" b="-7092"/>
                </a:stretch>
              </a:blipFill>
            </p:spPr>
            <p:txBody>
              <a:bodyPr/>
              <a:lstStyle/>
              <a:p>
                <a:r>
                  <a:rPr lang="en-US">
                    <a:noFill/>
                  </a:rPr>
                  <a:t> </a:t>
                </a:r>
              </a:p>
            </p:txBody>
          </p:sp>
        </mc:Fallback>
      </mc:AlternateContent>
    </p:spTree>
    <p:extLst>
      <p:ext uri="{BB962C8B-B14F-4D97-AF65-F5344CB8AC3E}">
        <p14:creationId xmlns:p14="http://schemas.microsoft.com/office/powerpoint/2010/main" val="366053190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2A5FB9-8092-6AC4-0B88-415B5224C3DC}"/>
              </a:ext>
            </a:extLst>
          </p:cNvPr>
          <p:cNvSpPr>
            <a:spLocks noGrp="1"/>
          </p:cNvSpPr>
          <p:nvPr>
            <p:ph type="title"/>
          </p:nvPr>
        </p:nvSpPr>
        <p:spPr>
          <a:xfrm>
            <a:off x="777240" y="365760"/>
            <a:ext cx="10890504" cy="1554480"/>
          </a:xfrm>
        </p:spPr>
        <p:txBody>
          <a:bodyPr>
            <a:normAutofit/>
          </a:bodyPr>
          <a:lstStyle/>
          <a:p>
            <a:r>
              <a:rPr lang="en-US" dirty="0">
                <a:latin typeface="+mn-lt"/>
              </a:rPr>
              <a:t>Reducing From NP-complete problem</a:t>
            </a:r>
            <a:br>
              <a:rPr lang="en-US" dirty="0">
                <a:latin typeface="+mn-lt"/>
              </a:rPr>
            </a:br>
            <a:r>
              <a:rPr lang="en-US" b="1" dirty="0">
                <a:latin typeface="+mn-lt"/>
              </a:rPr>
              <a:t>Construction</a:t>
            </a:r>
            <a:endParaRPr lang="en-US" dirty="0">
              <a:latin typeface="+mn-lt"/>
            </a:endParaRPr>
          </a:p>
        </p:txBody>
      </p:sp>
      <p:sp>
        <p:nvSpPr>
          <p:cNvPr id="3" name="Slide Number Placeholder 2">
            <a:extLst>
              <a:ext uri="{FF2B5EF4-FFF2-40B4-BE49-F238E27FC236}">
                <a16:creationId xmlns:a16="http://schemas.microsoft.com/office/drawing/2014/main" id="{4C926734-1169-EBE9-BFD4-A3D42E9F997A}"/>
              </a:ext>
            </a:extLst>
          </p:cNvPr>
          <p:cNvSpPr>
            <a:spLocks noGrp="1"/>
          </p:cNvSpPr>
          <p:nvPr>
            <p:ph type="sldNum" sz="quarter" idx="12"/>
          </p:nvPr>
        </p:nvSpPr>
        <p:spPr/>
        <p:txBody>
          <a:bodyPr/>
          <a:lstStyle/>
          <a:p>
            <a:fld id="{CBD12358-51D2-46B3-9BDE-DF29528B9454}" type="slidenum">
              <a:rPr lang="en-US" smtClean="0"/>
              <a:t>28</a:t>
            </a:fld>
            <a:endParaRPr lang="en-US" dirty="0"/>
          </a:p>
        </p:txBody>
      </p:sp>
      <p:sp>
        <p:nvSpPr>
          <p:cNvPr id="32" name="Rectangle 31"/>
          <p:cNvSpPr/>
          <p:nvPr/>
        </p:nvSpPr>
        <p:spPr>
          <a:xfrm>
            <a:off x="640080" y="2127794"/>
            <a:ext cx="8382000" cy="4401205"/>
          </a:xfrm>
          <a:prstGeom prst="rect">
            <a:avLst/>
          </a:prstGeom>
        </p:spPr>
        <p:txBody>
          <a:bodyPr wrap="square">
            <a:spAutoFit/>
          </a:bodyPr>
          <a:lstStyle/>
          <a:p>
            <a:r>
              <a:rPr lang="en-US" sz="2000" dirty="0"/>
              <a:t>Suppose we are given a graph G and we want to determine if it is k-colorable. To do this, we will construct a new graph G′ with the following properties:</a:t>
            </a:r>
          </a:p>
          <a:p>
            <a:pPr marL="285750" indent="-285750">
              <a:buFont typeface="Arial" panose="020B0604020202020204" pitchFamily="34" charset="0"/>
              <a:buChar char="•"/>
            </a:pPr>
            <a:r>
              <a:rPr lang="en-US" sz="2000" dirty="0"/>
              <a:t>The vertices of the new graph G′ are the same as the vertices of the original graph G:</a:t>
            </a:r>
          </a:p>
          <a:p>
            <a:pPr lvl="1"/>
            <a:r>
              <a:rPr lang="en-US" sz="2000" dirty="0"/>
              <a:t>V(G′)=V(G).</a:t>
            </a:r>
          </a:p>
          <a:p>
            <a:pPr marL="285750" indent="-285750">
              <a:buFont typeface="Arial" panose="020B0604020202020204" pitchFamily="34" charset="0"/>
              <a:buChar char="•"/>
            </a:pPr>
            <a:r>
              <a:rPr lang="en-US" sz="2000" dirty="0"/>
              <a:t>The edges of the new graph G′ are the same as the edges of the original graph G:</a:t>
            </a:r>
          </a:p>
          <a:p>
            <a:pPr lvl="1"/>
            <a:r>
              <a:rPr lang="en-US" sz="2000" dirty="0"/>
              <a:t>E(G′)=E(G).</a:t>
            </a:r>
          </a:p>
          <a:p>
            <a:pPr marL="285750" indent="-285750">
              <a:buFont typeface="Arial" panose="020B0604020202020204" pitchFamily="34" charset="0"/>
              <a:buChar char="•"/>
            </a:pPr>
            <a:r>
              <a:rPr lang="en-US" sz="2000" dirty="0"/>
              <a:t>We </a:t>
            </a:r>
            <a:r>
              <a:rPr lang="en-US" sz="2000" dirty="0" err="1"/>
              <a:t>we</a:t>
            </a:r>
            <a:r>
              <a:rPr lang="en-US" sz="2000" dirty="0"/>
              <a:t> create a list L of k distinct colors as {1,2,3 …, k}</a:t>
            </a:r>
          </a:p>
          <a:p>
            <a:pPr marL="285750" indent="-285750">
              <a:buFont typeface="Arial" panose="020B0604020202020204" pitchFamily="34" charset="0"/>
              <a:buChar char="•"/>
            </a:pPr>
            <a:r>
              <a:rPr lang="en-US" sz="2000" dirty="0"/>
              <a:t>For each vertex </a:t>
            </a:r>
            <a:r>
              <a:rPr lang="en-US" sz="2000" dirty="0" err="1"/>
              <a:t>v∈V</a:t>
            </a:r>
            <a:r>
              <a:rPr lang="en-US" sz="2000" dirty="0"/>
              <a:t>(G′), we will assign list L</a:t>
            </a:r>
          </a:p>
          <a:p>
            <a:pPr marL="285750" indent="-285750">
              <a:buFont typeface="Arial" panose="020B0604020202020204" pitchFamily="34" charset="0"/>
              <a:buChar char="•"/>
            </a:pPr>
            <a:endParaRPr lang="en-US" sz="2000" dirty="0"/>
          </a:p>
          <a:p>
            <a:r>
              <a:rPr lang="en-US" sz="2000" dirty="0"/>
              <a:t>Thus, the list for each vertex </a:t>
            </a:r>
            <a:r>
              <a:rPr lang="en-US" sz="2000" dirty="0" err="1"/>
              <a:t>v∈V</a:t>
            </a:r>
            <a:r>
              <a:rPr lang="en-US" sz="2000" dirty="0"/>
              <a:t>(G′) contains same k colors. The resulting instance (G', L) is a </a:t>
            </a:r>
            <a:r>
              <a:rPr lang="en-US" sz="2000" b="1" dirty="0"/>
              <a:t>list coloring</a:t>
            </a:r>
            <a:r>
              <a:rPr lang="en-US" sz="2000" dirty="0"/>
              <a:t> problem, where G′ is the graph and L is the list assignment.</a:t>
            </a:r>
          </a:p>
        </p:txBody>
      </p:sp>
      <p:grpSp>
        <p:nvGrpSpPr>
          <p:cNvPr id="17" name="Group 16"/>
          <p:cNvGrpSpPr/>
          <p:nvPr/>
        </p:nvGrpSpPr>
        <p:grpSpPr>
          <a:xfrm rot="1910531">
            <a:off x="10009040" y="2200216"/>
            <a:ext cx="1254934" cy="1427514"/>
            <a:chOff x="5672264" y="4404214"/>
            <a:chExt cx="1844715" cy="1993724"/>
          </a:xfrm>
        </p:grpSpPr>
        <p:grpSp>
          <p:nvGrpSpPr>
            <p:cNvPr id="19" name="Group 18"/>
            <p:cNvGrpSpPr/>
            <p:nvPr/>
          </p:nvGrpSpPr>
          <p:grpSpPr>
            <a:xfrm>
              <a:off x="5672264" y="4404214"/>
              <a:ext cx="1844715" cy="1993724"/>
              <a:chOff x="5938520" y="2432234"/>
              <a:chExt cx="1844715" cy="1993724"/>
            </a:xfrm>
          </p:grpSpPr>
          <p:sp>
            <p:nvSpPr>
              <p:cNvPr id="24" name="Oval 23"/>
              <p:cNvSpPr/>
              <p:nvPr/>
            </p:nvSpPr>
            <p:spPr>
              <a:xfrm>
                <a:off x="5988247" y="3238108"/>
                <a:ext cx="335280" cy="3556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p:cNvSpPr/>
              <p:nvPr/>
            </p:nvSpPr>
            <p:spPr>
              <a:xfrm>
                <a:off x="5938520" y="4070358"/>
                <a:ext cx="335280" cy="3556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p:cNvSpPr/>
              <p:nvPr/>
            </p:nvSpPr>
            <p:spPr>
              <a:xfrm>
                <a:off x="7447955" y="3277879"/>
                <a:ext cx="335280" cy="3556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p:cNvSpPr/>
              <p:nvPr/>
            </p:nvSpPr>
            <p:spPr>
              <a:xfrm>
                <a:off x="6349236" y="2432234"/>
                <a:ext cx="335279" cy="3556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5" name="Straight Connector 34"/>
              <p:cNvCxnSpPr>
                <a:stCxn id="24" idx="0"/>
                <a:endCxn id="34" idx="4"/>
              </p:cNvCxnSpPr>
              <p:nvPr/>
            </p:nvCxnSpPr>
            <p:spPr>
              <a:xfrm rot="19689469" flipV="1">
                <a:off x="6058036" y="2912192"/>
                <a:ext cx="556691" cy="20155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a:stCxn id="24" idx="4"/>
                <a:endCxn id="26" idx="0"/>
              </p:cNvCxnSpPr>
              <p:nvPr/>
            </p:nvCxnSpPr>
            <p:spPr>
              <a:xfrm flipH="1">
                <a:off x="6106160" y="3593708"/>
                <a:ext cx="49727" cy="47665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a:stCxn id="24" idx="6"/>
                <a:endCxn id="28" idx="2"/>
              </p:cNvCxnSpPr>
              <p:nvPr/>
            </p:nvCxnSpPr>
            <p:spPr>
              <a:xfrm>
                <a:off x="6323527" y="3415908"/>
                <a:ext cx="1124428" cy="3977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1" name="Straight Connector 20"/>
            <p:cNvCxnSpPr>
              <a:stCxn id="28" idx="3"/>
              <a:endCxn id="26" idx="6"/>
            </p:cNvCxnSpPr>
            <p:nvPr/>
          </p:nvCxnSpPr>
          <p:spPr>
            <a:xfrm flipH="1">
              <a:off x="6007544" y="5553383"/>
              <a:ext cx="1223256" cy="66675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4" name="Group 13"/>
          <p:cNvGrpSpPr/>
          <p:nvPr/>
        </p:nvGrpSpPr>
        <p:grpSpPr>
          <a:xfrm>
            <a:off x="9322447" y="4480100"/>
            <a:ext cx="2351263" cy="1485691"/>
            <a:chOff x="9322447" y="3921300"/>
            <a:chExt cx="2351263" cy="1485691"/>
          </a:xfrm>
        </p:grpSpPr>
        <p:grpSp>
          <p:nvGrpSpPr>
            <p:cNvPr id="52" name="Group 51"/>
            <p:cNvGrpSpPr/>
            <p:nvPr/>
          </p:nvGrpSpPr>
          <p:grpSpPr>
            <a:xfrm rot="1910531">
              <a:off x="10052475" y="3979477"/>
              <a:ext cx="1254934" cy="1427514"/>
              <a:chOff x="5672264" y="4404214"/>
              <a:chExt cx="1844715" cy="1993724"/>
            </a:xfrm>
          </p:grpSpPr>
          <p:grpSp>
            <p:nvGrpSpPr>
              <p:cNvPr id="53" name="Group 52"/>
              <p:cNvGrpSpPr/>
              <p:nvPr/>
            </p:nvGrpSpPr>
            <p:grpSpPr>
              <a:xfrm>
                <a:off x="5672264" y="4404214"/>
                <a:ext cx="1844715" cy="1993724"/>
                <a:chOff x="5938520" y="2432234"/>
                <a:chExt cx="1844715" cy="1993724"/>
              </a:xfrm>
            </p:grpSpPr>
            <p:sp>
              <p:nvSpPr>
                <p:cNvPr id="55" name="Oval 54"/>
                <p:cNvSpPr/>
                <p:nvPr/>
              </p:nvSpPr>
              <p:spPr>
                <a:xfrm>
                  <a:off x="5988247" y="3238108"/>
                  <a:ext cx="335280" cy="3556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p:cNvSpPr/>
                <p:nvPr/>
              </p:nvSpPr>
              <p:spPr>
                <a:xfrm>
                  <a:off x="5938520" y="4070358"/>
                  <a:ext cx="335280" cy="3556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p:cNvSpPr/>
                <p:nvPr/>
              </p:nvSpPr>
              <p:spPr>
                <a:xfrm>
                  <a:off x="7447955" y="3277879"/>
                  <a:ext cx="335280" cy="3556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Oval 57"/>
                <p:cNvSpPr/>
                <p:nvPr/>
              </p:nvSpPr>
              <p:spPr>
                <a:xfrm>
                  <a:off x="6349236" y="2432234"/>
                  <a:ext cx="335279" cy="3556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9" name="Straight Connector 58"/>
                <p:cNvCxnSpPr>
                  <a:stCxn id="55" idx="0"/>
                  <a:endCxn id="58" idx="4"/>
                </p:cNvCxnSpPr>
                <p:nvPr/>
              </p:nvCxnSpPr>
              <p:spPr>
                <a:xfrm rot="19689469" flipV="1">
                  <a:off x="6058036" y="2912192"/>
                  <a:ext cx="556691" cy="20155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Straight Connector 59"/>
                <p:cNvCxnSpPr>
                  <a:stCxn id="55" idx="4"/>
                  <a:endCxn id="56" idx="0"/>
                </p:cNvCxnSpPr>
                <p:nvPr/>
              </p:nvCxnSpPr>
              <p:spPr>
                <a:xfrm flipH="1">
                  <a:off x="6106160" y="3593708"/>
                  <a:ext cx="49727" cy="47665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Straight Connector 60"/>
                <p:cNvCxnSpPr>
                  <a:stCxn id="55" idx="6"/>
                  <a:endCxn id="57" idx="2"/>
                </p:cNvCxnSpPr>
                <p:nvPr/>
              </p:nvCxnSpPr>
              <p:spPr>
                <a:xfrm>
                  <a:off x="6323527" y="3415908"/>
                  <a:ext cx="1124428" cy="3977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4" name="Straight Connector 53"/>
              <p:cNvCxnSpPr>
                <a:stCxn id="57" idx="3"/>
                <a:endCxn id="56" idx="6"/>
              </p:cNvCxnSpPr>
              <p:nvPr/>
            </p:nvCxnSpPr>
            <p:spPr>
              <a:xfrm flipH="1">
                <a:off x="6007544" y="5553383"/>
                <a:ext cx="1223256" cy="66675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3" name="Group 12"/>
            <p:cNvGrpSpPr/>
            <p:nvPr/>
          </p:nvGrpSpPr>
          <p:grpSpPr>
            <a:xfrm>
              <a:off x="9322447" y="4873012"/>
              <a:ext cx="289210" cy="338689"/>
              <a:chOff x="9220199" y="5081066"/>
              <a:chExt cx="714186" cy="969849"/>
            </a:xfrm>
          </p:grpSpPr>
          <p:sp>
            <p:nvSpPr>
              <p:cNvPr id="12" name="Rectangle 11"/>
              <p:cNvSpPr/>
              <p:nvPr/>
            </p:nvSpPr>
            <p:spPr>
              <a:xfrm>
                <a:off x="9220200" y="5419756"/>
                <a:ext cx="714185" cy="325724"/>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p:cNvSpPr/>
              <p:nvPr/>
            </p:nvSpPr>
            <p:spPr>
              <a:xfrm>
                <a:off x="9220200" y="5725191"/>
                <a:ext cx="714185" cy="325724"/>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p:cNvSpPr/>
              <p:nvPr/>
            </p:nvSpPr>
            <p:spPr>
              <a:xfrm>
                <a:off x="9220199" y="5081066"/>
                <a:ext cx="714185" cy="325724"/>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4" name="Group 63"/>
            <p:cNvGrpSpPr/>
            <p:nvPr/>
          </p:nvGrpSpPr>
          <p:grpSpPr>
            <a:xfrm>
              <a:off x="9789780" y="3957240"/>
              <a:ext cx="289210" cy="338689"/>
              <a:chOff x="9220199" y="5081066"/>
              <a:chExt cx="714186" cy="969849"/>
            </a:xfrm>
          </p:grpSpPr>
          <p:sp>
            <p:nvSpPr>
              <p:cNvPr id="65" name="Rectangle 64"/>
              <p:cNvSpPr/>
              <p:nvPr/>
            </p:nvSpPr>
            <p:spPr>
              <a:xfrm>
                <a:off x="9220200" y="5419756"/>
                <a:ext cx="714185" cy="325724"/>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Rectangle 65"/>
              <p:cNvSpPr/>
              <p:nvPr/>
            </p:nvSpPr>
            <p:spPr>
              <a:xfrm>
                <a:off x="9220200" y="5725191"/>
                <a:ext cx="714185" cy="325724"/>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66"/>
              <p:cNvSpPr/>
              <p:nvPr/>
            </p:nvSpPr>
            <p:spPr>
              <a:xfrm>
                <a:off x="9220199" y="5081066"/>
                <a:ext cx="714185" cy="325724"/>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8" name="Group 67"/>
            <p:cNvGrpSpPr/>
            <p:nvPr/>
          </p:nvGrpSpPr>
          <p:grpSpPr>
            <a:xfrm>
              <a:off x="11384500" y="4997462"/>
              <a:ext cx="289210" cy="338689"/>
              <a:chOff x="9220199" y="5081066"/>
              <a:chExt cx="714186" cy="969849"/>
            </a:xfrm>
          </p:grpSpPr>
          <p:sp>
            <p:nvSpPr>
              <p:cNvPr id="69" name="Rectangle 68"/>
              <p:cNvSpPr/>
              <p:nvPr/>
            </p:nvSpPr>
            <p:spPr>
              <a:xfrm>
                <a:off x="9220200" y="5419756"/>
                <a:ext cx="714185" cy="325724"/>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p:cNvSpPr/>
              <p:nvPr/>
            </p:nvSpPr>
            <p:spPr>
              <a:xfrm>
                <a:off x="9220200" y="5725191"/>
                <a:ext cx="714185" cy="325724"/>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p:cNvSpPr/>
              <p:nvPr/>
            </p:nvSpPr>
            <p:spPr>
              <a:xfrm>
                <a:off x="9220199" y="5081066"/>
                <a:ext cx="714185" cy="325724"/>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2" name="Group 71"/>
            <p:cNvGrpSpPr/>
            <p:nvPr/>
          </p:nvGrpSpPr>
          <p:grpSpPr>
            <a:xfrm>
              <a:off x="11057605" y="3921300"/>
              <a:ext cx="289210" cy="338689"/>
              <a:chOff x="9220199" y="5081066"/>
              <a:chExt cx="714186" cy="969849"/>
            </a:xfrm>
          </p:grpSpPr>
          <p:sp>
            <p:nvSpPr>
              <p:cNvPr id="73" name="Rectangle 72"/>
              <p:cNvSpPr/>
              <p:nvPr/>
            </p:nvSpPr>
            <p:spPr>
              <a:xfrm>
                <a:off x="9220200" y="5419756"/>
                <a:ext cx="714185" cy="325724"/>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p:cNvSpPr/>
              <p:nvPr/>
            </p:nvSpPr>
            <p:spPr>
              <a:xfrm>
                <a:off x="9220200" y="5725191"/>
                <a:ext cx="714185" cy="325724"/>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p:cNvSpPr/>
              <p:nvPr/>
            </p:nvSpPr>
            <p:spPr>
              <a:xfrm>
                <a:off x="9220199" y="5081066"/>
                <a:ext cx="714185" cy="325724"/>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cxnSp>
        <p:nvCxnSpPr>
          <p:cNvPr id="79" name="Straight Arrow Connector 78"/>
          <p:cNvCxnSpPr/>
          <p:nvPr/>
        </p:nvCxnSpPr>
        <p:spPr>
          <a:xfrm>
            <a:off x="10398115" y="3409969"/>
            <a:ext cx="0" cy="826751"/>
          </a:xfrm>
          <a:prstGeom prst="straightConnector1">
            <a:avLst/>
          </a:prstGeom>
          <a:ln w="7620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7967355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2A5FB9-8092-6AC4-0B88-415B5224C3DC}"/>
              </a:ext>
            </a:extLst>
          </p:cNvPr>
          <p:cNvSpPr>
            <a:spLocks noGrp="1"/>
          </p:cNvSpPr>
          <p:nvPr>
            <p:ph type="title"/>
          </p:nvPr>
        </p:nvSpPr>
        <p:spPr>
          <a:xfrm>
            <a:off x="777240" y="365760"/>
            <a:ext cx="10890504" cy="1554480"/>
          </a:xfrm>
        </p:spPr>
        <p:txBody>
          <a:bodyPr>
            <a:normAutofit/>
          </a:bodyPr>
          <a:lstStyle/>
          <a:p>
            <a:r>
              <a:rPr lang="en-US" dirty="0">
                <a:latin typeface="+mn-lt"/>
              </a:rPr>
              <a:t>Reducing From NP-complete problem</a:t>
            </a:r>
            <a:br>
              <a:rPr lang="en-US" dirty="0">
                <a:latin typeface="+mn-lt"/>
              </a:rPr>
            </a:br>
            <a:r>
              <a:rPr lang="en-US" b="1" dirty="0">
                <a:latin typeface="+mn-lt"/>
              </a:rPr>
              <a:t>Claim</a:t>
            </a:r>
            <a:endParaRPr lang="en-US" dirty="0">
              <a:latin typeface="+mn-lt"/>
            </a:endParaRPr>
          </a:p>
        </p:txBody>
      </p:sp>
      <p:sp>
        <p:nvSpPr>
          <p:cNvPr id="3" name="Slide Number Placeholder 2">
            <a:extLst>
              <a:ext uri="{FF2B5EF4-FFF2-40B4-BE49-F238E27FC236}">
                <a16:creationId xmlns:a16="http://schemas.microsoft.com/office/drawing/2014/main" id="{160452AE-1955-59F6-5563-9930E9ED572E}"/>
              </a:ext>
            </a:extLst>
          </p:cNvPr>
          <p:cNvSpPr>
            <a:spLocks noGrp="1"/>
          </p:cNvSpPr>
          <p:nvPr>
            <p:ph type="sldNum" sz="quarter" idx="12"/>
          </p:nvPr>
        </p:nvSpPr>
        <p:spPr/>
        <p:txBody>
          <a:bodyPr/>
          <a:lstStyle/>
          <a:p>
            <a:fld id="{CBD12358-51D2-46B3-9BDE-DF29528B9454}" type="slidenum">
              <a:rPr lang="en-US" smtClean="0"/>
              <a:t>29</a:t>
            </a:fld>
            <a:endParaRPr lang="en-US" dirty="0"/>
          </a:p>
        </p:txBody>
      </p:sp>
      <mc:AlternateContent xmlns:mc="http://schemas.openxmlformats.org/markup-compatibility/2006" xmlns:a14="http://schemas.microsoft.com/office/drawing/2010/main">
        <mc:Choice Requires="a14">
          <p:sp>
            <p:nvSpPr>
              <p:cNvPr id="32" name="Rectangle 31"/>
              <p:cNvSpPr/>
              <p:nvPr/>
            </p:nvSpPr>
            <p:spPr>
              <a:xfrm>
                <a:off x="640080" y="2127794"/>
                <a:ext cx="11027664" cy="490519"/>
              </a:xfrm>
              <a:prstGeom prst="rect">
                <a:avLst/>
              </a:prstGeom>
            </p:spPr>
            <p:txBody>
              <a:bodyPr wrap="square">
                <a:spAutoFit/>
              </a:bodyPr>
              <a:lstStyle/>
              <a:p>
                <a14:m>
                  <m:oMath xmlns:m="http://schemas.openxmlformats.org/officeDocument/2006/math">
                    <m:sSup>
                      <m:sSupPr>
                        <m:ctrlPr>
                          <a:rPr lang="en-US" sz="2400" i="1" dirty="0">
                            <a:solidFill>
                              <a:srgbClr val="836967"/>
                            </a:solidFill>
                            <a:latin typeface="Cambria Math" panose="02040503050406030204" pitchFamily="18" charset="0"/>
                          </a:rPr>
                        </m:ctrlPr>
                      </m:sSupPr>
                      <m:e>
                        <m:r>
                          <a:rPr lang="en-US" sz="2400" i="1" dirty="0">
                            <a:latin typeface="Cambria Math" panose="02040503050406030204" pitchFamily="18" charset="0"/>
                          </a:rPr>
                          <m:t>𝐺</m:t>
                        </m:r>
                      </m:e>
                      <m:sup>
                        <m:r>
                          <a:rPr lang="en-US" sz="2400" dirty="0">
                            <a:latin typeface="Cambria Math" panose="02040503050406030204" pitchFamily="18" charset="0"/>
                          </a:rPr>
                          <m:t> </m:t>
                        </m:r>
                      </m:sup>
                    </m:sSup>
                  </m:oMath>
                </a14:m>
                <a:r>
                  <a:rPr lang="en-US" sz="2400" dirty="0"/>
                  <a:t> has a k-coloring if and only if </a:t>
                </a:r>
                <a14:m>
                  <m:oMath xmlns:m="http://schemas.openxmlformats.org/officeDocument/2006/math">
                    <m:sSup>
                      <m:sSupPr>
                        <m:ctrlPr>
                          <a:rPr lang="en-US" sz="2400" i="1" dirty="0">
                            <a:solidFill>
                              <a:srgbClr val="836967"/>
                            </a:solidFill>
                            <a:latin typeface="Cambria Math" panose="02040503050406030204" pitchFamily="18" charset="0"/>
                          </a:rPr>
                        </m:ctrlPr>
                      </m:sSupPr>
                      <m:e>
                        <m:r>
                          <a:rPr lang="en-US" sz="2400" i="1" dirty="0">
                            <a:latin typeface="Cambria Math" panose="02040503050406030204" pitchFamily="18" charset="0"/>
                          </a:rPr>
                          <m:t>𝐺</m:t>
                        </m:r>
                      </m:e>
                      <m:sup>
                        <m:r>
                          <a:rPr lang="en-US" sz="2400" dirty="0">
                            <a:latin typeface="Cambria Math" panose="02040503050406030204" pitchFamily="18" charset="0"/>
                          </a:rPr>
                          <m:t>′</m:t>
                        </m:r>
                      </m:sup>
                    </m:sSup>
                  </m:oMath>
                </a14:m>
                <a:r>
                  <a:rPr lang="en-US" sz="2400" dirty="0"/>
                  <a:t> has a proper coloring.</a:t>
                </a:r>
              </a:p>
            </p:txBody>
          </p:sp>
        </mc:Choice>
        <mc:Fallback xmlns="">
          <p:sp>
            <p:nvSpPr>
              <p:cNvPr id="32" name="Rectangle 31"/>
              <p:cNvSpPr>
                <a:spLocks noRot="1" noChangeAspect="1" noMove="1" noResize="1" noEditPoints="1" noAdjustHandles="1" noChangeArrowheads="1" noChangeShapeType="1" noTextEdit="1"/>
              </p:cNvSpPr>
              <p:nvPr/>
            </p:nvSpPr>
            <p:spPr>
              <a:xfrm>
                <a:off x="640080" y="2127794"/>
                <a:ext cx="11027664" cy="490519"/>
              </a:xfrm>
              <a:prstGeom prst="rect">
                <a:avLst/>
              </a:prstGeom>
              <a:blipFill>
                <a:blip r:embed="rId2"/>
                <a:stretch>
                  <a:fillRect l="-111" t="-9877" b="-20988"/>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85591CE6-4F30-47B1-E2A0-D528063F8F69}"/>
                  </a:ext>
                </a:extLst>
              </p:cNvPr>
              <p:cNvSpPr txBox="1"/>
              <p:nvPr/>
            </p:nvSpPr>
            <p:spPr>
              <a:xfrm>
                <a:off x="777240" y="2677305"/>
                <a:ext cx="7753069" cy="3170099"/>
              </a:xfrm>
              <a:prstGeom prst="rect">
                <a:avLst/>
              </a:prstGeom>
              <a:noFill/>
            </p:spPr>
            <p:txBody>
              <a:bodyPr wrap="square" rtlCol="0">
                <a:spAutoFit/>
              </a:bodyPr>
              <a:lstStyle/>
              <a:p>
                <a:r>
                  <a:rPr lang="en-US" sz="2000" b="1" dirty="0"/>
                  <a:t>Necessity</a:t>
                </a:r>
                <a:r>
                  <a:rPr lang="en-US" dirty="0"/>
                  <a:t>:  </a:t>
                </a:r>
                <a14:m>
                  <m:oMath xmlns:m="http://schemas.openxmlformats.org/officeDocument/2006/math">
                    <m:sSup>
                      <m:sSupPr>
                        <m:ctrlPr>
                          <a:rPr lang="en-US" i="1" dirty="0" smtClean="0">
                            <a:solidFill>
                              <a:srgbClr val="836967"/>
                            </a:solidFill>
                            <a:latin typeface="Cambria Math" panose="02040503050406030204" pitchFamily="18" charset="0"/>
                          </a:rPr>
                        </m:ctrlPr>
                      </m:sSupPr>
                      <m:e>
                        <m:r>
                          <a:rPr lang="en-US" i="1" dirty="0">
                            <a:latin typeface="Cambria Math" panose="02040503050406030204" pitchFamily="18" charset="0"/>
                          </a:rPr>
                          <m:t>𝐺</m:t>
                        </m:r>
                      </m:e>
                      <m:sup>
                        <m:r>
                          <a:rPr lang="en-US" b="0" i="0" dirty="0" smtClean="0">
                            <a:latin typeface="Cambria Math" panose="02040503050406030204" pitchFamily="18" charset="0"/>
                          </a:rPr>
                          <m:t> </m:t>
                        </m:r>
                      </m:sup>
                    </m:sSup>
                  </m:oMath>
                </a14:m>
                <a:r>
                  <a:rPr lang="en-US" dirty="0"/>
                  <a:t>has a k-coloring.</a:t>
                </a:r>
              </a:p>
              <a:p>
                <a:r>
                  <a:rPr lang="en-US" dirty="0"/>
                  <a:t>If </a:t>
                </a:r>
                <a14:m>
                  <m:oMath xmlns:m="http://schemas.openxmlformats.org/officeDocument/2006/math">
                    <m:sSup>
                      <m:sSupPr>
                        <m:ctrlPr>
                          <a:rPr lang="en-US" i="1" dirty="0">
                            <a:solidFill>
                              <a:srgbClr val="836967"/>
                            </a:solidFill>
                            <a:latin typeface="Cambria Math" panose="02040503050406030204" pitchFamily="18" charset="0"/>
                          </a:rPr>
                        </m:ctrlPr>
                      </m:sSupPr>
                      <m:e>
                        <m:r>
                          <a:rPr lang="en-US" i="1" dirty="0">
                            <a:latin typeface="Cambria Math" panose="02040503050406030204" pitchFamily="18" charset="0"/>
                          </a:rPr>
                          <m:t>𝐺</m:t>
                        </m:r>
                      </m:e>
                      <m:sup>
                        <m:r>
                          <a:rPr lang="en-US" dirty="0">
                            <a:latin typeface="Cambria Math" panose="02040503050406030204" pitchFamily="18" charset="0"/>
                          </a:rPr>
                          <m:t> </m:t>
                        </m:r>
                      </m:sup>
                    </m:sSup>
                    <m:r>
                      <a:rPr lang="en-US" i="1" dirty="0">
                        <a:latin typeface="Cambria Math" panose="02040503050406030204" pitchFamily="18" charset="0"/>
                      </a:rPr>
                      <m:t> </m:t>
                    </m:r>
                  </m:oMath>
                </a14:m>
                <a:r>
                  <a:rPr lang="en-US" dirty="0"/>
                  <a:t>has a k-coloring, then we will take this coloring and assign to G’.</a:t>
                </a:r>
              </a:p>
              <a:p>
                <a:r>
                  <a:rPr lang="en-US" dirty="0"/>
                  <a:t>Now obviously f(v) ∈ L(v) for each v ∈ V and adjacent vertices will have different color. </a:t>
                </a:r>
              </a:p>
              <a:p>
                <a:endParaRPr lang="en-US" dirty="0"/>
              </a:p>
              <a:p>
                <a:r>
                  <a:rPr lang="en-US" dirty="0"/>
                  <a:t>If </a:t>
                </a:r>
                <a14:m>
                  <m:oMath xmlns:m="http://schemas.openxmlformats.org/officeDocument/2006/math">
                    <m:sSup>
                      <m:sSupPr>
                        <m:ctrlPr>
                          <a:rPr lang="en-US" i="1" dirty="0">
                            <a:solidFill>
                              <a:srgbClr val="836967"/>
                            </a:solidFill>
                            <a:latin typeface="Cambria Math" panose="02040503050406030204" pitchFamily="18" charset="0"/>
                          </a:rPr>
                        </m:ctrlPr>
                      </m:sSupPr>
                      <m:e>
                        <m:r>
                          <a:rPr lang="en-US" i="1" dirty="0">
                            <a:latin typeface="Cambria Math" panose="02040503050406030204" pitchFamily="18" charset="0"/>
                          </a:rPr>
                          <m:t>𝐺</m:t>
                        </m:r>
                      </m:e>
                      <m:sup>
                        <m:r>
                          <a:rPr lang="en-US" dirty="0">
                            <a:latin typeface="Cambria Math" panose="02040503050406030204" pitchFamily="18" charset="0"/>
                          </a:rPr>
                          <m:t>′</m:t>
                        </m:r>
                      </m:sup>
                    </m:sSup>
                  </m:oMath>
                </a14:m>
                <a:r>
                  <a:rPr lang="en-US" dirty="0"/>
                  <a:t> doesn’t have a proper coloring then their must be two adjacent vertices having the same color. That means in the original graph we can’t get a graph coloring, a contradiction!</a:t>
                </a:r>
              </a:p>
              <a:p>
                <a:endParaRPr lang="en-US" dirty="0"/>
              </a:p>
              <a:p>
                <a:r>
                  <a:rPr lang="en-US" dirty="0"/>
                  <a:t>Thus, </a:t>
                </a:r>
                <a14:m>
                  <m:oMath xmlns:m="http://schemas.openxmlformats.org/officeDocument/2006/math">
                    <m:sSup>
                      <m:sSupPr>
                        <m:ctrlPr>
                          <a:rPr lang="en-US" i="1" dirty="0">
                            <a:solidFill>
                              <a:srgbClr val="836967"/>
                            </a:solidFill>
                            <a:latin typeface="Cambria Math" panose="02040503050406030204" pitchFamily="18" charset="0"/>
                          </a:rPr>
                        </m:ctrlPr>
                      </m:sSupPr>
                      <m:e>
                        <m:r>
                          <a:rPr lang="en-US" i="1" dirty="0">
                            <a:latin typeface="Cambria Math" panose="02040503050406030204" pitchFamily="18" charset="0"/>
                          </a:rPr>
                          <m:t>𝐺</m:t>
                        </m:r>
                      </m:e>
                      <m:sup>
                        <m:r>
                          <a:rPr lang="en-US" dirty="0">
                            <a:latin typeface="Cambria Math" panose="02040503050406030204" pitchFamily="18" charset="0"/>
                          </a:rPr>
                          <m:t>′</m:t>
                        </m:r>
                      </m:sup>
                    </m:sSup>
                  </m:oMath>
                </a14:m>
                <a:r>
                  <a:rPr lang="en-US" dirty="0"/>
                  <a:t> has a proper list coloring. </a:t>
                </a:r>
              </a:p>
              <a:p>
                <a:endParaRPr lang="en-US" dirty="0"/>
              </a:p>
            </p:txBody>
          </p:sp>
        </mc:Choice>
        <mc:Fallback>
          <p:sp>
            <p:nvSpPr>
              <p:cNvPr id="6" name="TextBox 5">
                <a:extLst>
                  <a:ext uri="{FF2B5EF4-FFF2-40B4-BE49-F238E27FC236}">
                    <a16:creationId xmlns:a16="http://schemas.microsoft.com/office/drawing/2014/main" id="{85591CE6-4F30-47B1-E2A0-D528063F8F69}"/>
                  </a:ext>
                </a:extLst>
              </p:cNvPr>
              <p:cNvSpPr txBox="1">
                <a:spLocks noRot="1" noChangeAspect="1" noMove="1" noResize="1" noEditPoints="1" noAdjustHandles="1" noChangeArrowheads="1" noChangeShapeType="1" noTextEdit="1"/>
              </p:cNvSpPr>
              <p:nvPr/>
            </p:nvSpPr>
            <p:spPr>
              <a:xfrm>
                <a:off x="777240" y="2677305"/>
                <a:ext cx="7753069" cy="3170099"/>
              </a:xfrm>
              <a:prstGeom prst="rect">
                <a:avLst/>
              </a:prstGeom>
              <a:blipFill>
                <a:blip r:embed="rId3"/>
                <a:stretch>
                  <a:fillRect l="-865" t="-962"/>
                </a:stretch>
              </a:blipFill>
            </p:spPr>
            <p:txBody>
              <a:bodyPr/>
              <a:lstStyle/>
              <a:p>
                <a:r>
                  <a:rPr lang="en-US">
                    <a:noFill/>
                  </a:rPr>
                  <a:t> </a:t>
                </a:r>
              </a:p>
            </p:txBody>
          </p:sp>
        </mc:Fallback>
      </mc:AlternateContent>
      <p:grpSp>
        <p:nvGrpSpPr>
          <p:cNvPr id="44" name="Group 43">
            <a:extLst>
              <a:ext uri="{FF2B5EF4-FFF2-40B4-BE49-F238E27FC236}">
                <a16:creationId xmlns:a16="http://schemas.microsoft.com/office/drawing/2014/main" id="{36ADD918-3E5D-389C-6AF9-744E9078501C}"/>
              </a:ext>
            </a:extLst>
          </p:cNvPr>
          <p:cNvGrpSpPr/>
          <p:nvPr/>
        </p:nvGrpSpPr>
        <p:grpSpPr>
          <a:xfrm>
            <a:off x="9322447" y="2200216"/>
            <a:ext cx="2351263" cy="3765575"/>
            <a:chOff x="9322447" y="2200216"/>
            <a:chExt cx="2351263" cy="3765575"/>
          </a:xfrm>
        </p:grpSpPr>
        <p:grpSp>
          <p:nvGrpSpPr>
            <p:cNvPr id="4" name="Group 3">
              <a:extLst>
                <a:ext uri="{FF2B5EF4-FFF2-40B4-BE49-F238E27FC236}">
                  <a16:creationId xmlns:a16="http://schemas.microsoft.com/office/drawing/2014/main" id="{E11474A4-12AE-ADBF-6AF2-32D21AFB3641}"/>
                </a:ext>
              </a:extLst>
            </p:cNvPr>
            <p:cNvGrpSpPr/>
            <p:nvPr/>
          </p:nvGrpSpPr>
          <p:grpSpPr>
            <a:xfrm rot="1910531">
              <a:off x="10009040" y="2200216"/>
              <a:ext cx="1254934" cy="1427514"/>
              <a:chOff x="5672264" y="4404214"/>
              <a:chExt cx="1844715" cy="1993724"/>
            </a:xfrm>
          </p:grpSpPr>
          <p:grpSp>
            <p:nvGrpSpPr>
              <p:cNvPr id="5" name="Group 4">
                <a:extLst>
                  <a:ext uri="{FF2B5EF4-FFF2-40B4-BE49-F238E27FC236}">
                    <a16:creationId xmlns:a16="http://schemas.microsoft.com/office/drawing/2014/main" id="{C462AD7C-E6B3-1189-F7E2-B1028C8DB028}"/>
                  </a:ext>
                </a:extLst>
              </p:cNvPr>
              <p:cNvGrpSpPr/>
              <p:nvPr/>
            </p:nvGrpSpPr>
            <p:grpSpPr>
              <a:xfrm>
                <a:off x="5672264" y="4404214"/>
                <a:ext cx="1844715" cy="1993724"/>
                <a:chOff x="5938520" y="2432234"/>
                <a:chExt cx="1844715" cy="1993724"/>
              </a:xfrm>
            </p:grpSpPr>
            <p:sp>
              <p:nvSpPr>
                <p:cNvPr id="8" name="Oval 7">
                  <a:extLst>
                    <a:ext uri="{FF2B5EF4-FFF2-40B4-BE49-F238E27FC236}">
                      <a16:creationId xmlns:a16="http://schemas.microsoft.com/office/drawing/2014/main" id="{88B76AFC-E534-7A30-B169-B59200875F17}"/>
                    </a:ext>
                  </a:extLst>
                </p:cNvPr>
                <p:cNvSpPr/>
                <p:nvPr/>
              </p:nvSpPr>
              <p:spPr>
                <a:xfrm>
                  <a:off x="5988247" y="3238108"/>
                  <a:ext cx="335280" cy="35560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Oval 8">
                  <a:extLst>
                    <a:ext uri="{FF2B5EF4-FFF2-40B4-BE49-F238E27FC236}">
                      <a16:creationId xmlns:a16="http://schemas.microsoft.com/office/drawing/2014/main" id="{D71964E8-E655-58FB-2449-D295BCE2921D}"/>
                    </a:ext>
                  </a:extLst>
                </p:cNvPr>
                <p:cNvSpPr/>
                <p:nvPr/>
              </p:nvSpPr>
              <p:spPr>
                <a:xfrm>
                  <a:off x="5938520" y="4070358"/>
                  <a:ext cx="335280" cy="355600"/>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EBC388FF-DDBD-A9D4-1260-1DF4F08F0C5A}"/>
                    </a:ext>
                  </a:extLst>
                </p:cNvPr>
                <p:cNvSpPr/>
                <p:nvPr/>
              </p:nvSpPr>
              <p:spPr>
                <a:xfrm>
                  <a:off x="7447955" y="3277879"/>
                  <a:ext cx="335280" cy="3556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BC17FB2C-6933-EC1B-76D7-B6626C723C3B}"/>
                    </a:ext>
                  </a:extLst>
                </p:cNvPr>
                <p:cNvSpPr/>
                <p:nvPr/>
              </p:nvSpPr>
              <p:spPr>
                <a:xfrm>
                  <a:off x="6349236" y="2432234"/>
                  <a:ext cx="335279" cy="3556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E04D4950-0E9B-D1CF-9A3A-DE7FE4013DF3}"/>
                    </a:ext>
                  </a:extLst>
                </p:cNvPr>
                <p:cNvCxnSpPr>
                  <a:stCxn id="8" idx="0"/>
                  <a:endCxn id="11" idx="4"/>
                </p:cNvCxnSpPr>
                <p:nvPr/>
              </p:nvCxnSpPr>
              <p:spPr>
                <a:xfrm rot="19689469" flipV="1">
                  <a:off x="6058036" y="2912192"/>
                  <a:ext cx="556691" cy="20155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5A4A5AA-C7B4-CDC9-14B7-F70E48870D7A}"/>
                    </a:ext>
                  </a:extLst>
                </p:cNvPr>
                <p:cNvCxnSpPr>
                  <a:stCxn id="8" idx="4"/>
                  <a:endCxn id="9" idx="0"/>
                </p:cNvCxnSpPr>
                <p:nvPr/>
              </p:nvCxnSpPr>
              <p:spPr>
                <a:xfrm flipH="1">
                  <a:off x="6106160" y="3593708"/>
                  <a:ext cx="49727" cy="47665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F5AE8A17-1BA6-C431-35AF-771F167879B6}"/>
                    </a:ext>
                  </a:extLst>
                </p:cNvPr>
                <p:cNvCxnSpPr>
                  <a:stCxn id="8" idx="6"/>
                  <a:endCxn id="10" idx="2"/>
                </p:cNvCxnSpPr>
                <p:nvPr/>
              </p:nvCxnSpPr>
              <p:spPr>
                <a:xfrm>
                  <a:off x="6323527" y="3415908"/>
                  <a:ext cx="1124428" cy="3977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7" name="Straight Connector 6">
                <a:extLst>
                  <a:ext uri="{FF2B5EF4-FFF2-40B4-BE49-F238E27FC236}">
                    <a16:creationId xmlns:a16="http://schemas.microsoft.com/office/drawing/2014/main" id="{335FBE83-B23C-40FF-CAE5-F9D73A901282}"/>
                  </a:ext>
                </a:extLst>
              </p:cNvPr>
              <p:cNvCxnSpPr>
                <a:stCxn id="10" idx="3"/>
                <a:endCxn id="9" idx="6"/>
              </p:cNvCxnSpPr>
              <p:nvPr/>
            </p:nvCxnSpPr>
            <p:spPr>
              <a:xfrm flipH="1">
                <a:off x="6007544" y="5553383"/>
                <a:ext cx="1223256" cy="66675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5" name="Group 14">
              <a:extLst>
                <a:ext uri="{FF2B5EF4-FFF2-40B4-BE49-F238E27FC236}">
                  <a16:creationId xmlns:a16="http://schemas.microsoft.com/office/drawing/2014/main" id="{B25CC6CF-CB91-51DB-9F0C-DD845AFB78CC}"/>
                </a:ext>
              </a:extLst>
            </p:cNvPr>
            <p:cNvGrpSpPr/>
            <p:nvPr/>
          </p:nvGrpSpPr>
          <p:grpSpPr>
            <a:xfrm>
              <a:off x="9322447" y="4480100"/>
              <a:ext cx="2351263" cy="1485691"/>
              <a:chOff x="9322447" y="3921300"/>
              <a:chExt cx="2351263" cy="1485691"/>
            </a:xfrm>
          </p:grpSpPr>
          <p:grpSp>
            <p:nvGrpSpPr>
              <p:cNvPr id="16" name="Group 15">
                <a:extLst>
                  <a:ext uri="{FF2B5EF4-FFF2-40B4-BE49-F238E27FC236}">
                    <a16:creationId xmlns:a16="http://schemas.microsoft.com/office/drawing/2014/main" id="{BEEE2D97-F65F-6F79-B3AF-799EC0EC0669}"/>
                  </a:ext>
                </a:extLst>
              </p:cNvPr>
              <p:cNvGrpSpPr/>
              <p:nvPr/>
            </p:nvGrpSpPr>
            <p:grpSpPr>
              <a:xfrm rot="1910531">
                <a:off x="10052475" y="3979477"/>
                <a:ext cx="1254934" cy="1427514"/>
                <a:chOff x="5672264" y="4404214"/>
                <a:chExt cx="1844715" cy="1993724"/>
              </a:xfrm>
            </p:grpSpPr>
            <p:grpSp>
              <p:nvGrpSpPr>
                <p:cNvPr id="34" name="Group 33">
                  <a:extLst>
                    <a:ext uri="{FF2B5EF4-FFF2-40B4-BE49-F238E27FC236}">
                      <a16:creationId xmlns:a16="http://schemas.microsoft.com/office/drawing/2014/main" id="{52D9D981-3CF4-9576-8B0E-BF6938B1F689}"/>
                    </a:ext>
                  </a:extLst>
                </p:cNvPr>
                <p:cNvGrpSpPr/>
                <p:nvPr/>
              </p:nvGrpSpPr>
              <p:grpSpPr>
                <a:xfrm>
                  <a:off x="5672264" y="4404214"/>
                  <a:ext cx="1844715" cy="1993724"/>
                  <a:chOff x="5938520" y="2432234"/>
                  <a:chExt cx="1844715" cy="1993724"/>
                </a:xfrm>
              </p:grpSpPr>
              <p:sp>
                <p:nvSpPr>
                  <p:cNvPr id="36" name="Oval 35">
                    <a:extLst>
                      <a:ext uri="{FF2B5EF4-FFF2-40B4-BE49-F238E27FC236}">
                        <a16:creationId xmlns:a16="http://schemas.microsoft.com/office/drawing/2014/main" id="{B7AEE0AC-1A78-E4E6-B6EC-781C8A62269F}"/>
                      </a:ext>
                    </a:extLst>
                  </p:cNvPr>
                  <p:cNvSpPr/>
                  <p:nvPr/>
                </p:nvSpPr>
                <p:spPr>
                  <a:xfrm>
                    <a:off x="5988247" y="3238108"/>
                    <a:ext cx="335280" cy="3556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CE86AEF1-BAF0-697A-3615-1250355E4D18}"/>
                      </a:ext>
                    </a:extLst>
                  </p:cNvPr>
                  <p:cNvSpPr/>
                  <p:nvPr/>
                </p:nvSpPr>
                <p:spPr>
                  <a:xfrm>
                    <a:off x="5938520" y="4070358"/>
                    <a:ext cx="335280" cy="3556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B026AFCE-9DD4-EAD1-21CA-DD562B0AD33E}"/>
                      </a:ext>
                    </a:extLst>
                  </p:cNvPr>
                  <p:cNvSpPr/>
                  <p:nvPr/>
                </p:nvSpPr>
                <p:spPr>
                  <a:xfrm>
                    <a:off x="7447955" y="3277879"/>
                    <a:ext cx="335280" cy="3556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A665978F-F47D-45C1-B115-9CC7739F7EA5}"/>
                      </a:ext>
                    </a:extLst>
                  </p:cNvPr>
                  <p:cNvSpPr/>
                  <p:nvPr/>
                </p:nvSpPr>
                <p:spPr>
                  <a:xfrm>
                    <a:off x="6349236" y="2432234"/>
                    <a:ext cx="335279" cy="3556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0" name="Straight Connector 39">
                    <a:extLst>
                      <a:ext uri="{FF2B5EF4-FFF2-40B4-BE49-F238E27FC236}">
                        <a16:creationId xmlns:a16="http://schemas.microsoft.com/office/drawing/2014/main" id="{8E0920E0-67B5-3A85-A237-2D31CAAACB7A}"/>
                      </a:ext>
                    </a:extLst>
                  </p:cNvPr>
                  <p:cNvCxnSpPr>
                    <a:stCxn id="36" idx="0"/>
                    <a:endCxn id="39" idx="4"/>
                  </p:cNvCxnSpPr>
                  <p:nvPr/>
                </p:nvCxnSpPr>
                <p:spPr>
                  <a:xfrm rot="19689469" flipV="1">
                    <a:off x="6058036" y="2912192"/>
                    <a:ext cx="556691" cy="20155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26923D0B-EF5A-D886-107B-C1E06407F10D}"/>
                      </a:ext>
                    </a:extLst>
                  </p:cNvPr>
                  <p:cNvCxnSpPr>
                    <a:stCxn id="36" idx="4"/>
                    <a:endCxn id="37" idx="0"/>
                  </p:cNvCxnSpPr>
                  <p:nvPr/>
                </p:nvCxnSpPr>
                <p:spPr>
                  <a:xfrm flipH="1">
                    <a:off x="6106160" y="3593708"/>
                    <a:ext cx="49727" cy="47665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7301FFE4-40E9-C7BC-5049-F7ADC91E020C}"/>
                      </a:ext>
                    </a:extLst>
                  </p:cNvPr>
                  <p:cNvCxnSpPr>
                    <a:stCxn id="36" idx="6"/>
                    <a:endCxn id="38" idx="2"/>
                  </p:cNvCxnSpPr>
                  <p:nvPr/>
                </p:nvCxnSpPr>
                <p:spPr>
                  <a:xfrm>
                    <a:off x="6323527" y="3415908"/>
                    <a:ext cx="1124428" cy="3977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5" name="Straight Connector 34">
                  <a:extLst>
                    <a:ext uri="{FF2B5EF4-FFF2-40B4-BE49-F238E27FC236}">
                      <a16:creationId xmlns:a16="http://schemas.microsoft.com/office/drawing/2014/main" id="{B3B5F978-A509-D2AB-34B0-00EA92763133}"/>
                    </a:ext>
                  </a:extLst>
                </p:cNvPr>
                <p:cNvCxnSpPr>
                  <a:stCxn id="38" idx="3"/>
                  <a:endCxn id="37" idx="6"/>
                </p:cNvCxnSpPr>
                <p:nvPr/>
              </p:nvCxnSpPr>
              <p:spPr>
                <a:xfrm flipH="1">
                  <a:off x="6007544" y="5553383"/>
                  <a:ext cx="1223256" cy="66675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7" name="Group 16">
                <a:extLst>
                  <a:ext uri="{FF2B5EF4-FFF2-40B4-BE49-F238E27FC236}">
                    <a16:creationId xmlns:a16="http://schemas.microsoft.com/office/drawing/2014/main" id="{2BD21940-2A88-04DC-DE9F-145817C82A32}"/>
                  </a:ext>
                </a:extLst>
              </p:cNvPr>
              <p:cNvGrpSpPr/>
              <p:nvPr/>
            </p:nvGrpSpPr>
            <p:grpSpPr>
              <a:xfrm>
                <a:off x="9322447" y="4873012"/>
                <a:ext cx="289210" cy="338689"/>
                <a:chOff x="9220199" y="5081066"/>
                <a:chExt cx="714186" cy="969849"/>
              </a:xfrm>
            </p:grpSpPr>
            <p:sp>
              <p:nvSpPr>
                <p:cNvPr id="30" name="Rectangle 29">
                  <a:extLst>
                    <a:ext uri="{FF2B5EF4-FFF2-40B4-BE49-F238E27FC236}">
                      <a16:creationId xmlns:a16="http://schemas.microsoft.com/office/drawing/2014/main" id="{32408DA1-7A53-AD90-147B-C30D57B5DD32}"/>
                    </a:ext>
                  </a:extLst>
                </p:cNvPr>
                <p:cNvSpPr/>
                <p:nvPr/>
              </p:nvSpPr>
              <p:spPr>
                <a:xfrm>
                  <a:off x="9220200" y="5419756"/>
                  <a:ext cx="714185" cy="325724"/>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C6C12D68-4BD4-21B5-B8A9-FF2AFEAF8299}"/>
                    </a:ext>
                  </a:extLst>
                </p:cNvPr>
                <p:cNvSpPr/>
                <p:nvPr/>
              </p:nvSpPr>
              <p:spPr>
                <a:xfrm>
                  <a:off x="9220200" y="5725191"/>
                  <a:ext cx="714185" cy="325724"/>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C60D44E8-1A67-7681-44F2-FC9B91A04D44}"/>
                    </a:ext>
                  </a:extLst>
                </p:cNvPr>
                <p:cNvSpPr/>
                <p:nvPr/>
              </p:nvSpPr>
              <p:spPr>
                <a:xfrm>
                  <a:off x="9220199" y="5081066"/>
                  <a:ext cx="714185" cy="325724"/>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10A9330E-78F3-654B-8D59-FC34518417F7}"/>
                  </a:ext>
                </a:extLst>
              </p:cNvPr>
              <p:cNvGrpSpPr/>
              <p:nvPr/>
            </p:nvGrpSpPr>
            <p:grpSpPr>
              <a:xfrm>
                <a:off x="9789780" y="3957240"/>
                <a:ext cx="289210" cy="338689"/>
                <a:chOff x="9220199" y="5081066"/>
                <a:chExt cx="714186" cy="969849"/>
              </a:xfrm>
            </p:grpSpPr>
            <p:sp>
              <p:nvSpPr>
                <p:cNvPr id="27" name="Rectangle 26">
                  <a:extLst>
                    <a:ext uri="{FF2B5EF4-FFF2-40B4-BE49-F238E27FC236}">
                      <a16:creationId xmlns:a16="http://schemas.microsoft.com/office/drawing/2014/main" id="{81135E43-01DA-2196-A114-751EBF547CF5}"/>
                    </a:ext>
                  </a:extLst>
                </p:cNvPr>
                <p:cNvSpPr/>
                <p:nvPr/>
              </p:nvSpPr>
              <p:spPr>
                <a:xfrm>
                  <a:off x="9220200" y="5419756"/>
                  <a:ext cx="714185" cy="325724"/>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268D6832-EA57-EA1F-B1E6-E53D4A99D723}"/>
                    </a:ext>
                  </a:extLst>
                </p:cNvPr>
                <p:cNvSpPr/>
                <p:nvPr/>
              </p:nvSpPr>
              <p:spPr>
                <a:xfrm>
                  <a:off x="9220200" y="5725191"/>
                  <a:ext cx="714185" cy="325724"/>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4F4DF29E-E9D5-045A-B300-19C8D5FF37DC}"/>
                    </a:ext>
                  </a:extLst>
                </p:cNvPr>
                <p:cNvSpPr/>
                <p:nvPr/>
              </p:nvSpPr>
              <p:spPr>
                <a:xfrm>
                  <a:off x="9220199" y="5081066"/>
                  <a:ext cx="714185" cy="325724"/>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 name="Group 18">
                <a:extLst>
                  <a:ext uri="{FF2B5EF4-FFF2-40B4-BE49-F238E27FC236}">
                    <a16:creationId xmlns:a16="http://schemas.microsoft.com/office/drawing/2014/main" id="{93808F02-9527-AF5A-F22F-5A96AB6C3629}"/>
                  </a:ext>
                </a:extLst>
              </p:cNvPr>
              <p:cNvGrpSpPr/>
              <p:nvPr/>
            </p:nvGrpSpPr>
            <p:grpSpPr>
              <a:xfrm>
                <a:off x="11384500" y="4997462"/>
                <a:ext cx="289210" cy="338689"/>
                <a:chOff x="9220199" y="5081066"/>
                <a:chExt cx="714186" cy="969849"/>
              </a:xfrm>
            </p:grpSpPr>
            <p:sp>
              <p:nvSpPr>
                <p:cNvPr id="24" name="Rectangle 23">
                  <a:extLst>
                    <a:ext uri="{FF2B5EF4-FFF2-40B4-BE49-F238E27FC236}">
                      <a16:creationId xmlns:a16="http://schemas.microsoft.com/office/drawing/2014/main" id="{485DD69E-936D-68AF-756A-7994495CF42E}"/>
                    </a:ext>
                  </a:extLst>
                </p:cNvPr>
                <p:cNvSpPr/>
                <p:nvPr/>
              </p:nvSpPr>
              <p:spPr>
                <a:xfrm>
                  <a:off x="9220200" y="5419756"/>
                  <a:ext cx="714185" cy="325724"/>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4016E99B-C93F-A662-49B9-1AE13AD5D0CA}"/>
                    </a:ext>
                  </a:extLst>
                </p:cNvPr>
                <p:cNvSpPr/>
                <p:nvPr/>
              </p:nvSpPr>
              <p:spPr>
                <a:xfrm>
                  <a:off x="9220200" y="5725191"/>
                  <a:ext cx="714185" cy="325724"/>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998CAB96-FE36-FACE-E9C0-7F4F92E03345}"/>
                    </a:ext>
                  </a:extLst>
                </p:cNvPr>
                <p:cNvSpPr/>
                <p:nvPr/>
              </p:nvSpPr>
              <p:spPr>
                <a:xfrm>
                  <a:off x="9220199" y="5081066"/>
                  <a:ext cx="714185" cy="325724"/>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 name="Group 19">
                <a:extLst>
                  <a:ext uri="{FF2B5EF4-FFF2-40B4-BE49-F238E27FC236}">
                    <a16:creationId xmlns:a16="http://schemas.microsoft.com/office/drawing/2014/main" id="{7DF63C99-83C4-A581-BBDE-DC63833F2229}"/>
                  </a:ext>
                </a:extLst>
              </p:cNvPr>
              <p:cNvGrpSpPr/>
              <p:nvPr/>
            </p:nvGrpSpPr>
            <p:grpSpPr>
              <a:xfrm>
                <a:off x="11057605" y="3921300"/>
                <a:ext cx="289210" cy="338689"/>
                <a:chOff x="9220199" y="5081066"/>
                <a:chExt cx="714186" cy="969849"/>
              </a:xfrm>
            </p:grpSpPr>
            <p:sp>
              <p:nvSpPr>
                <p:cNvPr id="21" name="Rectangle 20">
                  <a:extLst>
                    <a:ext uri="{FF2B5EF4-FFF2-40B4-BE49-F238E27FC236}">
                      <a16:creationId xmlns:a16="http://schemas.microsoft.com/office/drawing/2014/main" id="{E5DB5E02-8C1A-3E54-3416-5D6DDAD5F4DF}"/>
                    </a:ext>
                  </a:extLst>
                </p:cNvPr>
                <p:cNvSpPr/>
                <p:nvPr/>
              </p:nvSpPr>
              <p:spPr>
                <a:xfrm>
                  <a:off x="9220200" y="5419756"/>
                  <a:ext cx="714185" cy="325724"/>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E4E81C68-0850-9A25-1598-A0B120A876A2}"/>
                    </a:ext>
                  </a:extLst>
                </p:cNvPr>
                <p:cNvSpPr/>
                <p:nvPr/>
              </p:nvSpPr>
              <p:spPr>
                <a:xfrm>
                  <a:off x="9220200" y="5725191"/>
                  <a:ext cx="714185" cy="325724"/>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33A6124A-A92A-0A17-863A-2FFDEA545524}"/>
                    </a:ext>
                  </a:extLst>
                </p:cNvPr>
                <p:cNvSpPr/>
                <p:nvPr/>
              </p:nvSpPr>
              <p:spPr>
                <a:xfrm>
                  <a:off x="9220199" y="5081066"/>
                  <a:ext cx="714185" cy="325724"/>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cxnSp>
          <p:nvCxnSpPr>
            <p:cNvPr id="43" name="Straight Arrow Connector 42">
              <a:extLst>
                <a:ext uri="{FF2B5EF4-FFF2-40B4-BE49-F238E27FC236}">
                  <a16:creationId xmlns:a16="http://schemas.microsoft.com/office/drawing/2014/main" id="{4DC2EEF5-7756-64D0-FE36-18E58FB12B04}"/>
                </a:ext>
              </a:extLst>
            </p:cNvPr>
            <p:cNvCxnSpPr/>
            <p:nvPr/>
          </p:nvCxnSpPr>
          <p:spPr>
            <a:xfrm>
              <a:off x="10398115" y="3409969"/>
              <a:ext cx="0" cy="826751"/>
            </a:xfrm>
            <a:prstGeom prst="straightConnector1">
              <a:avLst/>
            </a:prstGeom>
            <a:ln w="7620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1573134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BFFE23-AF5C-8132-F512-D76D1196D2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0A28DD-F4F6-F92B-7273-877FB264BBD1}"/>
              </a:ext>
            </a:extLst>
          </p:cNvPr>
          <p:cNvSpPr>
            <a:spLocks noGrp="1"/>
          </p:cNvSpPr>
          <p:nvPr>
            <p:ph type="title"/>
          </p:nvPr>
        </p:nvSpPr>
        <p:spPr>
          <a:xfrm>
            <a:off x="777240" y="365760"/>
            <a:ext cx="10890504" cy="1554480"/>
          </a:xfrm>
        </p:spPr>
        <p:txBody>
          <a:bodyPr>
            <a:normAutofit/>
          </a:bodyPr>
          <a:lstStyle/>
          <a:p>
            <a:r>
              <a:rPr lang="en-US" dirty="0">
                <a:latin typeface="+mn-lt"/>
              </a:rPr>
              <a:t>Reducing From NP-complete problem</a:t>
            </a:r>
            <a:br>
              <a:rPr lang="en-US" dirty="0">
                <a:latin typeface="+mn-lt"/>
              </a:rPr>
            </a:br>
            <a:r>
              <a:rPr lang="en-US" b="1" dirty="0">
                <a:latin typeface="+mn-lt"/>
              </a:rPr>
              <a:t>Claim</a:t>
            </a:r>
            <a:endParaRPr lang="en-US" dirty="0">
              <a:latin typeface="+mn-lt"/>
            </a:endParaRPr>
          </a:p>
        </p:txBody>
      </p:sp>
      <p:sp>
        <p:nvSpPr>
          <p:cNvPr id="3" name="Slide Number Placeholder 2">
            <a:extLst>
              <a:ext uri="{FF2B5EF4-FFF2-40B4-BE49-F238E27FC236}">
                <a16:creationId xmlns:a16="http://schemas.microsoft.com/office/drawing/2014/main" id="{E28E0929-0E73-8EC6-9F2F-9273937B3117}"/>
              </a:ext>
            </a:extLst>
          </p:cNvPr>
          <p:cNvSpPr>
            <a:spLocks noGrp="1"/>
          </p:cNvSpPr>
          <p:nvPr>
            <p:ph type="sldNum" sz="quarter" idx="12"/>
          </p:nvPr>
        </p:nvSpPr>
        <p:spPr/>
        <p:txBody>
          <a:bodyPr/>
          <a:lstStyle/>
          <a:p>
            <a:fld id="{CBD12358-51D2-46B3-9BDE-DF29528B9454}" type="slidenum">
              <a:rPr lang="en-US" smtClean="0"/>
              <a:t>30</a:t>
            </a:fld>
            <a:endParaRPr lang="en-US" dirty="0"/>
          </a:p>
        </p:txBody>
      </p:sp>
      <mc:AlternateContent xmlns:mc="http://schemas.openxmlformats.org/markup-compatibility/2006" xmlns:a14="http://schemas.microsoft.com/office/drawing/2010/main">
        <mc:Choice Requires="a14">
          <p:sp>
            <p:nvSpPr>
              <p:cNvPr id="32" name="Rectangle 31">
                <a:extLst>
                  <a:ext uri="{FF2B5EF4-FFF2-40B4-BE49-F238E27FC236}">
                    <a16:creationId xmlns:a16="http://schemas.microsoft.com/office/drawing/2014/main" id="{E53BCB36-28BA-DD8C-C231-959ADAB87900}"/>
                  </a:ext>
                </a:extLst>
              </p:cNvPr>
              <p:cNvSpPr/>
              <p:nvPr/>
            </p:nvSpPr>
            <p:spPr>
              <a:xfrm>
                <a:off x="640080" y="2127794"/>
                <a:ext cx="11027664" cy="490519"/>
              </a:xfrm>
              <a:prstGeom prst="rect">
                <a:avLst/>
              </a:prstGeom>
            </p:spPr>
            <p:txBody>
              <a:bodyPr wrap="square">
                <a:spAutoFit/>
              </a:bodyPr>
              <a:lstStyle/>
              <a:p>
                <a14:m>
                  <m:oMath xmlns:m="http://schemas.openxmlformats.org/officeDocument/2006/math">
                    <m:sSup>
                      <m:sSupPr>
                        <m:ctrlPr>
                          <a:rPr lang="en-US" sz="2400" i="1" dirty="0">
                            <a:solidFill>
                              <a:srgbClr val="836967"/>
                            </a:solidFill>
                            <a:latin typeface="Cambria Math" panose="02040503050406030204" pitchFamily="18" charset="0"/>
                          </a:rPr>
                        </m:ctrlPr>
                      </m:sSupPr>
                      <m:e>
                        <m:r>
                          <a:rPr lang="en-US" sz="2400" i="1" dirty="0">
                            <a:latin typeface="Cambria Math" panose="02040503050406030204" pitchFamily="18" charset="0"/>
                          </a:rPr>
                          <m:t>𝐺</m:t>
                        </m:r>
                      </m:e>
                      <m:sup>
                        <m:r>
                          <a:rPr lang="en-US" sz="2400" dirty="0">
                            <a:latin typeface="Cambria Math" panose="02040503050406030204" pitchFamily="18" charset="0"/>
                          </a:rPr>
                          <m:t> </m:t>
                        </m:r>
                      </m:sup>
                    </m:sSup>
                  </m:oMath>
                </a14:m>
                <a:r>
                  <a:rPr lang="en-US" sz="2400" dirty="0"/>
                  <a:t> has a k-coloring if and only if </a:t>
                </a:r>
                <a14:m>
                  <m:oMath xmlns:m="http://schemas.openxmlformats.org/officeDocument/2006/math">
                    <m:sSup>
                      <m:sSupPr>
                        <m:ctrlPr>
                          <a:rPr lang="en-US" sz="2400" i="1" dirty="0">
                            <a:solidFill>
                              <a:srgbClr val="836967"/>
                            </a:solidFill>
                            <a:latin typeface="Cambria Math" panose="02040503050406030204" pitchFamily="18" charset="0"/>
                          </a:rPr>
                        </m:ctrlPr>
                      </m:sSupPr>
                      <m:e>
                        <m:r>
                          <a:rPr lang="en-US" sz="2400" i="1" dirty="0">
                            <a:latin typeface="Cambria Math" panose="02040503050406030204" pitchFamily="18" charset="0"/>
                          </a:rPr>
                          <m:t>𝐺</m:t>
                        </m:r>
                      </m:e>
                      <m:sup>
                        <m:r>
                          <a:rPr lang="en-US" sz="2400" dirty="0">
                            <a:latin typeface="Cambria Math" panose="02040503050406030204" pitchFamily="18" charset="0"/>
                          </a:rPr>
                          <m:t>′</m:t>
                        </m:r>
                      </m:sup>
                    </m:sSup>
                  </m:oMath>
                </a14:m>
                <a:r>
                  <a:rPr lang="en-US" sz="2400" dirty="0"/>
                  <a:t> has a proper coloring.</a:t>
                </a:r>
              </a:p>
            </p:txBody>
          </p:sp>
        </mc:Choice>
        <mc:Fallback xmlns="">
          <p:sp>
            <p:nvSpPr>
              <p:cNvPr id="32" name="Rectangle 31"/>
              <p:cNvSpPr>
                <a:spLocks noRot="1" noChangeAspect="1" noMove="1" noResize="1" noEditPoints="1" noAdjustHandles="1" noChangeArrowheads="1" noChangeShapeType="1" noTextEdit="1"/>
              </p:cNvSpPr>
              <p:nvPr/>
            </p:nvSpPr>
            <p:spPr>
              <a:xfrm>
                <a:off x="640080" y="2127794"/>
                <a:ext cx="11027664" cy="490519"/>
              </a:xfrm>
              <a:prstGeom prst="rect">
                <a:avLst/>
              </a:prstGeom>
              <a:blipFill>
                <a:blip r:embed="rId2"/>
                <a:stretch>
                  <a:fillRect l="-111" t="-9877" b="-20988"/>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8268ABE1-4DD4-238A-DD00-A5B345CCFA1A}"/>
                  </a:ext>
                </a:extLst>
              </p:cNvPr>
              <p:cNvSpPr txBox="1"/>
              <p:nvPr/>
            </p:nvSpPr>
            <p:spPr>
              <a:xfrm>
                <a:off x="777240" y="2677305"/>
                <a:ext cx="7753069" cy="3170099"/>
              </a:xfrm>
              <a:prstGeom prst="rect">
                <a:avLst/>
              </a:prstGeom>
              <a:noFill/>
            </p:spPr>
            <p:txBody>
              <a:bodyPr wrap="square" rtlCol="0">
                <a:spAutoFit/>
              </a:bodyPr>
              <a:lstStyle/>
              <a:p>
                <a:r>
                  <a:rPr lang="en-US" sz="2000" b="1" dirty="0"/>
                  <a:t>Necessity</a:t>
                </a:r>
                <a:r>
                  <a:rPr lang="en-US" dirty="0"/>
                  <a:t>:  </a:t>
                </a:r>
                <a14:m>
                  <m:oMath xmlns:m="http://schemas.openxmlformats.org/officeDocument/2006/math">
                    <m:sSup>
                      <m:sSupPr>
                        <m:ctrlPr>
                          <a:rPr lang="en-US" i="1" dirty="0" smtClean="0">
                            <a:solidFill>
                              <a:srgbClr val="836967"/>
                            </a:solidFill>
                            <a:latin typeface="Cambria Math" panose="02040503050406030204" pitchFamily="18" charset="0"/>
                          </a:rPr>
                        </m:ctrlPr>
                      </m:sSupPr>
                      <m:e>
                        <m:r>
                          <a:rPr lang="en-US" i="1" dirty="0">
                            <a:latin typeface="Cambria Math" panose="02040503050406030204" pitchFamily="18" charset="0"/>
                          </a:rPr>
                          <m:t>𝐺</m:t>
                        </m:r>
                      </m:e>
                      <m:sup>
                        <m:r>
                          <a:rPr lang="en-US" b="0" i="0" dirty="0" smtClean="0">
                            <a:latin typeface="Cambria Math" panose="02040503050406030204" pitchFamily="18" charset="0"/>
                          </a:rPr>
                          <m:t> </m:t>
                        </m:r>
                      </m:sup>
                    </m:sSup>
                  </m:oMath>
                </a14:m>
                <a:r>
                  <a:rPr lang="en-US" dirty="0"/>
                  <a:t>has a k-coloring.</a:t>
                </a:r>
              </a:p>
              <a:p>
                <a:r>
                  <a:rPr lang="en-US" dirty="0"/>
                  <a:t>If </a:t>
                </a:r>
                <a14:m>
                  <m:oMath xmlns:m="http://schemas.openxmlformats.org/officeDocument/2006/math">
                    <m:sSup>
                      <m:sSupPr>
                        <m:ctrlPr>
                          <a:rPr lang="en-US" i="1" dirty="0">
                            <a:solidFill>
                              <a:srgbClr val="836967"/>
                            </a:solidFill>
                            <a:latin typeface="Cambria Math" panose="02040503050406030204" pitchFamily="18" charset="0"/>
                          </a:rPr>
                        </m:ctrlPr>
                      </m:sSupPr>
                      <m:e>
                        <m:r>
                          <a:rPr lang="en-US" i="1" dirty="0">
                            <a:latin typeface="Cambria Math" panose="02040503050406030204" pitchFamily="18" charset="0"/>
                          </a:rPr>
                          <m:t>𝐺</m:t>
                        </m:r>
                      </m:e>
                      <m:sup>
                        <m:r>
                          <a:rPr lang="en-US" dirty="0">
                            <a:latin typeface="Cambria Math" panose="02040503050406030204" pitchFamily="18" charset="0"/>
                          </a:rPr>
                          <m:t> </m:t>
                        </m:r>
                      </m:sup>
                    </m:sSup>
                    <m:r>
                      <a:rPr lang="en-US" i="1" dirty="0">
                        <a:latin typeface="Cambria Math" panose="02040503050406030204" pitchFamily="18" charset="0"/>
                      </a:rPr>
                      <m:t> </m:t>
                    </m:r>
                  </m:oMath>
                </a14:m>
                <a:r>
                  <a:rPr lang="en-US" dirty="0"/>
                  <a:t>has a k-coloring, then we will take this coloring and assign to G’.</a:t>
                </a:r>
              </a:p>
              <a:p>
                <a:r>
                  <a:rPr lang="en-US" dirty="0"/>
                  <a:t>Now obviously f(v) ∈ L(v) for each v ∈ V and adjacent vertices will have different color. </a:t>
                </a:r>
              </a:p>
              <a:p>
                <a:endParaRPr lang="en-US" dirty="0"/>
              </a:p>
              <a:p>
                <a:r>
                  <a:rPr lang="en-US" dirty="0"/>
                  <a:t>If </a:t>
                </a:r>
                <a14:m>
                  <m:oMath xmlns:m="http://schemas.openxmlformats.org/officeDocument/2006/math">
                    <m:sSup>
                      <m:sSupPr>
                        <m:ctrlPr>
                          <a:rPr lang="en-US" i="1" dirty="0">
                            <a:solidFill>
                              <a:srgbClr val="836967"/>
                            </a:solidFill>
                            <a:latin typeface="Cambria Math" panose="02040503050406030204" pitchFamily="18" charset="0"/>
                          </a:rPr>
                        </m:ctrlPr>
                      </m:sSupPr>
                      <m:e>
                        <m:r>
                          <a:rPr lang="en-US" i="1" dirty="0">
                            <a:latin typeface="Cambria Math" panose="02040503050406030204" pitchFamily="18" charset="0"/>
                          </a:rPr>
                          <m:t>𝐺</m:t>
                        </m:r>
                      </m:e>
                      <m:sup>
                        <m:r>
                          <a:rPr lang="en-US" dirty="0">
                            <a:latin typeface="Cambria Math" panose="02040503050406030204" pitchFamily="18" charset="0"/>
                          </a:rPr>
                          <m:t>′</m:t>
                        </m:r>
                      </m:sup>
                    </m:sSup>
                  </m:oMath>
                </a14:m>
                <a:r>
                  <a:rPr lang="en-US" dirty="0"/>
                  <a:t> doesn’t have a proper coloring then their must be two adjacent vertices having the same color. That means in the original graph we can’t get a graph coloring, a contradiction!</a:t>
                </a:r>
              </a:p>
              <a:p>
                <a:endParaRPr lang="en-US" dirty="0"/>
              </a:p>
              <a:p>
                <a:r>
                  <a:rPr lang="en-US" dirty="0"/>
                  <a:t>Thus, </a:t>
                </a:r>
                <a14:m>
                  <m:oMath xmlns:m="http://schemas.openxmlformats.org/officeDocument/2006/math">
                    <m:sSup>
                      <m:sSupPr>
                        <m:ctrlPr>
                          <a:rPr lang="en-US" i="1" dirty="0">
                            <a:solidFill>
                              <a:srgbClr val="836967"/>
                            </a:solidFill>
                            <a:latin typeface="Cambria Math" panose="02040503050406030204" pitchFamily="18" charset="0"/>
                          </a:rPr>
                        </m:ctrlPr>
                      </m:sSupPr>
                      <m:e>
                        <m:r>
                          <a:rPr lang="en-US" i="1" dirty="0">
                            <a:latin typeface="Cambria Math" panose="02040503050406030204" pitchFamily="18" charset="0"/>
                          </a:rPr>
                          <m:t>𝐺</m:t>
                        </m:r>
                      </m:e>
                      <m:sup>
                        <m:r>
                          <a:rPr lang="en-US" dirty="0">
                            <a:latin typeface="Cambria Math" panose="02040503050406030204" pitchFamily="18" charset="0"/>
                          </a:rPr>
                          <m:t>′</m:t>
                        </m:r>
                      </m:sup>
                    </m:sSup>
                  </m:oMath>
                </a14:m>
                <a:r>
                  <a:rPr lang="en-US" dirty="0"/>
                  <a:t> has a proper list coloring. </a:t>
                </a:r>
              </a:p>
              <a:p>
                <a:endParaRPr lang="en-US" dirty="0"/>
              </a:p>
            </p:txBody>
          </p:sp>
        </mc:Choice>
        <mc:Fallback>
          <p:sp>
            <p:nvSpPr>
              <p:cNvPr id="6" name="TextBox 5">
                <a:extLst>
                  <a:ext uri="{FF2B5EF4-FFF2-40B4-BE49-F238E27FC236}">
                    <a16:creationId xmlns:a16="http://schemas.microsoft.com/office/drawing/2014/main" id="{8268ABE1-4DD4-238A-DD00-A5B345CCFA1A}"/>
                  </a:ext>
                </a:extLst>
              </p:cNvPr>
              <p:cNvSpPr txBox="1">
                <a:spLocks noRot="1" noChangeAspect="1" noMove="1" noResize="1" noEditPoints="1" noAdjustHandles="1" noChangeArrowheads="1" noChangeShapeType="1" noTextEdit="1"/>
              </p:cNvSpPr>
              <p:nvPr/>
            </p:nvSpPr>
            <p:spPr>
              <a:xfrm>
                <a:off x="777240" y="2677305"/>
                <a:ext cx="7753069" cy="3170099"/>
              </a:xfrm>
              <a:prstGeom prst="rect">
                <a:avLst/>
              </a:prstGeom>
              <a:blipFill>
                <a:blip r:embed="rId3"/>
                <a:stretch>
                  <a:fillRect l="-865" t="-962"/>
                </a:stretch>
              </a:blipFill>
            </p:spPr>
            <p:txBody>
              <a:bodyPr/>
              <a:lstStyle/>
              <a:p>
                <a:r>
                  <a:rPr lang="en-US">
                    <a:noFill/>
                  </a:rPr>
                  <a:t> </a:t>
                </a:r>
              </a:p>
            </p:txBody>
          </p:sp>
        </mc:Fallback>
      </mc:AlternateContent>
      <p:grpSp>
        <p:nvGrpSpPr>
          <p:cNvPr id="4" name="Group 3">
            <a:extLst>
              <a:ext uri="{FF2B5EF4-FFF2-40B4-BE49-F238E27FC236}">
                <a16:creationId xmlns:a16="http://schemas.microsoft.com/office/drawing/2014/main" id="{4945AA5E-1948-A1D6-6960-D52BDA5BB4D3}"/>
              </a:ext>
            </a:extLst>
          </p:cNvPr>
          <p:cNvGrpSpPr/>
          <p:nvPr/>
        </p:nvGrpSpPr>
        <p:grpSpPr>
          <a:xfrm rot="1910531">
            <a:off x="10009040" y="2200216"/>
            <a:ext cx="1254934" cy="1427514"/>
            <a:chOff x="5672264" y="4404214"/>
            <a:chExt cx="1844715" cy="1993724"/>
          </a:xfrm>
        </p:grpSpPr>
        <p:grpSp>
          <p:nvGrpSpPr>
            <p:cNvPr id="5" name="Group 4">
              <a:extLst>
                <a:ext uri="{FF2B5EF4-FFF2-40B4-BE49-F238E27FC236}">
                  <a16:creationId xmlns:a16="http://schemas.microsoft.com/office/drawing/2014/main" id="{727BE656-5A3A-C169-A928-385D502C720B}"/>
                </a:ext>
              </a:extLst>
            </p:cNvPr>
            <p:cNvGrpSpPr/>
            <p:nvPr/>
          </p:nvGrpSpPr>
          <p:grpSpPr>
            <a:xfrm>
              <a:off x="5672264" y="4404214"/>
              <a:ext cx="1844715" cy="1993724"/>
              <a:chOff x="5938520" y="2432234"/>
              <a:chExt cx="1844715" cy="1993724"/>
            </a:xfrm>
          </p:grpSpPr>
          <p:sp>
            <p:nvSpPr>
              <p:cNvPr id="8" name="Oval 7">
                <a:extLst>
                  <a:ext uri="{FF2B5EF4-FFF2-40B4-BE49-F238E27FC236}">
                    <a16:creationId xmlns:a16="http://schemas.microsoft.com/office/drawing/2014/main" id="{11C8578C-7804-E622-653E-46EB58B6E821}"/>
                  </a:ext>
                </a:extLst>
              </p:cNvPr>
              <p:cNvSpPr/>
              <p:nvPr/>
            </p:nvSpPr>
            <p:spPr>
              <a:xfrm>
                <a:off x="5988247" y="3238108"/>
                <a:ext cx="335280" cy="35560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Oval 8">
                <a:extLst>
                  <a:ext uri="{FF2B5EF4-FFF2-40B4-BE49-F238E27FC236}">
                    <a16:creationId xmlns:a16="http://schemas.microsoft.com/office/drawing/2014/main" id="{626E05E3-EFE2-8589-DCC6-67724DDA0211}"/>
                  </a:ext>
                </a:extLst>
              </p:cNvPr>
              <p:cNvSpPr/>
              <p:nvPr/>
            </p:nvSpPr>
            <p:spPr>
              <a:xfrm>
                <a:off x="5938520" y="4070358"/>
                <a:ext cx="335280" cy="355600"/>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04E77D51-5B9D-5C0E-78A1-2F02987B8EFA}"/>
                  </a:ext>
                </a:extLst>
              </p:cNvPr>
              <p:cNvSpPr/>
              <p:nvPr/>
            </p:nvSpPr>
            <p:spPr>
              <a:xfrm>
                <a:off x="7447955" y="3277879"/>
                <a:ext cx="335280" cy="3556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76803A99-42EC-DA53-89F2-3911118B46E6}"/>
                  </a:ext>
                </a:extLst>
              </p:cNvPr>
              <p:cNvSpPr/>
              <p:nvPr/>
            </p:nvSpPr>
            <p:spPr>
              <a:xfrm>
                <a:off x="6349236" y="2432234"/>
                <a:ext cx="335279" cy="3556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3E8D58E7-4781-77F2-052A-19E27C12904B}"/>
                  </a:ext>
                </a:extLst>
              </p:cNvPr>
              <p:cNvCxnSpPr>
                <a:stCxn id="8" idx="0"/>
                <a:endCxn id="11" idx="4"/>
              </p:cNvCxnSpPr>
              <p:nvPr/>
            </p:nvCxnSpPr>
            <p:spPr>
              <a:xfrm rot="19689469" flipV="1">
                <a:off x="6058036" y="2912192"/>
                <a:ext cx="556691" cy="20155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0E7A2182-7EF5-45D7-E5EC-FCA278964AFC}"/>
                  </a:ext>
                </a:extLst>
              </p:cNvPr>
              <p:cNvCxnSpPr>
                <a:stCxn id="8" idx="4"/>
                <a:endCxn id="9" idx="0"/>
              </p:cNvCxnSpPr>
              <p:nvPr/>
            </p:nvCxnSpPr>
            <p:spPr>
              <a:xfrm flipH="1">
                <a:off x="6106160" y="3593708"/>
                <a:ext cx="49727" cy="47665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97D2425B-B766-52C8-EDAD-82D863F1B9F0}"/>
                  </a:ext>
                </a:extLst>
              </p:cNvPr>
              <p:cNvCxnSpPr>
                <a:stCxn id="8" idx="6"/>
                <a:endCxn id="10" idx="2"/>
              </p:cNvCxnSpPr>
              <p:nvPr/>
            </p:nvCxnSpPr>
            <p:spPr>
              <a:xfrm>
                <a:off x="6323527" y="3415908"/>
                <a:ext cx="1124428" cy="3977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7" name="Straight Connector 6">
              <a:extLst>
                <a:ext uri="{FF2B5EF4-FFF2-40B4-BE49-F238E27FC236}">
                  <a16:creationId xmlns:a16="http://schemas.microsoft.com/office/drawing/2014/main" id="{11FFC1AE-86BF-324E-267C-5BA39D01C960}"/>
                </a:ext>
              </a:extLst>
            </p:cNvPr>
            <p:cNvCxnSpPr>
              <a:stCxn id="10" idx="3"/>
              <a:endCxn id="9" idx="6"/>
            </p:cNvCxnSpPr>
            <p:nvPr/>
          </p:nvCxnSpPr>
          <p:spPr>
            <a:xfrm flipH="1">
              <a:off x="6007544" y="5553383"/>
              <a:ext cx="1223256" cy="66675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5" name="Group 14">
            <a:extLst>
              <a:ext uri="{FF2B5EF4-FFF2-40B4-BE49-F238E27FC236}">
                <a16:creationId xmlns:a16="http://schemas.microsoft.com/office/drawing/2014/main" id="{353C3A89-A59F-439C-5577-ED7606E97DD6}"/>
              </a:ext>
            </a:extLst>
          </p:cNvPr>
          <p:cNvGrpSpPr/>
          <p:nvPr/>
        </p:nvGrpSpPr>
        <p:grpSpPr>
          <a:xfrm>
            <a:off x="9322447" y="4480100"/>
            <a:ext cx="2351263" cy="1485691"/>
            <a:chOff x="9322447" y="3921300"/>
            <a:chExt cx="2351263" cy="1485691"/>
          </a:xfrm>
        </p:grpSpPr>
        <p:grpSp>
          <p:nvGrpSpPr>
            <p:cNvPr id="16" name="Group 15">
              <a:extLst>
                <a:ext uri="{FF2B5EF4-FFF2-40B4-BE49-F238E27FC236}">
                  <a16:creationId xmlns:a16="http://schemas.microsoft.com/office/drawing/2014/main" id="{DC80026C-D9C7-92C1-494C-2C6C9BA114EA}"/>
                </a:ext>
              </a:extLst>
            </p:cNvPr>
            <p:cNvGrpSpPr/>
            <p:nvPr/>
          </p:nvGrpSpPr>
          <p:grpSpPr>
            <a:xfrm rot="1910531">
              <a:off x="10052475" y="3979477"/>
              <a:ext cx="1254934" cy="1427514"/>
              <a:chOff x="5672264" y="4404214"/>
              <a:chExt cx="1844715" cy="1993724"/>
            </a:xfrm>
          </p:grpSpPr>
          <p:grpSp>
            <p:nvGrpSpPr>
              <p:cNvPr id="34" name="Group 33">
                <a:extLst>
                  <a:ext uri="{FF2B5EF4-FFF2-40B4-BE49-F238E27FC236}">
                    <a16:creationId xmlns:a16="http://schemas.microsoft.com/office/drawing/2014/main" id="{DEAB72D5-15CF-9846-AD98-5D4216FC3FA9}"/>
                  </a:ext>
                </a:extLst>
              </p:cNvPr>
              <p:cNvGrpSpPr/>
              <p:nvPr/>
            </p:nvGrpSpPr>
            <p:grpSpPr>
              <a:xfrm>
                <a:off x="5672264" y="4404214"/>
                <a:ext cx="1844715" cy="1993724"/>
                <a:chOff x="5938520" y="2432234"/>
                <a:chExt cx="1844715" cy="1993724"/>
              </a:xfrm>
            </p:grpSpPr>
            <p:sp>
              <p:nvSpPr>
                <p:cNvPr id="36" name="Oval 35">
                  <a:extLst>
                    <a:ext uri="{FF2B5EF4-FFF2-40B4-BE49-F238E27FC236}">
                      <a16:creationId xmlns:a16="http://schemas.microsoft.com/office/drawing/2014/main" id="{A5D03A0F-F153-5426-8787-CC4C16862E96}"/>
                    </a:ext>
                  </a:extLst>
                </p:cNvPr>
                <p:cNvSpPr/>
                <p:nvPr/>
              </p:nvSpPr>
              <p:spPr>
                <a:xfrm>
                  <a:off x="5988247" y="3238108"/>
                  <a:ext cx="335280" cy="35560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Oval 36">
                  <a:extLst>
                    <a:ext uri="{FF2B5EF4-FFF2-40B4-BE49-F238E27FC236}">
                      <a16:creationId xmlns:a16="http://schemas.microsoft.com/office/drawing/2014/main" id="{F7A848A4-A985-0B40-AA42-3C2A2B8E8FBC}"/>
                    </a:ext>
                  </a:extLst>
                </p:cNvPr>
                <p:cNvSpPr/>
                <p:nvPr/>
              </p:nvSpPr>
              <p:spPr>
                <a:xfrm>
                  <a:off x="5938520" y="4070358"/>
                  <a:ext cx="335280" cy="355600"/>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7D7ECF01-8CD4-34A2-048E-B2E604BC1E6B}"/>
                    </a:ext>
                  </a:extLst>
                </p:cNvPr>
                <p:cNvSpPr/>
                <p:nvPr/>
              </p:nvSpPr>
              <p:spPr>
                <a:xfrm>
                  <a:off x="7447955" y="3277879"/>
                  <a:ext cx="335280" cy="3556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A15D9DF2-6516-B819-2DE2-4E113A2E1900}"/>
                    </a:ext>
                  </a:extLst>
                </p:cNvPr>
                <p:cNvSpPr/>
                <p:nvPr/>
              </p:nvSpPr>
              <p:spPr>
                <a:xfrm>
                  <a:off x="6349236" y="2432234"/>
                  <a:ext cx="335279" cy="3556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40" name="Straight Connector 39">
                  <a:extLst>
                    <a:ext uri="{FF2B5EF4-FFF2-40B4-BE49-F238E27FC236}">
                      <a16:creationId xmlns:a16="http://schemas.microsoft.com/office/drawing/2014/main" id="{667FAD08-6206-FFE1-7AEA-74E26134B751}"/>
                    </a:ext>
                  </a:extLst>
                </p:cNvPr>
                <p:cNvCxnSpPr>
                  <a:stCxn id="36" idx="0"/>
                  <a:endCxn id="39" idx="4"/>
                </p:cNvCxnSpPr>
                <p:nvPr/>
              </p:nvCxnSpPr>
              <p:spPr>
                <a:xfrm rot="19689469" flipV="1">
                  <a:off x="6058036" y="2912192"/>
                  <a:ext cx="556691" cy="20155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C518BE87-D95A-E7CE-ECEA-47DC9FC9416F}"/>
                    </a:ext>
                  </a:extLst>
                </p:cNvPr>
                <p:cNvCxnSpPr>
                  <a:stCxn id="36" idx="4"/>
                  <a:endCxn id="37" idx="0"/>
                </p:cNvCxnSpPr>
                <p:nvPr/>
              </p:nvCxnSpPr>
              <p:spPr>
                <a:xfrm flipH="1">
                  <a:off x="6106160" y="3593708"/>
                  <a:ext cx="49727" cy="47665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082B2585-9A9F-8974-42A0-5A7FEF1DB2D0}"/>
                    </a:ext>
                  </a:extLst>
                </p:cNvPr>
                <p:cNvCxnSpPr>
                  <a:stCxn id="36" idx="6"/>
                  <a:endCxn id="38" idx="2"/>
                </p:cNvCxnSpPr>
                <p:nvPr/>
              </p:nvCxnSpPr>
              <p:spPr>
                <a:xfrm>
                  <a:off x="6323527" y="3415908"/>
                  <a:ext cx="1124428" cy="3977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5" name="Straight Connector 34">
                <a:extLst>
                  <a:ext uri="{FF2B5EF4-FFF2-40B4-BE49-F238E27FC236}">
                    <a16:creationId xmlns:a16="http://schemas.microsoft.com/office/drawing/2014/main" id="{AC797A78-4BCD-6F4E-AC42-C3D1AD31D65A}"/>
                  </a:ext>
                </a:extLst>
              </p:cNvPr>
              <p:cNvCxnSpPr>
                <a:stCxn id="38" idx="3"/>
                <a:endCxn id="37" idx="6"/>
              </p:cNvCxnSpPr>
              <p:nvPr/>
            </p:nvCxnSpPr>
            <p:spPr>
              <a:xfrm flipH="1">
                <a:off x="6007544" y="5553383"/>
                <a:ext cx="1223256" cy="66675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7" name="Group 16">
              <a:extLst>
                <a:ext uri="{FF2B5EF4-FFF2-40B4-BE49-F238E27FC236}">
                  <a16:creationId xmlns:a16="http://schemas.microsoft.com/office/drawing/2014/main" id="{36D267A9-EAD1-5064-CE72-4AD4CE5C6A35}"/>
                </a:ext>
              </a:extLst>
            </p:cNvPr>
            <p:cNvGrpSpPr/>
            <p:nvPr/>
          </p:nvGrpSpPr>
          <p:grpSpPr>
            <a:xfrm>
              <a:off x="9322447" y="4873012"/>
              <a:ext cx="289210" cy="338689"/>
              <a:chOff x="9220199" y="5081066"/>
              <a:chExt cx="714186" cy="969849"/>
            </a:xfrm>
          </p:grpSpPr>
          <p:sp>
            <p:nvSpPr>
              <p:cNvPr id="30" name="Rectangle 29">
                <a:extLst>
                  <a:ext uri="{FF2B5EF4-FFF2-40B4-BE49-F238E27FC236}">
                    <a16:creationId xmlns:a16="http://schemas.microsoft.com/office/drawing/2014/main" id="{60C95D67-AB66-D019-9FA6-9A661DCA4196}"/>
                  </a:ext>
                </a:extLst>
              </p:cNvPr>
              <p:cNvSpPr/>
              <p:nvPr/>
            </p:nvSpPr>
            <p:spPr>
              <a:xfrm>
                <a:off x="9220200" y="5419756"/>
                <a:ext cx="714185" cy="325724"/>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417E57F6-41C2-4C41-BCF8-F1DAFF00230D}"/>
                  </a:ext>
                </a:extLst>
              </p:cNvPr>
              <p:cNvSpPr/>
              <p:nvPr/>
            </p:nvSpPr>
            <p:spPr>
              <a:xfrm>
                <a:off x="9220200" y="5725191"/>
                <a:ext cx="714185" cy="325724"/>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90611521-0DE1-94E7-35F8-D39CF34C9BA9}"/>
                  </a:ext>
                </a:extLst>
              </p:cNvPr>
              <p:cNvSpPr/>
              <p:nvPr/>
            </p:nvSpPr>
            <p:spPr>
              <a:xfrm>
                <a:off x="9220199" y="5081066"/>
                <a:ext cx="714185" cy="325724"/>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D666E703-0D08-3CF2-EBD4-9648CF501CAE}"/>
                </a:ext>
              </a:extLst>
            </p:cNvPr>
            <p:cNvGrpSpPr/>
            <p:nvPr/>
          </p:nvGrpSpPr>
          <p:grpSpPr>
            <a:xfrm>
              <a:off x="9789780" y="3957240"/>
              <a:ext cx="289210" cy="338689"/>
              <a:chOff x="9220199" y="5081066"/>
              <a:chExt cx="714186" cy="969849"/>
            </a:xfrm>
          </p:grpSpPr>
          <p:sp>
            <p:nvSpPr>
              <p:cNvPr id="27" name="Rectangle 26">
                <a:extLst>
                  <a:ext uri="{FF2B5EF4-FFF2-40B4-BE49-F238E27FC236}">
                    <a16:creationId xmlns:a16="http://schemas.microsoft.com/office/drawing/2014/main" id="{0034A80D-AE0F-CCC8-51F1-EA7D6FC9EC09}"/>
                  </a:ext>
                </a:extLst>
              </p:cNvPr>
              <p:cNvSpPr/>
              <p:nvPr/>
            </p:nvSpPr>
            <p:spPr>
              <a:xfrm>
                <a:off x="9220200" y="5419756"/>
                <a:ext cx="714185" cy="325724"/>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1C6A9D2A-4A60-8454-0753-DE67764F7F40}"/>
                  </a:ext>
                </a:extLst>
              </p:cNvPr>
              <p:cNvSpPr/>
              <p:nvPr/>
            </p:nvSpPr>
            <p:spPr>
              <a:xfrm>
                <a:off x="9220200" y="5725191"/>
                <a:ext cx="714185" cy="325724"/>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D6ACA701-90D6-9BD8-A2A9-DAB64ECEEAA6}"/>
                  </a:ext>
                </a:extLst>
              </p:cNvPr>
              <p:cNvSpPr/>
              <p:nvPr/>
            </p:nvSpPr>
            <p:spPr>
              <a:xfrm>
                <a:off x="9220199" y="5081066"/>
                <a:ext cx="714185" cy="325724"/>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 name="Group 18">
              <a:extLst>
                <a:ext uri="{FF2B5EF4-FFF2-40B4-BE49-F238E27FC236}">
                  <a16:creationId xmlns:a16="http://schemas.microsoft.com/office/drawing/2014/main" id="{3CB767A5-3FCD-EA0A-A278-9076929A674D}"/>
                </a:ext>
              </a:extLst>
            </p:cNvPr>
            <p:cNvGrpSpPr/>
            <p:nvPr/>
          </p:nvGrpSpPr>
          <p:grpSpPr>
            <a:xfrm>
              <a:off x="11384500" y="4997462"/>
              <a:ext cx="289210" cy="338689"/>
              <a:chOff x="9220199" y="5081066"/>
              <a:chExt cx="714186" cy="969849"/>
            </a:xfrm>
          </p:grpSpPr>
          <p:sp>
            <p:nvSpPr>
              <p:cNvPr id="24" name="Rectangle 23">
                <a:extLst>
                  <a:ext uri="{FF2B5EF4-FFF2-40B4-BE49-F238E27FC236}">
                    <a16:creationId xmlns:a16="http://schemas.microsoft.com/office/drawing/2014/main" id="{F2B43199-1754-F3EA-DE02-529AFDAB0015}"/>
                  </a:ext>
                </a:extLst>
              </p:cNvPr>
              <p:cNvSpPr/>
              <p:nvPr/>
            </p:nvSpPr>
            <p:spPr>
              <a:xfrm>
                <a:off x="9220200" y="5419756"/>
                <a:ext cx="714185" cy="325724"/>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3E1C0295-9B1F-6FE6-B283-CA5B56DA1FD4}"/>
                  </a:ext>
                </a:extLst>
              </p:cNvPr>
              <p:cNvSpPr/>
              <p:nvPr/>
            </p:nvSpPr>
            <p:spPr>
              <a:xfrm>
                <a:off x="9220200" y="5725191"/>
                <a:ext cx="714185" cy="325724"/>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940E2F31-1C5B-9DF9-F97E-2811D91D7BD7}"/>
                  </a:ext>
                </a:extLst>
              </p:cNvPr>
              <p:cNvSpPr/>
              <p:nvPr/>
            </p:nvSpPr>
            <p:spPr>
              <a:xfrm>
                <a:off x="9220199" y="5081066"/>
                <a:ext cx="714185" cy="325724"/>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 name="Group 19">
              <a:extLst>
                <a:ext uri="{FF2B5EF4-FFF2-40B4-BE49-F238E27FC236}">
                  <a16:creationId xmlns:a16="http://schemas.microsoft.com/office/drawing/2014/main" id="{D0B42F7F-C576-D638-F94A-9375C779E8F5}"/>
                </a:ext>
              </a:extLst>
            </p:cNvPr>
            <p:cNvGrpSpPr/>
            <p:nvPr/>
          </p:nvGrpSpPr>
          <p:grpSpPr>
            <a:xfrm>
              <a:off x="11057605" y="3921300"/>
              <a:ext cx="289210" cy="338689"/>
              <a:chOff x="9220199" y="5081066"/>
              <a:chExt cx="714186" cy="969849"/>
            </a:xfrm>
          </p:grpSpPr>
          <p:sp>
            <p:nvSpPr>
              <p:cNvPr id="21" name="Rectangle 20">
                <a:extLst>
                  <a:ext uri="{FF2B5EF4-FFF2-40B4-BE49-F238E27FC236}">
                    <a16:creationId xmlns:a16="http://schemas.microsoft.com/office/drawing/2014/main" id="{429C3E87-3DA1-0D1F-3272-9D7A49E2338C}"/>
                  </a:ext>
                </a:extLst>
              </p:cNvPr>
              <p:cNvSpPr/>
              <p:nvPr/>
            </p:nvSpPr>
            <p:spPr>
              <a:xfrm>
                <a:off x="9220200" y="5419756"/>
                <a:ext cx="714185" cy="325724"/>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671491AE-B4D6-4251-FB26-87FBB2543444}"/>
                  </a:ext>
                </a:extLst>
              </p:cNvPr>
              <p:cNvSpPr/>
              <p:nvPr/>
            </p:nvSpPr>
            <p:spPr>
              <a:xfrm>
                <a:off x="9220200" y="5725191"/>
                <a:ext cx="714185" cy="325724"/>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B89B71FF-1E78-8E8F-CAD2-515C6923FB31}"/>
                  </a:ext>
                </a:extLst>
              </p:cNvPr>
              <p:cNvSpPr/>
              <p:nvPr/>
            </p:nvSpPr>
            <p:spPr>
              <a:xfrm>
                <a:off x="9220199" y="5081066"/>
                <a:ext cx="714185" cy="325724"/>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cxnSp>
        <p:nvCxnSpPr>
          <p:cNvPr id="43" name="Straight Arrow Connector 42">
            <a:extLst>
              <a:ext uri="{FF2B5EF4-FFF2-40B4-BE49-F238E27FC236}">
                <a16:creationId xmlns:a16="http://schemas.microsoft.com/office/drawing/2014/main" id="{81CCB60E-BBCD-BFD8-7C8E-512372F580CD}"/>
              </a:ext>
            </a:extLst>
          </p:cNvPr>
          <p:cNvCxnSpPr/>
          <p:nvPr/>
        </p:nvCxnSpPr>
        <p:spPr>
          <a:xfrm>
            <a:off x="10398115" y="3409969"/>
            <a:ext cx="0" cy="826751"/>
          </a:xfrm>
          <a:prstGeom prst="straightConnector1">
            <a:avLst/>
          </a:prstGeom>
          <a:ln w="7620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169029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2A5FB9-8092-6AC4-0B88-415B5224C3DC}"/>
              </a:ext>
            </a:extLst>
          </p:cNvPr>
          <p:cNvSpPr>
            <a:spLocks noGrp="1"/>
          </p:cNvSpPr>
          <p:nvPr>
            <p:ph type="title"/>
          </p:nvPr>
        </p:nvSpPr>
        <p:spPr>
          <a:xfrm>
            <a:off x="777240" y="365760"/>
            <a:ext cx="10890504" cy="1554480"/>
          </a:xfrm>
        </p:spPr>
        <p:txBody>
          <a:bodyPr>
            <a:normAutofit/>
          </a:bodyPr>
          <a:lstStyle/>
          <a:p>
            <a:r>
              <a:rPr lang="en-US" dirty="0">
                <a:latin typeface="+mn-lt"/>
              </a:rPr>
              <a:t>Reducing From NP-complete problem</a:t>
            </a:r>
            <a:br>
              <a:rPr lang="en-US" dirty="0">
                <a:latin typeface="+mn-lt"/>
              </a:rPr>
            </a:br>
            <a:r>
              <a:rPr lang="en-US" b="1" dirty="0">
                <a:latin typeface="+mn-lt"/>
              </a:rPr>
              <a:t>Claim</a:t>
            </a:r>
            <a:endParaRPr lang="en-US" dirty="0">
              <a:latin typeface="+mn-lt"/>
            </a:endParaRPr>
          </a:p>
        </p:txBody>
      </p:sp>
      <p:sp>
        <p:nvSpPr>
          <p:cNvPr id="3" name="Slide Number Placeholder 2">
            <a:extLst>
              <a:ext uri="{FF2B5EF4-FFF2-40B4-BE49-F238E27FC236}">
                <a16:creationId xmlns:a16="http://schemas.microsoft.com/office/drawing/2014/main" id="{478409B6-E39E-C56E-8982-85D7C6A08267}"/>
              </a:ext>
            </a:extLst>
          </p:cNvPr>
          <p:cNvSpPr>
            <a:spLocks noGrp="1"/>
          </p:cNvSpPr>
          <p:nvPr>
            <p:ph type="sldNum" sz="quarter" idx="12"/>
          </p:nvPr>
        </p:nvSpPr>
        <p:spPr/>
        <p:txBody>
          <a:bodyPr/>
          <a:lstStyle/>
          <a:p>
            <a:fld id="{CBD12358-51D2-46B3-9BDE-DF29528B9454}" type="slidenum">
              <a:rPr lang="en-US" smtClean="0"/>
              <a:t>31</a:t>
            </a:fld>
            <a:endParaRPr lang="en-US" dirty="0"/>
          </a:p>
        </p:txBody>
      </p:sp>
      <mc:AlternateContent xmlns:mc="http://schemas.openxmlformats.org/markup-compatibility/2006" xmlns:a14="http://schemas.microsoft.com/office/drawing/2010/main">
        <mc:Choice Requires="a14">
          <p:sp>
            <p:nvSpPr>
              <p:cNvPr id="32" name="Rectangle 31"/>
              <p:cNvSpPr/>
              <p:nvPr/>
            </p:nvSpPr>
            <p:spPr>
              <a:xfrm>
                <a:off x="640080" y="2127794"/>
                <a:ext cx="11027664" cy="461665"/>
              </a:xfrm>
              <a:prstGeom prst="rect">
                <a:avLst/>
              </a:prstGeom>
            </p:spPr>
            <p:txBody>
              <a:bodyPr wrap="square">
                <a:spAutoFit/>
              </a:bodyPr>
              <a:lstStyle/>
              <a:p>
                <a14:m>
                  <m:oMath xmlns:m="http://schemas.openxmlformats.org/officeDocument/2006/math">
                    <m:sSup>
                      <m:sSupPr>
                        <m:ctrlPr>
                          <a:rPr lang="en-US" sz="2400" i="1" dirty="0">
                            <a:solidFill>
                              <a:srgbClr val="836967"/>
                            </a:solidFill>
                            <a:latin typeface="Cambria Math" panose="02040503050406030204" pitchFamily="18" charset="0"/>
                          </a:rPr>
                        </m:ctrlPr>
                      </m:sSupPr>
                      <m:e>
                        <m:r>
                          <a:rPr lang="en-US" sz="2400" i="1" dirty="0">
                            <a:latin typeface="Cambria Math" panose="02040503050406030204" pitchFamily="18" charset="0"/>
                          </a:rPr>
                          <m:t>𝐺</m:t>
                        </m:r>
                      </m:e>
                      <m:sup>
                        <m:r>
                          <a:rPr lang="en-US" sz="2400" dirty="0">
                            <a:latin typeface="Cambria Math" panose="02040503050406030204" pitchFamily="18" charset="0"/>
                          </a:rPr>
                          <m:t> </m:t>
                        </m:r>
                      </m:sup>
                    </m:sSup>
                  </m:oMath>
                </a14:m>
                <a:r>
                  <a:rPr lang="en-US" sz="2400" dirty="0"/>
                  <a:t> has a k-coloring if and only if </a:t>
                </a:r>
                <a14:m>
                  <m:oMath xmlns:m="http://schemas.openxmlformats.org/officeDocument/2006/math">
                    <m:sSup>
                      <m:sSupPr>
                        <m:ctrlPr>
                          <a:rPr lang="en-US" sz="2400" i="1" dirty="0">
                            <a:solidFill>
                              <a:srgbClr val="836967"/>
                            </a:solidFill>
                            <a:latin typeface="Cambria Math" panose="02040503050406030204" pitchFamily="18" charset="0"/>
                          </a:rPr>
                        </m:ctrlPr>
                      </m:sSupPr>
                      <m:e>
                        <m:r>
                          <a:rPr lang="en-US" sz="2400" i="1" dirty="0">
                            <a:latin typeface="Cambria Math" panose="02040503050406030204" pitchFamily="18" charset="0"/>
                          </a:rPr>
                          <m:t>𝐺</m:t>
                        </m:r>
                      </m:e>
                      <m:sup>
                        <m:r>
                          <a:rPr lang="en-US" sz="2400" dirty="0">
                            <a:latin typeface="Cambria Math" panose="02040503050406030204" pitchFamily="18" charset="0"/>
                          </a:rPr>
                          <m:t>′</m:t>
                        </m:r>
                      </m:sup>
                    </m:sSup>
                  </m:oMath>
                </a14:m>
                <a:r>
                  <a:rPr lang="en-US" sz="2400" dirty="0"/>
                  <a:t> has a proper coloring.</a:t>
                </a:r>
              </a:p>
            </p:txBody>
          </p:sp>
        </mc:Choice>
        <mc:Fallback xmlns="">
          <p:sp>
            <p:nvSpPr>
              <p:cNvPr id="32" name="Rectangle 31"/>
              <p:cNvSpPr>
                <a:spLocks noRot="1" noChangeAspect="1" noMove="1" noResize="1" noEditPoints="1" noAdjustHandles="1" noChangeArrowheads="1" noChangeShapeType="1" noTextEdit="1"/>
              </p:cNvSpPr>
              <p:nvPr/>
            </p:nvSpPr>
            <p:spPr>
              <a:xfrm>
                <a:off x="640080" y="2127794"/>
                <a:ext cx="11027664" cy="461665"/>
              </a:xfrm>
              <a:prstGeom prst="rect">
                <a:avLst/>
              </a:prstGeom>
              <a:blipFill>
                <a:blip r:embed="rId2"/>
                <a:stretch>
                  <a:fillRect l="-111" t="-10526" b="-2894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85591CE6-4F30-47B1-E2A0-D528063F8F69}"/>
                  </a:ext>
                </a:extLst>
              </p:cNvPr>
              <p:cNvSpPr txBox="1"/>
              <p:nvPr/>
            </p:nvSpPr>
            <p:spPr>
              <a:xfrm>
                <a:off x="777241" y="2665031"/>
                <a:ext cx="8047640" cy="3170099"/>
              </a:xfrm>
              <a:prstGeom prst="rect">
                <a:avLst/>
              </a:prstGeom>
              <a:noFill/>
            </p:spPr>
            <p:txBody>
              <a:bodyPr wrap="square" rtlCol="0">
                <a:spAutoFit/>
              </a:bodyPr>
              <a:lstStyle/>
              <a:p>
                <a:r>
                  <a:rPr lang="en-US" sz="2000" b="1" dirty="0"/>
                  <a:t>Sufficiency</a:t>
                </a:r>
                <a:r>
                  <a:rPr lang="en-US" sz="2000" dirty="0"/>
                  <a:t>:  </a:t>
                </a:r>
                <a14:m>
                  <m:oMath xmlns:m="http://schemas.openxmlformats.org/officeDocument/2006/math">
                    <m:sSup>
                      <m:sSupPr>
                        <m:ctrlPr>
                          <a:rPr lang="en-US" i="1" dirty="0" smtClean="0">
                            <a:solidFill>
                              <a:srgbClr val="836967"/>
                            </a:solidFill>
                            <a:latin typeface="Cambria Math" panose="02040503050406030204" pitchFamily="18" charset="0"/>
                          </a:rPr>
                        </m:ctrlPr>
                      </m:sSupPr>
                      <m:e>
                        <m:sSup>
                          <m:sSupPr>
                            <m:ctrlPr>
                              <a:rPr lang="en-US" i="1" dirty="0">
                                <a:solidFill>
                                  <a:srgbClr val="836967"/>
                                </a:solidFill>
                                <a:latin typeface="Cambria Math" panose="02040503050406030204" pitchFamily="18" charset="0"/>
                              </a:rPr>
                            </m:ctrlPr>
                          </m:sSupPr>
                          <m:e>
                            <m:r>
                              <a:rPr lang="en-US" i="1" dirty="0">
                                <a:latin typeface="Cambria Math" panose="02040503050406030204" pitchFamily="18" charset="0"/>
                              </a:rPr>
                              <m:t>𝐺</m:t>
                            </m:r>
                          </m:e>
                          <m:sup>
                            <m:r>
                              <a:rPr lang="en-US" dirty="0">
                                <a:latin typeface="Cambria Math" panose="02040503050406030204" pitchFamily="18" charset="0"/>
                              </a:rPr>
                              <m:t>′</m:t>
                            </m:r>
                          </m:sup>
                        </m:sSup>
                      </m:e>
                      <m:sup>
                        <m:r>
                          <a:rPr lang="en-US" b="0" i="0" dirty="0" smtClean="0">
                            <a:latin typeface="Cambria Math" panose="02040503050406030204" pitchFamily="18" charset="0"/>
                          </a:rPr>
                          <m:t> </m:t>
                        </m:r>
                      </m:sup>
                    </m:sSup>
                  </m:oMath>
                </a14:m>
                <a:r>
                  <a:rPr lang="en-US" dirty="0"/>
                  <a:t>has a proper coloring.</a:t>
                </a:r>
              </a:p>
              <a:p>
                <a:r>
                  <a:rPr lang="en-US" dirty="0"/>
                  <a:t>For each v ∈ V of</a:t>
                </a:r>
                <a14:m>
                  <m:oMath xmlns:m="http://schemas.openxmlformats.org/officeDocument/2006/math">
                    <m:r>
                      <a:rPr lang="en-US" b="0" i="0" dirty="0" smtClean="0">
                        <a:solidFill>
                          <a:srgbClr val="836967"/>
                        </a:solidFill>
                        <a:latin typeface="Cambria Math" panose="02040503050406030204" pitchFamily="18" charset="0"/>
                      </a:rPr>
                      <m:t> </m:t>
                    </m:r>
                    <m:sSup>
                      <m:sSupPr>
                        <m:ctrlPr>
                          <a:rPr lang="en-US" i="1" dirty="0">
                            <a:solidFill>
                              <a:srgbClr val="836967"/>
                            </a:solidFill>
                            <a:latin typeface="Cambria Math" panose="02040503050406030204" pitchFamily="18" charset="0"/>
                          </a:rPr>
                        </m:ctrlPr>
                      </m:sSupPr>
                      <m:e>
                        <m:r>
                          <a:rPr lang="en-US" i="1" dirty="0">
                            <a:latin typeface="Cambria Math" panose="02040503050406030204" pitchFamily="18" charset="0"/>
                          </a:rPr>
                          <m:t>𝐺</m:t>
                        </m:r>
                      </m:e>
                      <m:sup>
                        <m:r>
                          <a:rPr lang="en-US" dirty="0">
                            <a:latin typeface="Cambria Math" panose="02040503050406030204" pitchFamily="18" charset="0"/>
                          </a:rPr>
                          <m:t>′</m:t>
                        </m:r>
                      </m:sup>
                    </m:sSup>
                    <m:r>
                      <a:rPr lang="en-US" b="0" i="1" dirty="0" smtClean="0">
                        <a:latin typeface="Cambria Math" panose="02040503050406030204" pitchFamily="18" charset="0"/>
                      </a:rPr>
                      <m:t> </m:t>
                    </m:r>
                  </m:oMath>
                </a14:m>
                <a:r>
                  <a:rPr lang="en-US" dirty="0"/>
                  <a:t>has a list L of size k.  And for all vertices, the list is identical. Now for a proper assignment of  </a:t>
                </a:r>
                <a14:m>
                  <m:oMath xmlns:m="http://schemas.openxmlformats.org/officeDocument/2006/math">
                    <m:sSup>
                      <m:sSupPr>
                        <m:ctrlPr>
                          <a:rPr lang="en-US" i="1" dirty="0">
                            <a:solidFill>
                              <a:srgbClr val="836967"/>
                            </a:solidFill>
                            <a:latin typeface="Cambria Math" panose="02040503050406030204" pitchFamily="18" charset="0"/>
                          </a:rPr>
                        </m:ctrlPr>
                      </m:sSupPr>
                      <m:e>
                        <m:r>
                          <a:rPr lang="en-US" i="1" dirty="0">
                            <a:latin typeface="Cambria Math" panose="02040503050406030204" pitchFamily="18" charset="0"/>
                          </a:rPr>
                          <m:t>𝐺</m:t>
                        </m:r>
                      </m:e>
                      <m:sup>
                        <m:r>
                          <a:rPr lang="en-US" dirty="0">
                            <a:latin typeface="Cambria Math" panose="02040503050406030204" pitchFamily="18" charset="0"/>
                          </a:rPr>
                          <m:t>′</m:t>
                        </m:r>
                      </m:sup>
                    </m:sSup>
                  </m:oMath>
                </a14:m>
                <a:r>
                  <a:rPr lang="en-US" dirty="0"/>
                  <a:t>, k or less color will be used. Then we will assign this coloring to G. So, G will be k-colorable.</a:t>
                </a:r>
              </a:p>
              <a:p>
                <a:endParaRPr lang="en-US" dirty="0"/>
              </a:p>
              <a:p>
                <a:r>
                  <a:rPr lang="en-US" dirty="0"/>
                  <a:t>Thus, G has a graph coloring.</a:t>
                </a:r>
              </a:p>
              <a:p>
                <a:endParaRPr lang="en-US" dirty="0"/>
              </a:p>
              <a:p>
                <a:endParaRPr lang="en-US" dirty="0"/>
              </a:p>
              <a:p>
                <a:endParaRPr lang="en-US" dirty="0"/>
              </a:p>
              <a:p>
                <a:endParaRPr lang="en-US" dirty="0"/>
              </a:p>
              <a:p>
                <a:r>
                  <a:rPr lang="en-US" dirty="0"/>
                  <a:t>So, </a:t>
                </a:r>
                <a:r>
                  <a:rPr lang="en-US" b="1" dirty="0"/>
                  <a:t>Graph Coloring</a:t>
                </a:r>
                <a:r>
                  <a:rPr lang="en-US" dirty="0"/>
                  <a:t> can be </a:t>
                </a:r>
                <a:r>
                  <a:rPr lang="en-US" dirty="0" err="1"/>
                  <a:t>polynomialy</a:t>
                </a:r>
                <a:r>
                  <a:rPr lang="en-US" dirty="0"/>
                  <a:t> reduced to </a:t>
                </a:r>
                <a:r>
                  <a:rPr lang="en-US" b="1" dirty="0"/>
                  <a:t>List Coloring</a:t>
                </a:r>
                <a:r>
                  <a:rPr lang="en-US" dirty="0"/>
                  <a:t>.</a:t>
                </a:r>
              </a:p>
            </p:txBody>
          </p:sp>
        </mc:Choice>
        <mc:Fallback>
          <p:sp>
            <p:nvSpPr>
              <p:cNvPr id="6" name="TextBox 5">
                <a:extLst>
                  <a:ext uri="{FF2B5EF4-FFF2-40B4-BE49-F238E27FC236}">
                    <a16:creationId xmlns:a16="http://schemas.microsoft.com/office/drawing/2014/main" id="{85591CE6-4F30-47B1-E2A0-D528063F8F69}"/>
                  </a:ext>
                </a:extLst>
              </p:cNvPr>
              <p:cNvSpPr txBox="1">
                <a:spLocks noRot="1" noChangeAspect="1" noMove="1" noResize="1" noEditPoints="1" noAdjustHandles="1" noChangeArrowheads="1" noChangeShapeType="1" noTextEdit="1"/>
              </p:cNvSpPr>
              <p:nvPr/>
            </p:nvSpPr>
            <p:spPr>
              <a:xfrm>
                <a:off x="777241" y="2665031"/>
                <a:ext cx="8047640" cy="3170099"/>
              </a:xfrm>
              <a:prstGeom prst="rect">
                <a:avLst/>
              </a:prstGeom>
              <a:blipFill>
                <a:blip r:embed="rId3"/>
                <a:stretch>
                  <a:fillRect l="-833" t="-962" r="-303" b="-2115"/>
                </a:stretch>
              </a:blipFill>
            </p:spPr>
            <p:txBody>
              <a:bodyPr/>
              <a:lstStyle/>
              <a:p>
                <a:r>
                  <a:rPr lang="en-US">
                    <a:noFill/>
                  </a:rPr>
                  <a:t> </a:t>
                </a:r>
              </a:p>
            </p:txBody>
          </p:sp>
        </mc:Fallback>
      </mc:AlternateContent>
      <p:grpSp>
        <p:nvGrpSpPr>
          <p:cNvPr id="4" name="Group 3">
            <a:extLst>
              <a:ext uri="{FF2B5EF4-FFF2-40B4-BE49-F238E27FC236}">
                <a16:creationId xmlns:a16="http://schemas.microsoft.com/office/drawing/2014/main" id="{158F79E4-0119-A1AF-D4CC-D17DEDF368C2}"/>
              </a:ext>
            </a:extLst>
          </p:cNvPr>
          <p:cNvGrpSpPr/>
          <p:nvPr/>
        </p:nvGrpSpPr>
        <p:grpSpPr>
          <a:xfrm rot="1910531">
            <a:off x="10015644" y="4486421"/>
            <a:ext cx="1254934" cy="1427514"/>
            <a:chOff x="5672264" y="4404214"/>
            <a:chExt cx="1844715" cy="1993724"/>
          </a:xfrm>
        </p:grpSpPr>
        <p:grpSp>
          <p:nvGrpSpPr>
            <p:cNvPr id="5" name="Group 4">
              <a:extLst>
                <a:ext uri="{FF2B5EF4-FFF2-40B4-BE49-F238E27FC236}">
                  <a16:creationId xmlns:a16="http://schemas.microsoft.com/office/drawing/2014/main" id="{86A3BD4E-9189-7B85-80CD-A0B8800C9D9E}"/>
                </a:ext>
              </a:extLst>
            </p:cNvPr>
            <p:cNvGrpSpPr/>
            <p:nvPr/>
          </p:nvGrpSpPr>
          <p:grpSpPr>
            <a:xfrm>
              <a:off x="5672264" y="4404214"/>
              <a:ext cx="1844715" cy="1993724"/>
              <a:chOff x="5938520" y="2432234"/>
              <a:chExt cx="1844715" cy="1993724"/>
            </a:xfrm>
          </p:grpSpPr>
          <p:sp>
            <p:nvSpPr>
              <p:cNvPr id="8" name="Oval 7">
                <a:extLst>
                  <a:ext uri="{FF2B5EF4-FFF2-40B4-BE49-F238E27FC236}">
                    <a16:creationId xmlns:a16="http://schemas.microsoft.com/office/drawing/2014/main" id="{711F6FF8-898C-5838-2104-7D92B92530A7}"/>
                  </a:ext>
                </a:extLst>
              </p:cNvPr>
              <p:cNvSpPr/>
              <p:nvPr/>
            </p:nvSpPr>
            <p:spPr>
              <a:xfrm>
                <a:off x="5988247" y="3238108"/>
                <a:ext cx="335280" cy="3556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BBB72E4B-45D8-2A80-DEC8-BB6DC80A3B50}"/>
                  </a:ext>
                </a:extLst>
              </p:cNvPr>
              <p:cNvSpPr/>
              <p:nvPr/>
            </p:nvSpPr>
            <p:spPr>
              <a:xfrm>
                <a:off x="5938520" y="4070358"/>
                <a:ext cx="335280" cy="3556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0956B2DE-C4E6-23EB-E9AE-8722480A60B3}"/>
                  </a:ext>
                </a:extLst>
              </p:cNvPr>
              <p:cNvSpPr/>
              <p:nvPr/>
            </p:nvSpPr>
            <p:spPr>
              <a:xfrm>
                <a:off x="7447955" y="3277879"/>
                <a:ext cx="335280" cy="3556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6A3A3BA0-751D-A520-9E78-987984B4C20A}"/>
                  </a:ext>
                </a:extLst>
              </p:cNvPr>
              <p:cNvSpPr/>
              <p:nvPr/>
            </p:nvSpPr>
            <p:spPr>
              <a:xfrm>
                <a:off x="6349236" y="2432234"/>
                <a:ext cx="335279" cy="3556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7CB6AD0A-3D78-045A-E4CA-1D30A1B8D627}"/>
                  </a:ext>
                </a:extLst>
              </p:cNvPr>
              <p:cNvCxnSpPr>
                <a:stCxn id="8" idx="0"/>
                <a:endCxn id="11" idx="4"/>
              </p:cNvCxnSpPr>
              <p:nvPr/>
            </p:nvCxnSpPr>
            <p:spPr>
              <a:xfrm rot="19689469" flipV="1">
                <a:off x="6058036" y="2912192"/>
                <a:ext cx="556691" cy="20155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F1409BB2-6796-0F05-8CD5-4EDFA1DA5DBE}"/>
                  </a:ext>
                </a:extLst>
              </p:cNvPr>
              <p:cNvCxnSpPr>
                <a:stCxn id="8" idx="4"/>
                <a:endCxn id="9" idx="0"/>
              </p:cNvCxnSpPr>
              <p:nvPr/>
            </p:nvCxnSpPr>
            <p:spPr>
              <a:xfrm flipH="1">
                <a:off x="6106160" y="3593708"/>
                <a:ext cx="49727" cy="47665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21E9904F-A226-1EFC-4AD8-3C7322B5F4ED}"/>
                  </a:ext>
                </a:extLst>
              </p:cNvPr>
              <p:cNvCxnSpPr>
                <a:stCxn id="8" idx="6"/>
                <a:endCxn id="10" idx="2"/>
              </p:cNvCxnSpPr>
              <p:nvPr/>
            </p:nvCxnSpPr>
            <p:spPr>
              <a:xfrm>
                <a:off x="6323527" y="3415908"/>
                <a:ext cx="1124428" cy="3977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7" name="Straight Connector 6">
              <a:extLst>
                <a:ext uri="{FF2B5EF4-FFF2-40B4-BE49-F238E27FC236}">
                  <a16:creationId xmlns:a16="http://schemas.microsoft.com/office/drawing/2014/main" id="{D534CC21-6729-B3B4-9E99-6AFCF57D3FCF}"/>
                </a:ext>
              </a:extLst>
            </p:cNvPr>
            <p:cNvCxnSpPr>
              <a:stCxn id="10" idx="3"/>
              <a:endCxn id="9" idx="6"/>
            </p:cNvCxnSpPr>
            <p:nvPr/>
          </p:nvCxnSpPr>
          <p:spPr>
            <a:xfrm flipH="1">
              <a:off x="6007544" y="5553383"/>
              <a:ext cx="1223256" cy="66675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3" name="Straight Arrow Connector 42">
            <a:extLst>
              <a:ext uri="{FF2B5EF4-FFF2-40B4-BE49-F238E27FC236}">
                <a16:creationId xmlns:a16="http://schemas.microsoft.com/office/drawing/2014/main" id="{81CB990F-65D0-41C1-C1A2-2A1AE65716F4}"/>
              </a:ext>
            </a:extLst>
          </p:cNvPr>
          <p:cNvCxnSpPr/>
          <p:nvPr/>
        </p:nvCxnSpPr>
        <p:spPr>
          <a:xfrm>
            <a:off x="10398115" y="3409969"/>
            <a:ext cx="0" cy="826751"/>
          </a:xfrm>
          <a:prstGeom prst="straightConnector1">
            <a:avLst/>
          </a:prstGeom>
          <a:ln w="7620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nvGrpSpPr>
          <p:cNvPr id="44" name="Group 43">
            <a:extLst>
              <a:ext uri="{FF2B5EF4-FFF2-40B4-BE49-F238E27FC236}">
                <a16:creationId xmlns:a16="http://schemas.microsoft.com/office/drawing/2014/main" id="{219009CA-3D42-6299-26E7-BAFCEC6560B8}"/>
              </a:ext>
            </a:extLst>
          </p:cNvPr>
          <p:cNvGrpSpPr/>
          <p:nvPr/>
        </p:nvGrpSpPr>
        <p:grpSpPr>
          <a:xfrm>
            <a:off x="9284738" y="2145350"/>
            <a:ext cx="2351263" cy="1485691"/>
            <a:chOff x="9322447" y="3921300"/>
            <a:chExt cx="2351263" cy="1485691"/>
          </a:xfrm>
        </p:grpSpPr>
        <p:grpSp>
          <p:nvGrpSpPr>
            <p:cNvPr id="45" name="Group 44">
              <a:extLst>
                <a:ext uri="{FF2B5EF4-FFF2-40B4-BE49-F238E27FC236}">
                  <a16:creationId xmlns:a16="http://schemas.microsoft.com/office/drawing/2014/main" id="{5633EC3E-C875-002A-50E3-51D71A5BB6B2}"/>
                </a:ext>
              </a:extLst>
            </p:cNvPr>
            <p:cNvGrpSpPr/>
            <p:nvPr/>
          </p:nvGrpSpPr>
          <p:grpSpPr>
            <a:xfrm rot="1910531">
              <a:off x="10052475" y="3979477"/>
              <a:ext cx="1254934" cy="1427514"/>
              <a:chOff x="5672264" y="4404214"/>
              <a:chExt cx="1844715" cy="1993724"/>
            </a:xfrm>
          </p:grpSpPr>
          <p:grpSp>
            <p:nvGrpSpPr>
              <p:cNvPr id="62" name="Group 61">
                <a:extLst>
                  <a:ext uri="{FF2B5EF4-FFF2-40B4-BE49-F238E27FC236}">
                    <a16:creationId xmlns:a16="http://schemas.microsoft.com/office/drawing/2014/main" id="{F0B83A53-A338-5998-958D-6445D250D1A7}"/>
                  </a:ext>
                </a:extLst>
              </p:cNvPr>
              <p:cNvGrpSpPr/>
              <p:nvPr/>
            </p:nvGrpSpPr>
            <p:grpSpPr>
              <a:xfrm>
                <a:off x="5672264" y="4404214"/>
                <a:ext cx="1844715" cy="1993724"/>
                <a:chOff x="5938520" y="2432234"/>
                <a:chExt cx="1844715" cy="1993724"/>
              </a:xfrm>
            </p:grpSpPr>
            <p:sp>
              <p:nvSpPr>
                <p:cNvPr id="64" name="Oval 63">
                  <a:extLst>
                    <a:ext uri="{FF2B5EF4-FFF2-40B4-BE49-F238E27FC236}">
                      <a16:creationId xmlns:a16="http://schemas.microsoft.com/office/drawing/2014/main" id="{CDD00E9F-7170-ACD3-1D57-B7E823B3ACBF}"/>
                    </a:ext>
                  </a:extLst>
                </p:cNvPr>
                <p:cNvSpPr/>
                <p:nvPr/>
              </p:nvSpPr>
              <p:spPr>
                <a:xfrm>
                  <a:off x="5988247" y="3238108"/>
                  <a:ext cx="335280" cy="35560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5" name="Oval 64">
                  <a:extLst>
                    <a:ext uri="{FF2B5EF4-FFF2-40B4-BE49-F238E27FC236}">
                      <a16:creationId xmlns:a16="http://schemas.microsoft.com/office/drawing/2014/main" id="{EA79011C-8B9E-4C95-7E59-A77014CF8D76}"/>
                    </a:ext>
                  </a:extLst>
                </p:cNvPr>
                <p:cNvSpPr/>
                <p:nvPr/>
              </p:nvSpPr>
              <p:spPr>
                <a:xfrm>
                  <a:off x="5938520" y="4070358"/>
                  <a:ext cx="335280" cy="355600"/>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a:extLst>
                    <a:ext uri="{FF2B5EF4-FFF2-40B4-BE49-F238E27FC236}">
                      <a16:creationId xmlns:a16="http://schemas.microsoft.com/office/drawing/2014/main" id="{FCBC501C-0137-E472-7AC1-23CD6E9FF097}"/>
                    </a:ext>
                  </a:extLst>
                </p:cNvPr>
                <p:cNvSpPr/>
                <p:nvPr/>
              </p:nvSpPr>
              <p:spPr>
                <a:xfrm>
                  <a:off x="7447955" y="3277879"/>
                  <a:ext cx="335280" cy="3556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Oval 66">
                  <a:extLst>
                    <a:ext uri="{FF2B5EF4-FFF2-40B4-BE49-F238E27FC236}">
                      <a16:creationId xmlns:a16="http://schemas.microsoft.com/office/drawing/2014/main" id="{1EA7C181-2227-2268-A17D-AD9F53396EE1}"/>
                    </a:ext>
                  </a:extLst>
                </p:cNvPr>
                <p:cNvSpPr/>
                <p:nvPr/>
              </p:nvSpPr>
              <p:spPr>
                <a:xfrm>
                  <a:off x="6349236" y="2432234"/>
                  <a:ext cx="335279" cy="3556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8" name="Straight Connector 67">
                  <a:extLst>
                    <a:ext uri="{FF2B5EF4-FFF2-40B4-BE49-F238E27FC236}">
                      <a16:creationId xmlns:a16="http://schemas.microsoft.com/office/drawing/2014/main" id="{0A889344-0FD6-92BE-C30F-A3975EA9A178}"/>
                    </a:ext>
                  </a:extLst>
                </p:cNvPr>
                <p:cNvCxnSpPr>
                  <a:stCxn id="64" idx="0"/>
                  <a:endCxn id="67" idx="4"/>
                </p:cNvCxnSpPr>
                <p:nvPr/>
              </p:nvCxnSpPr>
              <p:spPr>
                <a:xfrm rot="19689469" flipV="1">
                  <a:off x="6058036" y="2912192"/>
                  <a:ext cx="556691" cy="20155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5306BD06-D6AC-0E11-FD0A-19EEB75A3A1C}"/>
                    </a:ext>
                  </a:extLst>
                </p:cNvPr>
                <p:cNvCxnSpPr>
                  <a:stCxn id="64" idx="4"/>
                  <a:endCxn id="65" idx="0"/>
                </p:cNvCxnSpPr>
                <p:nvPr/>
              </p:nvCxnSpPr>
              <p:spPr>
                <a:xfrm flipH="1">
                  <a:off x="6106160" y="3593708"/>
                  <a:ext cx="49727" cy="47665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C9883D43-7556-7B84-2C1E-82122E248748}"/>
                    </a:ext>
                  </a:extLst>
                </p:cNvPr>
                <p:cNvCxnSpPr>
                  <a:stCxn id="64" idx="6"/>
                  <a:endCxn id="66" idx="2"/>
                </p:cNvCxnSpPr>
                <p:nvPr/>
              </p:nvCxnSpPr>
              <p:spPr>
                <a:xfrm>
                  <a:off x="6323527" y="3415908"/>
                  <a:ext cx="1124428" cy="3977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63" name="Straight Connector 62">
                <a:extLst>
                  <a:ext uri="{FF2B5EF4-FFF2-40B4-BE49-F238E27FC236}">
                    <a16:creationId xmlns:a16="http://schemas.microsoft.com/office/drawing/2014/main" id="{073454E0-F9AE-D914-F30E-E2088675392B}"/>
                  </a:ext>
                </a:extLst>
              </p:cNvPr>
              <p:cNvCxnSpPr>
                <a:stCxn id="66" idx="3"/>
                <a:endCxn id="65" idx="6"/>
              </p:cNvCxnSpPr>
              <p:nvPr/>
            </p:nvCxnSpPr>
            <p:spPr>
              <a:xfrm flipH="1">
                <a:off x="6007544" y="5553383"/>
                <a:ext cx="1223256" cy="66675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6" name="Group 45">
              <a:extLst>
                <a:ext uri="{FF2B5EF4-FFF2-40B4-BE49-F238E27FC236}">
                  <a16:creationId xmlns:a16="http://schemas.microsoft.com/office/drawing/2014/main" id="{7746ED15-D2C9-AED2-D07C-E2C0AD260DC8}"/>
                </a:ext>
              </a:extLst>
            </p:cNvPr>
            <p:cNvGrpSpPr/>
            <p:nvPr/>
          </p:nvGrpSpPr>
          <p:grpSpPr>
            <a:xfrm>
              <a:off x="9322447" y="4873012"/>
              <a:ext cx="289210" cy="338689"/>
              <a:chOff x="9220199" y="5081066"/>
              <a:chExt cx="714186" cy="969849"/>
            </a:xfrm>
          </p:grpSpPr>
          <p:sp>
            <p:nvSpPr>
              <p:cNvPr id="59" name="Rectangle 58">
                <a:extLst>
                  <a:ext uri="{FF2B5EF4-FFF2-40B4-BE49-F238E27FC236}">
                    <a16:creationId xmlns:a16="http://schemas.microsoft.com/office/drawing/2014/main" id="{86DF5D3E-72CD-816F-F3AC-65940BDDCD26}"/>
                  </a:ext>
                </a:extLst>
              </p:cNvPr>
              <p:cNvSpPr/>
              <p:nvPr/>
            </p:nvSpPr>
            <p:spPr>
              <a:xfrm>
                <a:off x="9220200" y="5419756"/>
                <a:ext cx="714185" cy="325724"/>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59">
                <a:extLst>
                  <a:ext uri="{FF2B5EF4-FFF2-40B4-BE49-F238E27FC236}">
                    <a16:creationId xmlns:a16="http://schemas.microsoft.com/office/drawing/2014/main" id="{F6DBE86F-6AF8-5309-2EFA-0FFBC6330C02}"/>
                  </a:ext>
                </a:extLst>
              </p:cNvPr>
              <p:cNvSpPr/>
              <p:nvPr/>
            </p:nvSpPr>
            <p:spPr>
              <a:xfrm>
                <a:off x="9220200" y="5725191"/>
                <a:ext cx="714185" cy="325724"/>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60">
                <a:extLst>
                  <a:ext uri="{FF2B5EF4-FFF2-40B4-BE49-F238E27FC236}">
                    <a16:creationId xmlns:a16="http://schemas.microsoft.com/office/drawing/2014/main" id="{79D03D4B-B9CA-A5F7-E6A3-EBF9B7175D0F}"/>
                  </a:ext>
                </a:extLst>
              </p:cNvPr>
              <p:cNvSpPr/>
              <p:nvPr/>
            </p:nvSpPr>
            <p:spPr>
              <a:xfrm>
                <a:off x="9220199" y="5081066"/>
                <a:ext cx="714185" cy="325724"/>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7" name="Group 46">
              <a:extLst>
                <a:ext uri="{FF2B5EF4-FFF2-40B4-BE49-F238E27FC236}">
                  <a16:creationId xmlns:a16="http://schemas.microsoft.com/office/drawing/2014/main" id="{C236E2C6-0FB9-7F43-E60A-DD57AB41FA40}"/>
                </a:ext>
              </a:extLst>
            </p:cNvPr>
            <p:cNvGrpSpPr/>
            <p:nvPr/>
          </p:nvGrpSpPr>
          <p:grpSpPr>
            <a:xfrm>
              <a:off x="9789780" y="3957240"/>
              <a:ext cx="289210" cy="338689"/>
              <a:chOff x="9220199" y="5081066"/>
              <a:chExt cx="714186" cy="969849"/>
            </a:xfrm>
          </p:grpSpPr>
          <p:sp>
            <p:nvSpPr>
              <p:cNvPr id="56" name="Rectangle 55">
                <a:extLst>
                  <a:ext uri="{FF2B5EF4-FFF2-40B4-BE49-F238E27FC236}">
                    <a16:creationId xmlns:a16="http://schemas.microsoft.com/office/drawing/2014/main" id="{0DC80FE7-C728-0E64-93DA-0C4A144C262A}"/>
                  </a:ext>
                </a:extLst>
              </p:cNvPr>
              <p:cNvSpPr/>
              <p:nvPr/>
            </p:nvSpPr>
            <p:spPr>
              <a:xfrm>
                <a:off x="9220200" y="5419756"/>
                <a:ext cx="714185" cy="325724"/>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9504BA5D-259F-F174-9827-D582BB4726B6}"/>
                  </a:ext>
                </a:extLst>
              </p:cNvPr>
              <p:cNvSpPr/>
              <p:nvPr/>
            </p:nvSpPr>
            <p:spPr>
              <a:xfrm>
                <a:off x="9220200" y="5725191"/>
                <a:ext cx="714185" cy="325724"/>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a:extLst>
                  <a:ext uri="{FF2B5EF4-FFF2-40B4-BE49-F238E27FC236}">
                    <a16:creationId xmlns:a16="http://schemas.microsoft.com/office/drawing/2014/main" id="{2219E16A-0DCC-1CB4-28EA-D60C57EAA4AB}"/>
                  </a:ext>
                </a:extLst>
              </p:cNvPr>
              <p:cNvSpPr/>
              <p:nvPr/>
            </p:nvSpPr>
            <p:spPr>
              <a:xfrm>
                <a:off x="9220199" y="5081066"/>
                <a:ext cx="714185" cy="325724"/>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8" name="Group 47">
              <a:extLst>
                <a:ext uri="{FF2B5EF4-FFF2-40B4-BE49-F238E27FC236}">
                  <a16:creationId xmlns:a16="http://schemas.microsoft.com/office/drawing/2014/main" id="{C07D59E0-5DBD-D08F-706F-BFC7FD08C82E}"/>
                </a:ext>
              </a:extLst>
            </p:cNvPr>
            <p:cNvGrpSpPr/>
            <p:nvPr/>
          </p:nvGrpSpPr>
          <p:grpSpPr>
            <a:xfrm>
              <a:off x="11384500" y="4997462"/>
              <a:ext cx="289210" cy="338689"/>
              <a:chOff x="9220199" y="5081066"/>
              <a:chExt cx="714186" cy="969849"/>
            </a:xfrm>
          </p:grpSpPr>
          <p:sp>
            <p:nvSpPr>
              <p:cNvPr id="53" name="Rectangle 52">
                <a:extLst>
                  <a:ext uri="{FF2B5EF4-FFF2-40B4-BE49-F238E27FC236}">
                    <a16:creationId xmlns:a16="http://schemas.microsoft.com/office/drawing/2014/main" id="{A1478CB2-7009-D304-5983-5B20E9CA2AE6}"/>
                  </a:ext>
                </a:extLst>
              </p:cNvPr>
              <p:cNvSpPr/>
              <p:nvPr/>
            </p:nvSpPr>
            <p:spPr>
              <a:xfrm>
                <a:off x="9220200" y="5419756"/>
                <a:ext cx="714185" cy="325724"/>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a:extLst>
                  <a:ext uri="{FF2B5EF4-FFF2-40B4-BE49-F238E27FC236}">
                    <a16:creationId xmlns:a16="http://schemas.microsoft.com/office/drawing/2014/main" id="{A2ADC44F-FE0E-86E6-2475-D2FDE42DB231}"/>
                  </a:ext>
                </a:extLst>
              </p:cNvPr>
              <p:cNvSpPr/>
              <p:nvPr/>
            </p:nvSpPr>
            <p:spPr>
              <a:xfrm>
                <a:off x="9220200" y="5725191"/>
                <a:ext cx="714185" cy="325724"/>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5E1EDB77-86F4-5F22-0F38-6EC7C423C348}"/>
                  </a:ext>
                </a:extLst>
              </p:cNvPr>
              <p:cNvSpPr/>
              <p:nvPr/>
            </p:nvSpPr>
            <p:spPr>
              <a:xfrm>
                <a:off x="9220199" y="5081066"/>
                <a:ext cx="714185" cy="325724"/>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9" name="Group 48">
              <a:extLst>
                <a:ext uri="{FF2B5EF4-FFF2-40B4-BE49-F238E27FC236}">
                  <a16:creationId xmlns:a16="http://schemas.microsoft.com/office/drawing/2014/main" id="{BE63717E-1E6D-8526-1761-2C1B3D1F0441}"/>
                </a:ext>
              </a:extLst>
            </p:cNvPr>
            <p:cNvGrpSpPr/>
            <p:nvPr/>
          </p:nvGrpSpPr>
          <p:grpSpPr>
            <a:xfrm>
              <a:off x="11057605" y="3921300"/>
              <a:ext cx="289210" cy="338689"/>
              <a:chOff x="9220199" y="5081066"/>
              <a:chExt cx="714186" cy="969849"/>
            </a:xfrm>
          </p:grpSpPr>
          <p:sp>
            <p:nvSpPr>
              <p:cNvPr id="50" name="Rectangle 49">
                <a:extLst>
                  <a:ext uri="{FF2B5EF4-FFF2-40B4-BE49-F238E27FC236}">
                    <a16:creationId xmlns:a16="http://schemas.microsoft.com/office/drawing/2014/main" id="{CA8827B0-FB46-19DE-BB2C-A61751A39BC4}"/>
                  </a:ext>
                </a:extLst>
              </p:cNvPr>
              <p:cNvSpPr/>
              <p:nvPr/>
            </p:nvSpPr>
            <p:spPr>
              <a:xfrm>
                <a:off x="9220200" y="5419756"/>
                <a:ext cx="714185" cy="325724"/>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82537C03-2AD2-7BFD-8CE3-D80471BE87D0}"/>
                  </a:ext>
                </a:extLst>
              </p:cNvPr>
              <p:cNvSpPr/>
              <p:nvPr/>
            </p:nvSpPr>
            <p:spPr>
              <a:xfrm>
                <a:off x="9220200" y="5725191"/>
                <a:ext cx="714185" cy="325724"/>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F6F9247C-F3F6-05C1-9139-57824A3F55F3}"/>
                  </a:ext>
                </a:extLst>
              </p:cNvPr>
              <p:cNvSpPr/>
              <p:nvPr/>
            </p:nvSpPr>
            <p:spPr>
              <a:xfrm>
                <a:off x="9220199" y="5081066"/>
                <a:ext cx="714185" cy="325724"/>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Tree>
    <p:extLst>
      <p:ext uri="{BB962C8B-B14F-4D97-AF65-F5344CB8AC3E}">
        <p14:creationId xmlns:p14="http://schemas.microsoft.com/office/powerpoint/2010/main" val="192450800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B0B23E-3233-82B1-61E9-4F36C91A7A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CE6DB3-4C68-1C8D-3911-DDAC1D27E9CB}"/>
              </a:ext>
            </a:extLst>
          </p:cNvPr>
          <p:cNvSpPr>
            <a:spLocks noGrp="1"/>
          </p:cNvSpPr>
          <p:nvPr>
            <p:ph type="title"/>
          </p:nvPr>
        </p:nvSpPr>
        <p:spPr>
          <a:xfrm>
            <a:off x="777240" y="365760"/>
            <a:ext cx="10890504" cy="1554480"/>
          </a:xfrm>
        </p:spPr>
        <p:txBody>
          <a:bodyPr>
            <a:normAutofit/>
          </a:bodyPr>
          <a:lstStyle/>
          <a:p>
            <a:r>
              <a:rPr lang="en-US" dirty="0">
                <a:latin typeface="+mn-lt"/>
              </a:rPr>
              <a:t>Reducing From NP-complete problem</a:t>
            </a:r>
            <a:br>
              <a:rPr lang="en-US" dirty="0">
                <a:latin typeface="+mn-lt"/>
              </a:rPr>
            </a:br>
            <a:r>
              <a:rPr lang="en-US" b="1" dirty="0">
                <a:latin typeface="+mn-lt"/>
              </a:rPr>
              <a:t>Claim</a:t>
            </a:r>
            <a:endParaRPr lang="en-US" dirty="0">
              <a:latin typeface="+mn-lt"/>
            </a:endParaRPr>
          </a:p>
        </p:txBody>
      </p:sp>
      <p:sp>
        <p:nvSpPr>
          <p:cNvPr id="3" name="Slide Number Placeholder 2">
            <a:extLst>
              <a:ext uri="{FF2B5EF4-FFF2-40B4-BE49-F238E27FC236}">
                <a16:creationId xmlns:a16="http://schemas.microsoft.com/office/drawing/2014/main" id="{EDD3C2FE-F3BB-2320-9ED4-99AF296B3624}"/>
              </a:ext>
            </a:extLst>
          </p:cNvPr>
          <p:cNvSpPr>
            <a:spLocks noGrp="1"/>
          </p:cNvSpPr>
          <p:nvPr>
            <p:ph type="sldNum" sz="quarter" idx="12"/>
          </p:nvPr>
        </p:nvSpPr>
        <p:spPr/>
        <p:txBody>
          <a:bodyPr/>
          <a:lstStyle/>
          <a:p>
            <a:fld id="{CBD12358-51D2-46B3-9BDE-DF29528B9454}" type="slidenum">
              <a:rPr lang="en-US" smtClean="0"/>
              <a:t>32</a:t>
            </a:fld>
            <a:endParaRPr lang="en-US" dirty="0"/>
          </a:p>
        </p:txBody>
      </p:sp>
      <mc:AlternateContent xmlns:mc="http://schemas.openxmlformats.org/markup-compatibility/2006">
        <mc:Choice xmlns:a14="http://schemas.microsoft.com/office/drawing/2010/main" Requires="a14">
          <p:sp>
            <p:nvSpPr>
              <p:cNvPr id="32" name="Rectangle 31">
                <a:extLst>
                  <a:ext uri="{FF2B5EF4-FFF2-40B4-BE49-F238E27FC236}">
                    <a16:creationId xmlns:a16="http://schemas.microsoft.com/office/drawing/2014/main" id="{DAC9A0F6-7821-5CB0-2081-4FCFF89E9DA7}"/>
                  </a:ext>
                </a:extLst>
              </p:cNvPr>
              <p:cNvSpPr/>
              <p:nvPr/>
            </p:nvSpPr>
            <p:spPr>
              <a:xfrm>
                <a:off x="640080" y="2127794"/>
                <a:ext cx="11027664" cy="461665"/>
              </a:xfrm>
              <a:prstGeom prst="rect">
                <a:avLst/>
              </a:prstGeom>
            </p:spPr>
            <p:txBody>
              <a:bodyPr wrap="square">
                <a:spAutoFit/>
              </a:bodyPr>
              <a:lstStyle/>
              <a:p>
                <a14:m>
                  <m:oMath xmlns:m="http://schemas.openxmlformats.org/officeDocument/2006/math">
                    <m:sSup>
                      <m:sSupPr>
                        <m:ctrlPr>
                          <a:rPr lang="en-US" sz="2400" i="1" dirty="0">
                            <a:solidFill>
                              <a:srgbClr val="836967"/>
                            </a:solidFill>
                            <a:latin typeface="Cambria Math" panose="02040503050406030204" pitchFamily="18" charset="0"/>
                          </a:rPr>
                        </m:ctrlPr>
                      </m:sSupPr>
                      <m:e>
                        <m:r>
                          <a:rPr lang="en-US" sz="2400" i="1" dirty="0">
                            <a:latin typeface="Cambria Math" panose="02040503050406030204" pitchFamily="18" charset="0"/>
                          </a:rPr>
                          <m:t>𝐺</m:t>
                        </m:r>
                      </m:e>
                      <m:sup>
                        <m:r>
                          <a:rPr lang="en-US" sz="2400" dirty="0">
                            <a:latin typeface="Cambria Math" panose="02040503050406030204" pitchFamily="18" charset="0"/>
                          </a:rPr>
                          <m:t> </m:t>
                        </m:r>
                      </m:sup>
                    </m:sSup>
                  </m:oMath>
                </a14:m>
                <a:r>
                  <a:rPr lang="en-US" sz="2400" dirty="0"/>
                  <a:t> has a k-coloring if and only if </a:t>
                </a:r>
                <a14:m>
                  <m:oMath xmlns:m="http://schemas.openxmlformats.org/officeDocument/2006/math">
                    <m:sSup>
                      <m:sSupPr>
                        <m:ctrlPr>
                          <a:rPr lang="en-US" sz="2400" i="1" dirty="0">
                            <a:solidFill>
                              <a:srgbClr val="836967"/>
                            </a:solidFill>
                            <a:latin typeface="Cambria Math" panose="02040503050406030204" pitchFamily="18" charset="0"/>
                          </a:rPr>
                        </m:ctrlPr>
                      </m:sSupPr>
                      <m:e>
                        <m:r>
                          <a:rPr lang="en-US" sz="2400" i="1" dirty="0">
                            <a:latin typeface="Cambria Math" panose="02040503050406030204" pitchFamily="18" charset="0"/>
                          </a:rPr>
                          <m:t>𝐺</m:t>
                        </m:r>
                      </m:e>
                      <m:sup>
                        <m:r>
                          <a:rPr lang="en-US" sz="2400" dirty="0">
                            <a:latin typeface="Cambria Math" panose="02040503050406030204" pitchFamily="18" charset="0"/>
                          </a:rPr>
                          <m:t>′</m:t>
                        </m:r>
                      </m:sup>
                    </m:sSup>
                  </m:oMath>
                </a14:m>
                <a:r>
                  <a:rPr lang="en-US" sz="2400" dirty="0"/>
                  <a:t> has a proper coloring.</a:t>
                </a:r>
              </a:p>
            </p:txBody>
          </p:sp>
        </mc:Choice>
        <mc:Fallback>
          <p:sp>
            <p:nvSpPr>
              <p:cNvPr id="32" name="Rectangle 31">
                <a:extLst>
                  <a:ext uri="{FF2B5EF4-FFF2-40B4-BE49-F238E27FC236}">
                    <a16:creationId xmlns:a16="http://schemas.microsoft.com/office/drawing/2014/main" id="{DAC9A0F6-7821-5CB0-2081-4FCFF89E9DA7}"/>
                  </a:ext>
                </a:extLst>
              </p:cNvPr>
              <p:cNvSpPr>
                <a:spLocks noRot="1" noChangeAspect="1" noMove="1" noResize="1" noEditPoints="1" noAdjustHandles="1" noChangeArrowheads="1" noChangeShapeType="1" noTextEdit="1"/>
              </p:cNvSpPr>
              <p:nvPr/>
            </p:nvSpPr>
            <p:spPr>
              <a:xfrm>
                <a:off x="640080" y="2127794"/>
                <a:ext cx="11027664" cy="461665"/>
              </a:xfrm>
              <a:prstGeom prst="rect">
                <a:avLst/>
              </a:prstGeom>
              <a:blipFill>
                <a:blip r:embed="rId2"/>
                <a:stretch>
                  <a:fillRect l="-111" t="-10526" b="-2894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6F626E43-0E9C-FE1C-DBF2-17547CC1BB77}"/>
                  </a:ext>
                </a:extLst>
              </p:cNvPr>
              <p:cNvSpPr txBox="1"/>
              <p:nvPr/>
            </p:nvSpPr>
            <p:spPr>
              <a:xfrm>
                <a:off x="777241" y="2658894"/>
                <a:ext cx="8047640" cy="3170099"/>
              </a:xfrm>
              <a:prstGeom prst="rect">
                <a:avLst/>
              </a:prstGeom>
              <a:noFill/>
            </p:spPr>
            <p:txBody>
              <a:bodyPr wrap="square" rtlCol="0">
                <a:spAutoFit/>
              </a:bodyPr>
              <a:lstStyle/>
              <a:p>
                <a:r>
                  <a:rPr lang="en-US" sz="2000" b="1" dirty="0"/>
                  <a:t>Sufficiency</a:t>
                </a:r>
                <a:r>
                  <a:rPr lang="en-US" sz="2000" dirty="0"/>
                  <a:t>:  </a:t>
                </a:r>
                <a14:m>
                  <m:oMath xmlns:m="http://schemas.openxmlformats.org/officeDocument/2006/math">
                    <m:sSup>
                      <m:sSupPr>
                        <m:ctrlPr>
                          <a:rPr lang="en-US" i="1" dirty="0" smtClean="0">
                            <a:solidFill>
                              <a:srgbClr val="836967"/>
                            </a:solidFill>
                            <a:latin typeface="Cambria Math" panose="02040503050406030204" pitchFamily="18" charset="0"/>
                          </a:rPr>
                        </m:ctrlPr>
                      </m:sSupPr>
                      <m:e>
                        <m:sSup>
                          <m:sSupPr>
                            <m:ctrlPr>
                              <a:rPr lang="en-US" i="1" dirty="0">
                                <a:solidFill>
                                  <a:srgbClr val="836967"/>
                                </a:solidFill>
                                <a:latin typeface="Cambria Math" panose="02040503050406030204" pitchFamily="18" charset="0"/>
                              </a:rPr>
                            </m:ctrlPr>
                          </m:sSupPr>
                          <m:e>
                            <m:r>
                              <a:rPr lang="en-US" i="1" dirty="0">
                                <a:latin typeface="Cambria Math" panose="02040503050406030204" pitchFamily="18" charset="0"/>
                              </a:rPr>
                              <m:t>𝐺</m:t>
                            </m:r>
                          </m:e>
                          <m:sup>
                            <m:r>
                              <a:rPr lang="en-US" dirty="0">
                                <a:latin typeface="Cambria Math" panose="02040503050406030204" pitchFamily="18" charset="0"/>
                              </a:rPr>
                              <m:t>′</m:t>
                            </m:r>
                          </m:sup>
                        </m:sSup>
                      </m:e>
                      <m:sup>
                        <m:r>
                          <a:rPr lang="en-US" b="0" i="0" dirty="0" smtClean="0">
                            <a:latin typeface="Cambria Math" panose="02040503050406030204" pitchFamily="18" charset="0"/>
                          </a:rPr>
                          <m:t> </m:t>
                        </m:r>
                      </m:sup>
                    </m:sSup>
                  </m:oMath>
                </a14:m>
                <a:r>
                  <a:rPr lang="en-US" dirty="0"/>
                  <a:t>has a proper coloring.</a:t>
                </a:r>
              </a:p>
              <a:p>
                <a:r>
                  <a:rPr lang="en-US" dirty="0"/>
                  <a:t>For each v ∈ V of</a:t>
                </a:r>
                <a14:m>
                  <m:oMath xmlns:m="http://schemas.openxmlformats.org/officeDocument/2006/math">
                    <m:r>
                      <a:rPr lang="en-US" b="0" i="0" dirty="0" smtClean="0">
                        <a:solidFill>
                          <a:srgbClr val="836967"/>
                        </a:solidFill>
                        <a:latin typeface="Cambria Math" panose="02040503050406030204" pitchFamily="18" charset="0"/>
                      </a:rPr>
                      <m:t> </m:t>
                    </m:r>
                    <m:sSup>
                      <m:sSupPr>
                        <m:ctrlPr>
                          <a:rPr lang="en-US" i="1" dirty="0">
                            <a:solidFill>
                              <a:srgbClr val="836967"/>
                            </a:solidFill>
                            <a:latin typeface="Cambria Math" panose="02040503050406030204" pitchFamily="18" charset="0"/>
                          </a:rPr>
                        </m:ctrlPr>
                      </m:sSupPr>
                      <m:e>
                        <m:r>
                          <a:rPr lang="en-US" i="1" dirty="0">
                            <a:latin typeface="Cambria Math" panose="02040503050406030204" pitchFamily="18" charset="0"/>
                          </a:rPr>
                          <m:t>𝐺</m:t>
                        </m:r>
                      </m:e>
                      <m:sup>
                        <m:r>
                          <a:rPr lang="en-US" dirty="0">
                            <a:latin typeface="Cambria Math" panose="02040503050406030204" pitchFamily="18" charset="0"/>
                          </a:rPr>
                          <m:t>′</m:t>
                        </m:r>
                      </m:sup>
                    </m:sSup>
                    <m:r>
                      <a:rPr lang="en-US" b="0" i="1" dirty="0" smtClean="0">
                        <a:latin typeface="Cambria Math" panose="02040503050406030204" pitchFamily="18" charset="0"/>
                      </a:rPr>
                      <m:t> </m:t>
                    </m:r>
                  </m:oMath>
                </a14:m>
                <a:r>
                  <a:rPr lang="en-US" dirty="0"/>
                  <a:t>has a list L of size k.  And for all vertices, the list is identical. Now for a proper assignment of  </a:t>
                </a:r>
                <a14:m>
                  <m:oMath xmlns:m="http://schemas.openxmlformats.org/officeDocument/2006/math">
                    <m:sSup>
                      <m:sSupPr>
                        <m:ctrlPr>
                          <a:rPr lang="en-US" i="1" dirty="0">
                            <a:solidFill>
                              <a:srgbClr val="836967"/>
                            </a:solidFill>
                            <a:latin typeface="Cambria Math" panose="02040503050406030204" pitchFamily="18" charset="0"/>
                          </a:rPr>
                        </m:ctrlPr>
                      </m:sSupPr>
                      <m:e>
                        <m:r>
                          <a:rPr lang="en-US" i="1" dirty="0">
                            <a:latin typeface="Cambria Math" panose="02040503050406030204" pitchFamily="18" charset="0"/>
                          </a:rPr>
                          <m:t>𝐺</m:t>
                        </m:r>
                      </m:e>
                      <m:sup>
                        <m:r>
                          <a:rPr lang="en-US" dirty="0">
                            <a:latin typeface="Cambria Math" panose="02040503050406030204" pitchFamily="18" charset="0"/>
                          </a:rPr>
                          <m:t>′</m:t>
                        </m:r>
                      </m:sup>
                    </m:sSup>
                  </m:oMath>
                </a14:m>
                <a:r>
                  <a:rPr lang="en-US" dirty="0"/>
                  <a:t>, k or less color will be used. Then we will assign this coloring to G. So, G will be k-colorable.</a:t>
                </a:r>
              </a:p>
              <a:p>
                <a:endParaRPr lang="en-US" dirty="0"/>
              </a:p>
              <a:p>
                <a:r>
                  <a:rPr lang="en-US" dirty="0"/>
                  <a:t>Thus, G has a graph coloring.</a:t>
                </a:r>
              </a:p>
              <a:p>
                <a:endParaRPr lang="en-US" dirty="0"/>
              </a:p>
              <a:p>
                <a:endParaRPr lang="en-US" dirty="0"/>
              </a:p>
              <a:p>
                <a:endParaRPr lang="en-US" dirty="0"/>
              </a:p>
              <a:p>
                <a:endParaRPr lang="en-US" dirty="0"/>
              </a:p>
              <a:p>
                <a:r>
                  <a:rPr lang="en-US" dirty="0"/>
                  <a:t>So, </a:t>
                </a:r>
                <a:r>
                  <a:rPr lang="en-US" b="1" dirty="0"/>
                  <a:t>Graph Coloring</a:t>
                </a:r>
                <a:r>
                  <a:rPr lang="en-US" dirty="0"/>
                  <a:t> can be </a:t>
                </a:r>
                <a:r>
                  <a:rPr lang="en-US" dirty="0" err="1"/>
                  <a:t>polynomialy</a:t>
                </a:r>
                <a:r>
                  <a:rPr lang="en-US" dirty="0"/>
                  <a:t> reduced to </a:t>
                </a:r>
                <a:r>
                  <a:rPr lang="en-US" b="1" dirty="0"/>
                  <a:t>List Coloring</a:t>
                </a:r>
                <a:r>
                  <a:rPr lang="en-US" dirty="0"/>
                  <a:t>.</a:t>
                </a:r>
              </a:p>
            </p:txBody>
          </p:sp>
        </mc:Choice>
        <mc:Fallback>
          <p:sp>
            <p:nvSpPr>
              <p:cNvPr id="6" name="TextBox 5">
                <a:extLst>
                  <a:ext uri="{FF2B5EF4-FFF2-40B4-BE49-F238E27FC236}">
                    <a16:creationId xmlns:a16="http://schemas.microsoft.com/office/drawing/2014/main" id="{6F626E43-0E9C-FE1C-DBF2-17547CC1BB77}"/>
                  </a:ext>
                </a:extLst>
              </p:cNvPr>
              <p:cNvSpPr txBox="1">
                <a:spLocks noRot="1" noChangeAspect="1" noMove="1" noResize="1" noEditPoints="1" noAdjustHandles="1" noChangeArrowheads="1" noChangeShapeType="1" noTextEdit="1"/>
              </p:cNvSpPr>
              <p:nvPr/>
            </p:nvSpPr>
            <p:spPr>
              <a:xfrm>
                <a:off x="777241" y="2658894"/>
                <a:ext cx="8047640" cy="3170099"/>
              </a:xfrm>
              <a:prstGeom prst="rect">
                <a:avLst/>
              </a:prstGeom>
              <a:blipFill>
                <a:blip r:embed="rId3"/>
                <a:stretch>
                  <a:fillRect l="-833" t="-962" r="-303" b="-2115"/>
                </a:stretch>
              </a:blipFill>
            </p:spPr>
            <p:txBody>
              <a:bodyPr/>
              <a:lstStyle/>
              <a:p>
                <a:r>
                  <a:rPr lang="en-US">
                    <a:noFill/>
                  </a:rPr>
                  <a:t> </a:t>
                </a:r>
              </a:p>
            </p:txBody>
          </p:sp>
        </mc:Fallback>
      </mc:AlternateContent>
      <p:cxnSp>
        <p:nvCxnSpPr>
          <p:cNvPr id="43" name="Straight Arrow Connector 42">
            <a:extLst>
              <a:ext uri="{FF2B5EF4-FFF2-40B4-BE49-F238E27FC236}">
                <a16:creationId xmlns:a16="http://schemas.microsoft.com/office/drawing/2014/main" id="{9C84BB56-7551-26BB-5BCF-036CC05489E4}"/>
              </a:ext>
            </a:extLst>
          </p:cNvPr>
          <p:cNvCxnSpPr/>
          <p:nvPr/>
        </p:nvCxnSpPr>
        <p:spPr>
          <a:xfrm>
            <a:off x="10398115" y="3409969"/>
            <a:ext cx="0" cy="826751"/>
          </a:xfrm>
          <a:prstGeom prst="straightConnector1">
            <a:avLst/>
          </a:prstGeom>
          <a:ln w="7620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nvGrpSpPr>
          <p:cNvPr id="44" name="Group 43">
            <a:extLst>
              <a:ext uri="{FF2B5EF4-FFF2-40B4-BE49-F238E27FC236}">
                <a16:creationId xmlns:a16="http://schemas.microsoft.com/office/drawing/2014/main" id="{2EB26E28-731E-AC3F-0494-5404BAC63ADB}"/>
              </a:ext>
            </a:extLst>
          </p:cNvPr>
          <p:cNvGrpSpPr/>
          <p:nvPr/>
        </p:nvGrpSpPr>
        <p:grpSpPr>
          <a:xfrm>
            <a:off x="9284738" y="2145350"/>
            <a:ext cx="2351263" cy="1485691"/>
            <a:chOff x="9322447" y="3921300"/>
            <a:chExt cx="2351263" cy="1485691"/>
          </a:xfrm>
        </p:grpSpPr>
        <p:grpSp>
          <p:nvGrpSpPr>
            <p:cNvPr id="45" name="Group 44">
              <a:extLst>
                <a:ext uri="{FF2B5EF4-FFF2-40B4-BE49-F238E27FC236}">
                  <a16:creationId xmlns:a16="http://schemas.microsoft.com/office/drawing/2014/main" id="{1C7337FF-050D-A851-2970-42FBC4BECFAF}"/>
                </a:ext>
              </a:extLst>
            </p:cNvPr>
            <p:cNvGrpSpPr/>
            <p:nvPr/>
          </p:nvGrpSpPr>
          <p:grpSpPr>
            <a:xfrm rot="1910531">
              <a:off x="10052475" y="3979477"/>
              <a:ext cx="1254934" cy="1427514"/>
              <a:chOff x="5672264" y="4404214"/>
              <a:chExt cx="1844715" cy="1993724"/>
            </a:xfrm>
          </p:grpSpPr>
          <p:grpSp>
            <p:nvGrpSpPr>
              <p:cNvPr id="62" name="Group 61">
                <a:extLst>
                  <a:ext uri="{FF2B5EF4-FFF2-40B4-BE49-F238E27FC236}">
                    <a16:creationId xmlns:a16="http://schemas.microsoft.com/office/drawing/2014/main" id="{7189A760-F5AB-C751-04A8-BFB0B347AB84}"/>
                  </a:ext>
                </a:extLst>
              </p:cNvPr>
              <p:cNvGrpSpPr/>
              <p:nvPr/>
            </p:nvGrpSpPr>
            <p:grpSpPr>
              <a:xfrm>
                <a:off x="5672264" y="4404214"/>
                <a:ext cx="1844715" cy="1993724"/>
                <a:chOff x="5938520" y="2432234"/>
                <a:chExt cx="1844715" cy="1993724"/>
              </a:xfrm>
            </p:grpSpPr>
            <p:sp>
              <p:nvSpPr>
                <p:cNvPr id="64" name="Oval 63">
                  <a:extLst>
                    <a:ext uri="{FF2B5EF4-FFF2-40B4-BE49-F238E27FC236}">
                      <a16:creationId xmlns:a16="http://schemas.microsoft.com/office/drawing/2014/main" id="{98EFB4A5-C988-C42B-34CE-4423E7ECC75A}"/>
                    </a:ext>
                  </a:extLst>
                </p:cNvPr>
                <p:cNvSpPr/>
                <p:nvPr/>
              </p:nvSpPr>
              <p:spPr>
                <a:xfrm>
                  <a:off x="5988247" y="3238108"/>
                  <a:ext cx="335280" cy="35560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5" name="Oval 64">
                  <a:extLst>
                    <a:ext uri="{FF2B5EF4-FFF2-40B4-BE49-F238E27FC236}">
                      <a16:creationId xmlns:a16="http://schemas.microsoft.com/office/drawing/2014/main" id="{4352BEC5-7967-98D0-9209-15329EDAA52C}"/>
                    </a:ext>
                  </a:extLst>
                </p:cNvPr>
                <p:cNvSpPr/>
                <p:nvPr/>
              </p:nvSpPr>
              <p:spPr>
                <a:xfrm>
                  <a:off x="5938520" y="4070358"/>
                  <a:ext cx="335280" cy="355600"/>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a:extLst>
                    <a:ext uri="{FF2B5EF4-FFF2-40B4-BE49-F238E27FC236}">
                      <a16:creationId xmlns:a16="http://schemas.microsoft.com/office/drawing/2014/main" id="{ACDB101E-8BA8-236E-5C51-398CF0F50B26}"/>
                    </a:ext>
                  </a:extLst>
                </p:cNvPr>
                <p:cNvSpPr/>
                <p:nvPr/>
              </p:nvSpPr>
              <p:spPr>
                <a:xfrm>
                  <a:off x="7447955" y="3277879"/>
                  <a:ext cx="335280" cy="3556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Oval 66">
                  <a:extLst>
                    <a:ext uri="{FF2B5EF4-FFF2-40B4-BE49-F238E27FC236}">
                      <a16:creationId xmlns:a16="http://schemas.microsoft.com/office/drawing/2014/main" id="{56C6A93F-9EF5-7AE9-1E49-4913CD9FFA26}"/>
                    </a:ext>
                  </a:extLst>
                </p:cNvPr>
                <p:cNvSpPr/>
                <p:nvPr/>
              </p:nvSpPr>
              <p:spPr>
                <a:xfrm>
                  <a:off x="6349236" y="2432234"/>
                  <a:ext cx="335279" cy="3556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8" name="Straight Connector 67">
                  <a:extLst>
                    <a:ext uri="{FF2B5EF4-FFF2-40B4-BE49-F238E27FC236}">
                      <a16:creationId xmlns:a16="http://schemas.microsoft.com/office/drawing/2014/main" id="{55CCB7EE-8005-3BDB-2A50-D45BC6F00681}"/>
                    </a:ext>
                  </a:extLst>
                </p:cNvPr>
                <p:cNvCxnSpPr>
                  <a:stCxn id="64" idx="0"/>
                  <a:endCxn id="67" idx="4"/>
                </p:cNvCxnSpPr>
                <p:nvPr/>
              </p:nvCxnSpPr>
              <p:spPr>
                <a:xfrm rot="19689469" flipV="1">
                  <a:off x="6058036" y="2912192"/>
                  <a:ext cx="556691" cy="20155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B0A79383-501A-C8B0-0E93-A720EC4DF831}"/>
                    </a:ext>
                  </a:extLst>
                </p:cNvPr>
                <p:cNvCxnSpPr>
                  <a:stCxn id="64" idx="4"/>
                  <a:endCxn id="65" idx="0"/>
                </p:cNvCxnSpPr>
                <p:nvPr/>
              </p:nvCxnSpPr>
              <p:spPr>
                <a:xfrm flipH="1">
                  <a:off x="6106160" y="3593708"/>
                  <a:ext cx="49727" cy="47665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51478E7A-CA6E-1474-12EE-0604D227D4E1}"/>
                    </a:ext>
                  </a:extLst>
                </p:cNvPr>
                <p:cNvCxnSpPr>
                  <a:stCxn id="64" idx="6"/>
                  <a:endCxn id="66" idx="2"/>
                </p:cNvCxnSpPr>
                <p:nvPr/>
              </p:nvCxnSpPr>
              <p:spPr>
                <a:xfrm>
                  <a:off x="6323527" y="3415908"/>
                  <a:ext cx="1124428" cy="3977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63" name="Straight Connector 62">
                <a:extLst>
                  <a:ext uri="{FF2B5EF4-FFF2-40B4-BE49-F238E27FC236}">
                    <a16:creationId xmlns:a16="http://schemas.microsoft.com/office/drawing/2014/main" id="{4198DACB-ECEB-3C57-12E2-4161AAEF5216}"/>
                  </a:ext>
                </a:extLst>
              </p:cNvPr>
              <p:cNvCxnSpPr>
                <a:stCxn id="66" idx="3"/>
                <a:endCxn id="65" idx="6"/>
              </p:cNvCxnSpPr>
              <p:nvPr/>
            </p:nvCxnSpPr>
            <p:spPr>
              <a:xfrm flipH="1">
                <a:off x="6007544" y="5553383"/>
                <a:ext cx="1223256" cy="66675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6" name="Group 45">
              <a:extLst>
                <a:ext uri="{FF2B5EF4-FFF2-40B4-BE49-F238E27FC236}">
                  <a16:creationId xmlns:a16="http://schemas.microsoft.com/office/drawing/2014/main" id="{0E05E644-308D-678E-8847-DC4238000B06}"/>
                </a:ext>
              </a:extLst>
            </p:cNvPr>
            <p:cNvGrpSpPr/>
            <p:nvPr/>
          </p:nvGrpSpPr>
          <p:grpSpPr>
            <a:xfrm>
              <a:off x="9322447" y="4873012"/>
              <a:ext cx="289210" cy="338689"/>
              <a:chOff x="9220199" y="5081066"/>
              <a:chExt cx="714186" cy="969849"/>
            </a:xfrm>
          </p:grpSpPr>
          <p:sp>
            <p:nvSpPr>
              <p:cNvPr id="59" name="Rectangle 58">
                <a:extLst>
                  <a:ext uri="{FF2B5EF4-FFF2-40B4-BE49-F238E27FC236}">
                    <a16:creationId xmlns:a16="http://schemas.microsoft.com/office/drawing/2014/main" id="{F1C973A1-AC38-4783-7033-AE383F9EED3D}"/>
                  </a:ext>
                </a:extLst>
              </p:cNvPr>
              <p:cNvSpPr/>
              <p:nvPr/>
            </p:nvSpPr>
            <p:spPr>
              <a:xfrm>
                <a:off x="9220200" y="5419756"/>
                <a:ext cx="714185" cy="325724"/>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59">
                <a:extLst>
                  <a:ext uri="{FF2B5EF4-FFF2-40B4-BE49-F238E27FC236}">
                    <a16:creationId xmlns:a16="http://schemas.microsoft.com/office/drawing/2014/main" id="{62120B05-13B4-CB6F-29FA-4C7201E70258}"/>
                  </a:ext>
                </a:extLst>
              </p:cNvPr>
              <p:cNvSpPr/>
              <p:nvPr/>
            </p:nvSpPr>
            <p:spPr>
              <a:xfrm>
                <a:off x="9220200" y="5725191"/>
                <a:ext cx="714185" cy="325724"/>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60">
                <a:extLst>
                  <a:ext uri="{FF2B5EF4-FFF2-40B4-BE49-F238E27FC236}">
                    <a16:creationId xmlns:a16="http://schemas.microsoft.com/office/drawing/2014/main" id="{BAC6E6FA-D0B0-9025-5854-64ACA7424643}"/>
                  </a:ext>
                </a:extLst>
              </p:cNvPr>
              <p:cNvSpPr/>
              <p:nvPr/>
            </p:nvSpPr>
            <p:spPr>
              <a:xfrm>
                <a:off x="9220199" y="5081066"/>
                <a:ext cx="714185" cy="325724"/>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7" name="Group 46">
              <a:extLst>
                <a:ext uri="{FF2B5EF4-FFF2-40B4-BE49-F238E27FC236}">
                  <a16:creationId xmlns:a16="http://schemas.microsoft.com/office/drawing/2014/main" id="{10A77C4F-5B96-4949-242C-ED34CD512FD4}"/>
                </a:ext>
              </a:extLst>
            </p:cNvPr>
            <p:cNvGrpSpPr/>
            <p:nvPr/>
          </p:nvGrpSpPr>
          <p:grpSpPr>
            <a:xfrm>
              <a:off x="9789780" y="3957240"/>
              <a:ext cx="289210" cy="338689"/>
              <a:chOff x="9220199" y="5081066"/>
              <a:chExt cx="714186" cy="969849"/>
            </a:xfrm>
          </p:grpSpPr>
          <p:sp>
            <p:nvSpPr>
              <p:cNvPr id="56" name="Rectangle 55">
                <a:extLst>
                  <a:ext uri="{FF2B5EF4-FFF2-40B4-BE49-F238E27FC236}">
                    <a16:creationId xmlns:a16="http://schemas.microsoft.com/office/drawing/2014/main" id="{4AC30335-3E0C-87D8-C569-30F5FE9193E9}"/>
                  </a:ext>
                </a:extLst>
              </p:cNvPr>
              <p:cNvSpPr/>
              <p:nvPr/>
            </p:nvSpPr>
            <p:spPr>
              <a:xfrm>
                <a:off x="9220200" y="5419756"/>
                <a:ext cx="714185" cy="325724"/>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D7154F46-86E0-318B-A496-CE0FF07E556D}"/>
                  </a:ext>
                </a:extLst>
              </p:cNvPr>
              <p:cNvSpPr/>
              <p:nvPr/>
            </p:nvSpPr>
            <p:spPr>
              <a:xfrm>
                <a:off x="9220200" y="5725191"/>
                <a:ext cx="714185" cy="325724"/>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a:extLst>
                  <a:ext uri="{FF2B5EF4-FFF2-40B4-BE49-F238E27FC236}">
                    <a16:creationId xmlns:a16="http://schemas.microsoft.com/office/drawing/2014/main" id="{9B5FDF5C-B711-35CE-3A9E-9D771E232BB8}"/>
                  </a:ext>
                </a:extLst>
              </p:cNvPr>
              <p:cNvSpPr/>
              <p:nvPr/>
            </p:nvSpPr>
            <p:spPr>
              <a:xfrm>
                <a:off x="9220199" y="5081066"/>
                <a:ext cx="714185" cy="325724"/>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8" name="Group 47">
              <a:extLst>
                <a:ext uri="{FF2B5EF4-FFF2-40B4-BE49-F238E27FC236}">
                  <a16:creationId xmlns:a16="http://schemas.microsoft.com/office/drawing/2014/main" id="{AE01155A-CB90-F85E-30E1-460F9DEF3F77}"/>
                </a:ext>
              </a:extLst>
            </p:cNvPr>
            <p:cNvGrpSpPr/>
            <p:nvPr/>
          </p:nvGrpSpPr>
          <p:grpSpPr>
            <a:xfrm>
              <a:off x="11384500" y="4997462"/>
              <a:ext cx="289210" cy="338689"/>
              <a:chOff x="9220199" y="5081066"/>
              <a:chExt cx="714186" cy="969849"/>
            </a:xfrm>
          </p:grpSpPr>
          <p:sp>
            <p:nvSpPr>
              <p:cNvPr id="53" name="Rectangle 52">
                <a:extLst>
                  <a:ext uri="{FF2B5EF4-FFF2-40B4-BE49-F238E27FC236}">
                    <a16:creationId xmlns:a16="http://schemas.microsoft.com/office/drawing/2014/main" id="{BB1BD410-E204-6A13-E09F-90AE24FAF86B}"/>
                  </a:ext>
                </a:extLst>
              </p:cNvPr>
              <p:cNvSpPr/>
              <p:nvPr/>
            </p:nvSpPr>
            <p:spPr>
              <a:xfrm>
                <a:off x="9220200" y="5419756"/>
                <a:ext cx="714185" cy="325724"/>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a:extLst>
                  <a:ext uri="{FF2B5EF4-FFF2-40B4-BE49-F238E27FC236}">
                    <a16:creationId xmlns:a16="http://schemas.microsoft.com/office/drawing/2014/main" id="{050E687D-C616-E40F-0A5F-C56BD9EB6223}"/>
                  </a:ext>
                </a:extLst>
              </p:cNvPr>
              <p:cNvSpPr/>
              <p:nvPr/>
            </p:nvSpPr>
            <p:spPr>
              <a:xfrm>
                <a:off x="9220200" y="5725191"/>
                <a:ext cx="714185" cy="325724"/>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77552084-9597-8046-CBDF-E10D2CB529AE}"/>
                  </a:ext>
                </a:extLst>
              </p:cNvPr>
              <p:cNvSpPr/>
              <p:nvPr/>
            </p:nvSpPr>
            <p:spPr>
              <a:xfrm>
                <a:off x="9220199" y="5081066"/>
                <a:ext cx="714185" cy="325724"/>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9" name="Group 48">
              <a:extLst>
                <a:ext uri="{FF2B5EF4-FFF2-40B4-BE49-F238E27FC236}">
                  <a16:creationId xmlns:a16="http://schemas.microsoft.com/office/drawing/2014/main" id="{7491F842-3EA9-5840-066B-006F0AC8E327}"/>
                </a:ext>
              </a:extLst>
            </p:cNvPr>
            <p:cNvGrpSpPr/>
            <p:nvPr/>
          </p:nvGrpSpPr>
          <p:grpSpPr>
            <a:xfrm>
              <a:off x="11057605" y="3921300"/>
              <a:ext cx="289210" cy="338689"/>
              <a:chOff x="9220199" y="5081066"/>
              <a:chExt cx="714186" cy="969849"/>
            </a:xfrm>
          </p:grpSpPr>
          <p:sp>
            <p:nvSpPr>
              <p:cNvPr id="50" name="Rectangle 49">
                <a:extLst>
                  <a:ext uri="{FF2B5EF4-FFF2-40B4-BE49-F238E27FC236}">
                    <a16:creationId xmlns:a16="http://schemas.microsoft.com/office/drawing/2014/main" id="{FB6782B5-B94B-CD05-812E-FFD9EA177C9F}"/>
                  </a:ext>
                </a:extLst>
              </p:cNvPr>
              <p:cNvSpPr/>
              <p:nvPr/>
            </p:nvSpPr>
            <p:spPr>
              <a:xfrm>
                <a:off x="9220200" y="5419756"/>
                <a:ext cx="714185" cy="325724"/>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D861D182-41B3-CB81-7397-3E23A3883F7A}"/>
                  </a:ext>
                </a:extLst>
              </p:cNvPr>
              <p:cNvSpPr/>
              <p:nvPr/>
            </p:nvSpPr>
            <p:spPr>
              <a:xfrm>
                <a:off x="9220200" y="5725191"/>
                <a:ext cx="714185" cy="325724"/>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04B075D8-2D36-E31D-665E-E52AC4804E97}"/>
                  </a:ext>
                </a:extLst>
              </p:cNvPr>
              <p:cNvSpPr/>
              <p:nvPr/>
            </p:nvSpPr>
            <p:spPr>
              <a:xfrm>
                <a:off x="9220199" y="5081066"/>
                <a:ext cx="714185" cy="325724"/>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5" name="Group 14">
            <a:extLst>
              <a:ext uri="{FF2B5EF4-FFF2-40B4-BE49-F238E27FC236}">
                <a16:creationId xmlns:a16="http://schemas.microsoft.com/office/drawing/2014/main" id="{6810EE80-090D-27E8-5847-A24E3BDC760B}"/>
              </a:ext>
            </a:extLst>
          </p:cNvPr>
          <p:cNvGrpSpPr/>
          <p:nvPr/>
        </p:nvGrpSpPr>
        <p:grpSpPr>
          <a:xfrm rot="1910531">
            <a:off x="9989881" y="4449816"/>
            <a:ext cx="1254934" cy="1427514"/>
            <a:chOff x="5672264" y="4404214"/>
            <a:chExt cx="1844715" cy="1993724"/>
          </a:xfrm>
        </p:grpSpPr>
        <p:grpSp>
          <p:nvGrpSpPr>
            <p:cNvPr id="16" name="Group 15">
              <a:extLst>
                <a:ext uri="{FF2B5EF4-FFF2-40B4-BE49-F238E27FC236}">
                  <a16:creationId xmlns:a16="http://schemas.microsoft.com/office/drawing/2014/main" id="{A92246A4-A922-896F-79E7-DF4D7BCB3F67}"/>
                </a:ext>
              </a:extLst>
            </p:cNvPr>
            <p:cNvGrpSpPr/>
            <p:nvPr/>
          </p:nvGrpSpPr>
          <p:grpSpPr>
            <a:xfrm>
              <a:off x="5672264" y="4404214"/>
              <a:ext cx="1844715" cy="1993724"/>
              <a:chOff x="5938520" y="2432234"/>
              <a:chExt cx="1844715" cy="1993724"/>
            </a:xfrm>
          </p:grpSpPr>
          <p:sp>
            <p:nvSpPr>
              <p:cNvPr id="18" name="Oval 17">
                <a:extLst>
                  <a:ext uri="{FF2B5EF4-FFF2-40B4-BE49-F238E27FC236}">
                    <a16:creationId xmlns:a16="http://schemas.microsoft.com/office/drawing/2014/main" id="{E6E5BD30-8215-7919-6D24-102BA55C43FF}"/>
                  </a:ext>
                </a:extLst>
              </p:cNvPr>
              <p:cNvSpPr/>
              <p:nvPr/>
            </p:nvSpPr>
            <p:spPr>
              <a:xfrm>
                <a:off x="5988247" y="3238108"/>
                <a:ext cx="335280" cy="35560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Oval 18">
                <a:extLst>
                  <a:ext uri="{FF2B5EF4-FFF2-40B4-BE49-F238E27FC236}">
                    <a16:creationId xmlns:a16="http://schemas.microsoft.com/office/drawing/2014/main" id="{EBE23596-5FA3-2E70-0FE0-201071FACDBF}"/>
                  </a:ext>
                </a:extLst>
              </p:cNvPr>
              <p:cNvSpPr/>
              <p:nvPr/>
            </p:nvSpPr>
            <p:spPr>
              <a:xfrm>
                <a:off x="5938520" y="4070358"/>
                <a:ext cx="335280" cy="355600"/>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9A9C01A1-9AB1-76F7-9A86-CD813A8C7123}"/>
                  </a:ext>
                </a:extLst>
              </p:cNvPr>
              <p:cNvSpPr/>
              <p:nvPr/>
            </p:nvSpPr>
            <p:spPr>
              <a:xfrm>
                <a:off x="7447955" y="3277879"/>
                <a:ext cx="335280" cy="3556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574736-5DDA-0CD5-3090-B6BE09DE6B82}"/>
                  </a:ext>
                </a:extLst>
              </p:cNvPr>
              <p:cNvSpPr/>
              <p:nvPr/>
            </p:nvSpPr>
            <p:spPr>
              <a:xfrm>
                <a:off x="6349236" y="2432234"/>
                <a:ext cx="335279" cy="3556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Straight Connector 21">
                <a:extLst>
                  <a:ext uri="{FF2B5EF4-FFF2-40B4-BE49-F238E27FC236}">
                    <a16:creationId xmlns:a16="http://schemas.microsoft.com/office/drawing/2014/main" id="{322341C9-EEF0-E39F-DC1C-B31AA02AF93D}"/>
                  </a:ext>
                </a:extLst>
              </p:cNvPr>
              <p:cNvCxnSpPr>
                <a:stCxn id="18" idx="0"/>
                <a:endCxn id="21" idx="4"/>
              </p:cNvCxnSpPr>
              <p:nvPr/>
            </p:nvCxnSpPr>
            <p:spPr>
              <a:xfrm rot="19689469" flipV="1">
                <a:off x="6058036" y="2912192"/>
                <a:ext cx="556691" cy="20155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EF2CB171-AD95-2E12-A361-2CD54FC19333}"/>
                  </a:ext>
                </a:extLst>
              </p:cNvPr>
              <p:cNvCxnSpPr>
                <a:stCxn id="18" idx="4"/>
                <a:endCxn id="19" idx="0"/>
              </p:cNvCxnSpPr>
              <p:nvPr/>
            </p:nvCxnSpPr>
            <p:spPr>
              <a:xfrm flipH="1">
                <a:off x="6106160" y="3593708"/>
                <a:ext cx="49727" cy="47665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35E33EEA-10EB-BD82-23EA-45A8DB37553B}"/>
                  </a:ext>
                </a:extLst>
              </p:cNvPr>
              <p:cNvCxnSpPr>
                <a:stCxn id="18" idx="6"/>
                <a:endCxn id="20" idx="2"/>
              </p:cNvCxnSpPr>
              <p:nvPr/>
            </p:nvCxnSpPr>
            <p:spPr>
              <a:xfrm>
                <a:off x="6323527" y="3415908"/>
                <a:ext cx="1124428" cy="3977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7" name="Straight Connector 16">
              <a:extLst>
                <a:ext uri="{FF2B5EF4-FFF2-40B4-BE49-F238E27FC236}">
                  <a16:creationId xmlns:a16="http://schemas.microsoft.com/office/drawing/2014/main" id="{E9D4BEF3-C0BC-5154-2014-44CD466D72FC}"/>
                </a:ext>
              </a:extLst>
            </p:cNvPr>
            <p:cNvCxnSpPr>
              <a:stCxn id="20" idx="3"/>
              <a:endCxn id="19" idx="6"/>
            </p:cNvCxnSpPr>
            <p:nvPr/>
          </p:nvCxnSpPr>
          <p:spPr>
            <a:xfrm flipH="1">
              <a:off x="6007544" y="5553383"/>
              <a:ext cx="1223256" cy="66675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43413015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2A5FB9-8092-6AC4-0B88-415B5224C3DC}"/>
              </a:ext>
            </a:extLst>
          </p:cNvPr>
          <p:cNvSpPr>
            <a:spLocks noGrp="1"/>
          </p:cNvSpPr>
          <p:nvPr>
            <p:ph type="title"/>
          </p:nvPr>
        </p:nvSpPr>
        <p:spPr/>
        <p:txBody>
          <a:bodyPr>
            <a:normAutofit/>
          </a:bodyPr>
          <a:lstStyle/>
          <a:p>
            <a:r>
              <a:rPr lang="en-US" dirty="0"/>
              <a:t>Greedy Algorithm</a:t>
            </a:r>
            <a:endParaRPr lang="en-US" dirty="0">
              <a:latin typeface="Ink Free" panose="03080402000500000000" pitchFamily="66" charset="0"/>
            </a:endParaRPr>
          </a:p>
        </p:txBody>
      </p:sp>
      <p:sp>
        <p:nvSpPr>
          <p:cNvPr id="3" name="Slide Number Placeholder 2">
            <a:extLst>
              <a:ext uri="{FF2B5EF4-FFF2-40B4-BE49-F238E27FC236}">
                <a16:creationId xmlns:a16="http://schemas.microsoft.com/office/drawing/2014/main" id="{74A2DDF2-FE34-5B49-8296-1DE6C0A2459E}"/>
              </a:ext>
            </a:extLst>
          </p:cNvPr>
          <p:cNvSpPr>
            <a:spLocks noGrp="1"/>
          </p:cNvSpPr>
          <p:nvPr>
            <p:ph type="sldNum" sz="quarter" idx="12"/>
          </p:nvPr>
        </p:nvSpPr>
        <p:spPr/>
        <p:txBody>
          <a:bodyPr/>
          <a:lstStyle/>
          <a:p>
            <a:fld id="{CBD12358-51D2-46B3-9BDE-DF29528B9454}" type="slidenum">
              <a:rPr lang="en-US" smtClean="0"/>
              <a:t>33</a:t>
            </a:fld>
            <a:endParaRPr lang="en-US" dirty="0"/>
          </a:p>
        </p:txBody>
      </p:sp>
      <p:sp>
        <p:nvSpPr>
          <p:cNvPr id="6" name="Rectangle 5"/>
          <p:cNvSpPr/>
          <p:nvPr/>
        </p:nvSpPr>
        <p:spPr>
          <a:xfrm>
            <a:off x="777240" y="2180864"/>
            <a:ext cx="6096000" cy="1754326"/>
          </a:xfrm>
          <a:prstGeom prst="rect">
            <a:avLst/>
          </a:prstGeom>
        </p:spPr>
        <p:txBody>
          <a:bodyPr>
            <a:spAutoFit/>
          </a:bodyPr>
          <a:lstStyle/>
          <a:p>
            <a:pPr>
              <a:buClr>
                <a:schemeClr val="accent3">
                  <a:lumMod val="75000"/>
                </a:schemeClr>
              </a:buClr>
            </a:pPr>
            <a:r>
              <a:rPr lang="en-US" dirty="0"/>
              <a:t>Key idea-</a:t>
            </a:r>
          </a:p>
          <a:p>
            <a:pPr marL="285750" indent="-285750">
              <a:buClr>
                <a:schemeClr val="accent3">
                  <a:lumMod val="75000"/>
                </a:schemeClr>
              </a:buClr>
              <a:buFont typeface="Arial" panose="020B0604020202020204" pitchFamily="34" charset="0"/>
              <a:buChar char="•"/>
            </a:pPr>
            <a:r>
              <a:rPr lang="en-US" dirty="0"/>
              <a:t>Order the vertices (e.g., using a heuristic )</a:t>
            </a:r>
          </a:p>
          <a:p>
            <a:pPr marL="285750" indent="-285750">
              <a:buClr>
                <a:schemeClr val="accent3">
                  <a:lumMod val="75000"/>
                </a:schemeClr>
              </a:buClr>
              <a:buFont typeface="Arial" panose="020B0604020202020204" pitchFamily="34" charset="0"/>
              <a:buChar char="•"/>
            </a:pPr>
            <a:r>
              <a:rPr lang="en-US" dirty="0"/>
              <a:t>For each vertex, select the smallest color from its list that does not conflict with the colors assigned to adjacent vertices.</a:t>
            </a:r>
          </a:p>
          <a:p>
            <a:pPr marL="285750" indent="-285750">
              <a:buClr>
                <a:schemeClr val="accent3">
                  <a:lumMod val="75000"/>
                </a:schemeClr>
              </a:buClr>
              <a:buFont typeface="Arial" panose="020B0604020202020204" pitchFamily="34" charset="0"/>
              <a:buChar char="•"/>
            </a:pPr>
            <a:r>
              <a:rPr lang="en-US" dirty="0"/>
              <a:t>Proceed until all vertices are colored.</a:t>
            </a:r>
          </a:p>
        </p:txBody>
      </p:sp>
      <p:sp>
        <p:nvSpPr>
          <p:cNvPr id="48" name="Rounded Rectangle 47"/>
          <p:cNvSpPr/>
          <p:nvPr/>
        </p:nvSpPr>
        <p:spPr>
          <a:xfrm>
            <a:off x="777240" y="4075611"/>
            <a:ext cx="4770120" cy="2109651"/>
          </a:xfrm>
          <a:prstGeom prst="roundRect">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Clr>
                <a:schemeClr val="accent3">
                  <a:lumMod val="75000"/>
                </a:schemeClr>
              </a:buClr>
            </a:pPr>
            <a:r>
              <a:rPr lang="en-US" b="1" dirty="0">
                <a:solidFill>
                  <a:schemeClr val="tx1"/>
                </a:solidFill>
              </a:rPr>
              <a:t>Common Heuristics:</a:t>
            </a:r>
          </a:p>
          <a:p>
            <a:pPr marL="285750" indent="-285750">
              <a:buClr>
                <a:schemeClr val="accent3">
                  <a:lumMod val="75000"/>
                </a:schemeClr>
              </a:buClr>
              <a:buFont typeface="Arial" panose="020B0604020202020204" pitchFamily="34" charset="0"/>
              <a:buChar char="•"/>
            </a:pPr>
            <a:r>
              <a:rPr lang="en-US" dirty="0">
                <a:solidFill>
                  <a:schemeClr val="tx1"/>
                </a:solidFill>
              </a:rPr>
              <a:t>Largest Degree First</a:t>
            </a:r>
          </a:p>
          <a:p>
            <a:pPr marL="285750" indent="-285750">
              <a:buClr>
                <a:schemeClr val="accent3">
                  <a:lumMod val="75000"/>
                </a:schemeClr>
              </a:buClr>
              <a:buFont typeface="Arial" panose="020B0604020202020204" pitchFamily="34" charset="0"/>
              <a:buChar char="•"/>
            </a:pPr>
            <a:r>
              <a:rPr lang="en-US" dirty="0">
                <a:solidFill>
                  <a:schemeClr val="tx1"/>
                </a:solidFill>
              </a:rPr>
              <a:t>Smallest List First</a:t>
            </a:r>
          </a:p>
          <a:p>
            <a:pPr marL="285750" indent="-285750">
              <a:buClr>
                <a:schemeClr val="accent3">
                  <a:lumMod val="75000"/>
                </a:schemeClr>
              </a:buClr>
              <a:buFont typeface="Arial" panose="020B0604020202020204" pitchFamily="34" charset="0"/>
              <a:buChar char="•"/>
            </a:pPr>
            <a:r>
              <a:rPr lang="en-US" dirty="0">
                <a:solidFill>
                  <a:schemeClr val="tx1"/>
                </a:solidFill>
              </a:rPr>
              <a:t>Saturation Degree Heuristic (DSatur)</a:t>
            </a:r>
          </a:p>
          <a:p>
            <a:pPr marL="742950" lvl="1" indent="-285750">
              <a:buClr>
                <a:schemeClr val="accent3">
                  <a:lumMod val="75000"/>
                </a:schemeClr>
              </a:buClr>
              <a:buFont typeface="Arial" panose="020B0604020202020204" pitchFamily="34" charset="0"/>
              <a:buChar char="•"/>
            </a:pPr>
            <a:r>
              <a:rPr lang="en-US" dirty="0">
                <a:solidFill>
                  <a:schemeClr val="tx1"/>
                </a:solidFill>
              </a:rPr>
              <a:t>Saturation degree is the number of different colors in its neighborhood.</a:t>
            </a:r>
            <a:endParaRPr lang="en-US" dirty="0">
              <a:solidFill>
                <a:schemeClr val="tx1"/>
              </a:solidFill>
              <a:latin typeface="Ink Free" panose="03080402000500000000" pitchFamily="66" charset="0"/>
            </a:endParaRPr>
          </a:p>
          <a:p>
            <a:pPr marL="742950" lvl="1" indent="-285750">
              <a:buClr>
                <a:schemeClr val="accent3">
                  <a:lumMod val="75000"/>
                </a:schemeClr>
              </a:buClr>
              <a:buFont typeface="Arial" panose="020B0604020202020204" pitchFamily="34" charset="0"/>
              <a:buChar char="•"/>
            </a:pPr>
            <a:endParaRPr lang="en-US" dirty="0">
              <a:solidFill>
                <a:schemeClr val="tx1"/>
              </a:solidFill>
              <a:latin typeface="Ink Free" panose="03080402000500000000" pitchFamily="66" charset="0"/>
            </a:endParaRPr>
          </a:p>
        </p:txBody>
      </p:sp>
      <p:grpSp>
        <p:nvGrpSpPr>
          <p:cNvPr id="130" name="Group 129"/>
          <p:cNvGrpSpPr/>
          <p:nvPr/>
        </p:nvGrpSpPr>
        <p:grpSpPr>
          <a:xfrm>
            <a:off x="7678868" y="2322769"/>
            <a:ext cx="2392344" cy="2107218"/>
            <a:chOff x="7678868" y="2322769"/>
            <a:chExt cx="2392344" cy="2107218"/>
          </a:xfrm>
        </p:grpSpPr>
        <p:grpSp>
          <p:nvGrpSpPr>
            <p:cNvPr id="50" name="Group 49"/>
            <p:cNvGrpSpPr/>
            <p:nvPr/>
          </p:nvGrpSpPr>
          <p:grpSpPr>
            <a:xfrm>
              <a:off x="7733134" y="2376988"/>
              <a:ext cx="2281593" cy="1485687"/>
              <a:chOff x="9392117" y="3921304"/>
              <a:chExt cx="2281593" cy="1485687"/>
            </a:xfrm>
          </p:grpSpPr>
          <p:grpSp>
            <p:nvGrpSpPr>
              <p:cNvPr id="51" name="Group 50"/>
              <p:cNvGrpSpPr/>
              <p:nvPr/>
            </p:nvGrpSpPr>
            <p:grpSpPr>
              <a:xfrm rot="1910531">
                <a:off x="10052475" y="3979477"/>
                <a:ext cx="1254934" cy="1427514"/>
                <a:chOff x="5672264" y="4404214"/>
                <a:chExt cx="1844715" cy="1993724"/>
              </a:xfrm>
            </p:grpSpPr>
            <p:grpSp>
              <p:nvGrpSpPr>
                <p:cNvPr id="66" name="Group 65"/>
                <p:cNvGrpSpPr/>
                <p:nvPr/>
              </p:nvGrpSpPr>
              <p:grpSpPr>
                <a:xfrm>
                  <a:off x="5672264" y="4404214"/>
                  <a:ext cx="1844715" cy="1993724"/>
                  <a:chOff x="5938520" y="2432234"/>
                  <a:chExt cx="1844715" cy="1993724"/>
                </a:xfrm>
              </p:grpSpPr>
              <p:sp>
                <p:nvSpPr>
                  <p:cNvPr id="68" name="Oval 67"/>
                  <p:cNvSpPr/>
                  <p:nvPr/>
                </p:nvSpPr>
                <p:spPr>
                  <a:xfrm>
                    <a:off x="5988247" y="3238108"/>
                    <a:ext cx="335280" cy="3556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Ink Free" panose="03080402000500000000" pitchFamily="66" charset="0"/>
                    </a:endParaRPr>
                  </a:p>
                </p:txBody>
              </p:sp>
              <p:sp>
                <p:nvSpPr>
                  <p:cNvPr id="69" name="Oval 68"/>
                  <p:cNvSpPr/>
                  <p:nvPr/>
                </p:nvSpPr>
                <p:spPr>
                  <a:xfrm>
                    <a:off x="5938520" y="4070358"/>
                    <a:ext cx="335280" cy="3556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Ink Free" panose="03080402000500000000" pitchFamily="66" charset="0"/>
                    </a:endParaRPr>
                  </a:p>
                </p:txBody>
              </p:sp>
              <p:sp>
                <p:nvSpPr>
                  <p:cNvPr id="70" name="Oval 69"/>
                  <p:cNvSpPr/>
                  <p:nvPr/>
                </p:nvSpPr>
                <p:spPr>
                  <a:xfrm>
                    <a:off x="7447955" y="3277879"/>
                    <a:ext cx="335280" cy="3556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Ink Free" panose="03080402000500000000" pitchFamily="66" charset="0"/>
                    </a:endParaRPr>
                  </a:p>
                </p:txBody>
              </p:sp>
              <p:sp>
                <p:nvSpPr>
                  <p:cNvPr id="71" name="Oval 70"/>
                  <p:cNvSpPr/>
                  <p:nvPr/>
                </p:nvSpPr>
                <p:spPr>
                  <a:xfrm>
                    <a:off x="6349236" y="2432234"/>
                    <a:ext cx="335279" cy="3556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Ink Free" panose="03080402000500000000" pitchFamily="66" charset="0"/>
                    </a:endParaRPr>
                  </a:p>
                </p:txBody>
              </p:sp>
              <p:cxnSp>
                <p:nvCxnSpPr>
                  <p:cNvPr id="72" name="Straight Connector 71"/>
                  <p:cNvCxnSpPr>
                    <a:stCxn id="68" idx="0"/>
                    <a:endCxn id="71" idx="4"/>
                  </p:cNvCxnSpPr>
                  <p:nvPr/>
                </p:nvCxnSpPr>
                <p:spPr>
                  <a:xfrm rot="19689469" flipV="1">
                    <a:off x="6058036" y="2912192"/>
                    <a:ext cx="556691" cy="20155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 name="Straight Connector 72"/>
                  <p:cNvCxnSpPr>
                    <a:stCxn id="68" idx="4"/>
                    <a:endCxn id="69" idx="0"/>
                  </p:cNvCxnSpPr>
                  <p:nvPr/>
                </p:nvCxnSpPr>
                <p:spPr>
                  <a:xfrm flipH="1">
                    <a:off x="6106160" y="3593708"/>
                    <a:ext cx="49727" cy="47665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Straight Connector 73"/>
                  <p:cNvCxnSpPr>
                    <a:stCxn id="68" idx="6"/>
                    <a:endCxn id="70" idx="2"/>
                  </p:cNvCxnSpPr>
                  <p:nvPr/>
                </p:nvCxnSpPr>
                <p:spPr>
                  <a:xfrm>
                    <a:off x="6323527" y="3415908"/>
                    <a:ext cx="1124428" cy="3977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67" name="Straight Connector 66"/>
                <p:cNvCxnSpPr>
                  <a:stCxn id="70" idx="3"/>
                  <a:endCxn id="69" idx="6"/>
                </p:cNvCxnSpPr>
                <p:nvPr/>
              </p:nvCxnSpPr>
              <p:spPr>
                <a:xfrm flipH="1">
                  <a:off x="6007544" y="5553383"/>
                  <a:ext cx="1223256" cy="66675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2" name="Group 51"/>
              <p:cNvGrpSpPr/>
              <p:nvPr/>
            </p:nvGrpSpPr>
            <p:grpSpPr>
              <a:xfrm>
                <a:off x="9392117" y="4899146"/>
                <a:ext cx="289210" cy="232026"/>
                <a:chOff x="9392243" y="5155883"/>
                <a:chExt cx="714186" cy="664414"/>
              </a:xfrm>
            </p:grpSpPr>
            <p:sp>
              <p:nvSpPr>
                <p:cNvPr id="64" name="Rectangle 63"/>
                <p:cNvSpPr/>
                <p:nvPr/>
              </p:nvSpPr>
              <p:spPr>
                <a:xfrm>
                  <a:off x="9392243" y="5494573"/>
                  <a:ext cx="714186" cy="325724"/>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Rectangle 64"/>
                <p:cNvSpPr/>
                <p:nvPr/>
              </p:nvSpPr>
              <p:spPr>
                <a:xfrm>
                  <a:off x="9392243" y="5155883"/>
                  <a:ext cx="714186" cy="325724"/>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3" name="Group 52"/>
              <p:cNvGrpSpPr/>
              <p:nvPr/>
            </p:nvGrpSpPr>
            <p:grpSpPr>
              <a:xfrm>
                <a:off x="9789780" y="3957246"/>
                <a:ext cx="289210" cy="338690"/>
                <a:chOff x="9220199" y="5081066"/>
                <a:chExt cx="714186" cy="969849"/>
              </a:xfrm>
            </p:grpSpPr>
            <p:sp>
              <p:nvSpPr>
                <p:cNvPr id="61" name="Rectangle 60"/>
                <p:cNvSpPr/>
                <p:nvPr/>
              </p:nvSpPr>
              <p:spPr>
                <a:xfrm>
                  <a:off x="9220200" y="5419756"/>
                  <a:ext cx="714185" cy="325724"/>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p:cNvSpPr/>
                <p:nvPr/>
              </p:nvSpPr>
              <p:spPr>
                <a:xfrm>
                  <a:off x="9220200" y="5725191"/>
                  <a:ext cx="714185" cy="325724"/>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p:cNvSpPr/>
                <p:nvPr/>
              </p:nvSpPr>
              <p:spPr>
                <a:xfrm>
                  <a:off x="9220199" y="5081066"/>
                  <a:ext cx="714185" cy="325724"/>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4" name="Group 53"/>
              <p:cNvGrpSpPr/>
              <p:nvPr/>
            </p:nvGrpSpPr>
            <p:grpSpPr>
              <a:xfrm>
                <a:off x="11384500" y="4997462"/>
                <a:ext cx="289210" cy="338689"/>
                <a:chOff x="9220199" y="5081066"/>
                <a:chExt cx="714186" cy="969849"/>
              </a:xfrm>
            </p:grpSpPr>
            <p:sp>
              <p:nvSpPr>
                <p:cNvPr id="58" name="Rectangle 57"/>
                <p:cNvSpPr/>
                <p:nvPr/>
              </p:nvSpPr>
              <p:spPr>
                <a:xfrm>
                  <a:off x="9220200" y="5419756"/>
                  <a:ext cx="714185" cy="325724"/>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p:cNvSpPr/>
                <p:nvPr/>
              </p:nvSpPr>
              <p:spPr>
                <a:xfrm>
                  <a:off x="9220200" y="5725191"/>
                  <a:ext cx="714185" cy="325724"/>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59"/>
                <p:cNvSpPr/>
                <p:nvPr/>
              </p:nvSpPr>
              <p:spPr>
                <a:xfrm>
                  <a:off x="9220199" y="5081066"/>
                  <a:ext cx="714185" cy="325724"/>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5" name="Group 54"/>
              <p:cNvGrpSpPr/>
              <p:nvPr/>
            </p:nvGrpSpPr>
            <p:grpSpPr>
              <a:xfrm>
                <a:off x="11057605" y="3921304"/>
                <a:ext cx="289210" cy="232026"/>
                <a:chOff x="9220199" y="5081066"/>
                <a:chExt cx="714186" cy="664414"/>
              </a:xfrm>
            </p:grpSpPr>
            <p:sp>
              <p:nvSpPr>
                <p:cNvPr id="56" name="Rectangle 55"/>
                <p:cNvSpPr/>
                <p:nvPr/>
              </p:nvSpPr>
              <p:spPr>
                <a:xfrm>
                  <a:off x="9220200" y="5419756"/>
                  <a:ext cx="714185" cy="325724"/>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p:cNvSpPr/>
                <p:nvPr/>
              </p:nvSpPr>
              <p:spPr>
                <a:xfrm>
                  <a:off x="9220199" y="5081066"/>
                  <a:ext cx="714185" cy="325724"/>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7" name="TextBox 6"/>
            <p:cNvSpPr txBox="1"/>
            <p:nvPr/>
          </p:nvSpPr>
          <p:spPr>
            <a:xfrm flipH="1">
              <a:off x="8470954" y="2658561"/>
              <a:ext cx="301269" cy="369332"/>
            </a:xfrm>
            <a:prstGeom prst="rect">
              <a:avLst/>
            </a:prstGeom>
            <a:noFill/>
          </p:spPr>
          <p:txBody>
            <a:bodyPr wrap="square" rtlCol="0">
              <a:spAutoFit/>
            </a:bodyPr>
            <a:lstStyle/>
            <a:p>
              <a:r>
                <a:rPr lang="en-US" b="1" dirty="0"/>
                <a:t>c</a:t>
              </a:r>
            </a:p>
          </p:txBody>
        </p:sp>
        <p:sp>
          <p:nvSpPr>
            <p:cNvPr id="100" name="TextBox 99"/>
            <p:cNvSpPr txBox="1"/>
            <p:nvPr/>
          </p:nvSpPr>
          <p:spPr>
            <a:xfrm flipH="1">
              <a:off x="8127565" y="3168202"/>
              <a:ext cx="301269" cy="369332"/>
            </a:xfrm>
            <a:prstGeom prst="rect">
              <a:avLst/>
            </a:prstGeom>
            <a:noFill/>
          </p:spPr>
          <p:txBody>
            <a:bodyPr wrap="square" rtlCol="0">
              <a:spAutoFit/>
            </a:bodyPr>
            <a:lstStyle/>
            <a:p>
              <a:r>
                <a:rPr lang="en-US" b="1" dirty="0"/>
                <a:t>a</a:t>
              </a:r>
            </a:p>
          </p:txBody>
        </p:sp>
        <p:sp>
          <p:nvSpPr>
            <p:cNvPr id="101" name="TextBox 100"/>
            <p:cNvSpPr txBox="1"/>
            <p:nvPr/>
          </p:nvSpPr>
          <p:spPr>
            <a:xfrm flipH="1">
              <a:off x="9298827" y="3236092"/>
              <a:ext cx="301269" cy="369332"/>
            </a:xfrm>
            <a:prstGeom prst="rect">
              <a:avLst/>
            </a:prstGeom>
            <a:noFill/>
          </p:spPr>
          <p:txBody>
            <a:bodyPr wrap="square" rtlCol="0">
              <a:spAutoFit/>
            </a:bodyPr>
            <a:lstStyle/>
            <a:p>
              <a:r>
                <a:rPr lang="en-US" b="1" dirty="0"/>
                <a:t>b</a:t>
              </a:r>
            </a:p>
          </p:txBody>
        </p:sp>
        <p:sp>
          <p:nvSpPr>
            <p:cNvPr id="102" name="TextBox 101"/>
            <p:cNvSpPr txBox="1"/>
            <p:nvPr/>
          </p:nvSpPr>
          <p:spPr>
            <a:xfrm flipH="1">
              <a:off x="8978687" y="2322769"/>
              <a:ext cx="301269" cy="369332"/>
            </a:xfrm>
            <a:prstGeom prst="rect">
              <a:avLst/>
            </a:prstGeom>
            <a:noFill/>
          </p:spPr>
          <p:txBody>
            <a:bodyPr wrap="square" rtlCol="0">
              <a:spAutoFit/>
            </a:bodyPr>
            <a:lstStyle/>
            <a:p>
              <a:r>
                <a:rPr lang="en-US" b="1" dirty="0"/>
                <a:t>d</a:t>
              </a:r>
            </a:p>
          </p:txBody>
        </p:sp>
        <p:sp>
          <p:nvSpPr>
            <p:cNvPr id="8" name="Rounded Rectangle 7"/>
            <p:cNvSpPr/>
            <p:nvPr/>
          </p:nvSpPr>
          <p:spPr>
            <a:xfrm>
              <a:off x="7678868" y="4151064"/>
              <a:ext cx="2392344" cy="278923"/>
            </a:xfrm>
            <a:prstGeom prst="roundRect">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c, a, b, d</a:t>
              </a:r>
            </a:p>
          </p:txBody>
        </p:sp>
      </p:grpSp>
    </p:spTree>
    <p:extLst>
      <p:ext uri="{BB962C8B-B14F-4D97-AF65-F5344CB8AC3E}">
        <p14:creationId xmlns:p14="http://schemas.microsoft.com/office/powerpoint/2010/main" val="17440830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2A5FB9-8092-6AC4-0B88-415B5224C3DC}"/>
              </a:ext>
            </a:extLst>
          </p:cNvPr>
          <p:cNvSpPr>
            <a:spLocks noGrp="1"/>
          </p:cNvSpPr>
          <p:nvPr>
            <p:ph type="title"/>
          </p:nvPr>
        </p:nvSpPr>
        <p:spPr/>
        <p:txBody>
          <a:bodyPr>
            <a:normAutofit/>
          </a:bodyPr>
          <a:lstStyle/>
          <a:p>
            <a:r>
              <a:rPr lang="en-US" dirty="0"/>
              <a:t>Greedy Algorithm</a:t>
            </a:r>
            <a:endParaRPr lang="en-US" dirty="0">
              <a:latin typeface="Ink Free" panose="03080402000500000000" pitchFamily="66" charset="0"/>
            </a:endParaRPr>
          </a:p>
        </p:txBody>
      </p:sp>
      <p:sp>
        <p:nvSpPr>
          <p:cNvPr id="3" name="Slide Number Placeholder 2">
            <a:extLst>
              <a:ext uri="{FF2B5EF4-FFF2-40B4-BE49-F238E27FC236}">
                <a16:creationId xmlns:a16="http://schemas.microsoft.com/office/drawing/2014/main" id="{332AE94C-E035-940A-0F4F-3D82C59A949F}"/>
              </a:ext>
            </a:extLst>
          </p:cNvPr>
          <p:cNvSpPr>
            <a:spLocks noGrp="1"/>
          </p:cNvSpPr>
          <p:nvPr>
            <p:ph type="sldNum" sz="quarter" idx="12"/>
          </p:nvPr>
        </p:nvSpPr>
        <p:spPr/>
        <p:txBody>
          <a:bodyPr/>
          <a:lstStyle/>
          <a:p>
            <a:fld id="{CBD12358-51D2-46B3-9BDE-DF29528B9454}" type="slidenum">
              <a:rPr lang="en-US" smtClean="0"/>
              <a:t>34</a:t>
            </a:fld>
            <a:endParaRPr lang="en-US" dirty="0"/>
          </a:p>
        </p:txBody>
      </p:sp>
      <p:sp>
        <p:nvSpPr>
          <p:cNvPr id="6" name="Rectangle 5"/>
          <p:cNvSpPr/>
          <p:nvPr/>
        </p:nvSpPr>
        <p:spPr>
          <a:xfrm>
            <a:off x="777240" y="2180864"/>
            <a:ext cx="6096000" cy="1754326"/>
          </a:xfrm>
          <a:prstGeom prst="rect">
            <a:avLst/>
          </a:prstGeom>
        </p:spPr>
        <p:txBody>
          <a:bodyPr>
            <a:spAutoFit/>
          </a:bodyPr>
          <a:lstStyle/>
          <a:p>
            <a:pPr>
              <a:buClr>
                <a:schemeClr val="accent3">
                  <a:lumMod val="75000"/>
                </a:schemeClr>
              </a:buClr>
            </a:pPr>
            <a:r>
              <a:rPr lang="en-US" dirty="0"/>
              <a:t>Key idea-</a:t>
            </a:r>
          </a:p>
          <a:p>
            <a:pPr marL="285750" indent="-285750">
              <a:buClr>
                <a:schemeClr val="accent3">
                  <a:lumMod val="75000"/>
                </a:schemeClr>
              </a:buClr>
              <a:buFont typeface="Arial" panose="020B0604020202020204" pitchFamily="34" charset="0"/>
              <a:buChar char="•"/>
            </a:pPr>
            <a:r>
              <a:rPr lang="en-US" dirty="0"/>
              <a:t>Order the vertices (e.g., using a heuristic )</a:t>
            </a:r>
          </a:p>
          <a:p>
            <a:pPr marL="285750" indent="-285750">
              <a:buClr>
                <a:schemeClr val="accent3">
                  <a:lumMod val="75000"/>
                </a:schemeClr>
              </a:buClr>
              <a:buFont typeface="Arial" panose="020B0604020202020204" pitchFamily="34" charset="0"/>
              <a:buChar char="•"/>
            </a:pPr>
            <a:r>
              <a:rPr lang="en-US" dirty="0"/>
              <a:t>For each vertex, select the smallest color from its list that does not conflict with the colors assigned to adjacent vertices.</a:t>
            </a:r>
          </a:p>
          <a:p>
            <a:pPr marL="285750" indent="-285750">
              <a:buClr>
                <a:schemeClr val="accent3">
                  <a:lumMod val="75000"/>
                </a:schemeClr>
              </a:buClr>
              <a:buFont typeface="Arial" panose="020B0604020202020204" pitchFamily="34" charset="0"/>
              <a:buChar char="•"/>
            </a:pPr>
            <a:r>
              <a:rPr lang="en-US" dirty="0"/>
              <a:t>Proceed until all vertices are colored.</a:t>
            </a:r>
          </a:p>
        </p:txBody>
      </p:sp>
      <p:sp>
        <p:nvSpPr>
          <p:cNvPr id="48" name="Rounded Rectangle 47"/>
          <p:cNvSpPr/>
          <p:nvPr/>
        </p:nvSpPr>
        <p:spPr>
          <a:xfrm>
            <a:off x="777240" y="4075611"/>
            <a:ext cx="4770120" cy="2109651"/>
          </a:xfrm>
          <a:prstGeom prst="roundRect">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Clr>
                <a:schemeClr val="accent3">
                  <a:lumMod val="75000"/>
                </a:schemeClr>
              </a:buClr>
            </a:pPr>
            <a:r>
              <a:rPr lang="en-US" b="1" dirty="0">
                <a:solidFill>
                  <a:schemeClr val="tx1"/>
                </a:solidFill>
              </a:rPr>
              <a:t>Common Heuristics:</a:t>
            </a:r>
          </a:p>
          <a:p>
            <a:pPr marL="285750" indent="-285750">
              <a:buClr>
                <a:schemeClr val="accent3">
                  <a:lumMod val="75000"/>
                </a:schemeClr>
              </a:buClr>
              <a:buFont typeface="Arial" panose="020B0604020202020204" pitchFamily="34" charset="0"/>
              <a:buChar char="•"/>
            </a:pPr>
            <a:r>
              <a:rPr lang="en-US" dirty="0">
                <a:solidFill>
                  <a:schemeClr val="tx1"/>
                </a:solidFill>
              </a:rPr>
              <a:t>Largest Degree First</a:t>
            </a:r>
          </a:p>
          <a:p>
            <a:pPr marL="285750" indent="-285750">
              <a:buClr>
                <a:schemeClr val="accent3">
                  <a:lumMod val="75000"/>
                </a:schemeClr>
              </a:buClr>
              <a:buFont typeface="Arial" panose="020B0604020202020204" pitchFamily="34" charset="0"/>
              <a:buChar char="•"/>
            </a:pPr>
            <a:r>
              <a:rPr lang="en-US" dirty="0">
                <a:solidFill>
                  <a:schemeClr val="tx1"/>
                </a:solidFill>
              </a:rPr>
              <a:t>Smallest List First</a:t>
            </a:r>
          </a:p>
          <a:p>
            <a:pPr marL="285750" indent="-285750">
              <a:buClr>
                <a:schemeClr val="accent3">
                  <a:lumMod val="75000"/>
                </a:schemeClr>
              </a:buClr>
              <a:buFont typeface="Arial" panose="020B0604020202020204" pitchFamily="34" charset="0"/>
              <a:buChar char="•"/>
            </a:pPr>
            <a:r>
              <a:rPr lang="en-US" dirty="0">
                <a:solidFill>
                  <a:schemeClr val="tx1"/>
                </a:solidFill>
              </a:rPr>
              <a:t>Saturation Degree Heuristic (DSatur)</a:t>
            </a:r>
          </a:p>
          <a:p>
            <a:pPr marL="742950" lvl="1" indent="-285750">
              <a:buClr>
                <a:schemeClr val="accent3">
                  <a:lumMod val="75000"/>
                </a:schemeClr>
              </a:buClr>
              <a:buFont typeface="Arial" panose="020B0604020202020204" pitchFamily="34" charset="0"/>
              <a:buChar char="•"/>
            </a:pPr>
            <a:r>
              <a:rPr lang="en-US" dirty="0">
                <a:solidFill>
                  <a:schemeClr val="tx1"/>
                </a:solidFill>
              </a:rPr>
              <a:t>Saturation degree is the number of different colors in its neighborhood.</a:t>
            </a:r>
            <a:endParaRPr lang="en-US" dirty="0">
              <a:solidFill>
                <a:schemeClr val="tx1"/>
              </a:solidFill>
              <a:latin typeface="Ink Free" panose="03080402000500000000" pitchFamily="66" charset="0"/>
            </a:endParaRPr>
          </a:p>
          <a:p>
            <a:pPr marL="742950" lvl="1" indent="-285750">
              <a:buClr>
                <a:schemeClr val="accent3">
                  <a:lumMod val="75000"/>
                </a:schemeClr>
              </a:buClr>
              <a:buFont typeface="Arial" panose="020B0604020202020204" pitchFamily="34" charset="0"/>
              <a:buChar char="•"/>
            </a:pPr>
            <a:endParaRPr lang="en-US" dirty="0">
              <a:solidFill>
                <a:schemeClr val="tx1"/>
              </a:solidFill>
              <a:latin typeface="Ink Free" panose="03080402000500000000" pitchFamily="66" charset="0"/>
            </a:endParaRPr>
          </a:p>
        </p:txBody>
      </p:sp>
      <p:grpSp>
        <p:nvGrpSpPr>
          <p:cNvPr id="50" name="Group 49"/>
          <p:cNvGrpSpPr/>
          <p:nvPr/>
        </p:nvGrpSpPr>
        <p:grpSpPr>
          <a:xfrm>
            <a:off x="7733134" y="2376988"/>
            <a:ext cx="2281593" cy="1485687"/>
            <a:chOff x="9392117" y="3921304"/>
            <a:chExt cx="2281593" cy="1485687"/>
          </a:xfrm>
        </p:grpSpPr>
        <p:grpSp>
          <p:nvGrpSpPr>
            <p:cNvPr id="51" name="Group 50"/>
            <p:cNvGrpSpPr/>
            <p:nvPr/>
          </p:nvGrpSpPr>
          <p:grpSpPr>
            <a:xfrm rot="1910531">
              <a:off x="10052475" y="3979477"/>
              <a:ext cx="1254934" cy="1427514"/>
              <a:chOff x="5672264" y="4404214"/>
              <a:chExt cx="1844715" cy="1993724"/>
            </a:xfrm>
          </p:grpSpPr>
          <p:grpSp>
            <p:nvGrpSpPr>
              <p:cNvPr id="66" name="Group 65"/>
              <p:cNvGrpSpPr/>
              <p:nvPr/>
            </p:nvGrpSpPr>
            <p:grpSpPr>
              <a:xfrm>
                <a:off x="5672264" y="4404214"/>
                <a:ext cx="1844715" cy="1993724"/>
                <a:chOff x="5938520" y="2432234"/>
                <a:chExt cx="1844715" cy="1993724"/>
              </a:xfrm>
            </p:grpSpPr>
            <p:sp>
              <p:nvSpPr>
                <p:cNvPr id="68" name="Oval 67"/>
                <p:cNvSpPr/>
                <p:nvPr/>
              </p:nvSpPr>
              <p:spPr>
                <a:xfrm>
                  <a:off x="5988247" y="3238108"/>
                  <a:ext cx="335280" cy="3556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Ink Free" panose="03080402000500000000" pitchFamily="66" charset="0"/>
                  </a:endParaRPr>
                </a:p>
              </p:txBody>
            </p:sp>
            <p:sp>
              <p:nvSpPr>
                <p:cNvPr id="69" name="Oval 68"/>
                <p:cNvSpPr/>
                <p:nvPr/>
              </p:nvSpPr>
              <p:spPr>
                <a:xfrm>
                  <a:off x="5938520" y="4070358"/>
                  <a:ext cx="335280" cy="3556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Ink Free" panose="03080402000500000000" pitchFamily="66" charset="0"/>
                  </a:endParaRPr>
                </a:p>
              </p:txBody>
            </p:sp>
            <p:sp>
              <p:nvSpPr>
                <p:cNvPr id="70" name="Oval 69"/>
                <p:cNvSpPr/>
                <p:nvPr/>
              </p:nvSpPr>
              <p:spPr>
                <a:xfrm>
                  <a:off x="7447955" y="3277879"/>
                  <a:ext cx="335280" cy="3556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Ink Free" panose="03080402000500000000" pitchFamily="66" charset="0"/>
                  </a:endParaRPr>
                </a:p>
              </p:txBody>
            </p:sp>
            <p:sp>
              <p:nvSpPr>
                <p:cNvPr id="71" name="Oval 70"/>
                <p:cNvSpPr/>
                <p:nvPr/>
              </p:nvSpPr>
              <p:spPr>
                <a:xfrm>
                  <a:off x="6349236" y="2432234"/>
                  <a:ext cx="335279" cy="3556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Ink Free" panose="03080402000500000000" pitchFamily="66" charset="0"/>
                  </a:endParaRPr>
                </a:p>
              </p:txBody>
            </p:sp>
            <p:cxnSp>
              <p:nvCxnSpPr>
                <p:cNvPr id="72" name="Straight Connector 71"/>
                <p:cNvCxnSpPr>
                  <a:stCxn id="68" idx="0"/>
                  <a:endCxn id="71" idx="4"/>
                </p:cNvCxnSpPr>
                <p:nvPr/>
              </p:nvCxnSpPr>
              <p:spPr>
                <a:xfrm rot="19689469" flipV="1">
                  <a:off x="6058036" y="2912192"/>
                  <a:ext cx="556691" cy="20155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 name="Straight Connector 72"/>
                <p:cNvCxnSpPr>
                  <a:stCxn id="68" idx="4"/>
                  <a:endCxn id="69" idx="0"/>
                </p:cNvCxnSpPr>
                <p:nvPr/>
              </p:nvCxnSpPr>
              <p:spPr>
                <a:xfrm flipH="1">
                  <a:off x="6106160" y="3593708"/>
                  <a:ext cx="49727" cy="47665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Straight Connector 73"/>
                <p:cNvCxnSpPr>
                  <a:stCxn id="68" idx="6"/>
                  <a:endCxn id="70" idx="2"/>
                </p:cNvCxnSpPr>
                <p:nvPr/>
              </p:nvCxnSpPr>
              <p:spPr>
                <a:xfrm>
                  <a:off x="6323527" y="3415908"/>
                  <a:ext cx="1124428" cy="3977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67" name="Straight Connector 66"/>
              <p:cNvCxnSpPr>
                <a:stCxn id="70" idx="3"/>
                <a:endCxn id="69" idx="6"/>
              </p:cNvCxnSpPr>
              <p:nvPr/>
            </p:nvCxnSpPr>
            <p:spPr>
              <a:xfrm flipH="1">
                <a:off x="6007544" y="5553383"/>
                <a:ext cx="1223256" cy="66675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2" name="Group 51"/>
            <p:cNvGrpSpPr/>
            <p:nvPr/>
          </p:nvGrpSpPr>
          <p:grpSpPr>
            <a:xfrm>
              <a:off x="9392117" y="4899146"/>
              <a:ext cx="289210" cy="232026"/>
              <a:chOff x="9392243" y="5155883"/>
              <a:chExt cx="714186" cy="664414"/>
            </a:xfrm>
          </p:grpSpPr>
          <p:sp>
            <p:nvSpPr>
              <p:cNvPr id="64" name="Rectangle 63"/>
              <p:cNvSpPr/>
              <p:nvPr/>
            </p:nvSpPr>
            <p:spPr>
              <a:xfrm>
                <a:off x="9392243" y="5494573"/>
                <a:ext cx="714186" cy="325724"/>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Rectangle 64"/>
              <p:cNvSpPr/>
              <p:nvPr/>
            </p:nvSpPr>
            <p:spPr>
              <a:xfrm>
                <a:off x="9392243" y="5155883"/>
                <a:ext cx="714186" cy="325724"/>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3" name="Group 52"/>
            <p:cNvGrpSpPr/>
            <p:nvPr/>
          </p:nvGrpSpPr>
          <p:grpSpPr>
            <a:xfrm>
              <a:off x="9789780" y="3957246"/>
              <a:ext cx="289210" cy="338690"/>
              <a:chOff x="9220199" y="5081066"/>
              <a:chExt cx="714186" cy="969849"/>
            </a:xfrm>
          </p:grpSpPr>
          <p:sp>
            <p:nvSpPr>
              <p:cNvPr id="61" name="Rectangle 60"/>
              <p:cNvSpPr/>
              <p:nvPr/>
            </p:nvSpPr>
            <p:spPr>
              <a:xfrm>
                <a:off x="9220200" y="5419756"/>
                <a:ext cx="714185" cy="325724"/>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p:cNvSpPr/>
              <p:nvPr/>
            </p:nvSpPr>
            <p:spPr>
              <a:xfrm>
                <a:off x="9220200" y="5725191"/>
                <a:ext cx="714185" cy="325724"/>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p:cNvSpPr/>
              <p:nvPr/>
            </p:nvSpPr>
            <p:spPr>
              <a:xfrm>
                <a:off x="9220199" y="5081066"/>
                <a:ext cx="714185" cy="325724"/>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4" name="Group 53"/>
            <p:cNvGrpSpPr/>
            <p:nvPr/>
          </p:nvGrpSpPr>
          <p:grpSpPr>
            <a:xfrm>
              <a:off x="11384500" y="4997462"/>
              <a:ext cx="289210" cy="338689"/>
              <a:chOff x="9220199" y="5081066"/>
              <a:chExt cx="714186" cy="969849"/>
            </a:xfrm>
          </p:grpSpPr>
          <p:sp>
            <p:nvSpPr>
              <p:cNvPr id="58" name="Rectangle 57"/>
              <p:cNvSpPr/>
              <p:nvPr/>
            </p:nvSpPr>
            <p:spPr>
              <a:xfrm>
                <a:off x="9220200" y="5419756"/>
                <a:ext cx="714185" cy="325724"/>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p:cNvSpPr/>
              <p:nvPr/>
            </p:nvSpPr>
            <p:spPr>
              <a:xfrm>
                <a:off x="9220200" y="5725191"/>
                <a:ext cx="714185" cy="325724"/>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59"/>
              <p:cNvSpPr/>
              <p:nvPr/>
            </p:nvSpPr>
            <p:spPr>
              <a:xfrm>
                <a:off x="9220199" y="5081066"/>
                <a:ext cx="714185" cy="325724"/>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5" name="Group 54"/>
            <p:cNvGrpSpPr/>
            <p:nvPr/>
          </p:nvGrpSpPr>
          <p:grpSpPr>
            <a:xfrm>
              <a:off x="11057605" y="3921304"/>
              <a:ext cx="289210" cy="232026"/>
              <a:chOff x="9220199" y="5081066"/>
              <a:chExt cx="714186" cy="664414"/>
            </a:xfrm>
          </p:grpSpPr>
          <p:sp>
            <p:nvSpPr>
              <p:cNvPr id="56" name="Rectangle 55"/>
              <p:cNvSpPr/>
              <p:nvPr/>
            </p:nvSpPr>
            <p:spPr>
              <a:xfrm>
                <a:off x="9220200" y="5419756"/>
                <a:ext cx="714185" cy="325724"/>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p:cNvSpPr/>
              <p:nvPr/>
            </p:nvSpPr>
            <p:spPr>
              <a:xfrm>
                <a:off x="9220199" y="5081066"/>
                <a:ext cx="714185" cy="325724"/>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7" name="TextBox 6"/>
          <p:cNvSpPr txBox="1"/>
          <p:nvPr/>
        </p:nvSpPr>
        <p:spPr>
          <a:xfrm flipH="1">
            <a:off x="8470954" y="2658561"/>
            <a:ext cx="301269" cy="369332"/>
          </a:xfrm>
          <a:prstGeom prst="rect">
            <a:avLst/>
          </a:prstGeom>
          <a:noFill/>
        </p:spPr>
        <p:txBody>
          <a:bodyPr wrap="square" rtlCol="0">
            <a:spAutoFit/>
          </a:bodyPr>
          <a:lstStyle/>
          <a:p>
            <a:r>
              <a:rPr lang="en-US" b="1" dirty="0"/>
              <a:t>c</a:t>
            </a:r>
          </a:p>
        </p:txBody>
      </p:sp>
      <p:sp>
        <p:nvSpPr>
          <p:cNvPr id="100" name="TextBox 99"/>
          <p:cNvSpPr txBox="1"/>
          <p:nvPr/>
        </p:nvSpPr>
        <p:spPr>
          <a:xfrm flipH="1">
            <a:off x="8127565" y="3168202"/>
            <a:ext cx="301269" cy="369332"/>
          </a:xfrm>
          <a:prstGeom prst="rect">
            <a:avLst/>
          </a:prstGeom>
          <a:noFill/>
        </p:spPr>
        <p:txBody>
          <a:bodyPr wrap="square" rtlCol="0">
            <a:spAutoFit/>
          </a:bodyPr>
          <a:lstStyle/>
          <a:p>
            <a:r>
              <a:rPr lang="en-US" b="1" dirty="0"/>
              <a:t>a</a:t>
            </a:r>
          </a:p>
        </p:txBody>
      </p:sp>
      <p:sp>
        <p:nvSpPr>
          <p:cNvPr id="101" name="TextBox 100"/>
          <p:cNvSpPr txBox="1"/>
          <p:nvPr/>
        </p:nvSpPr>
        <p:spPr>
          <a:xfrm flipH="1">
            <a:off x="9298827" y="3236092"/>
            <a:ext cx="301269" cy="369332"/>
          </a:xfrm>
          <a:prstGeom prst="rect">
            <a:avLst/>
          </a:prstGeom>
          <a:noFill/>
        </p:spPr>
        <p:txBody>
          <a:bodyPr wrap="square" rtlCol="0">
            <a:spAutoFit/>
          </a:bodyPr>
          <a:lstStyle/>
          <a:p>
            <a:r>
              <a:rPr lang="en-US" b="1" dirty="0"/>
              <a:t>b</a:t>
            </a:r>
          </a:p>
        </p:txBody>
      </p:sp>
      <p:sp>
        <p:nvSpPr>
          <p:cNvPr id="102" name="TextBox 101"/>
          <p:cNvSpPr txBox="1"/>
          <p:nvPr/>
        </p:nvSpPr>
        <p:spPr>
          <a:xfrm flipH="1">
            <a:off x="8978687" y="2322769"/>
            <a:ext cx="301269" cy="369332"/>
          </a:xfrm>
          <a:prstGeom prst="rect">
            <a:avLst/>
          </a:prstGeom>
          <a:noFill/>
        </p:spPr>
        <p:txBody>
          <a:bodyPr wrap="square" rtlCol="0">
            <a:spAutoFit/>
          </a:bodyPr>
          <a:lstStyle/>
          <a:p>
            <a:r>
              <a:rPr lang="en-US" b="1" dirty="0"/>
              <a:t>d</a:t>
            </a:r>
          </a:p>
        </p:txBody>
      </p:sp>
      <p:sp>
        <p:nvSpPr>
          <p:cNvPr id="8" name="Rounded Rectangle 7"/>
          <p:cNvSpPr/>
          <p:nvPr/>
        </p:nvSpPr>
        <p:spPr>
          <a:xfrm>
            <a:off x="7678868" y="4151064"/>
            <a:ext cx="2392344" cy="278923"/>
          </a:xfrm>
          <a:prstGeom prst="roundRect">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c</a:t>
            </a:r>
            <a:r>
              <a:rPr lang="en-US" dirty="0">
                <a:solidFill>
                  <a:sysClr val="windowText" lastClr="000000"/>
                </a:solidFill>
              </a:rPr>
              <a:t>, a, b, d</a:t>
            </a:r>
          </a:p>
        </p:txBody>
      </p:sp>
      <p:grpSp>
        <p:nvGrpSpPr>
          <p:cNvPr id="105" name="Group 104"/>
          <p:cNvGrpSpPr/>
          <p:nvPr/>
        </p:nvGrpSpPr>
        <p:grpSpPr>
          <a:xfrm>
            <a:off x="7789619" y="4764507"/>
            <a:ext cx="2281593" cy="1485687"/>
            <a:chOff x="9392117" y="3921304"/>
            <a:chExt cx="2281593" cy="1485687"/>
          </a:xfrm>
        </p:grpSpPr>
        <p:grpSp>
          <p:nvGrpSpPr>
            <p:cNvPr id="106" name="Group 105"/>
            <p:cNvGrpSpPr/>
            <p:nvPr/>
          </p:nvGrpSpPr>
          <p:grpSpPr>
            <a:xfrm rot="1910531">
              <a:off x="10052475" y="3979477"/>
              <a:ext cx="1254934" cy="1427514"/>
              <a:chOff x="5672264" y="4404214"/>
              <a:chExt cx="1844715" cy="1993724"/>
            </a:xfrm>
          </p:grpSpPr>
          <p:grpSp>
            <p:nvGrpSpPr>
              <p:cNvPr id="121" name="Group 120"/>
              <p:cNvGrpSpPr/>
              <p:nvPr/>
            </p:nvGrpSpPr>
            <p:grpSpPr>
              <a:xfrm>
                <a:off x="5672264" y="4404214"/>
                <a:ext cx="1844715" cy="1993724"/>
                <a:chOff x="5938520" y="2432234"/>
                <a:chExt cx="1844715" cy="1993724"/>
              </a:xfrm>
            </p:grpSpPr>
            <p:sp>
              <p:nvSpPr>
                <p:cNvPr id="123" name="Oval 122"/>
                <p:cNvSpPr/>
                <p:nvPr/>
              </p:nvSpPr>
              <p:spPr>
                <a:xfrm>
                  <a:off x="5988247" y="3238108"/>
                  <a:ext cx="335280" cy="35560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Ink Free" panose="03080402000500000000" pitchFamily="66" charset="0"/>
                  </a:endParaRPr>
                </a:p>
              </p:txBody>
            </p:sp>
            <p:sp>
              <p:nvSpPr>
                <p:cNvPr id="124" name="Oval 123"/>
                <p:cNvSpPr/>
                <p:nvPr/>
              </p:nvSpPr>
              <p:spPr>
                <a:xfrm>
                  <a:off x="5938520" y="4070358"/>
                  <a:ext cx="335280" cy="3556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Ink Free" panose="03080402000500000000" pitchFamily="66" charset="0"/>
                  </a:endParaRPr>
                </a:p>
              </p:txBody>
            </p:sp>
            <p:sp>
              <p:nvSpPr>
                <p:cNvPr id="125" name="Oval 124"/>
                <p:cNvSpPr/>
                <p:nvPr/>
              </p:nvSpPr>
              <p:spPr>
                <a:xfrm>
                  <a:off x="7447955" y="3277879"/>
                  <a:ext cx="335280" cy="3556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Ink Free" panose="03080402000500000000" pitchFamily="66" charset="0"/>
                  </a:endParaRPr>
                </a:p>
              </p:txBody>
            </p:sp>
            <p:sp>
              <p:nvSpPr>
                <p:cNvPr id="126" name="Oval 125"/>
                <p:cNvSpPr/>
                <p:nvPr/>
              </p:nvSpPr>
              <p:spPr>
                <a:xfrm>
                  <a:off x="6349236" y="2432234"/>
                  <a:ext cx="335279" cy="3556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Ink Free" panose="03080402000500000000" pitchFamily="66" charset="0"/>
                  </a:endParaRPr>
                </a:p>
              </p:txBody>
            </p:sp>
            <p:cxnSp>
              <p:nvCxnSpPr>
                <p:cNvPr id="127" name="Straight Connector 126"/>
                <p:cNvCxnSpPr>
                  <a:stCxn id="123" idx="0"/>
                  <a:endCxn id="126" idx="4"/>
                </p:cNvCxnSpPr>
                <p:nvPr/>
              </p:nvCxnSpPr>
              <p:spPr>
                <a:xfrm rot="19689469" flipV="1">
                  <a:off x="6058036" y="2912192"/>
                  <a:ext cx="556691" cy="20155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8" name="Straight Connector 127"/>
                <p:cNvCxnSpPr>
                  <a:stCxn id="123" idx="4"/>
                  <a:endCxn id="124" idx="0"/>
                </p:cNvCxnSpPr>
                <p:nvPr/>
              </p:nvCxnSpPr>
              <p:spPr>
                <a:xfrm flipH="1">
                  <a:off x="6106160" y="3593708"/>
                  <a:ext cx="49727" cy="47665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9" name="Straight Connector 128"/>
                <p:cNvCxnSpPr>
                  <a:stCxn id="123" idx="6"/>
                  <a:endCxn id="125" idx="2"/>
                </p:cNvCxnSpPr>
                <p:nvPr/>
              </p:nvCxnSpPr>
              <p:spPr>
                <a:xfrm>
                  <a:off x="6323527" y="3415908"/>
                  <a:ext cx="1124428" cy="3977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22" name="Straight Connector 121"/>
              <p:cNvCxnSpPr>
                <a:stCxn id="125" idx="3"/>
                <a:endCxn id="124" idx="6"/>
              </p:cNvCxnSpPr>
              <p:nvPr/>
            </p:nvCxnSpPr>
            <p:spPr>
              <a:xfrm flipH="1">
                <a:off x="6007544" y="5553383"/>
                <a:ext cx="1223256" cy="66675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7" name="Group 106"/>
            <p:cNvGrpSpPr/>
            <p:nvPr/>
          </p:nvGrpSpPr>
          <p:grpSpPr>
            <a:xfrm>
              <a:off x="9392117" y="4899146"/>
              <a:ext cx="289210" cy="232026"/>
              <a:chOff x="9392243" y="5155883"/>
              <a:chExt cx="714186" cy="664414"/>
            </a:xfrm>
          </p:grpSpPr>
          <p:sp>
            <p:nvSpPr>
              <p:cNvPr id="119" name="Rectangle 118"/>
              <p:cNvSpPr/>
              <p:nvPr/>
            </p:nvSpPr>
            <p:spPr>
              <a:xfrm>
                <a:off x="9392243" y="5494573"/>
                <a:ext cx="714186" cy="325724"/>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Rectangle 119"/>
              <p:cNvSpPr/>
              <p:nvPr/>
            </p:nvSpPr>
            <p:spPr>
              <a:xfrm>
                <a:off x="9392243" y="5155883"/>
                <a:ext cx="714186" cy="325724"/>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8" name="Group 107"/>
            <p:cNvGrpSpPr/>
            <p:nvPr/>
          </p:nvGrpSpPr>
          <p:grpSpPr>
            <a:xfrm>
              <a:off x="9789780" y="3957246"/>
              <a:ext cx="289210" cy="338690"/>
              <a:chOff x="9220199" y="5081066"/>
              <a:chExt cx="714186" cy="969849"/>
            </a:xfrm>
          </p:grpSpPr>
          <p:sp>
            <p:nvSpPr>
              <p:cNvPr id="116" name="Rectangle 115"/>
              <p:cNvSpPr/>
              <p:nvPr/>
            </p:nvSpPr>
            <p:spPr>
              <a:xfrm>
                <a:off x="9220200" y="5419756"/>
                <a:ext cx="714185" cy="325724"/>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Rectangle 116"/>
              <p:cNvSpPr/>
              <p:nvPr/>
            </p:nvSpPr>
            <p:spPr>
              <a:xfrm>
                <a:off x="9220200" y="5725191"/>
                <a:ext cx="714185" cy="325724"/>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Rectangle 117"/>
              <p:cNvSpPr/>
              <p:nvPr/>
            </p:nvSpPr>
            <p:spPr>
              <a:xfrm>
                <a:off x="9220199" y="5081066"/>
                <a:ext cx="714185" cy="325724"/>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9" name="Group 108"/>
            <p:cNvGrpSpPr/>
            <p:nvPr/>
          </p:nvGrpSpPr>
          <p:grpSpPr>
            <a:xfrm>
              <a:off x="11384500" y="4997462"/>
              <a:ext cx="289210" cy="338689"/>
              <a:chOff x="9220199" y="5081066"/>
              <a:chExt cx="714186" cy="969849"/>
            </a:xfrm>
          </p:grpSpPr>
          <p:sp>
            <p:nvSpPr>
              <p:cNvPr id="113" name="Rectangle 112"/>
              <p:cNvSpPr/>
              <p:nvPr/>
            </p:nvSpPr>
            <p:spPr>
              <a:xfrm>
                <a:off x="9220200" y="5419756"/>
                <a:ext cx="714185" cy="325724"/>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Rectangle 113"/>
              <p:cNvSpPr/>
              <p:nvPr/>
            </p:nvSpPr>
            <p:spPr>
              <a:xfrm>
                <a:off x="9220200" y="5725191"/>
                <a:ext cx="714185" cy="325724"/>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Rectangle 114"/>
              <p:cNvSpPr/>
              <p:nvPr/>
            </p:nvSpPr>
            <p:spPr>
              <a:xfrm>
                <a:off x="9220199" y="5081066"/>
                <a:ext cx="714185" cy="325724"/>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0" name="Group 109"/>
            <p:cNvGrpSpPr/>
            <p:nvPr/>
          </p:nvGrpSpPr>
          <p:grpSpPr>
            <a:xfrm>
              <a:off x="11057605" y="3921304"/>
              <a:ext cx="289210" cy="232026"/>
              <a:chOff x="9220199" y="5081066"/>
              <a:chExt cx="714186" cy="664414"/>
            </a:xfrm>
          </p:grpSpPr>
          <p:sp>
            <p:nvSpPr>
              <p:cNvPr id="111" name="Rectangle 110"/>
              <p:cNvSpPr/>
              <p:nvPr/>
            </p:nvSpPr>
            <p:spPr>
              <a:xfrm>
                <a:off x="9220200" y="5419756"/>
                <a:ext cx="714185" cy="325724"/>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Rectangle 111"/>
              <p:cNvSpPr/>
              <p:nvPr/>
            </p:nvSpPr>
            <p:spPr>
              <a:xfrm>
                <a:off x="9220199" y="5081066"/>
                <a:ext cx="714185" cy="325724"/>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Tree>
    <p:extLst>
      <p:ext uri="{BB962C8B-B14F-4D97-AF65-F5344CB8AC3E}">
        <p14:creationId xmlns:p14="http://schemas.microsoft.com/office/powerpoint/2010/main" val="415171099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2A5FB9-8092-6AC4-0B88-415B5224C3DC}"/>
              </a:ext>
            </a:extLst>
          </p:cNvPr>
          <p:cNvSpPr>
            <a:spLocks noGrp="1"/>
          </p:cNvSpPr>
          <p:nvPr>
            <p:ph type="title"/>
          </p:nvPr>
        </p:nvSpPr>
        <p:spPr/>
        <p:txBody>
          <a:bodyPr>
            <a:normAutofit/>
          </a:bodyPr>
          <a:lstStyle/>
          <a:p>
            <a:r>
              <a:rPr lang="en-US" dirty="0"/>
              <a:t>Greedy Algorithm</a:t>
            </a:r>
            <a:endParaRPr lang="en-US" dirty="0">
              <a:latin typeface="Ink Free" panose="03080402000500000000" pitchFamily="66" charset="0"/>
            </a:endParaRPr>
          </a:p>
        </p:txBody>
      </p:sp>
      <p:sp>
        <p:nvSpPr>
          <p:cNvPr id="3" name="Slide Number Placeholder 2">
            <a:extLst>
              <a:ext uri="{FF2B5EF4-FFF2-40B4-BE49-F238E27FC236}">
                <a16:creationId xmlns:a16="http://schemas.microsoft.com/office/drawing/2014/main" id="{40A3EDA5-4202-75DA-7FDE-B66206D0DDEB}"/>
              </a:ext>
            </a:extLst>
          </p:cNvPr>
          <p:cNvSpPr>
            <a:spLocks noGrp="1"/>
          </p:cNvSpPr>
          <p:nvPr>
            <p:ph type="sldNum" sz="quarter" idx="12"/>
          </p:nvPr>
        </p:nvSpPr>
        <p:spPr/>
        <p:txBody>
          <a:bodyPr/>
          <a:lstStyle/>
          <a:p>
            <a:fld id="{CBD12358-51D2-46B3-9BDE-DF29528B9454}" type="slidenum">
              <a:rPr lang="en-US" smtClean="0"/>
              <a:t>35</a:t>
            </a:fld>
            <a:endParaRPr lang="en-US" dirty="0"/>
          </a:p>
        </p:txBody>
      </p:sp>
      <p:sp>
        <p:nvSpPr>
          <p:cNvPr id="6" name="Rectangle 5"/>
          <p:cNvSpPr/>
          <p:nvPr/>
        </p:nvSpPr>
        <p:spPr>
          <a:xfrm>
            <a:off x="777240" y="2180864"/>
            <a:ext cx="6096000" cy="1754326"/>
          </a:xfrm>
          <a:prstGeom prst="rect">
            <a:avLst/>
          </a:prstGeom>
        </p:spPr>
        <p:txBody>
          <a:bodyPr>
            <a:spAutoFit/>
          </a:bodyPr>
          <a:lstStyle/>
          <a:p>
            <a:pPr>
              <a:buClr>
                <a:schemeClr val="accent3">
                  <a:lumMod val="75000"/>
                </a:schemeClr>
              </a:buClr>
            </a:pPr>
            <a:r>
              <a:rPr lang="en-US" dirty="0"/>
              <a:t>Key idea-</a:t>
            </a:r>
          </a:p>
          <a:p>
            <a:pPr marL="285750" indent="-285750">
              <a:buClr>
                <a:schemeClr val="accent3">
                  <a:lumMod val="75000"/>
                </a:schemeClr>
              </a:buClr>
              <a:buFont typeface="Arial" panose="020B0604020202020204" pitchFamily="34" charset="0"/>
              <a:buChar char="•"/>
            </a:pPr>
            <a:r>
              <a:rPr lang="en-US" dirty="0"/>
              <a:t>Order the vertices (e.g., using a heuristic )</a:t>
            </a:r>
          </a:p>
          <a:p>
            <a:pPr marL="285750" indent="-285750">
              <a:buClr>
                <a:schemeClr val="accent3">
                  <a:lumMod val="75000"/>
                </a:schemeClr>
              </a:buClr>
              <a:buFont typeface="Arial" panose="020B0604020202020204" pitchFamily="34" charset="0"/>
              <a:buChar char="•"/>
            </a:pPr>
            <a:r>
              <a:rPr lang="en-US" dirty="0"/>
              <a:t>For each vertex, select the smallest color from its list that does not conflict with the colors assigned to adjacent vertices.</a:t>
            </a:r>
          </a:p>
          <a:p>
            <a:pPr marL="285750" indent="-285750">
              <a:buClr>
                <a:schemeClr val="accent3">
                  <a:lumMod val="75000"/>
                </a:schemeClr>
              </a:buClr>
              <a:buFont typeface="Arial" panose="020B0604020202020204" pitchFamily="34" charset="0"/>
              <a:buChar char="•"/>
            </a:pPr>
            <a:r>
              <a:rPr lang="en-US" dirty="0"/>
              <a:t>Proceed until all vertices are colored.</a:t>
            </a:r>
          </a:p>
        </p:txBody>
      </p:sp>
      <p:sp>
        <p:nvSpPr>
          <p:cNvPr id="48" name="Rounded Rectangle 47"/>
          <p:cNvSpPr/>
          <p:nvPr/>
        </p:nvSpPr>
        <p:spPr>
          <a:xfrm>
            <a:off x="777240" y="4075611"/>
            <a:ext cx="4770120" cy="2109651"/>
          </a:xfrm>
          <a:prstGeom prst="roundRect">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Clr>
                <a:schemeClr val="accent3">
                  <a:lumMod val="75000"/>
                </a:schemeClr>
              </a:buClr>
            </a:pPr>
            <a:r>
              <a:rPr lang="en-US" b="1" dirty="0">
                <a:solidFill>
                  <a:schemeClr val="tx1"/>
                </a:solidFill>
              </a:rPr>
              <a:t>Common Heuristics:</a:t>
            </a:r>
          </a:p>
          <a:p>
            <a:pPr marL="285750" indent="-285750">
              <a:buClr>
                <a:schemeClr val="accent3">
                  <a:lumMod val="75000"/>
                </a:schemeClr>
              </a:buClr>
              <a:buFont typeface="Arial" panose="020B0604020202020204" pitchFamily="34" charset="0"/>
              <a:buChar char="•"/>
            </a:pPr>
            <a:r>
              <a:rPr lang="en-US" dirty="0">
                <a:solidFill>
                  <a:schemeClr val="tx1"/>
                </a:solidFill>
              </a:rPr>
              <a:t>Largest Degree First</a:t>
            </a:r>
          </a:p>
          <a:p>
            <a:pPr marL="285750" indent="-285750">
              <a:buClr>
                <a:schemeClr val="accent3">
                  <a:lumMod val="75000"/>
                </a:schemeClr>
              </a:buClr>
              <a:buFont typeface="Arial" panose="020B0604020202020204" pitchFamily="34" charset="0"/>
              <a:buChar char="•"/>
            </a:pPr>
            <a:r>
              <a:rPr lang="en-US" dirty="0">
                <a:solidFill>
                  <a:schemeClr val="tx1"/>
                </a:solidFill>
              </a:rPr>
              <a:t>Smallest List First</a:t>
            </a:r>
          </a:p>
          <a:p>
            <a:pPr marL="285750" indent="-285750">
              <a:buClr>
                <a:schemeClr val="accent3">
                  <a:lumMod val="75000"/>
                </a:schemeClr>
              </a:buClr>
              <a:buFont typeface="Arial" panose="020B0604020202020204" pitchFamily="34" charset="0"/>
              <a:buChar char="•"/>
            </a:pPr>
            <a:r>
              <a:rPr lang="en-US" dirty="0">
                <a:solidFill>
                  <a:schemeClr val="tx1"/>
                </a:solidFill>
              </a:rPr>
              <a:t>Saturation Degree Heuristic (DSatur)</a:t>
            </a:r>
          </a:p>
          <a:p>
            <a:pPr marL="742950" lvl="1" indent="-285750">
              <a:buClr>
                <a:schemeClr val="accent3">
                  <a:lumMod val="75000"/>
                </a:schemeClr>
              </a:buClr>
              <a:buFont typeface="Arial" panose="020B0604020202020204" pitchFamily="34" charset="0"/>
              <a:buChar char="•"/>
            </a:pPr>
            <a:r>
              <a:rPr lang="en-US" dirty="0">
                <a:solidFill>
                  <a:schemeClr val="tx1"/>
                </a:solidFill>
              </a:rPr>
              <a:t>Saturation degree is the number of different colors in its neighborhood.</a:t>
            </a:r>
            <a:endParaRPr lang="en-US" dirty="0">
              <a:solidFill>
                <a:schemeClr val="tx1"/>
              </a:solidFill>
              <a:latin typeface="Ink Free" panose="03080402000500000000" pitchFamily="66" charset="0"/>
            </a:endParaRPr>
          </a:p>
          <a:p>
            <a:pPr marL="742950" lvl="1" indent="-285750">
              <a:buClr>
                <a:schemeClr val="accent3">
                  <a:lumMod val="75000"/>
                </a:schemeClr>
              </a:buClr>
              <a:buFont typeface="Arial" panose="020B0604020202020204" pitchFamily="34" charset="0"/>
              <a:buChar char="•"/>
            </a:pPr>
            <a:endParaRPr lang="en-US" dirty="0">
              <a:solidFill>
                <a:schemeClr val="tx1"/>
              </a:solidFill>
              <a:latin typeface="Ink Free" panose="03080402000500000000" pitchFamily="66" charset="0"/>
            </a:endParaRPr>
          </a:p>
        </p:txBody>
      </p:sp>
      <p:grpSp>
        <p:nvGrpSpPr>
          <p:cNvPr id="50" name="Group 49"/>
          <p:cNvGrpSpPr/>
          <p:nvPr/>
        </p:nvGrpSpPr>
        <p:grpSpPr>
          <a:xfrm>
            <a:off x="7733134" y="2376988"/>
            <a:ext cx="2281593" cy="1485687"/>
            <a:chOff x="9392117" y="3921304"/>
            <a:chExt cx="2281593" cy="1485687"/>
          </a:xfrm>
        </p:grpSpPr>
        <p:grpSp>
          <p:nvGrpSpPr>
            <p:cNvPr id="51" name="Group 50"/>
            <p:cNvGrpSpPr/>
            <p:nvPr/>
          </p:nvGrpSpPr>
          <p:grpSpPr>
            <a:xfrm rot="1910531">
              <a:off x="10052475" y="3979477"/>
              <a:ext cx="1254934" cy="1427514"/>
              <a:chOff x="5672264" y="4404214"/>
              <a:chExt cx="1844715" cy="1993724"/>
            </a:xfrm>
          </p:grpSpPr>
          <p:grpSp>
            <p:nvGrpSpPr>
              <p:cNvPr id="66" name="Group 65"/>
              <p:cNvGrpSpPr/>
              <p:nvPr/>
            </p:nvGrpSpPr>
            <p:grpSpPr>
              <a:xfrm>
                <a:off x="5672264" y="4404214"/>
                <a:ext cx="1844715" cy="1993724"/>
                <a:chOff x="5938520" y="2432234"/>
                <a:chExt cx="1844715" cy="1993724"/>
              </a:xfrm>
            </p:grpSpPr>
            <p:sp>
              <p:nvSpPr>
                <p:cNvPr id="68" name="Oval 67"/>
                <p:cNvSpPr/>
                <p:nvPr/>
              </p:nvSpPr>
              <p:spPr>
                <a:xfrm>
                  <a:off x="5988247" y="3238108"/>
                  <a:ext cx="335280" cy="3556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Ink Free" panose="03080402000500000000" pitchFamily="66" charset="0"/>
                  </a:endParaRPr>
                </a:p>
              </p:txBody>
            </p:sp>
            <p:sp>
              <p:nvSpPr>
                <p:cNvPr id="69" name="Oval 68"/>
                <p:cNvSpPr/>
                <p:nvPr/>
              </p:nvSpPr>
              <p:spPr>
                <a:xfrm>
                  <a:off x="5938520" y="4070358"/>
                  <a:ext cx="335280" cy="3556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Ink Free" panose="03080402000500000000" pitchFamily="66" charset="0"/>
                  </a:endParaRPr>
                </a:p>
              </p:txBody>
            </p:sp>
            <p:sp>
              <p:nvSpPr>
                <p:cNvPr id="70" name="Oval 69"/>
                <p:cNvSpPr/>
                <p:nvPr/>
              </p:nvSpPr>
              <p:spPr>
                <a:xfrm>
                  <a:off x="7447955" y="3277879"/>
                  <a:ext cx="335280" cy="3556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Ink Free" panose="03080402000500000000" pitchFamily="66" charset="0"/>
                  </a:endParaRPr>
                </a:p>
              </p:txBody>
            </p:sp>
            <p:sp>
              <p:nvSpPr>
                <p:cNvPr id="71" name="Oval 70"/>
                <p:cNvSpPr/>
                <p:nvPr/>
              </p:nvSpPr>
              <p:spPr>
                <a:xfrm>
                  <a:off x="6349236" y="2432234"/>
                  <a:ext cx="335279" cy="3556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Ink Free" panose="03080402000500000000" pitchFamily="66" charset="0"/>
                  </a:endParaRPr>
                </a:p>
              </p:txBody>
            </p:sp>
            <p:cxnSp>
              <p:nvCxnSpPr>
                <p:cNvPr id="72" name="Straight Connector 71"/>
                <p:cNvCxnSpPr>
                  <a:stCxn id="68" idx="0"/>
                  <a:endCxn id="71" idx="4"/>
                </p:cNvCxnSpPr>
                <p:nvPr/>
              </p:nvCxnSpPr>
              <p:spPr>
                <a:xfrm rot="19689469" flipV="1">
                  <a:off x="6058036" y="2912192"/>
                  <a:ext cx="556691" cy="20155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 name="Straight Connector 72"/>
                <p:cNvCxnSpPr>
                  <a:stCxn id="68" idx="4"/>
                  <a:endCxn id="69" idx="0"/>
                </p:cNvCxnSpPr>
                <p:nvPr/>
              </p:nvCxnSpPr>
              <p:spPr>
                <a:xfrm flipH="1">
                  <a:off x="6106160" y="3593708"/>
                  <a:ext cx="49727" cy="47665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Straight Connector 73"/>
                <p:cNvCxnSpPr>
                  <a:stCxn id="68" idx="6"/>
                  <a:endCxn id="70" idx="2"/>
                </p:cNvCxnSpPr>
                <p:nvPr/>
              </p:nvCxnSpPr>
              <p:spPr>
                <a:xfrm>
                  <a:off x="6323527" y="3415908"/>
                  <a:ext cx="1124428" cy="3977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67" name="Straight Connector 66"/>
              <p:cNvCxnSpPr>
                <a:stCxn id="70" idx="3"/>
                <a:endCxn id="69" idx="6"/>
              </p:cNvCxnSpPr>
              <p:nvPr/>
            </p:nvCxnSpPr>
            <p:spPr>
              <a:xfrm flipH="1">
                <a:off x="6007544" y="5553383"/>
                <a:ext cx="1223256" cy="66675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2" name="Group 51"/>
            <p:cNvGrpSpPr/>
            <p:nvPr/>
          </p:nvGrpSpPr>
          <p:grpSpPr>
            <a:xfrm>
              <a:off x="9392117" y="4899146"/>
              <a:ext cx="289210" cy="232026"/>
              <a:chOff x="9392243" y="5155883"/>
              <a:chExt cx="714186" cy="664414"/>
            </a:xfrm>
          </p:grpSpPr>
          <p:sp>
            <p:nvSpPr>
              <p:cNvPr id="64" name="Rectangle 63"/>
              <p:cNvSpPr/>
              <p:nvPr/>
            </p:nvSpPr>
            <p:spPr>
              <a:xfrm>
                <a:off x="9392243" y="5494573"/>
                <a:ext cx="714186" cy="325724"/>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Rectangle 64"/>
              <p:cNvSpPr/>
              <p:nvPr/>
            </p:nvSpPr>
            <p:spPr>
              <a:xfrm>
                <a:off x="9392243" y="5155883"/>
                <a:ext cx="714186" cy="325724"/>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3" name="Group 52"/>
            <p:cNvGrpSpPr/>
            <p:nvPr/>
          </p:nvGrpSpPr>
          <p:grpSpPr>
            <a:xfrm>
              <a:off x="9789780" y="3957246"/>
              <a:ext cx="289210" cy="338690"/>
              <a:chOff x="9220199" y="5081066"/>
              <a:chExt cx="714186" cy="969849"/>
            </a:xfrm>
          </p:grpSpPr>
          <p:sp>
            <p:nvSpPr>
              <p:cNvPr id="61" name="Rectangle 60"/>
              <p:cNvSpPr/>
              <p:nvPr/>
            </p:nvSpPr>
            <p:spPr>
              <a:xfrm>
                <a:off x="9220200" y="5419756"/>
                <a:ext cx="714185" cy="325724"/>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p:cNvSpPr/>
              <p:nvPr/>
            </p:nvSpPr>
            <p:spPr>
              <a:xfrm>
                <a:off x="9220200" y="5725191"/>
                <a:ext cx="714185" cy="325724"/>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p:cNvSpPr/>
              <p:nvPr/>
            </p:nvSpPr>
            <p:spPr>
              <a:xfrm>
                <a:off x="9220199" y="5081066"/>
                <a:ext cx="714185" cy="325724"/>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4" name="Group 53"/>
            <p:cNvGrpSpPr/>
            <p:nvPr/>
          </p:nvGrpSpPr>
          <p:grpSpPr>
            <a:xfrm>
              <a:off x="11384500" y="4997462"/>
              <a:ext cx="289210" cy="338689"/>
              <a:chOff x="9220199" y="5081066"/>
              <a:chExt cx="714186" cy="969849"/>
            </a:xfrm>
          </p:grpSpPr>
          <p:sp>
            <p:nvSpPr>
              <p:cNvPr id="58" name="Rectangle 57"/>
              <p:cNvSpPr/>
              <p:nvPr/>
            </p:nvSpPr>
            <p:spPr>
              <a:xfrm>
                <a:off x="9220200" y="5419756"/>
                <a:ext cx="714185" cy="325724"/>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p:cNvSpPr/>
              <p:nvPr/>
            </p:nvSpPr>
            <p:spPr>
              <a:xfrm>
                <a:off x="9220200" y="5725191"/>
                <a:ext cx="714185" cy="325724"/>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59"/>
              <p:cNvSpPr/>
              <p:nvPr/>
            </p:nvSpPr>
            <p:spPr>
              <a:xfrm>
                <a:off x="9220199" y="5081066"/>
                <a:ext cx="714185" cy="325724"/>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5" name="Group 54"/>
            <p:cNvGrpSpPr/>
            <p:nvPr/>
          </p:nvGrpSpPr>
          <p:grpSpPr>
            <a:xfrm>
              <a:off x="11057605" y="3921304"/>
              <a:ext cx="289210" cy="232026"/>
              <a:chOff x="9220199" y="5081066"/>
              <a:chExt cx="714186" cy="664414"/>
            </a:xfrm>
          </p:grpSpPr>
          <p:sp>
            <p:nvSpPr>
              <p:cNvPr id="56" name="Rectangle 55"/>
              <p:cNvSpPr/>
              <p:nvPr/>
            </p:nvSpPr>
            <p:spPr>
              <a:xfrm>
                <a:off x="9220200" y="5419756"/>
                <a:ext cx="714185" cy="325724"/>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p:cNvSpPr/>
              <p:nvPr/>
            </p:nvSpPr>
            <p:spPr>
              <a:xfrm>
                <a:off x="9220199" y="5081066"/>
                <a:ext cx="714185" cy="325724"/>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7" name="TextBox 6"/>
          <p:cNvSpPr txBox="1"/>
          <p:nvPr/>
        </p:nvSpPr>
        <p:spPr>
          <a:xfrm flipH="1">
            <a:off x="8470954" y="2658561"/>
            <a:ext cx="301269" cy="369332"/>
          </a:xfrm>
          <a:prstGeom prst="rect">
            <a:avLst/>
          </a:prstGeom>
          <a:noFill/>
        </p:spPr>
        <p:txBody>
          <a:bodyPr wrap="square" rtlCol="0">
            <a:spAutoFit/>
          </a:bodyPr>
          <a:lstStyle/>
          <a:p>
            <a:r>
              <a:rPr lang="en-US" b="1" dirty="0"/>
              <a:t>c</a:t>
            </a:r>
          </a:p>
        </p:txBody>
      </p:sp>
      <p:sp>
        <p:nvSpPr>
          <p:cNvPr id="100" name="TextBox 99"/>
          <p:cNvSpPr txBox="1"/>
          <p:nvPr/>
        </p:nvSpPr>
        <p:spPr>
          <a:xfrm flipH="1">
            <a:off x="8127565" y="3168202"/>
            <a:ext cx="301269" cy="369332"/>
          </a:xfrm>
          <a:prstGeom prst="rect">
            <a:avLst/>
          </a:prstGeom>
          <a:noFill/>
        </p:spPr>
        <p:txBody>
          <a:bodyPr wrap="square" rtlCol="0">
            <a:spAutoFit/>
          </a:bodyPr>
          <a:lstStyle/>
          <a:p>
            <a:r>
              <a:rPr lang="en-US" b="1" dirty="0"/>
              <a:t>a</a:t>
            </a:r>
          </a:p>
        </p:txBody>
      </p:sp>
      <p:sp>
        <p:nvSpPr>
          <p:cNvPr id="101" name="TextBox 100"/>
          <p:cNvSpPr txBox="1"/>
          <p:nvPr/>
        </p:nvSpPr>
        <p:spPr>
          <a:xfrm flipH="1">
            <a:off x="9298827" y="3236092"/>
            <a:ext cx="301269" cy="369332"/>
          </a:xfrm>
          <a:prstGeom prst="rect">
            <a:avLst/>
          </a:prstGeom>
          <a:noFill/>
        </p:spPr>
        <p:txBody>
          <a:bodyPr wrap="square" rtlCol="0">
            <a:spAutoFit/>
          </a:bodyPr>
          <a:lstStyle/>
          <a:p>
            <a:r>
              <a:rPr lang="en-US" b="1" dirty="0"/>
              <a:t>b</a:t>
            </a:r>
          </a:p>
        </p:txBody>
      </p:sp>
      <p:sp>
        <p:nvSpPr>
          <p:cNvPr id="102" name="TextBox 101"/>
          <p:cNvSpPr txBox="1"/>
          <p:nvPr/>
        </p:nvSpPr>
        <p:spPr>
          <a:xfrm flipH="1">
            <a:off x="8978687" y="2322769"/>
            <a:ext cx="301269" cy="369332"/>
          </a:xfrm>
          <a:prstGeom prst="rect">
            <a:avLst/>
          </a:prstGeom>
          <a:noFill/>
        </p:spPr>
        <p:txBody>
          <a:bodyPr wrap="square" rtlCol="0">
            <a:spAutoFit/>
          </a:bodyPr>
          <a:lstStyle/>
          <a:p>
            <a:r>
              <a:rPr lang="en-US" b="1" dirty="0"/>
              <a:t>d</a:t>
            </a:r>
          </a:p>
        </p:txBody>
      </p:sp>
      <p:sp>
        <p:nvSpPr>
          <p:cNvPr id="8" name="Rounded Rectangle 7"/>
          <p:cNvSpPr/>
          <p:nvPr/>
        </p:nvSpPr>
        <p:spPr>
          <a:xfrm>
            <a:off x="7678868" y="4151064"/>
            <a:ext cx="2392344" cy="278923"/>
          </a:xfrm>
          <a:prstGeom prst="roundRect">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c</a:t>
            </a:r>
            <a:r>
              <a:rPr lang="en-US" dirty="0">
                <a:solidFill>
                  <a:sysClr val="windowText" lastClr="000000"/>
                </a:solidFill>
              </a:rPr>
              <a:t>, </a:t>
            </a:r>
            <a:r>
              <a:rPr lang="en-US" dirty="0">
                <a:solidFill>
                  <a:srgbClr val="00B0F0"/>
                </a:solidFill>
              </a:rPr>
              <a:t>a</a:t>
            </a:r>
            <a:r>
              <a:rPr lang="en-US" dirty="0">
                <a:solidFill>
                  <a:sysClr val="windowText" lastClr="000000"/>
                </a:solidFill>
              </a:rPr>
              <a:t>, b, d</a:t>
            </a:r>
          </a:p>
        </p:txBody>
      </p:sp>
      <p:grpSp>
        <p:nvGrpSpPr>
          <p:cNvPr id="105" name="Group 104"/>
          <p:cNvGrpSpPr/>
          <p:nvPr/>
        </p:nvGrpSpPr>
        <p:grpSpPr>
          <a:xfrm>
            <a:off x="7789619" y="4764507"/>
            <a:ext cx="2281593" cy="1485687"/>
            <a:chOff x="9392117" y="3921304"/>
            <a:chExt cx="2281593" cy="1485687"/>
          </a:xfrm>
        </p:grpSpPr>
        <p:grpSp>
          <p:nvGrpSpPr>
            <p:cNvPr id="106" name="Group 105"/>
            <p:cNvGrpSpPr/>
            <p:nvPr/>
          </p:nvGrpSpPr>
          <p:grpSpPr>
            <a:xfrm rot="1910531">
              <a:off x="10052475" y="3979477"/>
              <a:ext cx="1254934" cy="1427514"/>
              <a:chOff x="5672264" y="4404214"/>
              <a:chExt cx="1844715" cy="1993724"/>
            </a:xfrm>
          </p:grpSpPr>
          <p:grpSp>
            <p:nvGrpSpPr>
              <p:cNvPr id="121" name="Group 120"/>
              <p:cNvGrpSpPr/>
              <p:nvPr/>
            </p:nvGrpSpPr>
            <p:grpSpPr>
              <a:xfrm>
                <a:off x="5672264" y="4404214"/>
                <a:ext cx="1844715" cy="1993724"/>
                <a:chOff x="5938520" y="2432234"/>
                <a:chExt cx="1844715" cy="1993724"/>
              </a:xfrm>
            </p:grpSpPr>
            <p:sp>
              <p:nvSpPr>
                <p:cNvPr id="123" name="Oval 122"/>
                <p:cNvSpPr/>
                <p:nvPr/>
              </p:nvSpPr>
              <p:spPr>
                <a:xfrm>
                  <a:off x="5988247" y="3238108"/>
                  <a:ext cx="335280" cy="35560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Ink Free" panose="03080402000500000000" pitchFamily="66" charset="0"/>
                  </a:endParaRPr>
                </a:p>
              </p:txBody>
            </p:sp>
            <p:sp>
              <p:nvSpPr>
                <p:cNvPr id="124" name="Oval 123"/>
                <p:cNvSpPr/>
                <p:nvPr/>
              </p:nvSpPr>
              <p:spPr>
                <a:xfrm>
                  <a:off x="5938520" y="4070358"/>
                  <a:ext cx="335280" cy="355600"/>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Ink Free" panose="03080402000500000000" pitchFamily="66" charset="0"/>
                  </a:endParaRPr>
                </a:p>
              </p:txBody>
            </p:sp>
            <p:sp>
              <p:nvSpPr>
                <p:cNvPr id="125" name="Oval 124"/>
                <p:cNvSpPr/>
                <p:nvPr/>
              </p:nvSpPr>
              <p:spPr>
                <a:xfrm>
                  <a:off x="7447955" y="3277879"/>
                  <a:ext cx="335280" cy="3556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Ink Free" panose="03080402000500000000" pitchFamily="66" charset="0"/>
                  </a:endParaRPr>
                </a:p>
              </p:txBody>
            </p:sp>
            <p:sp>
              <p:nvSpPr>
                <p:cNvPr id="126" name="Oval 125"/>
                <p:cNvSpPr/>
                <p:nvPr/>
              </p:nvSpPr>
              <p:spPr>
                <a:xfrm>
                  <a:off x="6349236" y="2432234"/>
                  <a:ext cx="335279" cy="3556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Ink Free" panose="03080402000500000000" pitchFamily="66" charset="0"/>
                  </a:endParaRPr>
                </a:p>
              </p:txBody>
            </p:sp>
            <p:cxnSp>
              <p:nvCxnSpPr>
                <p:cNvPr id="127" name="Straight Connector 126"/>
                <p:cNvCxnSpPr>
                  <a:stCxn id="123" idx="0"/>
                  <a:endCxn id="126" idx="4"/>
                </p:cNvCxnSpPr>
                <p:nvPr/>
              </p:nvCxnSpPr>
              <p:spPr>
                <a:xfrm rot="19689469" flipV="1">
                  <a:off x="6058036" y="2912192"/>
                  <a:ext cx="556691" cy="20155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8" name="Straight Connector 127"/>
                <p:cNvCxnSpPr>
                  <a:stCxn id="123" idx="4"/>
                  <a:endCxn id="124" idx="0"/>
                </p:cNvCxnSpPr>
                <p:nvPr/>
              </p:nvCxnSpPr>
              <p:spPr>
                <a:xfrm flipH="1">
                  <a:off x="6106160" y="3593708"/>
                  <a:ext cx="49727" cy="47665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9" name="Straight Connector 128"/>
                <p:cNvCxnSpPr>
                  <a:stCxn id="123" idx="6"/>
                  <a:endCxn id="125" idx="2"/>
                </p:cNvCxnSpPr>
                <p:nvPr/>
              </p:nvCxnSpPr>
              <p:spPr>
                <a:xfrm>
                  <a:off x="6323527" y="3415908"/>
                  <a:ext cx="1124428" cy="3977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22" name="Straight Connector 121"/>
              <p:cNvCxnSpPr>
                <a:stCxn id="125" idx="3"/>
                <a:endCxn id="124" idx="6"/>
              </p:cNvCxnSpPr>
              <p:nvPr/>
            </p:nvCxnSpPr>
            <p:spPr>
              <a:xfrm flipH="1">
                <a:off x="6007544" y="5553383"/>
                <a:ext cx="1223256" cy="66675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7" name="Group 106"/>
            <p:cNvGrpSpPr/>
            <p:nvPr/>
          </p:nvGrpSpPr>
          <p:grpSpPr>
            <a:xfrm>
              <a:off x="9392117" y="4899146"/>
              <a:ext cx="289210" cy="232026"/>
              <a:chOff x="9392243" y="5155883"/>
              <a:chExt cx="714186" cy="664414"/>
            </a:xfrm>
          </p:grpSpPr>
          <p:sp>
            <p:nvSpPr>
              <p:cNvPr id="119" name="Rectangle 118"/>
              <p:cNvSpPr/>
              <p:nvPr/>
            </p:nvSpPr>
            <p:spPr>
              <a:xfrm>
                <a:off x="9392243" y="5494573"/>
                <a:ext cx="714186" cy="325724"/>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Rectangle 119"/>
              <p:cNvSpPr/>
              <p:nvPr/>
            </p:nvSpPr>
            <p:spPr>
              <a:xfrm>
                <a:off x="9392243" y="5155883"/>
                <a:ext cx="714186" cy="325724"/>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8" name="Group 107"/>
            <p:cNvGrpSpPr/>
            <p:nvPr/>
          </p:nvGrpSpPr>
          <p:grpSpPr>
            <a:xfrm>
              <a:off x="9789780" y="3957246"/>
              <a:ext cx="289210" cy="338690"/>
              <a:chOff x="9220199" y="5081066"/>
              <a:chExt cx="714186" cy="969849"/>
            </a:xfrm>
          </p:grpSpPr>
          <p:sp>
            <p:nvSpPr>
              <p:cNvPr id="116" name="Rectangle 115"/>
              <p:cNvSpPr/>
              <p:nvPr/>
            </p:nvSpPr>
            <p:spPr>
              <a:xfrm>
                <a:off x="9220200" y="5419756"/>
                <a:ext cx="714185" cy="325724"/>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Rectangle 116"/>
              <p:cNvSpPr/>
              <p:nvPr/>
            </p:nvSpPr>
            <p:spPr>
              <a:xfrm>
                <a:off x="9220200" y="5725191"/>
                <a:ext cx="714185" cy="325724"/>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Rectangle 117"/>
              <p:cNvSpPr/>
              <p:nvPr/>
            </p:nvSpPr>
            <p:spPr>
              <a:xfrm>
                <a:off x="9220199" y="5081066"/>
                <a:ext cx="714185" cy="325724"/>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9" name="Group 108"/>
            <p:cNvGrpSpPr/>
            <p:nvPr/>
          </p:nvGrpSpPr>
          <p:grpSpPr>
            <a:xfrm>
              <a:off x="11384500" y="4997462"/>
              <a:ext cx="289210" cy="338689"/>
              <a:chOff x="9220199" y="5081066"/>
              <a:chExt cx="714186" cy="969849"/>
            </a:xfrm>
          </p:grpSpPr>
          <p:sp>
            <p:nvSpPr>
              <p:cNvPr id="113" name="Rectangle 112"/>
              <p:cNvSpPr/>
              <p:nvPr/>
            </p:nvSpPr>
            <p:spPr>
              <a:xfrm>
                <a:off x="9220200" y="5419756"/>
                <a:ext cx="714185" cy="325724"/>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Rectangle 113"/>
              <p:cNvSpPr/>
              <p:nvPr/>
            </p:nvSpPr>
            <p:spPr>
              <a:xfrm>
                <a:off x="9220200" y="5725191"/>
                <a:ext cx="714185" cy="325724"/>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Rectangle 114"/>
              <p:cNvSpPr/>
              <p:nvPr/>
            </p:nvSpPr>
            <p:spPr>
              <a:xfrm>
                <a:off x="9220199" y="5081066"/>
                <a:ext cx="714185" cy="325724"/>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0" name="Group 109"/>
            <p:cNvGrpSpPr/>
            <p:nvPr/>
          </p:nvGrpSpPr>
          <p:grpSpPr>
            <a:xfrm>
              <a:off x="11057605" y="3921304"/>
              <a:ext cx="289210" cy="232026"/>
              <a:chOff x="9220199" y="5081066"/>
              <a:chExt cx="714186" cy="664414"/>
            </a:xfrm>
          </p:grpSpPr>
          <p:sp>
            <p:nvSpPr>
              <p:cNvPr id="111" name="Rectangle 110"/>
              <p:cNvSpPr/>
              <p:nvPr/>
            </p:nvSpPr>
            <p:spPr>
              <a:xfrm>
                <a:off x="9220200" y="5419756"/>
                <a:ext cx="714185" cy="325724"/>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Rectangle 111"/>
              <p:cNvSpPr/>
              <p:nvPr/>
            </p:nvSpPr>
            <p:spPr>
              <a:xfrm>
                <a:off x="9220199" y="5081066"/>
                <a:ext cx="714185" cy="325724"/>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Tree>
    <p:extLst>
      <p:ext uri="{BB962C8B-B14F-4D97-AF65-F5344CB8AC3E}">
        <p14:creationId xmlns:p14="http://schemas.microsoft.com/office/powerpoint/2010/main" val="271561146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2A5FB9-8092-6AC4-0B88-415B5224C3DC}"/>
              </a:ext>
            </a:extLst>
          </p:cNvPr>
          <p:cNvSpPr>
            <a:spLocks noGrp="1"/>
          </p:cNvSpPr>
          <p:nvPr>
            <p:ph type="title"/>
          </p:nvPr>
        </p:nvSpPr>
        <p:spPr/>
        <p:txBody>
          <a:bodyPr>
            <a:normAutofit/>
          </a:bodyPr>
          <a:lstStyle/>
          <a:p>
            <a:r>
              <a:rPr lang="en-US" dirty="0"/>
              <a:t>Greedy Algorithm</a:t>
            </a:r>
            <a:endParaRPr lang="en-US" dirty="0">
              <a:latin typeface="Ink Free" panose="03080402000500000000" pitchFamily="66" charset="0"/>
            </a:endParaRPr>
          </a:p>
        </p:txBody>
      </p:sp>
      <p:sp>
        <p:nvSpPr>
          <p:cNvPr id="3" name="Slide Number Placeholder 2">
            <a:extLst>
              <a:ext uri="{FF2B5EF4-FFF2-40B4-BE49-F238E27FC236}">
                <a16:creationId xmlns:a16="http://schemas.microsoft.com/office/drawing/2014/main" id="{C90D346B-7543-0764-2B03-DC1D999515DE}"/>
              </a:ext>
            </a:extLst>
          </p:cNvPr>
          <p:cNvSpPr>
            <a:spLocks noGrp="1"/>
          </p:cNvSpPr>
          <p:nvPr>
            <p:ph type="sldNum" sz="quarter" idx="12"/>
          </p:nvPr>
        </p:nvSpPr>
        <p:spPr/>
        <p:txBody>
          <a:bodyPr/>
          <a:lstStyle/>
          <a:p>
            <a:fld id="{CBD12358-51D2-46B3-9BDE-DF29528B9454}" type="slidenum">
              <a:rPr lang="en-US" smtClean="0"/>
              <a:t>36</a:t>
            </a:fld>
            <a:endParaRPr lang="en-US" dirty="0"/>
          </a:p>
        </p:txBody>
      </p:sp>
      <p:sp>
        <p:nvSpPr>
          <p:cNvPr id="6" name="Rectangle 5"/>
          <p:cNvSpPr/>
          <p:nvPr/>
        </p:nvSpPr>
        <p:spPr>
          <a:xfrm>
            <a:off x="777240" y="2180864"/>
            <a:ext cx="6096000" cy="1754326"/>
          </a:xfrm>
          <a:prstGeom prst="rect">
            <a:avLst/>
          </a:prstGeom>
        </p:spPr>
        <p:txBody>
          <a:bodyPr>
            <a:spAutoFit/>
          </a:bodyPr>
          <a:lstStyle/>
          <a:p>
            <a:pPr>
              <a:buClr>
                <a:schemeClr val="accent3">
                  <a:lumMod val="75000"/>
                </a:schemeClr>
              </a:buClr>
            </a:pPr>
            <a:r>
              <a:rPr lang="en-US" dirty="0"/>
              <a:t>Key idea-</a:t>
            </a:r>
          </a:p>
          <a:p>
            <a:pPr marL="285750" indent="-285750">
              <a:buClr>
                <a:schemeClr val="accent3">
                  <a:lumMod val="75000"/>
                </a:schemeClr>
              </a:buClr>
              <a:buFont typeface="Arial" panose="020B0604020202020204" pitchFamily="34" charset="0"/>
              <a:buChar char="•"/>
            </a:pPr>
            <a:r>
              <a:rPr lang="en-US" dirty="0"/>
              <a:t>Order the vertices (e.g., using a heuristic )</a:t>
            </a:r>
          </a:p>
          <a:p>
            <a:pPr marL="285750" indent="-285750">
              <a:buClr>
                <a:schemeClr val="accent3">
                  <a:lumMod val="75000"/>
                </a:schemeClr>
              </a:buClr>
              <a:buFont typeface="Arial" panose="020B0604020202020204" pitchFamily="34" charset="0"/>
              <a:buChar char="•"/>
            </a:pPr>
            <a:r>
              <a:rPr lang="en-US" dirty="0"/>
              <a:t>For each vertex, select the smallest color from its list that does not conflict with the colors assigned to adjacent vertices.</a:t>
            </a:r>
          </a:p>
          <a:p>
            <a:pPr marL="285750" indent="-285750">
              <a:buClr>
                <a:schemeClr val="accent3">
                  <a:lumMod val="75000"/>
                </a:schemeClr>
              </a:buClr>
              <a:buFont typeface="Arial" panose="020B0604020202020204" pitchFamily="34" charset="0"/>
              <a:buChar char="•"/>
            </a:pPr>
            <a:r>
              <a:rPr lang="en-US" dirty="0"/>
              <a:t>Proceed until all vertices are colored.</a:t>
            </a:r>
          </a:p>
        </p:txBody>
      </p:sp>
      <p:sp>
        <p:nvSpPr>
          <p:cNvPr id="48" name="Rounded Rectangle 47"/>
          <p:cNvSpPr/>
          <p:nvPr/>
        </p:nvSpPr>
        <p:spPr>
          <a:xfrm>
            <a:off x="777240" y="4075611"/>
            <a:ext cx="4770120" cy="2109651"/>
          </a:xfrm>
          <a:prstGeom prst="roundRect">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Clr>
                <a:schemeClr val="accent3">
                  <a:lumMod val="75000"/>
                </a:schemeClr>
              </a:buClr>
            </a:pPr>
            <a:r>
              <a:rPr lang="en-US" b="1" dirty="0">
                <a:solidFill>
                  <a:schemeClr val="tx1"/>
                </a:solidFill>
              </a:rPr>
              <a:t>Common Heuristics:</a:t>
            </a:r>
          </a:p>
          <a:p>
            <a:pPr marL="285750" indent="-285750">
              <a:buClr>
                <a:schemeClr val="accent3">
                  <a:lumMod val="75000"/>
                </a:schemeClr>
              </a:buClr>
              <a:buFont typeface="Arial" panose="020B0604020202020204" pitchFamily="34" charset="0"/>
              <a:buChar char="•"/>
            </a:pPr>
            <a:r>
              <a:rPr lang="en-US" dirty="0">
                <a:solidFill>
                  <a:schemeClr val="tx1"/>
                </a:solidFill>
              </a:rPr>
              <a:t>Largest Degree First</a:t>
            </a:r>
          </a:p>
          <a:p>
            <a:pPr marL="285750" indent="-285750">
              <a:buClr>
                <a:schemeClr val="accent3">
                  <a:lumMod val="75000"/>
                </a:schemeClr>
              </a:buClr>
              <a:buFont typeface="Arial" panose="020B0604020202020204" pitchFamily="34" charset="0"/>
              <a:buChar char="•"/>
            </a:pPr>
            <a:r>
              <a:rPr lang="en-US" dirty="0">
                <a:solidFill>
                  <a:schemeClr val="tx1"/>
                </a:solidFill>
              </a:rPr>
              <a:t>Smallest List First</a:t>
            </a:r>
          </a:p>
          <a:p>
            <a:pPr marL="285750" indent="-285750">
              <a:buClr>
                <a:schemeClr val="accent3">
                  <a:lumMod val="75000"/>
                </a:schemeClr>
              </a:buClr>
              <a:buFont typeface="Arial" panose="020B0604020202020204" pitchFamily="34" charset="0"/>
              <a:buChar char="•"/>
            </a:pPr>
            <a:r>
              <a:rPr lang="en-US" dirty="0">
                <a:solidFill>
                  <a:schemeClr val="tx1"/>
                </a:solidFill>
              </a:rPr>
              <a:t>Saturation Degree Heuristic (DSatur)</a:t>
            </a:r>
          </a:p>
          <a:p>
            <a:pPr marL="742950" lvl="1" indent="-285750">
              <a:buClr>
                <a:schemeClr val="accent3">
                  <a:lumMod val="75000"/>
                </a:schemeClr>
              </a:buClr>
              <a:buFont typeface="Arial" panose="020B0604020202020204" pitchFamily="34" charset="0"/>
              <a:buChar char="•"/>
            </a:pPr>
            <a:r>
              <a:rPr lang="en-US" dirty="0">
                <a:solidFill>
                  <a:schemeClr val="tx1"/>
                </a:solidFill>
              </a:rPr>
              <a:t>Saturation degree is the number of different colors in its neighborhood.</a:t>
            </a:r>
            <a:endParaRPr lang="en-US" dirty="0">
              <a:solidFill>
                <a:schemeClr val="tx1"/>
              </a:solidFill>
              <a:latin typeface="Ink Free" panose="03080402000500000000" pitchFamily="66" charset="0"/>
            </a:endParaRPr>
          </a:p>
          <a:p>
            <a:pPr marL="742950" lvl="1" indent="-285750">
              <a:buClr>
                <a:schemeClr val="accent3">
                  <a:lumMod val="75000"/>
                </a:schemeClr>
              </a:buClr>
              <a:buFont typeface="Arial" panose="020B0604020202020204" pitchFamily="34" charset="0"/>
              <a:buChar char="•"/>
            </a:pPr>
            <a:endParaRPr lang="en-US" dirty="0">
              <a:solidFill>
                <a:schemeClr val="tx1"/>
              </a:solidFill>
              <a:latin typeface="Ink Free" panose="03080402000500000000" pitchFamily="66" charset="0"/>
            </a:endParaRPr>
          </a:p>
        </p:txBody>
      </p:sp>
      <p:grpSp>
        <p:nvGrpSpPr>
          <p:cNvPr id="50" name="Group 49"/>
          <p:cNvGrpSpPr/>
          <p:nvPr/>
        </p:nvGrpSpPr>
        <p:grpSpPr>
          <a:xfrm>
            <a:off x="7733134" y="2376988"/>
            <a:ext cx="2281593" cy="1485687"/>
            <a:chOff x="9392117" y="3921304"/>
            <a:chExt cx="2281593" cy="1485687"/>
          </a:xfrm>
        </p:grpSpPr>
        <p:grpSp>
          <p:nvGrpSpPr>
            <p:cNvPr id="51" name="Group 50"/>
            <p:cNvGrpSpPr/>
            <p:nvPr/>
          </p:nvGrpSpPr>
          <p:grpSpPr>
            <a:xfrm rot="1910531">
              <a:off x="10052475" y="3979477"/>
              <a:ext cx="1254934" cy="1427514"/>
              <a:chOff x="5672264" y="4404214"/>
              <a:chExt cx="1844715" cy="1993724"/>
            </a:xfrm>
          </p:grpSpPr>
          <p:grpSp>
            <p:nvGrpSpPr>
              <p:cNvPr id="66" name="Group 65"/>
              <p:cNvGrpSpPr/>
              <p:nvPr/>
            </p:nvGrpSpPr>
            <p:grpSpPr>
              <a:xfrm>
                <a:off x="5672264" y="4404214"/>
                <a:ext cx="1844715" cy="1993724"/>
                <a:chOff x="5938520" y="2432234"/>
                <a:chExt cx="1844715" cy="1993724"/>
              </a:xfrm>
            </p:grpSpPr>
            <p:sp>
              <p:nvSpPr>
                <p:cNvPr id="68" name="Oval 67"/>
                <p:cNvSpPr/>
                <p:nvPr/>
              </p:nvSpPr>
              <p:spPr>
                <a:xfrm>
                  <a:off x="5988247" y="3238108"/>
                  <a:ext cx="335280" cy="3556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Ink Free" panose="03080402000500000000" pitchFamily="66" charset="0"/>
                  </a:endParaRPr>
                </a:p>
              </p:txBody>
            </p:sp>
            <p:sp>
              <p:nvSpPr>
                <p:cNvPr id="69" name="Oval 68"/>
                <p:cNvSpPr/>
                <p:nvPr/>
              </p:nvSpPr>
              <p:spPr>
                <a:xfrm>
                  <a:off x="5938520" y="4070358"/>
                  <a:ext cx="335280" cy="3556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Ink Free" panose="03080402000500000000" pitchFamily="66" charset="0"/>
                  </a:endParaRPr>
                </a:p>
              </p:txBody>
            </p:sp>
            <p:sp>
              <p:nvSpPr>
                <p:cNvPr id="70" name="Oval 69"/>
                <p:cNvSpPr/>
                <p:nvPr/>
              </p:nvSpPr>
              <p:spPr>
                <a:xfrm>
                  <a:off x="7447955" y="3277879"/>
                  <a:ext cx="335280" cy="3556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Ink Free" panose="03080402000500000000" pitchFamily="66" charset="0"/>
                  </a:endParaRPr>
                </a:p>
              </p:txBody>
            </p:sp>
            <p:sp>
              <p:nvSpPr>
                <p:cNvPr id="71" name="Oval 70"/>
                <p:cNvSpPr/>
                <p:nvPr/>
              </p:nvSpPr>
              <p:spPr>
                <a:xfrm>
                  <a:off x="6349236" y="2432234"/>
                  <a:ext cx="335279" cy="3556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Ink Free" panose="03080402000500000000" pitchFamily="66" charset="0"/>
                  </a:endParaRPr>
                </a:p>
              </p:txBody>
            </p:sp>
            <p:cxnSp>
              <p:nvCxnSpPr>
                <p:cNvPr id="72" name="Straight Connector 71"/>
                <p:cNvCxnSpPr>
                  <a:stCxn id="68" idx="0"/>
                  <a:endCxn id="71" idx="4"/>
                </p:cNvCxnSpPr>
                <p:nvPr/>
              </p:nvCxnSpPr>
              <p:spPr>
                <a:xfrm rot="19689469" flipV="1">
                  <a:off x="6058036" y="2912192"/>
                  <a:ext cx="556691" cy="20155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 name="Straight Connector 72"/>
                <p:cNvCxnSpPr>
                  <a:stCxn id="68" idx="4"/>
                  <a:endCxn id="69" idx="0"/>
                </p:cNvCxnSpPr>
                <p:nvPr/>
              </p:nvCxnSpPr>
              <p:spPr>
                <a:xfrm flipH="1">
                  <a:off x="6106160" y="3593708"/>
                  <a:ext cx="49727" cy="47665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Straight Connector 73"/>
                <p:cNvCxnSpPr>
                  <a:stCxn id="68" idx="6"/>
                  <a:endCxn id="70" idx="2"/>
                </p:cNvCxnSpPr>
                <p:nvPr/>
              </p:nvCxnSpPr>
              <p:spPr>
                <a:xfrm>
                  <a:off x="6323527" y="3415908"/>
                  <a:ext cx="1124428" cy="3977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67" name="Straight Connector 66"/>
              <p:cNvCxnSpPr>
                <a:stCxn id="70" idx="3"/>
                <a:endCxn id="69" idx="6"/>
              </p:cNvCxnSpPr>
              <p:nvPr/>
            </p:nvCxnSpPr>
            <p:spPr>
              <a:xfrm flipH="1">
                <a:off x="6007544" y="5553383"/>
                <a:ext cx="1223256" cy="66675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2" name="Group 51"/>
            <p:cNvGrpSpPr/>
            <p:nvPr/>
          </p:nvGrpSpPr>
          <p:grpSpPr>
            <a:xfrm>
              <a:off x="9392117" y="4899146"/>
              <a:ext cx="289210" cy="232026"/>
              <a:chOff x="9392243" y="5155883"/>
              <a:chExt cx="714186" cy="664414"/>
            </a:xfrm>
          </p:grpSpPr>
          <p:sp>
            <p:nvSpPr>
              <p:cNvPr id="64" name="Rectangle 63"/>
              <p:cNvSpPr/>
              <p:nvPr/>
            </p:nvSpPr>
            <p:spPr>
              <a:xfrm>
                <a:off x="9392243" y="5494573"/>
                <a:ext cx="714186" cy="325724"/>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Rectangle 64"/>
              <p:cNvSpPr/>
              <p:nvPr/>
            </p:nvSpPr>
            <p:spPr>
              <a:xfrm>
                <a:off x="9392243" y="5155883"/>
                <a:ext cx="714186" cy="325724"/>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3" name="Group 52"/>
            <p:cNvGrpSpPr/>
            <p:nvPr/>
          </p:nvGrpSpPr>
          <p:grpSpPr>
            <a:xfrm>
              <a:off x="9789780" y="3957246"/>
              <a:ext cx="289210" cy="338690"/>
              <a:chOff x="9220199" y="5081066"/>
              <a:chExt cx="714186" cy="969849"/>
            </a:xfrm>
          </p:grpSpPr>
          <p:sp>
            <p:nvSpPr>
              <p:cNvPr id="61" name="Rectangle 60"/>
              <p:cNvSpPr/>
              <p:nvPr/>
            </p:nvSpPr>
            <p:spPr>
              <a:xfrm>
                <a:off x="9220200" y="5419756"/>
                <a:ext cx="714185" cy="325724"/>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p:cNvSpPr/>
              <p:nvPr/>
            </p:nvSpPr>
            <p:spPr>
              <a:xfrm>
                <a:off x="9220200" y="5725191"/>
                <a:ext cx="714185" cy="325724"/>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p:cNvSpPr/>
              <p:nvPr/>
            </p:nvSpPr>
            <p:spPr>
              <a:xfrm>
                <a:off x="9220199" y="5081066"/>
                <a:ext cx="714185" cy="325724"/>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4" name="Group 53"/>
            <p:cNvGrpSpPr/>
            <p:nvPr/>
          </p:nvGrpSpPr>
          <p:grpSpPr>
            <a:xfrm>
              <a:off x="11384500" y="4997462"/>
              <a:ext cx="289210" cy="338689"/>
              <a:chOff x="9220199" y="5081066"/>
              <a:chExt cx="714186" cy="969849"/>
            </a:xfrm>
          </p:grpSpPr>
          <p:sp>
            <p:nvSpPr>
              <p:cNvPr id="58" name="Rectangle 57"/>
              <p:cNvSpPr/>
              <p:nvPr/>
            </p:nvSpPr>
            <p:spPr>
              <a:xfrm>
                <a:off x="9220200" y="5419756"/>
                <a:ext cx="714185" cy="325724"/>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p:cNvSpPr/>
              <p:nvPr/>
            </p:nvSpPr>
            <p:spPr>
              <a:xfrm>
                <a:off x="9220200" y="5725191"/>
                <a:ext cx="714185" cy="325724"/>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59"/>
              <p:cNvSpPr/>
              <p:nvPr/>
            </p:nvSpPr>
            <p:spPr>
              <a:xfrm>
                <a:off x="9220199" y="5081066"/>
                <a:ext cx="714185" cy="325724"/>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5" name="Group 54"/>
            <p:cNvGrpSpPr/>
            <p:nvPr/>
          </p:nvGrpSpPr>
          <p:grpSpPr>
            <a:xfrm>
              <a:off x="11057605" y="3921304"/>
              <a:ext cx="289210" cy="232026"/>
              <a:chOff x="9220199" y="5081066"/>
              <a:chExt cx="714186" cy="664414"/>
            </a:xfrm>
          </p:grpSpPr>
          <p:sp>
            <p:nvSpPr>
              <p:cNvPr id="56" name="Rectangle 55"/>
              <p:cNvSpPr/>
              <p:nvPr/>
            </p:nvSpPr>
            <p:spPr>
              <a:xfrm>
                <a:off x="9220200" y="5419756"/>
                <a:ext cx="714185" cy="325724"/>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p:cNvSpPr/>
              <p:nvPr/>
            </p:nvSpPr>
            <p:spPr>
              <a:xfrm>
                <a:off x="9220199" y="5081066"/>
                <a:ext cx="714185" cy="325724"/>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7" name="TextBox 6"/>
          <p:cNvSpPr txBox="1"/>
          <p:nvPr/>
        </p:nvSpPr>
        <p:spPr>
          <a:xfrm flipH="1">
            <a:off x="8470954" y="2658561"/>
            <a:ext cx="301269" cy="369332"/>
          </a:xfrm>
          <a:prstGeom prst="rect">
            <a:avLst/>
          </a:prstGeom>
          <a:noFill/>
        </p:spPr>
        <p:txBody>
          <a:bodyPr wrap="square" rtlCol="0">
            <a:spAutoFit/>
          </a:bodyPr>
          <a:lstStyle/>
          <a:p>
            <a:r>
              <a:rPr lang="en-US" b="1" dirty="0"/>
              <a:t>c</a:t>
            </a:r>
          </a:p>
        </p:txBody>
      </p:sp>
      <p:sp>
        <p:nvSpPr>
          <p:cNvPr id="100" name="TextBox 99"/>
          <p:cNvSpPr txBox="1"/>
          <p:nvPr/>
        </p:nvSpPr>
        <p:spPr>
          <a:xfrm flipH="1">
            <a:off x="8127565" y="3168202"/>
            <a:ext cx="301269" cy="369332"/>
          </a:xfrm>
          <a:prstGeom prst="rect">
            <a:avLst/>
          </a:prstGeom>
          <a:noFill/>
        </p:spPr>
        <p:txBody>
          <a:bodyPr wrap="square" rtlCol="0">
            <a:spAutoFit/>
          </a:bodyPr>
          <a:lstStyle/>
          <a:p>
            <a:r>
              <a:rPr lang="en-US" b="1" dirty="0"/>
              <a:t>a</a:t>
            </a:r>
          </a:p>
        </p:txBody>
      </p:sp>
      <p:sp>
        <p:nvSpPr>
          <p:cNvPr id="101" name="TextBox 100"/>
          <p:cNvSpPr txBox="1"/>
          <p:nvPr/>
        </p:nvSpPr>
        <p:spPr>
          <a:xfrm flipH="1">
            <a:off x="9298827" y="3236092"/>
            <a:ext cx="301269" cy="369332"/>
          </a:xfrm>
          <a:prstGeom prst="rect">
            <a:avLst/>
          </a:prstGeom>
          <a:noFill/>
        </p:spPr>
        <p:txBody>
          <a:bodyPr wrap="square" rtlCol="0">
            <a:spAutoFit/>
          </a:bodyPr>
          <a:lstStyle/>
          <a:p>
            <a:r>
              <a:rPr lang="en-US" b="1" dirty="0"/>
              <a:t>b</a:t>
            </a:r>
          </a:p>
        </p:txBody>
      </p:sp>
      <p:sp>
        <p:nvSpPr>
          <p:cNvPr id="102" name="TextBox 101"/>
          <p:cNvSpPr txBox="1"/>
          <p:nvPr/>
        </p:nvSpPr>
        <p:spPr>
          <a:xfrm flipH="1">
            <a:off x="8978687" y="2322769"/>
            <a:ext cx="301269" cy="369332"/>
          </a:xfrm>
          <a:prstGeom prst="rect">
            <a:avLst/>
          </a:prstGeom>
          <a:noFill/>
        </p:spPr>
        <p:txBody>
          <a:bodyPr wrap="square" rtlCol="0">
            <a:spAutoFit/>
          </a:bodyPr>
          <a:lstStyle/>
          <a:p>
            <a:r>
              <a:rPr lang="en-US" b="1" dirty="0"/>
              <a:t>d</a:t>
            </a:r>
          </a:p>
        </p:txBody>
      </p:sp>
      <p:sp>
        <p:nvSpPr>
          <p:cNvPr id="8" name="Rounded Rectangle 7"/>
          <p:cNvSpPr/>
          <p:nvPr/>
        </p:nvSpPr>
        <p:spPr>
          <a:xfrm>
            <a:off x="7678868" y="4151064"/>
            <a:ext cx="2392344" cy="278923"/>
          </a:xfrm>
          <a:prstGeom prst="roundRect">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c</a:t>
            </a:r>
            <a:r>
              <a:rPr lang="en-US" dirty="0">
                <a:solidFill>
                  <a:sysClr val="windowText" lastClr="000000"/>
                </a:solidFill>
              </a:rPr>
              <a:t>, </a:t>
            </a:r>
            <a:r>
              <a:rPr lang="en-US" dirty="0">
                <a:solidFill>
                  <a:srgbClr val="00B0F0"/>
                </a:solidFill>
              </a:rPr>
              <a:t>a</a:t>
            </a:r>
            <a:r>
              <a:rPr lang="en-US" dirty="0">
                <a:solidFill>
                  <a:sysClr val="windowText" lastClr="000000"/>
                </a:solidFill>
              </a:rPr>
              <a:t>, </a:t>
            </a:r>
            <a:r>
              <a:rPr lang="en-US" dirty="0">
                <a:solidFill>
                  <a:srgbClr val="FFC000"/>
                </a:solidFill>
              </a:rPr>
              <a:t>b</a:t>
            </a:r>
            <a:r>
              <a:rPr lang="en-US" dirty="0">
                <a:solidFill>
                  <a:sysClr val="windowText" lastClr="000000"/>
                </a:solidFill>
              </a:rPr>
              <a:t>, d</a:t>
            </a:r>
          </a:p>
        </p:txBody>
      </p:sp>
      <p:grpSp>
        <p:nvGrpSpPr>
          <p:cNvPr id="105" name="Group 104"/>
          <p:cNvGrpSpPr/>
          <p:nvPr/>
        </p:nvGrpSpPr>
        <p:grpSpPr>
          <a:xfrm>
            <a:off x="7789619" y="4764507"/>
            <a:ext cx="2281593" cy="1485687"/>
            <a:chOff x="9392117" y="3921304"/>
            <a:chExt cx="2281593" cy="1485687"/>
          </a:xfrm>
        </p:grpSpPr>
        <p:grpSp>
          <p:nvGrpSpPr>
            <p:cNvPr id="106" name="Group 105"/>
            <p:cNvGrpSpPr/>
            <p:nvPr/>
          </p:nvGrpSpPr>
          <p:grpSpPr>
            <a:xfrm rot="1910531">
              <a:off x="10052475" y="3979477"/>
              <a:ext cx="1254934" cy="1427514"/>
              <a:chOff x="5672264" y="4404214"/>
              <a:chExt cx="1844715" cy="1993724"/>
            </a:xfrm>
          </p:grpSpPr>
          <p:grpSp>
            <p:nvGrpSpPr>
              <p:cNvPr id="121" name="Group 120"/>
              <p:cNvGrpSpPr/>
              <p:nvPr/>
            </p:nvGrpSpPr>
            <p:grpSpPr>
              <a:xfrm>
                <a:off x="5672264" y="4404214"/>
                <a:ext cx="1844715" cy="1993724"/>
                <a:chOff x="5938520" y="2432234"/>
                <a:chExt cx="1844715" cy="1993724"/>
              </a:xfrm>
            </p:grpSpPr>
            <p:sp>
              <p:nvSpPr>
                <p:cNvPr id="123" name="Oval 122"/>
                <p:cNvSpPr/>
                <p:nvPr/>
              </p:nvSpPr>
              <p:spPr>
                <a:xfrm>
                  <a:off x="5988247" y="3238108"/>
                  <a:ext cx="335280" cy="35560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Ink Free" panose="03080402000500000000" pitchFamily="66" charset="0"/>
                  </a:endParaRPr>
                </a:p>
              </p:txBody>
            </p:sp>
            <p:sp>
              <p:nvSpPr>
                <p:cNvPr id="124" name="Oval 123"/>
                <p:cNvSpPr/>
                <p:nvPr/>
              </p:nvSpPr>
              <p:spPr>
                <a:xfrm>
                  <a:off x="5938520" y="4070358"/>
                  <a:ext cx="335280" cy="355600"/>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Ink Free" panose="03080402000500000000" pitchFamily="66" charset="0"/>
                  </a:endParaRPr>
                </a:p>
              </p:txBody>
            </p:sp>
            <p:sp>
              <p:nvSpPr>
                <p:cNvPr id="125" name="Oval 124"/>
                <p:cNvSpPr/>
                <p:nvPr/>
              </p:nvSpPr>
              <p:spPr>
                <a:xfrm>
                  <a:off x="7447955" y="3277879"/>
                  <a:ext cx="335280" cy="3556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Ink Free" panose="03080402000500000000" pitchFamily="66" charset="0"/>
                  </a:endParaRPr>
                </a:p>
              </p:txBody>
            </p:sp>
            <p:sp>
              <p:nvSpPr>
                <p:cNvPr id="126" name="Oval 125"/>
                <p:cNvSpPr/>
                <p:nvPr/>
              </p:nvSpPr>
              <p:spPr>
                <a:xfrm>
                  <a:off x="6349236" y="2432234"/>
                  <a:ext cx="335279" cy="3556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Ink Free" panose="03080402000500000000" pitchFamily="66" charset="0"/>
                  </a:endParaRPr>
                </a:p>
              </p:txBody>
            </p:sp>
            <p:cxnSp>
              <p:nvCxnSpPr>
                <p:cNvPr id="127" name="Straight Connector 126"/>
                <p:cNvCxnSpPr>
                  <a:stCxn id="123" idx="0"/>
                  <a:endCxn id="126" idx="4"/>
                </p:cNvCxnSpPr>
                <p:nvPr/>
              </p:nvCxnSpPr>
              <p:spPr>
                <a:xfrm rot="19689469" flipV="1">
                  <a:off x="6058036" y="2912192"/>
                  <a:ext cx="556691" cy="20155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8" name="Straight Connector 127"/>
                <p:cNvCxnSpPr>
                  <a:stCxn id="123" idx="4"/>
                  <a:endCxn id="124" idx="0"/>
                </p:cNvCxnSpPr>
                <p:nvPr/>
              </p:nvCxnSpPr>
              <p:spPr>
                <a:xfrm flipH="1">
                  <a:off x="6106160" y="3593708"/>
                  <a:ext cx="49727" cy="47665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9" name="Straight Connector 128"/>
                <p:cNvCxnSpPr>
                  <a:stCxn id="123" idx="6"/>
                  <a:endCxn id="125" idx="2"/>
                </p:cNvCxnSpPr>
                <p:nvPr/>
              </p:nvCxnSpPr>
              <p:spPr>
                <a:xfrm>
                  <a:off x="6323527" y="3415908"/>
                  <a:ext cx="1124428" cy="3977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22" name="Straight Connector 121"/>
              <p:cNvCxnSpPr>
                <a:stCxn id="125" idx="3"/>
                <a:endCxn id="124" idx="6"/>
              </p:cNvCxnSpPr>
              <p:nvPr/>
            </p:nvCxnSpPr>
            <p:spPr>
              <a:xfrm flipH="1">
                <a:off x="6007544" y="5553383"/>
                <a:ext cx="1223256" cy="66675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7" name="Group 106"/>
            <p:cNvGrpSpPr/>
            <p:nvPr/>
          </p:nvGrpSpPr>
          <p:grpSpPr>
            <a:xfrm>
              <a:off x="9392117" y="4899146"/>
              <a:ext cx="289210" cy="232026"/>
              <a:chOff x="9392243" y="5155883"/>
              <a:chExt cx="714186" cy="664414"/>
            </a:xfrm>
          </p:grpSpPr>
          <p:sp>
            <p:nvSpPr>
              <p:cNvPr id="119" name="Rectangle 118"/>
              <p:cNvSpPr/>
              <p:nvPr/>
            </p:nvSpPr>
            <p:spPr>
              <a:xfrm>
                <a:off x="9392243" y="5494573"/>
                <a:ext cx="714186" cy="325724"/>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Rectangle 119"/>
              <p:cNvSpPr/>
              <p:nvPr/>
            </p:nvSpPr>
            <p:spPr>
              <a:xfrm>
                <a:off x="9392243" y="5155883"/>
                <a:ext cx="714186" cy="325724"/>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8" name="Group 107"/>
            <p:cNvGrpSpPr/>
            <p:nvPr/>
          </p:nvGrpSpPr>
          <p:grpSpPr>
            <a:xfrm>
              <a:off x="9789780" y="3957246"/>
              <a:ext cx="289210" cy="338690"/>
              <a:chOff x="9220199" y="5081066"/>
              <a:chExt cx="714186" cy="969849"/>
            </a:xfrm>
          </p:grpSpPr>
          <p:sp>
            <p:nvSpPr>
              <p:cNvPr id="116" name="Rectangle 115"/>
              <p:cNvSpPr/>
              <p:nvPr/>
            </p:nvSpPr>
            <p:spPr>
              <a:xfrm>
                <a:off x="9220200" y="5419756"/>
                <a:ext cx="714185" cy="325724"/>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Rectangle 116"/>
              <p:cNvSpPr/>
              <p:nvPr/>
            </p:nvSpPr>
            <p:spPr>
              <a:xfrm>
                <a:off x="9220200" y="5725191"/>
                <a:ext cx="714185" cy="325724"/>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Rectangle 117"/>
              <p:cNvSpPr/>
              <p:nvPr/>
            </p:nvSpPr>
            <p:spPr>
              <a:xfrm>
                <a:off x="9220199" y="5081066"/>
                <a:ext cx="714185" cy="325724"/>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9" name="Group 108"/>
            <p:cNvGrpSpPr/>
            <p:nvPr/>
          </p:nvGrpSpPr>
          <p:grpSpPr>
            <a:xfrm>
              <a:off x="11384500" y="4997462"/>
              <a:ext cx="289210" cy="338689"/>
              <a:chOff x="9220199" y="5081066"/>
              <a:chExt cx="714186" cy="969849"/>
            </a:xfrm>
          </p:grpSpPr>
          <p:sp>
            <p:nvSpPr>
              <p:cNvPr id="113" name="Rectangle 112"/>
              <p:cNvSpPr/>
              <p:nvPr/>
            </p:nvSpPr>
            <p:spPr>
              <a:xfrm>
                <a:off x="9220200" y="5419756"/>
                <a:ext cx="714185" cy="325724"/>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Rectangle 113"/>
              <p:cNvSpPr/>
              <p:nvPr/>
            </p:nvSpPr>
            <p:spPr>
              <a:xfrm>
                <a:off x="9220200" y="5725191"/>
                <a:ext cx="714185" cy="325724"/>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Rectangle 114"/>
              <p:cNvSpPr/>
              <p:nvPr/>
            </p:nvSpPr>
            <p:spPr>
              <a:xfrm>
                <a:off x="9220199" y="5081066"/>
                <a:ext cx="714185" cy="325724"/>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0" name="Group 109"/>
            <p:cNvGrpSpPr/>
            <p:nvPr/>
          </p:nvGrpSpPr>
          <p:grpSpPr>
            <a:xfrm>
              <a:off x="11057605" y="3921304"/>
              <a:ext cx="289210" cy="232026"/>
              <a:chOff x="9220199" y="5081066"/>
              <a:chExt cx="714186" cy="664414"/>
            </a:xfrm>
          </p:grpSpPr>
          <p:sp>
            <p:nvSpPr>
              <p:cNvPr id="111" name="Rectangle 110"/>
              <p:cNvSpPr/>
              <p:nvPr/>
            </p:nvSpPr>
            <p:spPr>
              <a:xfrm>
                <a:off x="9220200" y="5419756"/>
                <a:ext cx="714185" cy="325724"/>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Rectangle 111"/>
              <p:cNvSpPr/>
              <p:nvPr/>
            </p:nvSpPr>
            <p:spPr>
              <a:xfrm>
                <a:off x="9220199" y="5081066"/>
                <a:ext cx="714185" cy="325724"/>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Tree>
    <p:extLst>
      <p:ext uri="{BB962C8B-B14F-4D97-AF65-F5344CB8AC3E}">
        <p14:creationId xmlns:p14="http://schemas.microsoft.com/office/powerpoint/2010/main" val="357119297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2A5FB9-8092-6AC4-0B88-415B5224C3DC}"/>
              </a:ext>
            </a:extLst>
          </p:cNvPr>
          <p:cNvSpPr>
            <a:spLocks noGrp="1"/>
          </p:cNvSpPr>
          <p:nvPr>
            <p:ph type="title"/>
          </p:nvPr>
        </p:nvSpPr>
        <p:spPr/>
        <p:txBody>
          <a:bodyPr>
            <a:normAutofit/>
          </a:bodyPr>
          <a:lstStyle/>
          <a:p>
            <a:r>
              <a:rPr lang="en-US" dirty="0"/>
              <a:t>Greedy Algorithm</a:t>
            </a:r>
            <a:endParaRPr lang="en-US" dirty="0">
              <a:latin typeface="Ink Free" panose="03080402000500000000" pitchFamily="66" charset="0"/>
            </a:endParaRPr>
          </a:p>
        </p:txBody>
      </p:sp>
      <p:sp>
        <p:nvSpPr>
          <p:cNvPr id="3" name="Slide Number Placeholder 2">
            <a:extLst>
              <a:ext uri="{FF2B5EF4-FFF2-40B4-BE49-F238E27FC236}">
                <a16:creationId xmlns:a16="http://schemas.microsoft.com/office/drawing/2014/main" id="{C0F9A39B-AFAD-1EAB-F5BF-D06584F6372A}"/>
              </a:ext>
            </a:extLst>
          </p:cNvPr>
          <p:cNvSpPr>
            <a:spLocks noGrp="1"/>
          </p:cNvSpPr>
          <p:nvPr>
            <p:ph type="sldNum" sz="quarter" idx="12"/>
          </p:nvPr>
        </p:nvSpPr>
        <p:spPr/>
        <p:txBody>
          <a:bodyPr/>
          <a:lstStyle/>
          <a:p>
            <a:fld id="{CBD12358-51D2-46B3-9BDE-DF29528B9454}" type="slidenum">
              <a:rPr lang="en-US" smtClean="0"/>
              <a:t>37</a:t>
            </a:fld>
            <a:endParaRPr lang="en-US" dirty="0"/>
          </a:p>
        </p:txBody>
      </p:sp>
      <p:sp>
        <p:nvSpPr>
          <p:cNvPr id="6" name="Rectangle 5"/>
          <p:cNvSpPr/>
          <p:nvPr/>
        </p:nvSpPr>
        <p:spPr>
          <a:xfrm>
            <a:off x="777240" y="2180864"/>
            <a:ext cx="6096000" cy="1754326"/>
          </a:xfrm>
          <a:prstGeom prst="rect">
            <a:avLst/>
          </a:prstGeom>
        </p:spPr>
        <p:txBody>
          <a:bodyPr>
            <a:spAutoFit/>
          </a:bodyPr>
          <a:lstStyle/>
          <a:p>
            <a:pPr>
              <a:buClr>
                <a:schemeClr val="accent3">
                  <a:lumMod val="75000"/>
                </a:schemeClr>
              </a:buClr>
            </a:pPr>
            <a:r>
              <a:rPr lang="en-US" dirty="0"/>
              <a:t>Key idea-</a:t>
            </a:r>
          </a:p>
          <a:p>
            <a:pPr marL="285750" indent="-285750">
              <a:buClr>
                <a:schemeClr val="accent3">
                  <a:lumMod val="75000"/>
                </a:schemeClr>
              </a:buClr>
              <a:buFont typeface="Arial" panose="020B0604020202020204" pitchFamily="34" charset="0"/>
              <a:buChar char="•"/>
            </a:pPr>
            <a:r>
              <a:rPr lang="en-US" dirty="0"/>
              <a:t>Order the vertices (e.g., using a heuristic )</a:t>
            </a:r>
          </a:p>
          <a:p>
            <a:pPr marL="285750" indent="-285750">
              <a:buClr>
                <a:schemeClr val="accent3">
                  <a:lumMod val="75000"/>
                </a:schemeClr>
              </a:buClr>
              <a:buFont typeface="Arial" panose="020B0604020202020204" pitchFamily="34" charset="0"/>
              <a:buChar char="•"/>
            </a:pPr>
            <a:r>
              <a:rPr lang="en-US" dirty="0"/>
              <a:t>For each vertex, select the smallest color from its list that does not conflict with the colors assigned to adjacent vertices.</a:t>
            </a:r>
          </a:p>
          <a:p>
            <a:pPr marL="285750" indent="-285750">
              <a:buClr>
                <a:schemeClr val="accent3">
                  <a:lumMod val="75000"/>
                </a:schemeClr>
              </a:buClr>
              <a:buFont typeface="Arial" panose="020B0604020202020204" pitchFamily="34" charset="0"/>
              <a:buChar char="•"/>
            </a:pPr>
            <a:r>
              <a:rPr lang="en-US" dirty="0"/>
              <a:t>Proceed until all vertices are colored.</a:t>
            </a:r>
          </a:p>
        </p:txBody>
      </p:sp>
      <p:sp>
        <p:nvSpPr>
          <p:cNvPr id="48" name="Rounded Rectangle 47"/>
          <p:cNvSpPr/>
          <p:nvPr/>
        </p:nvSpPr>
        <p:spPr>
          <a:xfrm>
            <a:off x="777240" y="4075611"/>
            <a:ext cx="4770120" cy="2109651"/>
          </a:xfrm>
          <a:prstGeom prst="roundRect">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Clr>
                <a:schemeClr val="accent3">
                  <a:lumMod val="75000"/>
                </a:schemeClr>
              </a:buClr>
            </a:pPr>
            <a:r>
              <a:rPr lang="en-US" b="1" dirty="0">
                <a:solidFill>
                  <a:schemeClr val="tx1"/>
                </a:solidFill>
              </a:rPr>
              <a:t>Common Heuristics:</a:t>
            </a:r>
          </a:p>
          <a:p>
            <a:pPr marL="285750" indent="-285750">
              <a:buClr>
                <a:schemeClr val="accent3">
                  <a:lumMod val="75000"/>
                </a:schemeClr>
              </a:buClr>
              <a:buFont typeface="Arial" panose="020B0604020202020204" pitchFamily="34" charset="0"/>
              <a:buChar char="•"/>
            </a:pPr>
            <a:r>
              <a:rPr lang="en-US" dirty="0">
                <a:solidFill>
                  <a:schemeClr val="tx1"/>
                </a:solidFill>
              </a:rPr>
              <a:t>Largest Degree First</a:t>
            </a:r>
          </a:p>
          <a:p>
            <a:pPr marL="285750" indent="-285750">
              <a:buClr>
                <a:schemeClr val="accent3">
                  <a:lumMod val="75000"/>
                </a:schemeClr>
              </a:buClr>
              <a:buFont typeface="Arial" panose="020B0604020202020204" pitchFamily="34" charset="0"/>
              <a:buChar char="•"/>
            </a:pPr>
            <a:r>
              <a:rPr lang="en-US" dirty="0">
                <a:solidFill>
                  <a:schemeClr val="tx1"/>
                </a:solidFill>
              </a:rPr>
              <a:t>Smallest List First</a:t>
            </a:r>
          </a:p>
          <a:p>
            <a:pPr marL="285750" indent="-285750">
              <a:buClr>
                <a:schemeClr val="accent3">
                  <a:lumMod val="75000"/>
                </a:schemeClr>
              </a:buClr>
              <a:buFont typeface="Arial" panose="020B0604020202020204" pitchFamily="34" charset="0"/>
              <a:buChar char="•"/>
            </a:pPr>
            <a:r>
              <a:rPr lang="en-US" dirty="0">
                <a:solidFill>
                  <a:schemeClr val="tx1"/>
                </a:solidFill>
              </a:rPr>
              <a:t>Saturation Degree Heuristic (DSatur)</a:t>
            </a:r>
          </a:p>
          <a:p>
            <a:pPr marL="742950" lvl="1" indent="-285750">
              <a:buClr>
                <a:schemeClr val="accent3">
                  <a:lumMod val="75000"/>
                </a:schemeClr>
              </a:buClr>
              <a:buFont typeface="Arial" panose="020B0604020202020204" pitchFamily="34" charset="0"/>
              <a:buChar char="•"/>
            </a:pPr>
            <a:r>
              <a:rPr lang="en-US" dirty="0">
                <a:solidFill>
                  <a:schemeClr val="tx1"/>
                </a:solidFill>
              </a:rPr>
              <a:t>Saturation degree is the number of different colors in its neighborhood.</a:t>
            </a:r>
            <a:endParaRPr lang="en-US" dirty="0">
              <a:solidFill>
                <a:schemeClr val="tx1"/>
              </a:solidFill>
              <a:latin typeface="Ink Free" panose="03080402000500000000" pitchFamily="66" charset="0"/>
            </a:endParaRPr>
          </a:p>
          <a:p>
            <a:pPr marL="742950" lvl="1" indent="-285750">
              <a:buClr>
                <a:schemeClr val="accent3">
                  <a:lumMod val="75000"/>
                </a:schemeClr>
              </a:buClr>
              <a:buFont typeface="Arial" panose="020B0604020202020204" pitchFamily="34" charset="0"/>
              <a:buChar char="•"/>
            </a:pPr>
            <a:endParaRPr lang="en-US" dirty="0">
              <a:solidFill>
                <a:schemeClr val="tx1"/>
              </a:solidFill>
              <a:latin typeface="Ink Free" panose="03080402000500000000" pitchFamily="66" charset="0"/>
            </a:endParaRPr>
          </a:p>
        </p:txBody>
      </p:sp>
      <p:grpSp>
        <p:nvGrpSpPr>
          <p:cNvPr id="50" name="Group 49"/>
          <p:cNvGrpSpPr/>
          <p:nvPr/>
        </p:nvGrpSpPr>
        <p:grpSpPr>
          <a:xfrm>
            <a:off x="7733134" y="2376988"/>
            <a:ext cx="2281593" cy="1485687"/>
            <a:chOff x="9392117" y="3921304"/>
            <a:chExt cx="2281593" cy="1485687"/>
          </a:xfrm>
        </p:grpSpPr>
        <p:grpSp>
          <p:nvGrpSpPr>
            <p:cNvPr id="51" name="Group 50"/>
            <p:cNvGrpSpPr/>
            <p:nvPr/>
          </p:nvGrpSpPr>
          <p:grpSpPr>
            <a:xfrm rot="1910531">
              <a:off x="10052475" y="3979477"/>
              <a:ext cx="1254934" cy="1427514"/>
              <a:chOff x="5672264" y="4404214"/>
              <a:chExt cx="1844715" cy="1993724"/>
            </a:xfrm>
          </p:grpSpPr>
          <p:grpSp>
            <p:nvGrpSpPr>
              <p:cNvPr id="66" name="Group 65"/>
              <p:cNvGrpSpPr/>
              <p:nvPr/>
            </p:nvGrpSpPr>
            <p:grpSpPr>
              <a:xfrm>
                <a:off x="5672264" y="4404214"/>
                <a:ext cx="1844715" cy="1993724"/>
                <a:chOff x="5938520" y="2432234"/>
                <a:chExt cx="1844715" cy="1993724"/>
              </a:xfrm>
            </p:grpSpPr>
            <p:sp>
              <p:nvSpPr>
                <p:cNvPr id="68" name="Oval 67"/>
                <p:cNvSpPr/>
                <p:nvPr/>
              </p:nvSpPr>
              <p:spPr>
                <a:xfrm>
                  <a:off x="5988247" y="3238108"/>
                  <a:ext cx="335280" cy="3556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Ink Free" panose="03080402000500000000" pitchFamily="66" charset="0"/>
                  </a:endParaRPr>
                </a:p>
              </p:txBody>
            </p:sp>
            <p:sp>
              <p:nvSpPr>
                <p:cNvPr id="69" name="Oval 68"/>
                <p:cNvSpPr/>
                <p:nvPr/>
              </p:nvSpPr>
              <p:spPr>
                <a:xfrm>
                  <a:off x="5938520" y="4070358"/>
                  <a:ext cx="335280" cy="3556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Ink Free" panose="03080402000500000000" pitchFamily="66" charset="0"/>
                  </a:endParaRPr>
                </a:p>
              </p:txBody>
            </p:sp>
            <p:sp>
              <p:nvSpPr>
                <p:cNvPr id="70" name="Oval 69"/>
                <p:cNvSpPr/>
                <p:nvPr/>
              </p:nvSpPr>
              <p:spPr>
                <a:xfrm>
                  <a:off x="7447955" y="3277879"/>
                  <a:ext cx="335280" cy="3556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Ink Free" panose="03080402000500000000" pitchFamily="66" charset="0"/>
                  </a:endParaRPr>
                </a:p>
              </p:txBody>
            </p:sp>
            <p:sp>
              <p:nvSpPr>
                <p:cNvPr id="71" name="Oval 70"/>
                <p:cNvSpPr/>
                <p:nvPr/>
              </p:nvSpPr>
              <p:spPr>
                <a:xfrm>
                  <a:off x="6349236" y="2432234"/>
                  <a:ext cx="335279" cy="3556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Ink Free" panose="03080402000500000000" pitchFamily="66" charset="0"/>
                  </a:endParaRPr>
                </a:p>
              </p:txBody>
            </p:sp>
            <p:cxnSp>
              <p:nvCxnSpPr>
                <p:cNvPr id="72" name="Straight Connector 71"/>
                <p:cNvCxnSpPr>
                  <a:stCxn id="68" idx="0"/>
                  <a:endCxn id="71" idx="4"/>
                </p:cNvCxnSpPr>
                <p:nvPr/>
              </p:nvCxnSpPr>
              <p:spPr>
                <a:xfrm rot="19689469" flipV="1">
                  <a:off x="6058036" y="2912192"/>
                  <a:ext cx="556691" cy="20155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 name="Straight Connector 72"/>
                <p:cNvCxnSpPr>
                  <a:stCxn id="68" idx="4"/>
                  <a:endCxn id="69" idx="0"/>
                </p:cNvCxnSpPr>
                <p:nvPr/>
              </p:nvCxnSpPr>
              <p:spPr>
                <a:xfrm flipH="1">
                  <a:off x="6106160" y="3593708"/>
                  <a:ext cx="49727" cy="47665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Straight Connector 73"/>
                <p:cNvCxnSpPr>
                  <a:stCxn id="68" idx="6"/>
                  <a:endCxn id="70" idx="2"/>
                </p:cNvCxnSpPr>
                <p:nvPr/>
              </p:nvCxnSpPr>
              <p:spPr>
                <a:xfrm>
                  <a:off x="6323527" y="3415908"/>
                  <a:ext cx="1124428" cy="3977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67" name="Straight Connector 66"/>
              <p:cNvCxnSpPr>
                <a:stCxn id="70" idx="3"/>
                <a:endCxn id="69" idx="6"/>
              </p:cNvCxnSpPr>
              <p:nvPr/>
            </p:nvCxnSpPr>
            <p:spPr>
              <a:xfrm flipH="1">
                <a:off x="6007544" y="5553383"/>
                <a:ext cx="1223256" cy="66675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2" name="Group 51"/>
            <p:cNvGrpSpPr/>
            <p:nvPr/>
          </p:nvGrpSpPr>
          <p:grpSpPr>
            <a:xfrm>
              <a:off x="9392117" y="4899146"/>
              <a:ext cx="289210" cy="232026"/>
              <a:chOff x="9392243" y="5155883"/>
              <a:chExt cx="714186" cy="664414"/>
            </a:xfrm>
          </p:grpSpPr>
          <p:sp>
            <p:nvSpPr>
              <p:cNvPr id="64" name="Rectangle 63"/>
              <p:cNvSpPr/>
              <p:nvPr/>
            </p:nvSpPr>
            <p:spPr>
              <a:xfrm>
                <a:off x="9392243" y="5494573"/>
                <a:ext cx="714186" cy="325724"/>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Rectangle 64"/>
              <p:cNvSpPr/>
              <p:nvPr/>
            </p:nvSpPr>
            <p:spPr>
              <a:xfrm>
                <a:off x="9392243" y="5155883"/>
                <a:ext cx="714186" cy="325724"/>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3" name="Group 52"/>
            <p:cNvGrpSpPr/>
            <p:nvPr/>
          </p:nvGrpSpPr>
          <p:grpSpPr>
            <a:xfrm>
              <a:off x="9789780" y="3957246"/>
              <a:ext cx="289210" cy="338690"/>
              <a:chOff x="9220199" y="5081066"/>
              <a:chExt cx="714186" cy="969849"/>
            </a:xfrm>
          </p:grpSpPr>
          <p:sp>
            <p:nvSpPr>
              <p:cNvPr id="61" name="Rectangle 60"/>
              <p:cNvSpPr/>
              <p:nvPr/>
            </p:nvSpPr>
            <p:spPr>
              <a:xfrm>
                <a:off x="9220200" y="5419756"/>
                <a:ext cx="714185" cy="325724"/>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p:cNvSpPr/>
              <p:nvPr/>
            </p:nvSpPr>
            <p:spPr>
              <a:xfrm>
                <a:off x="9220200" y="5725191"/>
                <a:ext cx="714185" cy="325724"/>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p:cNvSpPr/>
              <p:nvPr/>
            </p:nvSpPr>
            <p:spPr>
              <a:xfrm>
                <a:off x="9220199" y="5081066"/>
                <a:ext cx="714185" cy="325724"/>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4" name="Group 53"/>
            <p:cNvGrpSpPr/>
            <p:nvPr/>
          </p:nvGrpSpPr>
          <p:grpSpPr>
            <a:xfrm>
              <a:off x="11384500" y="4997462"/>
              <a:ext cx="289210" cy="338689"/>
              <a:chOff x="9220199" y="5081066"/>
              <a:chExt cx="714186" cy="969849"/>
            </a:xfrm>
          </p:grpSpPr>
          <p:sp>
            <p:nvSpPr>
              <p:cNvPr id="58" name="Rectangle 57"/>
              <p:cNvSpPr/>
              <p:nvPr/>
            </p:nvSpPr>
            <p:spPr>
              <a:xfrm>
                <a:off x="9220200" y="5419756"/>
                <a:ext cx="714185" cy="325724"/>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p:cNvSpPr/>
              <p:nvPr/>
            </p:nvSpPr>
            <p:spPr>
              <a:xfrm>
                <a:off x="9220200" y="5725191"/>
                <a:ext cx="714185" cy="325724"/>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59"/>
              <p:cNvSpPr/>
              <p:nvPr/>
            </p:nvSpPr>
            <p:spPr>
              <a:xfrm>
                <a:off x="9220199" y="5081066"/>
                <a:ext cx="714185" cy="325724"/>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5" name="Group 54"/>
            <p:cNvGrpSpPr/>
            <p:nvPr/>
          </p:nvGrpSpPr>
          <p:grpSpPr>
            <a:xfrm>
              <a:off x="11057605" y="3921304"/>
              <a:ext cx="289210" cy="232026"/>
              <a:chOff x="9220199" y="5081066"/>
              <a:chExt cx="714186" cy="664414"/>
            </a:xfrm>
          </p:grpSpPr>
          <p:sp>
            <p:nvSpPr>
              <p:cNvPr id="56" name="Rectangle 55"/>
              <p:cNvSpPr/>
              <p:nvPr/>
            </p:nvSpPr>
            <p:spPr>
              <a:xfrm>
                <a:off x="9220200" y="5419756"/>
                <a:ext cx="714185" cy="325724"/>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p:cNvSpPr/>
              <p:nvPr/>
            </p:nvSpPr>
            <p:spPr>
              <a:xfrm>
                <a:off x="9220199" y="5081066"/>
                <a:ext cx="714185" cy="325724"/>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7" name="TextBox 6"/>
          <p:cNvSpPr txBox="1"/>
          <p:nvPr/>
        </p:nvSpPr>
        <p:spPr>
          <a:xfrm flipH="1">
            <a:off x="8470954" y="2658561"/>
            <a:ext cx="301269" cy="369332"/>
          </a:xfrm>
          <a:prstGeom prst="rect">
            <a:avLst/>
          </a:prstGeom>
          <a:noFill/>
        </p:spPr>
        <p:txBody>
          <a:bodyPr wrap="square" rtlCol="0">
            <a:spAutoFit/>
          </a:bodyPr>
          <a:lstStyle/>
          <a:p>
            <a:r>
              <a:rPr lang="en-US" b="1" dirty="0"/>
              <a:t>c</a:t>
            </a:r>
          </a:p>
        </p:txBody>
      </p:sp>
      <p:sp>
        <p:nvSpPr>
          <p:cNvPr id="100" name="TextBox 99"/>
          <p:cNvSpPr txBox="1"/>
          <p:nvPr/>
        </p:nvSpPr>
        <p:spPr>
          <a:xfrm flipH="1">
            <a:off x="8127565" y="3168202"/>
            <a:ext cx="301269" cy="369332"/>
          </a:xfrm>
          <a:prstGeom prst="rect">
            <a:avLst/>
          </a:prstGeom>
          <a:noFill/>
        </p:spPr>
        <p:txBody>
          <a:bodyPr wrap="square" rtlCol="0">
            <a:spAutoFit/>
          </a:bodyPr>
          <a:lstStyle/>
          <a:p>
            <a:r>
              <a:rPr lang="en-US" b="1" dirty="0"/>
              <a:t>a</a:t>
            </a:r>
          </a:p>
        </p:txBody>
      </p:sp>
      <p:sp>
        <p:nvSpPr>
          <p:cNvPr id="101" name="TextBox 100"/>
          <p:cNvSpPr txBox="1"/>
          <p:nvPr/>
        </p:nvSpPr>
        <p:spPr>
          <a:xfrm flipH="1">
            <a:off x="9298827" y="3236092"/>
            <a:ext cx="301269" cy="369332"/>
          </a:xfrm>
          <a:prstGeom prst="rect">
            <a:avLst/>
          </a:prstGeom>
          <a:noFill/>
        </p:spPr>
        <p:txBody>
          <a:bodyPr wrap="square" rtlCol="0">
            <a:spAutoFit/>
          </a:bodyPr>
          <a:lstStyle/>
          <a:p>
            <a:r>
              <a:rPr lang="en-US" b="1" dirty="0"/>
              <a:t>b</a:t>
            </a:r>
          </a:p>
        </p:txBody>
      </p:sp>
      <p:sp>
        <p:nvSpPr>
          <p:cNvPr id="102" name="TextBox 101"/>
          <p:cNvSpPr txBox="1"/>
          <p:nvPr/>
        </p:nvSpPr>
        <p:spPr>
          <a:xfrm flipH="1">
            <a:off x="8978687" y="2322769"/>
            <a:ext cx="301269" cy="369332"/>
          </a:xfrm>
          <a:prstGeom prst="rect">
            <a:avLst/>
          </a:prstGeom>
          <a:noFill/>
        </p:spPr>
        <p:txBody>
          <a:bodyPr wrap="square" rtlCol="0">
            <a:spAutoFit/>
          </a:bodyPr>
          <a:lstStyle/>
          <a:p>
            <a:r>
              <a:rPr lang="en-US" b="1" dirty="0"/>
              <a:t>d</a:t>
            </a:r>
          </a:p>
        </p:txBody>
      </p:sp>
      <p:sp>
        <p:nvSpPr>
          <p:cNvPr id="8" name="Rounded Rectangle 7"/>
          <p:cNvSpPr/>
          <p:nvPr/>
        </p:nvSpPr>
        <p:spPr>
          <a:xfrm>
            <a:off x="7678868" y="4151064"/>
            <a:ext cx="2392344" cy="278923"/>
          </a:xfrm>
          <a:prstGeom prst="roundRect">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rPr>
              <a:t>c</a:t>
            </a:r>
            <a:r>
              <a:rPr lang="en-US" dirty="0">
                <a:solidFill>
                  <a:sysClr val="windowText" lastClr="000000"/>
                </a:solidFill>
              </a:rPr>
              <a:t>, </a:t>
            </a:r>
            <a:r>
              <a:rPr lang="en-US" dirty="0">
                <a:solidFill>
                  <a:srgbClr val="00B0F0"/>
                </a:solidFill>
              </a:rPr>
              <a:t>a</a:t>
            </a:r>
            <a:r>
              <a:rPr lang="en-US" dirty="0">
                <a:solidFill>
                  <a:sysClr val="windowText" lastClr="000000"/>
                </a:solidFill>
              </a:rPr>
              <a:t>, </a:t>
            </a:r>
            <a:r>
              <a:rPr lang="en-US" dirty="0">
                <a:solidFill>
                  <a:srgbClr val="FFC000"/>
                </a:solidFill>
              </a:rPr>
              <a:t>b</a:t>
            </a:r>
            <a:r>
              <a:rPr lang="en-US" dirty="0">
                <a:solidFill>
                  <a:sysClr val="windowText" lastClr="000000"/>
                </a:solidFill>
              </a:rPr>
              <a:t>, </a:t>
            </a:r>
            <a:r>
              <a:rPr lang="en-US" dirty="0">
                <a:solidFill>
                  <a:srgbClr val="FFC000"/>
                </a:solidFill>
              </a:rPr>
              <a:t>d</a:t>
            </a:r>
          </a:p>
        </p:txBody>
      </p:sp>
      <p:grpSp>
        <p:nvGrpSpPr>
          <p:cNvPr id="105" name="Group 104"/>
          <p:cNvGrpSpPr/>
          <p:nvPr/>
        </p:nvGrpSpPr>
        <p:grpSpPr>
          <a:xfrm>
            <a:off x="7789619" y="4764507"/>
            <a:ext cx="2281593" cy="1485687"/>
            <a:chOff x="9392117" y="3921304"/>
            <a:chExt cx="2281593" cy="1485687"/>
          </a:xfrm>
        </p:grpSpPr>
        <p:grpSp>
          <p:nvGrpSpPr>
            <p:cNvPr id="106" name="Group 105"/>
            <p:cNvGrpSpPr/>
            <p:nvPr/>
          </p:nvGrpSpPr>
          <p:grpSpPr>
            <a:xfrm rot="1910531">
              <a:off x="10052475" y="3979477"/>
              <a:ext cx="1254934" cy="1427514"/>
              <a:chOff x="5672264" y="4404214"/>
              <a:chExt cx="1844715" cy="1993724"/>
            </a:xfrm>
          </p:grpSpPr>
          <p:grpSp>
            <p:nvGrpSpPr>
              <p:cNvPr id="121" name="Group 120"/>
              <p:cNvGrpSpPr/>
              <p:nvPr/>
            </p:nvGrpSpPr>
            <p:grpSpPr>
              <a:xfrm>
                <a:off x="5672264" y="4404214"/>
                <a:ext cx="1844715" cy="1993724"/>
                <a:chOff x="5938520" y="2432234"/>
                <a:chExt cx="1844715" cy="1993724"/>
              </a:xfrm>
            </p:grpSpPr>
            <p:sp>
              <p:nvSpPr>
                <p:cNvPr id="123" name="Oval 122"/>
                <p:cNvSpPr/>
                <p:nvPr/>
              </p:nvSpPr>
              <p:spPr>
                <a:xfrm>
                  <a:off x="5988247" y="3238108"/>
                  <a:ext cx="335280" cy="35560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Ink Free" panose="03080402000500000000" pitchFamily="66" charset="0"/>
                  </a:endParaRPr>
                </a:p>
              </p:txBody>
            </p:sp>
            <p:sp>
              <p:nvSpPr>
                <p:cNvPr id="124" name="Oval 123"/>
                <p:cNvSpPr/>
                <p:nvPr/>
              </p:nvSpPr>
              <p:spPr>
                <a:xfrm>
                  <a:off x="5938520" y="4070358"/>
                  <a:ext cx="335280" cy="355600"/>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Ink Free" panose="03080402000500000000" pitchFamily="66" charset="0"/>
                  </a:endParaRPr>
                </a:p>
              </p:txBody>
            </p:sp>
            <p:sp>
              <p:nvSpPr>
                <p:cNvPr id="125" name="Oval 124"/>
                <p:cNvSpPr/>
                <p:nvPr/>
              </p:nvSpPr>
              <p:spPr>
                <a:xfrm>
                  <a:off x="7447955" y="3277879"/>
                  <a:ext cx="335280" cy="3556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Ink Free" panose="03080402000500000000" pitchFamily="66" charset="0"/>
                  </a:endParaRPr>
                </a:p>
              </p:txBody>
            </p:sp>
            <p:sp>
              <p:nvSpPr>
                <p:cNvPr id="126" name="Oval 125"/>
                <p:cNvSpPr/>
                <p:nvPr/>
              </p:nvSpPr>
              <p:spPr>
                <a:xfrm>
                  <a:off x="6349236" y="2432234"/>
                  <a:ext cx="335279" cy="3556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Ink Free" panose="03080402000500000000" pitchFamily="66" charset="0"/>
                  </a:endParaRPr>
                </a:p>
              </p:txBody>
            </p:sp>
            <p:cxnSp>
              <p:nvCxnSpPr>
                <p:cNvPr id="127" name="Straight Connector 126"/>
                <p:cNvCxnSpPr>
                  <a:stCxn id="123" idx="0"/>
                  <a:endCxn id="126" idx="4"/>
                </p:cNvCxnSpPr>
                <p:nvPr/>
              </p:nvCxnSpPr>
              <p:spPr>
                <a:xfrm rot="19689469" flipV="1">
                  <a:off x="6058036" y="2912192"/>
                  <a:ext cx="556691" cy="20155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8" name="Straight Connector 127"/>
                <p:cNvCxnSpPr>
                  <a:stCxn id="123" idx="4"/>
                  <a:endCxn id="124" idx="0"/>
                </p:cNvCxnSpPr>
                <p:nvPr/>
              </p:nvCxnSpPr>
              <p:spPr>
                <a:xfrm flipH="1">
                  <a:off x="6106160" y="3593708"/>
                  <a:ext cx="49727" cy="47665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9" name="Straight Connector 128"/>
                <p:cNvCxnSpPr>
                  <a:stCxn id="123" idx="6"/>
                  <a:endCxn id="125" idx="2"/>
                </p:cNvCxnSpPr>
                <p:nvPr/>
              </p:nvCxnSpPr>
              <p:spPr>
                <a:xfrm>
                  <a:off x="6323527" y="3415908"/>
                  <a:ext cx="1124428" cy="3977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22" name="Straight Connector 121"/>
              <p:cNvCxnSpPr>
                <a:stCxn id="125" idx="3"/>
                <a:endCxn id="124" idx="6"/>
              </p:cNvCxnSpPr>
              <p:nvPr/>
            </p:nvCxnSpPr>
            <p:spPr>
              <a:xfrm flipH="1">
                <a:off x="6007544" y="5553383"/>
                <a:ext cx="1223256" cy="66675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7" name="Group 106"/>
            <p:cNvGrpSpPr/>
            <p:nvPr/>
          </p:nvGrpSpPr>
          <p:grpSpPr>
            <a:xfrm>
              <a:off x="9392117" y="4899146"/>
              <a:ext cx="289210" cy="232026"/>
              <a:chOff x="9392243" y="5155883"/>
              <a:chExt cx="714186" cy="664414"/>
            </a:xfrm>
          </p:grpSpPr>
          <p:sp>
            <p:nvSpPr>
              <p:cNvPr id="119" name="Rectangle 118"/>
              <p:cNvSpPr/>
              <p:nvPr/>
            </p:nvSpPr>
            <p:spPr>
              <a:xfrm>
                <a:off x="9392243" y="5494573"/>
                <a:ext cx="714186" cy="325724"/>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Rectangle 119"/>
              <p:cNvSpPr/>
              <p:nvPr/>
            </p:nvSpPr>
            <p:spPr>
              <a:xfrm>
                <a:off x="9392243" y="5155883"/>
                <a:ext cx="714186" cy="325724"/>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8" name="Group 107"/>
            <p:cNvGrpSpPr/>
            <p:nvPr/>
          </p:nvGrpSpPr>
          <p:grpSpPr>
            <a:xfrm>
              <a:off x="9789780" y="3957246"/>
              <a:ext cx="289210" cy="338690"/>
              <a:chOff x="9220199" y="5081066"/>
              <a:chExt cx="714186" cy="969849"/>
            </a:xfrm>
          </p:grpSpPr>
          <p:sp>
            <p:nvSpPr>
              <p:cNvPr id="116" name="Rectangle 115"/>
              <p:cNvSpPr/>
              <p:nvPr/>
            </p:nvSpPr>
            <p:spPr>
              <a:xfrm>
                <a:off x="9220200" y="5419756"/>
                <a:ext cx="714185" cy="325724"/>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Rectangle 116"/>
              <p:cNvSpPr/>
              <p:nvPr/>
            </p:nvSpPr>
            <p:spPr>
              <a:xfrm>
                <a:off x="9220200" y="5725191"/>
                <a:ext cx="714185" cy="325724"/>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Rectangle 117"/>
              <p:cNvSpPr/>
              <p:nvPr/>
            </p:nvSpPr>
            <p:spPr>
              <a:xfrm>
                <a:off x="9220199" y="5081066"/>
                <a:ext cx="714185" cy="325724"/>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9" name="Group 108"/>
            <p:cNvGrpSpPr/>
            <p:nvPr/>
          </p:nvGrpSpPr>
          <p:grpSpPr>
            <a:xfrm>
              <a:off x="11384500" y="4997462"/>
              <a:ext cx="289210" cy="338689"/>
              <a:chOff x="9220199" y="5081066"/>
              <a:chExt cx="714186" cy="969849"/>
            </a:xfrm>
          </p:grpSpPr>
          <p:sp>
            <p:nvSpPr>
              <p:cNvPr id="113" name="Rectangle 112"/>
              <p:cNvSpPr/>
              <p:nvPr/>
            </p:nvSpPr>
            <p:spPr>
              <a:xfrm>
                <a:off x="9220200" y="5419756"/>
                <a:ext cx="714185" cy="325724"/>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Rectangle 113"/>
              <p:cNvSpPr/>
              <p:nvPr/>
            </p:nvSpPr>
            <p:spPr>
              <a:xfrm>
                <a:off x="9220200" y="5725191"/>
                <a:ext cx="714185" cy="325724"/>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Rectangle 114"/>
              <p:cNvSpPr/>
              <p:nvPr/>
            </p:nvSpPr>
            <p:spPr>
              <a:xfrm>
                <a:off x="9220199" y="5081066"/>
                <a:ext cx="714185" cy="325724"/>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0" name="Group 109"/>
            <p:cNvGrpSpPr/>
            <p:nvPr/>
          </p:nvGrpSpPr>
          <p:grpSpPr>
            <a:xfrm>
              <a:off x="11057605" y="3921304"/>
              <a:ext cx="289210" cy="232026"/>
              <a:chOff x="9220199" y="5081066"/>
              <a:chExt cx="714186" cy="664414"/>
            </a:xfrm>
          </p:grpSpPr>
          <p:sp>
            <p:nvSpPr>
              <p:cNvPr id="111" name="Rectangle 110"/>
              <p:cNvSpPr/>
              <p:nvPr/>
            </p:nvSpPr>
            <p:spPr>
              <a:xfrm>
                <a:off x="9220200" y="5419756"/>
                <a:ext cx="714185" cy="325724"/>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Rectangle 111"/>
              <p:cNvSpPr/>
              <p:nvPr/>
            </p:nvSpPr>
            <p:spPr>
              <a:xfrm>
                <a:off x="9220199" y="5081066"/>
                <a:ext cx="714185" cy="325724"/>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Tree>
    <p:extLst>
      <p:ext uri="{BB962C8B-B14F-4D97-AF65-F5344CB8AC3E}">
        <p14:creationId xmlns:p14="http://schemas.microsoft.com/office/powerpoint/2010/main" val="113115797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09140014-73D5-419B-8867-972BB18D52D4}"/>
              </a:ext>
            </a:extLst>
          </p:cNvPr>
          <p:cNvSpPr>
            <a:spLocks noGrp="1"/>
          </p:cNvSpPr>
          <p:nvPr>
            <p:ph type="title"/>
          </p:nvPr>
        </p:nvSpPr>
        <p:spPr>
          <a:xfrm>
            <a:off x="739650" y="150254"/>
            <a:ext cx="5906626" cy="701964"/>
          </a:xfrm>
        </p:spPr>
        <p:txBody>
          <a:bodyPr anchor="b">
            <a:noAutofit/>
          </a:bodyPr>
          <a:lstStyle/>
          <a:p>
            <a:r>
              <a:rPr lang="en-US" sz="2000" dirty="0">
                <a:latin typeface="+mn-lt"/>
                <a:cs typeface="Segoe UI Light"/>
              </a:rPr>
              <a:t>Other Algorithms of list coloring</a:t>
            </a:r>
            <a:endParaRPr lang="en-US" sz="2000" b="1" dirty="0">
              <a:latin typeface="+mn-lt"/>
            </a:endParaRPr>
          </a:p>
        </p:txBody>
      </p:sp>
      <p:sp>
        <p:nvSpPr>
          <p:cNvPr id="2" name="Slide Number Placeholder 1">
            <a:extLst>
              <a:ext uri="{FF2B5EF4-FFF2-40B4-BE49-F238E27FC236}">
                <a16:creationId xmlns:a16="http://schemas.microsoft.com/office/drawing/2014/main" id="{5478BA05-92FC-7153-D003-D6160D8593DD}"/>
              </a:ext>
            </a:extLst>
          </p:cNvPr>
          <p:cNvSpPr>
            <a:spLocks noGrp="1"/>
          </p:cNvSpPr>
          <p:nvPr>
            <p:ph type="sldNum" sz="quarter" idx="12"/>
          </p:nvPr>
        </p:nvSpPr>
        <p:spPr/>
        <p:txBody>
          <a:bodyPr/>
          <a:lstStyle/>
          <a:p>
            <a:fld id="{A49DFD55-3C28-40EF-9E31-A92D2E4017FF}" type="slidenum">
              <a:rPr lang="en-US" smtClean="0"/>
              <a:pPr/>
              <a:t>38</a:t>
            </a:fld>
            <a:endParaRPr lang="en-US" dirty="0"/>
          </a:p>
        </p:txBody>
      </p:sp>
      <mc:AlternateContent xmlns:mc="http://schemas.openxmlformats.org/markup-compatibility/2006">
        <mc:Choice xmlns:a14="http://schemas.microsoft.com/office/drawing/2010/main" Requires="a14">
          <p:graphicFrame>
            <p:nvGraphicFramePr>
              <p:cNvPr id="4" name="Table 3"/>
              <p:cNvGraphicFramePr>
                <a:graphicFrameLocks noGrp="1"/>
              </p:cNvGraphicFramePr>
              <p:nvPr>
                <p:extLst>
                  <p:ext uri="{D42A27DB-BD31-4B8C-83A1-F6EECF244321}">
                    <p14:modId xmlns:p14="http://schemas.microsoft.com/office/powerpoint/2010/main" val="2156471933"/>
                  </p:ext>
                </p:extLst>
              </p:nvPr>
            </p:nvGraphicFramePr>
            <p:xfrm>
              <a:off x="726440" y="1100663"/>
              <a:ext cx="10627360" cy="5523956"/>
            </p:xfrm>
            <a:graphic>
              <a:graphicData uri="http://schemas.openxmlformats.org/drawingml/2006/table">
                <a:tbl>
                  <a:tblPr firstRow="1" bandRow="1">
                    <a:tableStyleId>{17292A2E-F333-43FB-9621-5CBBE7FDCDCB}</a:tableStyleId>
                  </a:tblPr>
                  <a:tblGrid>
                    <a:gridCol w="2656840">
                      <a:extLst>
                        <a:ext uri="{9D8B030D-6E8A-4147-A177-3AD203B41FA5}">
                          <a16:colId xmlns:a16="http://schemas.microsoft.com/office/drawing/2014/main" val="1228045585"/>
                        </a:ext>
                      </a:extLst>
                    </a:gridCol>
                    <a:gridCol w="2656840">
                      <a:extLst>
                        <a:ext uri="{9D8B030D-6E8A-4147-A177-3AD203B41FA5}">
                          <a16:colId xmlns:a16="http://schemas.microsoft.com/office/drawing/2014/main" val="3396727390"/>
                        </a:ext>
                      </a:extLst>
                    </a:gridCol>
                    <a:gridCol w="2656840">
                      <a:extLst>
                        <a:ext uri="{9D8B030D-6E8A-4147-A177-3AD203B41FA5}">
                          <a16:colId xmlns:a16="http://schemas.microsoft.com/office/drawing/2014/main" val="2323767343"/>
                        </a:ext>
                      </a:extLst>
                    </a:gridCol>
                    <a:gridCol w="2656840">
                      <a:extLst>
                        <a:ext uri="{9D8B030D-6E8A-4147-A177-3AD203B41FA5}">
                          <a16:colId xmlns:a16="http://schemas.microsoft.com/office/drawing/2014/main" val="2058477884"/>
                        </a:ext>
                      </a:extLst>
                    </a:gridCol>
                  </a:tblGrid>
                  <a:tr h="494756">
                    <a:tc>
                      <a:txBody>
                        <a:bodyPr/>
                        <a:lstStyle/>
                        <a:p>
                          <a:pPr algn="ctr"/>
                          <a:r>
                            <a:rPr lang="en-US" sz="2000" b="1" dirty="0">
                              <a:solidFill>
                                <a:schemeClr val="tx1"/>
                              </a:solidFill>
                            </a:rPr>
                            <a:t>Method</a:t>
                          </a:r>
                          <a:endParaRPr lang="en-US"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en-US" b="1" dirty="0">
                              <a:solidFill>
                                <a:schemeClr val="tx1"/>
                              </a:solidFill>
                            </a:rPr>
                            <a:t>Time Complexity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b="1" dirty="0">
                              <a:solidFill>
                                <a:schemeClr val="tx1"/>
                              </a:solidFill>
                            </a:rPr>
                            <a:t>Optimality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b="1" dirty="0">
                              <a:solidFill>
                                <a:schemeClr val="tx1"/>
                              </a:solidFill>
                            </a:rPr>
                            <a:t>Best use  case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3860695546"/>
                      </a:ext>
                    </a:extLst>
                  </a:tr>
                  <a:tr h="370840">
                    <a:tc>
                      <a:txBody>
                        <a:bodyPr/>
                        <a:lstStyle/>
                        <a:p>
                          <a:pPr algn="ctr"/>
                          <a:r>
                            <a:rPr lang="en-US" b="0" dirty="0">
                              <a:solidFill>
                                <a:schemeClr val="tx1"/>
                              </a:solidFill>
                            </a:rPr>
                            <a:t>Backtracking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0" dirty="0">
                              <a:solidFill>
                                <a:schemeClr val="tx1"/>
                              </a:solidFill>
                            </a:rPr>
                            <a:t>Exponential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0" dirty="0">
                              <a:solidFill>
                                <a:schemeClr val="tx1"/>
                              </a:solidFill>
                            </a:rPr>
                            <a:t>Guarantees optimality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0" dirty="0">
                              <a:solidFill>
                                <a:schemeClr val="tx1"/>
                              </a:solidFill>
                            </a:rPr>
                            <a:t>Small graphs with small lists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6913700"/>
                      </a:ext>
                    </a:extLst>
                  </a:tr>
                  <a:tr h="370840">
                    <a:tc>
                      <a:txBody>
                        <a:bodyPr/>
                        <a:lstStyle/>
                        <a:p>
                          <a:pPr algn="ctr"/>
                          <a:r>
                            <a:rPr lang="en-US" b="0" dirty="0">
                              <a:solidFill>
                                <a:schemeClr val="tx1"/>
                              </a:solidFill>
                            </a:rPr>
                            <a:t>Greedy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0" dirty="0">
                              <a:solidFill>
                                <a:schemeClr val="tx1"/>
                              </a:solidFill>
                            </a:rPr>
                            <a:t>O(V </a:t>
                          </a:r>
                          <a:r>
                            <a:rPr lang="en-US" b="0" dirty="0" err="1">
                              <a:solidFill>
                                <a:schemeClr val="tx1"/>
                              </a:solidFill>
                            </a:rPr>
                            <a:t>logV</a:t>
                          </a:r>
                          <a:r>
                            <a:rPr lang="en-US" b="0" dirty="0">
                              <a:solidFill>
                                <a:schemeClr val="tx1"/>
                              </a:solidFill>
                            </a:rPr>
                            <a:t> + 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0" dirty="0">
                              <a:solidFill>
                                <a:schemeClr val="tx1"/>
                              </a:solidFill>
                            </a:rPr>
                            <a:t>Not always optimal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0" dirty="0">
                              <a:solidFill>
                                <a:schemeClr val="tx1"/>
                              </a:solidFill>
                            </a:rPr>
                            <a:t>Larger graphs where speed is more important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8579718"/>
                      </a:ext>
                    </a:extLst>
                  </a:tr>
                  <a:tr h="370840">
                    <a:tc>
                      <a:txBody>
                        <a:bodyPr/>
                        <a:lstStyle/>
                        <a:p>
                          <a:pPr algn="ctr"/>
                          <a:r>
                            <a:rPr lang="en-US" b="0" dirty="0">
                              <a:solidFill>
                                <a:schemeClr val="tx1"/>
                              </a:solidFill>
                            </a:rPr>
                            <a:t>Heuristic Approaches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0" dirty="0">
                              <a:solidFill>
                                <a:schemeClr val="tx1"/>
                              </a:solidFill>
                            </a:rPr>
                            <a:t>Polynomial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Often near-optimal</a:t>
                          </a:r>
                          <a:endParaRPr lang="en-US"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Medium-sized instances, quick approximations</a:t>
                          </a:r>
                          <a:endParaRPr 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67706899"/>
                      </a:ext>
                    </a:extLst>
                  </a:tr>
                  <a:tr h="370840">
                    <a:tc>
                      <a:txBody>
                        <a:bodyPr/>
                        <a:lstStyle/>
                        <a:p>
                          <a:pPr algn="ctr"/>
                          <a:r>
                            <a:rPr lang="en-US" dirty="0"/>
                            <a:t>Local Search</a:t>
                          </a:r>
                          <a:endParaRPr 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Variable</a:t>
                          </a:r>
                          <a:endParaRPr 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Often near-optimal</a:t>
                          </a:r>
                          <a:endParaRPr 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Large instances, seeking better solutions iteratively</a:t>
                          </a:r>
                          <a:endParaRPr 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15774242"/>
                      </a:ext>
                    </a:extLst>
                  </a:tr>
                  <a:tr h="370840">
                    <a:tc>
                      <a:txBody>
                        <a:bodyPr/>
                        <a:lstStyle/>
                        <a:p>
                          <a:pPr algn="ctr"/>
                          <a:r>
                            <a:rPr lang="en-US" dirty="0"/>
                            <a:t>Integer Linear Programming (ILP)</a:t>
                          </a:r>
                          <a:endParaRPr 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0" dirty="0">
                              <a:solidFill>
                                <a:schemeClr val="tx1"/>
                              </a:solidFill>
                            </a:rPr>
                            <a:t>Np-hard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Guarantees optimality</a:t>
                          </a:r>
                          <a:endParaRPr 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When exact solutions are required for small graphs</a:t>
                          </a:r>
                          <a:endParaRPr 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23928043"/>
                      </a:ext>
                    </a:extLst>
                  </a:tr>
                  <a:tr h="370840">
                    <a:tc>
                      <a:txBody>
                        <a:bodyPr/>
                        <a:lstStyle/>
                        <a:p>
                          <a:pPr algn="ctr"/>
                          <a:r>
                            <a:rPr lang="en-US" dirty="0"/>
                            <a:t>Hybrid Methods</a:t>
                          </a:r>
                          <a:endParaRPr 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Variable</a:t>
                          </a:r>
                          <a:endParaRPr 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Balances both</a:t>
                          </a:r>
                          <a:endParaRPr 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Medium to large instances where time and quality matter</a:t>
                          </a:r>
                          <a:endParaRPr 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94631467"/>
                      </a:ext>
                    </a:extLst>
                  </a:tr>
                  <a:tr h="370840">
                    <a:tc>
                      <a:txBody>
                        <a:bodyPr/>
                        <a:lstStyle/>
                        <a:p>
                          <a:pPr algn="ctr"/>
                          <a:r>
                            <a:rPr lang="en-US" b="0" dirty="0">
                              <a:solidFill>
                                <a:schemeClr val="tx1"/>
                              </a:solidFill>
                            </a:rPr>
                            <a:t>Additive Approximation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
                              </m:oMathParaPr>
                              <m:oMath xmlns:m="http://schemas.openxmlformats.org/officeDocument/2006/math">
                                <m:sSup>
                                  <m:sSupPr>
                                    <m:ctrlPr>
                                      <a:rPr lang="en-US" b="0" i="1" dirty="0" smtClean="0">
                                        <a:solidFill>
                                          <a:schemeClr val="tx1"/>
                                        </a:solidFill>
                                        <a:latin typeface="Cambria Math" panose="02040503050406030204" pitchFamily="18" charset="0"/>
                                      </a:rPr>
                                    </m:ctrlPr>
                                  </m:sSupPr>
                                  <m:e>
                                    <m:r>
                                      <a:rPr lang="en-US" b="0" i="1" dirty="0" smtClean="0">
                                        <a:solidFill>
                                          <a:schemeClr val="tx1"/>
                                        </a:solidFill>
                                        <a:latin typeface="Cambria Math" panose="02040503050406030204" pitchFamily="18" charset="0"/>
                                      </a:rPr>
                                      <m:t>𝑛</m:t>
                                    </m:r>
                                  </m:e>
                                  <m:sup>
                                    <m:r>
                                      <m:rPr>
                                        <m:nor/>
                                      </m:rPr>
                                      <a:rPr lang="en-US" b="0" dirty="0" smtClean="0">
                                        <a:solidFill>
                                          <a:schemeClr val="tx1"/>
                                        </a:solidFill>
                                      </a:rPr>
                                      <m:t>O</m:t>
                                    </m:r>
                                    <m:r>
                                      <m:rPr>
                                        <m:nor/>
                                      </m:rPr>
                                      <a:rPr lang="en-US" b="0" dirty="0" smtClean="0">
                                        <a:solidFill>
                                          <a:schemeClr val="tx1"/>
                                        </a:solidFill>
                                      </a:rPr>
                                      <m:t>(</m:t>
                                    </m:r>
                                    <m:r>
                                      <m:rPr>
                                        <m:nor/>
                                      </m:rPr>
                                      <a:rPr lang="en-US" b="0" dirty="0" smtClean="0">
                                        <a:solidFill>
                                          <a:schemeClr val="tx1"/>
                                        </a:solidFill>
                                      </a:rPr>
                                      <m:t>h</m:t>
                                    </m:r>
                                    <m:r>
                                      <m:rPr>
                                        <m:nor/>
                                      </m:rPr>
                                      <a:rPr lang="en-US" b="0" dirty="0" smtClean="0">
                                        <a:solidFill>
                                          <a:schemeClr val="tx1"/>
                                        </a:solidFill>
                                      </a:rPr>
                                      <m:t>)</m:t>
                                    </m:r>
                                  </m:sup>
                                </m:sSup>
                              </m:oMath>
                            </m:oMathPara>
                          </a14:m>
                          <a:endParaRPr 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0" dirty="0" err="1">
                              <a:solidFill>
                                <a:schemeClr val="tx1"/>
                              </a:solidFill>
                            </a:rPr>
                            <a:t>ch</a:t>
                          </a:r>
                          <a:r>
                            <a:rPr lang="en-US" b="0" dirty="0">
                              <a:solidFill>
                                <a:schemeClr val="tx1"/>
                              </a:solidFill>
                            </a:rPr>
                            <a:t>(G) + k − 2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0" dirty="0">
                              <a:solidFill>
                                <a:schemeClr val="tx1"/>
                              </a:solidFill>
                            </a:rPr>
                            <a:t> Better solution for graph</a:t>
                          </a:r>
                        </a:p>
                        <a:p>
                          <a:pPr algn="ctr"/>
                          <a:r>
                            <a:rPr lang="en-US" b="0" dirty="0">
                              <a:solidFill>
                                <a:schemeClr val="tx1"/>
                              </a:solidFill>
                            </a:rPr>
                            <a:t>coloring in a minor-closed graph class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56541392"/>
                      </a:ext>
                    </a:extLst>
                  </a:tr>
                </a:tbl>
              </a:graphicData>
            </a:graphic>
          </p:graphicFrame>
        </mc:Choice>
        <mc:Fallback>
          <p:graphicFrame>
            <p:nvGraphicFramePr>
              <p:cNvPr id="4" name="Table 3"/>
              <p:cNvGraphicFramePr>
                <a:graphicFrameLocks noGrp="1"/>
              </p:cNvGraphicFramePr>
              <p:nvPr>
                <p:extLst>
                  <p:ext uri="{D42A27DB-BD31-4B8C-83A1-F6EECF244321}">
                    <p14:modId xmlns:p14="http://schemas.microsoft.com/office/powerpoint/2010/main" val="2156471933"/>
                  </p:ext>
                </p:extLst>
              </p:nvPr>
            </p:nvGraphicFramePr>
            <p:xfrm>
              <a:off x="726440" y="1100663"/>
              <a:ext cx="10627360" cy="5523956"/>
            </p:xfrm>
            <a:graphic>
              <a:graphicData uri="http://schemas.openxmlformats.org/drawingml/2006/table">
                <a:tbl>
                  <a:tblPr firstRow="1" bandRow="1">
                    <a:tableStyleId>{17292A2E-F333-43FB-9621-5CBBE7FDCDCB}</a:tableStyleId>
                  </a:tblPr>
                  <a:tblGrid>
                    <a:gridCol w="2656840">
                      <a:extLst>
                        <a:ext uri="{9D8B030D-6E8A-4147-A177-3AD203B41FA5}">
                          <a16:colId xmlns:a16="http://schemas.microsoft.com/office/drawing/2014/main" val="1228045585"/>
                        </a:ext>
                      </a:extLst>
                    </a:gridCol>
                    <a:gridCol w="2656840">
                      <a:extLst>
                        <a:ext uri="{9D8B030D-6E8A-4147-A177-3AD203B41FA5}">
                          <a16:colId xmlns:a16="http://schemas.microsoft.com/office/drawing/2014/main" val="3396727390"/>
                        </a:ext>
                      </a:extLst>
                    </a:gridCol>
                    <a:gridCol w="2656840">
                      <a:extLst>
                        <a:ext uri="{9D8B030D-6E8A-4147-A177-3AD203B41FA5}">
                          <a16:colId xmlns:a16="http://schemas.microsoft.com/office/drawing/2014/main" val="2323767343"/>
                        </a:ext>
                      </a:extLst>
                    </a:gridCol>
                    <a:gridCol w="2656840">
                      <a:extLst>
                        <a:ext uri="{9D8B030D-6E8A-4147-A177-3AD203B41FA5}">
                          <a16:colId xmlns:a16="http://schemas.microsoft.com/office/drawing/2014/main" val="2058477884"/>
                        </a:ext>
                      </a:extLst>
                    </a:gridCol>
                  </a:tblGrid>
                  <a:tr h="494756">
                    <a:tc>
                      <a:txBody>
                        <a:bodyPr/>
                        <a:lstStyle/>
                        <a:p>
                          <a:pPr algn="ctr"/>
                          <a:r>
                            <a:rPr lang="en-US" sz="2000" b="1" dirty="0">
                              <a:solidFill>
                                <a:schemeClr val="tx1"/>
                              </a:solidFill>
                            </a:rPr>
                            <a:t>Method</a:t>
                          </a:r>
                          <a:endParaRPr lang="en-US"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en-US" b="1" dirty="0">
                              <a:solidFill>
                                <a:schemeClr val="tx1"/>
                              </a:solidFill>
                            </a:rPr>
                            <a:t>Time Complexity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b="1" dirty="0">
                              <a:solidFill>
                                <a:schemeClr val="tx1"/>
                              </a:solidFill>
                            </a:rPr>
                            <a:t>Optimality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b="1" dirty="0">
                              <a:solidFill>
                                <a:schemeClr val="tx1"/>
                              </a:solidFill>
                            </a:rPr>
                            <a:t>Best use  case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3860695546"/>
                      </a:ext>
                    </a:extLst>
                  </a:tr>
                  <a:tr h="640080">
                    <a:tc>
                      <a:txBody>
                        <a:bodyPr/>
                        <a:lstStyle/>
                        <a:p>
                          <a:pPr algn="ctr"/>
                          <a:r>
                            <a:rPr lang="en-US" b="0" dirty="0">
                              <a:solidFill>
                                <a:schemeClr val="tx1"/>
                              </a:solidFill>
                            </a:rPr>
                            <a:t>Backtracking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0" dirty="0">
                              <a:solidFill>
                                <a:schemeClr val="tx1"/>
                              </a:solidFill>
                            </a:rPr>
                            <a:t>Exponential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0" dirty="0">
                              <a:solidFill>
                                <a:schemeClr val="tx1"/>
                              </a:solidFill>
                            </a:rPr>
                            <a:t>Guarantees optimality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0" dirty="0">
                              <a:solidFill>
                                <a:schemeClr val="tx1"/>
                              </a:solidFill>
                            </a:rPr>
                            <a:t>Small graphs with small lists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6913700"/>
                      </a:ext>
                    </a:extLst>
                  </a:tr>
                  <a:tr h="640080">
                    <a:tc>
                      <a:txBody>
                        <a:bodyPr/>
                        <a:lstStyle/>
                        <a:p>
                          <a:pPr algn="ctr"/>
                          <a:r>
                            <a:rPr lang="en-US" b="0" dirty="0">
                              <a:solidFill>
                                <a:schemeClr val="tx1"/>
                              </a:solidFill>
                            </a:rPr>
                            <a:t>Greedy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0" dirty="0">
                              <a:solidFill>
                                <a:schemeClr val="tx1"/>
                              </a:solidFill>
                            </a:rPr>
                            <a:t>O(V </a:t>
                          </a:r>
                          <a:r>
                            <a:rPr lang="en-US" b="0" dirty="0" err="1">
                              <a:solidFill>
                                <a:schemeClr val="tx1"/>
                              </a:solidFill>
                            </a:rPr>
                            <a:t>logV</a:t>
                          </a:r>
                          <a:r>
                            <a:rPr lang="en-US" b="0" dirty="0">
                              <a:solidFill>
                                <a:schemeClr val="tx1"/>
                              </a:solidFill>
                            </a:rPr>
                            <a:t> + 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0" dirty="0">
                              <a:solidFill>
                                <a:schemeClr val="tx1"/>
                              </a:solidFill>
                            </a:rPr>
                            <a:t>Not always optimal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0" dirty="0">
                              <a:solidFill>
                                <a:schemeClr val="tx1"/>
                              </a:solidFill>
                            </a:rPr>
                            <a:t>Larger graphs where speed is more important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8579718"/>
                      </a:ext>
                    </a:extLst>
                  </a:tr>
                  <a:tr h="640080">
                    <a:tc>
                      <a:txBody>
                        <a:bodyPr/>
                        <a:lstStyle/>
                        <a:p>
                          <a:pPr algn="ctr"/>
                          <a:r>
                            <a:rPr lang="en-US" b="0" dirty="0">
                              <a:solidFill>
                                <a:schemeClr val="tx1"/>
                              </a:solidFill>
                            </a:rPr>
                            <a:t>Heuristic Approaches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0" dirty="0">
                              <a:solidFill>
                                <a:schemeClr val="tx1"/>
                              </a:solidFill>
                            </a:rPr>
                            <a:t>Polynomial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Often near-optimal</a:t>
                          </a:r>
                          <a:endParaRPr lang="en-US"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Medium-sized instances, quick approximations</a:t>
                          </a:r>
                          <a:endParaRPr 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67706899"/>
                      </a:ext>
                    </a:extLst>
                  </a:tr>
                  <a:tr h="640080">
                    <a:tc>
                      <a:txBody>
                        <a:bodyPr/>
                        <a:lstStyle/>
                        <a:p>
                          <a:pPr algn="ctr"/>
                          <a:r>
                            <a:rPr lang="en-US" dirty="0"/>
                            <a:t>Local Search</a:t>
                          </a:r>
                          <a:endParaRPr 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Variable</a:t>
                          </a:r>
                          <a:endParaRPr 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Often near-optimal</a:t>
                          </a:r>
                          <a:endParaRPr 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Large instances, seeking better solutions iteratively</a:t>
                          </a:r>
                          <a:endParaRPr 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15774242"/>
                      </a:ext>
                    </a:extLst>
                  </a:tr>
                  <a:tr h="640080">
                    <a:tc>
                      <a:txBody>
                        <a:bodyPr/>
                        <a:lstStyle/>
                        <a:p>
                          <a:pPr algn="ctr"/>
                          <a:r>
                            <a:rPr lang="en-US" dirty="0"/>
                            <a:t>Integer Linear Programming (ILP)</a:t>
                          </a:r>
                          <a:endParaRPr 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0" dirty="0">
                              <a:solidFill>
                                <a:schemeClr val="tx1"/>
                              </a:solidFill>
                            </a:rPr>
                            <a:t>Np-hard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Guarantees optimality</a:t>
                          </a:r>
                          <a:endParaRPr 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When exact solutions are required for small graphs</a:t>
                          </a:r>
                          <a:endParaRPr 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23928043"/>
                      </a:ext>
                    </a:extLst>
                  </a:tr>
                  <a:tr h="914400">
                    <a:tc>
                      <a:txBody>
                        <a:bodyPr/>
                        <a:lstStyle/>
                        <a:p>
                          <a:pPr algn="ctr"/>
                          <a:r>
                            <a:rPr lang="en-US" dirty="0"/>
                            <a:t>Hybrid Methods</a:t>
                          </a:r>
                          <a:endParaRPr 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Variable</a:t>
                          </a:r>
                          <a:endParaRPr 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Balances both</a:t>
                          </a:r>
                          <a:endParaRPr 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Medium to large instances where time and quality matter</a:t>
                          </a:r>
                          <a:endParaRPr 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94631467"/>
                      </a:ext>
                    </a:extLst>
                  </a:tr>
                  <a:tr h="914400">
                    <a:tc>
                      <a:txBody>
                        <a:bodyPr/>
                        <a:lstStyle/>
                        <a:p>
                          <a:pPr algn="ctr"/>
                          <a:r>
                            <a:rPr lang="en-US" b="0" dirty="0">
                              <a:solidFill>
                                <a:schemeClr val="tx1"/>
                              </a:solidFill>
                            </a:rPr>
                            <a:t>Additive Approximation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229" t="-508000" r="-200459" b="-10667"/>
                          </a:stretch>
                        </a:blipFill>
                      </a:tcPr>
                    </a:tc>
                    <a:tc>
                      <a:txBody>
                        <a:bodyPr/>
                        <a:lstStyle/>
                        <a:p>
                          <a:pPr algn="ctr"/>
                          <a:r>
                            <a:rPr lang="en-US" b="0" dirty="0" err="1">
                              <a:solidFill>
                                <a:schemeClr val="tx1"/>
                              </a:solidFill>
                            </a:rPr>
                            <a:t>ch</a:t>
                          </a:r>
                          <a:r>
                            <a:rPr lang="en-US" b="0" dirty="0">
                              <a:solidFill>
                                <a:schemeClr val="tx1"/>
                              </a:solidFill>
                            </a:rPr>
                            <a:t>(G) + k − 2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0" dirty="0">
                              <a:solidFill>
                                <a:schemeClr val="tx1"/>
                              </a:solidFill>
                            </a:rPr>
                            <a:t> Better solution for graph</a:t>
                          </a:r>
                        </a:p>
                        <a:p>
                          <a:pPr algn="ctr"/>
                          <a:r>
                            <a:rPr lang="en-US" b="0" dirty="0">
                              <a:solidFill>
                                <a:schemeClr val="tx1"/>
                              </a:solidFill>
                            </a:rPr>
                            <a:t>coloring in a minor-closed graph class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56541392"/>
                      </a:ext>
                    </a:extLst>
                  </a:tr>
                </a:tbl>
              </a:graphicData>
            </a:graphic>
          </p:graphicFrame>
        </mc:Fallback>
      </mc:AlternateContent>
    </p:spTree>
    <p:extLst>
      <p:ext uri="{BB962C8B-B14F-4D97-AF65-F5344CB8AC3E}">
        <p14:creationId xmlns:p14="http://schemas.microsoft.com/office/powerpoint/2010/main" val="17053314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09140014-73D5-419B-8867-972BB18D52D4}"/>
              </a:ext>
            </a:extLst>
          </p:cNvPr>
          <p:cNvSpPr>
            <a:spLocks noGrp="1"/>
          </p:cNvSpPr>
          <p:nvPr>
            <p:ph type="title"/>
          </p:nvPr>
        </p:nvSpPr>
        <p:spPr>
          <a:xfrm>
            <a:off x="726440" y="374469"/>
            <a:ext cx="6618578" cy="695236"/>
          </a:xfrm>
          <a:solidFill>
            <a:schemeClr val="bg1"/>
          </a:solidFill>
        </p:spPr>
        <p:txBody>
          <a:bodyPr anchor="b">
            <a:noAutofit/>
          </a:bodyPr>
          <a:lstStyle/>
          <a:p>
            <a:r>
              <a:rPr lang="en-US" sz="2000" dirty="0">
                <a:cs typeface="Segoe UI Light"/>
              </a:rPr>
              <a:t>Practical usages of list coloring</a:t>
            </a:r>
            <a:endParaRPr lang="en-US" sz="2000" b="1" dirty="0"/>
          </a:p>
        </p:txBody>
      </p:sp>
      <p:sp>
        <p:nvSpPr>
          <p:cNvPr id="2" name="Slide Number Placeholder 1">
            <a:extLst>
              <a:ext uri="{FF2B5EF4-FFF2-40B4-BE49-F238E27FC236}">
                <a16:creationId xmlns:a16="http://schemas.microsoft.com/office/drawing/2014/main" id="{09D40351-4434-B213-C53D-B2AF15121122}"/>
              </a:ext>
            </a:extLst>
          </p:cNvPr>
          <p:cNvSpPr>
            <a:spLocks noGrp="1"/>
          </p:cNvSpPr>
          <p:nvPr>
            <p:ph type="sldNum" sz="quarter" idx="12"/>
          </p:nvPr>
        </p:nvSpPr>
        <p:spPr/>
        <p:txBody>
          <a:bodyPr/>
          <a:lstStyle/>
          <a:p>
            <a:fld id="{CBD12358-51D2-46B3-9BDE-DF29528B9454}" type="slidenum">
              <a:rPr lang="en-US" smtClean="0"/>
              <a:t>39</a:t>
            </a:fld>
            <a:endParaRPr lang="en-US" dirty="0"/>
          </a:p>
        </p:txBody>
      </p:sp>
      <p:grpSp>
        <p:nvGrpSpPr>
          <p:cNvPr id="15" name="Group 14"/>
          <p:cNvGrpSpPr/>
          <p:nvPr/>
        </p:nvGrpSpPr>
        <p:grpSpPr>
          <a:xfrm>
            <a:off x="593634" y="1497875"/>
            <a:ext cx="10760166" cy="2196254"/>
            <a:chOff x="726440" y="3283131"/>
            <a:chExt cx="9419046" cy="2586446"/>
          </a:xfrm>
        </p:grpSpPr>
        <p:grpSp>
          <p:nvGrpSpPr>
            <p:cNvPr id="11" name="Group 10"/>
            <p:cNvGrpSpPr/>
            <p:nvPr/>
          </p:nvGrpSpPr>
          <p:grpSpPr>
            <a:xfrm>
              <a:off x="726440" y="3283131"/>
              <a:ext cx="9419046" cy="2586446"/>
              <a:chOff x="726440" y="3283131"/>
              <a:chExt cx="9419046" cy="2586446"/>
            </a:xfrm>
          </p:grpSpPr>
          <p:sp>
            <p:nvSpPr>
              <p:cNvPr id="7" name="TextBox 6"/>
              <p:cNvSpPr txBox="1"/>
              <p:nvPr/>
            </p:nvSpPr>
            <p:spPr>
              <a:xfrm>
                <a:off x="863600" y="3420533"/>
                <a:ext cx="9127067" cy="1846659"/>
              </a:xfrm>
              <a:prstGeom prst="rect">
                <a:avLst/>
              </a:prstGeom>
              <a:noFill/>
            </p:spPr>
            <p:txBody>
              <a:bodyPr wrap="square" rtlCol="0">
                <a:spAutoFit/>
              </a:bodyPr>
              <a:lstStyle/>
              <a:p>
                <a:r>
                  <a:rPr lang="en-US" b="1" dirty="0"/>
                  <a:t>Wireless Networks</a:t>
                </a:r>
              </a:p>
              <a:p>
                <a:r>
                  <a:rPr lang="en-US" sz="1600" dirty="0"/>
                  <a:t>Frequency assignment</a:t>
                </a:r>
              </a:p>
              <a:p>
                <a:endParaRPr lang="en-US" sz="1600" dirty="0"/>
              </a:p>
              <a:p>
                <a:r>
                  <a:rPr lang="en-US" sz="1600" dirty="0"/>
                  <a:t>Due to hardware restrictions, each radio has a limited set of available frequencies, and nearby radios cannot share the same frequency due to interference. This can be modeled as a graph where vertices represent radios, and each vertex has a list of allowable frequencies. The goal is to find a list coloring that assigns a frequency to each radio without interference.</a:t>
                </a:r>
              </a:p>
            </p:txBody>
          </p:sp>
          <p:sp>
            <p:nvSpPr>
              <p:cNvPr id="8" name="Rounded Rectangle 7"/>
              <p:cNvSpPr/>
              <p:nvPr/>
            </p:nvSpPr>
            <p:spPr>
              <a:xfrm>
                <a:off x="726440" y="3283131"/>
                <a:ext cx="9419046" cy="2586446"/>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2" name="Picture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86256" y="3551162"/>
              <a:ext cx="206384" cy="364879"/>
            </a:xfrm>
            <a:prstGeom prst="rect">
              <a:avLst/>
            </a:prstGeom>
          </p:spPr>
        </p:pic>
      </p:grpSp>
      <p:grpSp>
        <p:nvGrpSpPr>
          <p:cNvPr id="27" name="Group 26"/>
          <p:cNvGrpSpPr/>
          <p:nvPr/>
        </p:nvGrpSpPr>
        <p:grpSpPr>
          <a:xfrm>
            <a:off x="593634" y="4069120"/>
            <a:ext cx="10760166" cy="2196254"/>
            <a:chOff x="726440" y="3283131"/>
            <a:chExt cx="9419046" cy="2586446"/>
          </a:xfrm>
        </p:grpSpPr>
        <p:sp>
          <p:nvSpPr>
            <p:cNvPr id="29" name="TextBox 28"/>
            <p:cNvSpPr txBox="1"/>
            <p:nvPr/>
          </p:nvSpPr>
          <p:spPr>
            <a:xfrm>
              <a:off x="872430" y="3605468"/>
              <a:ext cx="9127067" cy="1341090"/>
            </a:xfrm>
            <a:prstGeom prst="rect">
              <a:avLst/>
            </a:prstGeom>
            <a:noFill/>
          </p:spPr>
          <p:txBody>
            <a:bodyPr wrap="square" rtlCol="0">
              <a:spAutoFit/>
            </a:bodyPr>
            <a:lstStyle/>
            <a:p>
              <a:r>
                <a:rPr lang="en-US" b="1" dirty="0"/>
                <a:t>Constraint Satisfaction</a:t>
              </a:r>
            </a:p>
            <a:p>
              <a:r>
                <a:rPr lang="en-US" sz="1600" dirty="0"/>
                <a:t>Resource allocation</a:t>
              </a:r>
            </a:p>
            <a:p>
              <a:endParaRPr lang="en-US" sz="1600" dirty="0"/>
            </a:p>
            <a:p>
              <a:r>
                <a:rPr lang="en-US" sz="1600" dirty="0"/>
                <a:t>Ensuring resources are assigned while respecting availability constraints.</a:t>
              </a:r>
            </a:p>
          </p:txBody>
        </p:sp>
        <p:sp>
          <p:nvSpPr>
            <p:cNvPr id="30" name="Rounded Rectangle 29"/>
            <p:cNvSpPr/>
            <p:nvPr/>
          </p:nvSpPr>
          <p:spPr>
            <a:xfrm>
              <a:off x="726440" y="3283131"/>
              <a:ext cx="9419046" cy="2586446"/>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2" name="Picture 3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73368" y="4251853"/>
            <a:ext cx="526215" cy="426728"/>
          </a:xfrm>
          <a:prstGeom prst="rect">
            <a:avLst/>
          </a:prstGeom>
        </p:spPr>
      </p:pic>
    </p:spTree>
    <p:extLst>
      <p:ext uri="{BB962C8B-B14F-4D97-AF65-F5344CB8AC3E}">
        <p14:creationId xmlns:p14="http://schemas.microsoft.com/office/powerpoint/2010/main" val="284482120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4A13E0-9C81-2378-2870-1A05513C475F}"/>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294D2FF3-85A0-029F-69D5-D50D72180249}"/>
              </a:ext>
            </a:extLst>
          </p:cNvPr>
          <p:cNvSpPr>
            <a:spLocks noGrp="1"/>
          </p:cNvSpPr>
          <p:nvPr>
            <p:ph type="title"/>
          </p:nvPr>
        </p:nvSpPr>
        <p:spPr>
          <a:xfrm>
            <a:off x="726440" y="374469"/>
            <a:ext cx="6618578" cy="695236"/>
          </a:xfrm>
          <a:solidFill>
            <a:schemeClr val="bg1"/>
          </a:solidFill>
        </p:spPr>
        <p:txBody>
          <a:bodyPr anchor="b">
            <a:noAutofit/>
          </a:bodyPr>
          <a:lstStyle/>
          <a:p>
            <a:r>
              <a:rPr lang="en-US" sz="2000" dirty="0">
                <a:cs typeface="Segoe UI Light"/>
              </a:rPr>
              <a:t>Experiment</a:t>
            </a:r>
            <a:endParaRPr lang="en-US" sz="2000" b="1" dirty="0"/>
          </a:p>
        </p:txBody>
      </p:sp>
      <p:sp>
        <p:nvSpPr>
          <p:cNvPr id="2" name="Slide Number Placeholder 1">
            <a:extLst>
              <a:ext uri="{FF2B5EF4-FFF2-40B4-BE49-F238E27FC236}">
                <a16:creationId xmlns:a16="http://schemas.microsoft.com/office/drawing/2014/main" id="{C670921A-2CD9-8992-93A6-F3DA8A8BB183}"/>
              </a:ext>
            </a:extLst>
          </p:cNvPr>
          <p:cNvSpPr>
            <a:spLocks noGrp="1"/>
          </p:cNvSpPr>
          <p:nvPr>
            <p:ph type="sldNum" sz="quarter" idx="12"/>
          </p:nvPr>
        </p:nvSpPr>
        <p:spPr/>
        <p:txBody>
          <a:bodyPr/>
          <a:lstStyle/>
          <a:p>
            <a:fld id="{CBD12358-51D2-46B3-9BDE-DF29528B9454}" type="slidenum">
              <a:rPr lang="en-US" smtClean="0"/>
              <a:t>40</a:t>
            </a:fld>
            <a:endParaRPr lang="en-US" dirty="0"/>
          </a:p>
        </p:txBody>
      </p:sp>
      <p:grpSp>
        <p:nvGrpSpPr>
          <p:cNvPr id="11" name="Group 10">
            <a:extLst>
              <a:ext uri="{FF2B5EF4-FFF2-40B4-BE49-F238E27FC236}">
                <a16:creationId xmlns:a16="http://schemas.microsoft.com/office/drawing/2014/main" id="{621FB72B-C573-D17B-85CE-4513B8F91516}"/>
              </a:ext>
            </a:extLst>
          </p:cNvPr>
          <p:cNvGrpSpPr/>
          <p:nvPr/>
        </p:nvGrpSpPr>
        <p:grpSpPr>
          <a:xfrm>
            <a:off x="715917" y="2384057"/>
            <a:ext cx="10760166" cy="2196254"/>
            <a:chOff x="726440" y="3283131"/>
            <a:chExt cx="9419046" cy="2586446"/>
          </a:xfrm>
        </p:grpSpPr>
        <p:sp>
          <p:nvSpPr>
            <p:cNvPr id="7" name="TextBox 6">
              <a:extLst>
                <a:ext uri="{FF2B5EF4-FFF2-40B4-BE49-F238E27FC236}">
                  <a16:creationId xmlns:a16="http://schemas.microsoft.com/office/drawing/2014/main" id="{86B148D9-250A-7366-ACB6-872E3B85034D}"/>
                </a:ext>
              </a:extLst>
            </p:cNvPr>
            <p:cNvSpPr txBox="1"/>
            <p:nvPr/>
          </p:nvSpPr>
          <p:spPr>
            <a:xfrm>
              <a:off x="863600" y="3420532"/>
              <a:ext cx="9127067" cy="471195"/>
            </a:xfrm>
            <a:prstGeom prst="rect">
              <a:avLst/>
            </a:prstGeom>
            <a:noFill/>
          </p:spPr>
          <p:txBody>
            <a:bodyPr wrap="square" rtlCol="0">
              <a:spAutoFit/>
            </a:bodyPr>
            <a:lstStyle/>
            <a:p>
              <a:r>
                <a:rPr lang="en-US" sz="2000" b="1" dirty="0"/>
                <a:t>Greedy Algorithm with different heuristics</a:t>
              </a:r>
            </a:p>
          </p:txBody>
        </p:sp>
        <p:sp>
          <p:nvSpPr>
            <p:cNvPr id="8" name="Rounded Rectangle 7">
              <a:extLst>
                <a:ext uri="{FF2B5EF4-FFF2-40B4-BE49-F238E27FC236}">
                  <a16:creationId xmlns:a16="http://schemas.microsoft.com/office/drawing/2014/main" id="{38E1D94C-6FCD-1549-4D8E-A8C5320042D1}"/>
                </a:ext>
              </a:extLst>
            </p:cNvPr>
            <p:cNvSpPr/>
            <p:nvPr/>
          </p:nvSpPr>
          <p:spPr>
            <a:xfrm>
              <a:off x="726440" y="3283131"/>
              <a:ext cx="9419046" cy="2586446"/>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TextBox 2">
            <a:extLst>
              <a:ext uri="{FF2B5EF4-FFF2-40B4-BE49-F238E27FC236}">
                <a16:creationId xmlns:a16="http://schemas.microsoft.com/office/drawing/2014/main" id="{0D38C633-8A7B-AF1D-007A-1A49EAC2C57A}"/>
              </a:ext>
            </a:extLst>
          </p:cNvPr>
          <p:cNvSpPr txBox="1"/>
          <p:nvPr/>
        </p:nvSpPr>
        <p:spPr>
          <a:xfrm>
            <a:off x="872606" y="3002496"/>
            <a:ext cx="8321654" cy="1200329"/>
          </a:xfrm>
          <a:prstGeom prst="rect">
            <a:avLst/>
          </a:prstGeom>
          <a:noFill/>
        </p:spPr>
        <p:txBody>
          <a:bodyPr wrap="square" rtlCol="0">
            <a:spAutoFit/>
          </a:bodyPr>
          <a:lstStyle/>
          <a:p>
            <a:r>
              <a:rPr lang="en-US" dirty="0">
                <a:latin typeface="Gill Sans MT" panose="020B0502020104020203" pitchFamily="34" charset="0"/>
              </a:rPr>
              <a:t>We wish to implement the Greedy Algorithm with different heuristics for List coloring and wish to measure the performance for different types of graph class. For example: path graph, complete graph , circuit graph etc.</a:t>
            </a:r>
          </a:p>
          <a:p>
            <a:endParaRPr lang="en-US" dirty="0"/>
          </a:p>
        </p:txBody>
      </p:sp>
    </p:spTree>
    <p:extLst>
      <p:ext uri="{BB962C8B-B14F-4D97-AF65-F5344CB8AC3E}">
        <p14:creationId xmlns:p14="http://schemas.microsoft.com/office/powerpoint/2010/main" val="102888013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C2C989-85E0-13A9-CC41-6CE8BB935FF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35ADA01-00D0-58A1-29ED-D76B341BA012}"/>
              </a:ext>
            </a:extLst>
          </p:cNvPr>
          <p:cNvSpPr>
            <a:spLocks noGrp="1"/>
          </p:cNvSpPr>
          <p:nvPr>
            <p:ph sz="quarter" idx="10"/>
          </p:nvPr>
        </p:nvSpPr>
        <p:spPr>
          <a:xfrm>
            <a:off x="5412509" y="3158646"/>
            <a:ext cx="9289336" cy="1327818"/>
          </a:xfrm>
        </p:spPr>
        <p:txBody>
          <a:bodyPr>
            <a:normAutofit/>
          </a:bodyPr>
          <a:lstStyle/>
          <a:p>
            <a:pPr marL="0" indent="0">
              <a:buNone/>
            </a:pPr>
            <a:r>
              <a:rPr lang="en-US" sz="3600" dirty="0"/>
              <a:t>ID: 1905016</a:t>
            </a:r>
          </a:p>
          <a:p>
            <a:pPr marL="0" indent="0">
              <a:buNone/>
            </a:pPr>
            <a:r>
              <a:rPr lang="en-US" sz="3600" dirty="0"/>
              <a:t>Name: MD </a:t>
            </a:r>
            <a:r>
              <a:rPr lang="en-US" sz="3600" dirty="0" err="1"/>
              <a:t>Zulkar</a:t>
            </a:r>
            <a:r>
              <a:rPr lang="en-US" sz="3600" dirty="0"/>
              <a:t> Naim</a:t>
            </a:r>
          </a:p>
        </p:txBody>
      </p:sp>
      <p:sp>
        <p:nvSpPr>
          <p:cNvPr id="5" name="Slide Number Placeholder 4">
            <a:extLst>
              <a:ext uri="{FF2B5EF4-FFF2-40B4-BE49-F238E27FC236}">
                <a16:creationId xmlns:a16="http://schemas.microsoft.com/office/drawing/2014/main" id="{47EAF46B-999A-799E-48DD-532C3F1DC8C3}"/>
              </a:ext>
            </a:extLst>
          </p:cNvPr>
          <p:cNvSpPr>
            <a:spLocks noGrp="1"/>
          </p:cNvSpPr>
          <p:nvPr>
            <p:ph type="sldNum" sz="quarter" idx="4"/>
          </p:nvPr>
        </p:nvSpPr>
        <p:spPr/>
        <p:txBody>
          <a:bodyPr/>
          <a:lstStyle/>
          <a:p>
            <a:fld id="{58FB4751-880F-D840-AAA9-3A15815CC996}" type="slidenum">
              <a:rPr lang="en-US" smtClean="0"/>
              <a:pPr/>
              <a:t>41</a:t>
            </a:fld>
            <a:endParaRPr lang="en-US" dirty="0"/>
          </a:p>
        </p:txBody>
      </p:sp>
    </p:spTree>
    <p:extLst>
      <p:ext uri="{BB962C8B-B14F-4D97-AF65-F5344CB8AC3E}">
        <p14:creationId xmlns:p14="http://schemas.microsoft.com/office/powerpoint/2010/main" val="229769035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D5481-CEEF-BF32-243C-E72BD71F8661}"/>
              </a:ext>
            </a:extLst>
          </p:cNvPr>
          <p:cNvSpPr>
            <a:spLocks noGrp="1"/>
          </p:cNvSpPr>
          <p:nvPr>
            <p:ph type="title"/>
          </p:nvPr>
        </p:nvSpPr>
        <p:spPr/>
        <p:txBody>
          <a:bodyPr/>
          <a:lstStyle/>
          <a:p>
            <a:r>
              <a:rPr lang="en-US" dirty="0"/>
              <a:t>Distance-k coloring</a:t>
            </a:r>
          </a:p>
        </p:txBody>
      </p:sp>
      <p:sp>
        <p:nvSpPr>
          <p:cNvPr id="3" name="Content Placeholder 2">
            <a:extLst>
              <a:ext uri="{FF2B5EF4-FFF2-40B4-BE49-F238E27FC236}">
                <a16:creationId xmlns:a16="http://schemas.microsoft.com/office/drawing/2014/main" id="{17EC58B4-543E-D9D1-15EA-371C44F5FB19}"/>
              </a:ext>
            </a:extLst>
          </p:cNvPr>
          <p:cNvSpPr>
            <a:spLocks noGrp="1"/>
          </p:cNvSpPr>
          <p:nvPr>
            <p:ph idx="1"/>
          </p:nvPr>
        </p:nvSpPr>
        <p:spPr/>
        <p:txBody>
          <a:bodyPr/>
          <a:lstStyle/>
          <a:p>
            <a:r>
              <a:rPr lang="en-US" dirty="0"/>
              <a:t>Vertices that are at most </a:t>
            </a:r>
            <a:r>
              <a:rPr lang="en-US" b="1" dirty="0"/>
              <a:t>k edges apart</a:t>
            </a:r>
            <a:r>
              <a:rPr lang="en-US" dirty="0"/>
              <a:t> in the graph must have different colors</a:t>
            </a:r>
          </a:p>
          <a:p>
            <a:r>
              <a:rPr lang="en-US" dirty="0"/>
              <a:t>Generalization of normal graph coloring (distance-1 coloring)</a:t>
            </a:r>
          </a:p>
        </p:txBody>
      </p:sp>
      <p:sp>
        <p:nvSpPr>
          <p:cNvPr id="5" name="Slide Number Placeholder 4">
            <a:extLst>
              <a:ext uri="{FF2B5EF4-FFF2-40B4-BE49-F238E27FC236}">
                <a16:creationId xmlns:a16="http://schemas.microsoft.com/office/drawing/2014/main" id="{DE4DD405-AF2B-E8A3-FA70-905A5408390F}"/>
              </a:ext>
            </a:extLst>
          </p:cNvPr>
          <p:cNvSpPr>
            <a:spLocks noGrp="1"/>
          </p:cNvSpPr>
          <p:nvPr>
            <p:ph type="sldNum" sz="quarter" idx="12"/>
          </p:nvPr>
        </p:nvSpPr>
        <p:spPr/>
        <p:txBody>
          <a:bodyPr/>
          <a:lstStyle/>
          <a:p>
            <a:fld id="{3DD08374-E544-47A5-94AF-CF56056772CB}" type="slidenum">
              <a:rPr lang="en-US" smtClean="0"/>
              <a:t>42</a:t>
            </a:fld>
            <a:endParaRPr lang="en-US"/>
          </a:p>
        </p:txBody>
      </p:sp>
    </p:spTree>
    <p:extLst>
      <p:ext uri="{BB962C8B-B14F-4D97-AF65-F5344CB8AC3E}">
        <p14:creationId xmlns:p14="http://schemas.microsoft.com/office/powerpoint/2010/main" val="458552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val 4">
            <a:extLst>
              <a:ext uri="{FF2B5EF4-FFF2-40B4-BE49-F238E27FC236}">
                <a16:creationId xmlns:a16="http://schemas.microsoft.com/office/drawing/2014/main" id="{2CDCC483-C3E6-C503-3CEC-17CF12673FBE}"/>
              </a:ext>
            </a:extLst>
          </p:cNvPr>
          <p:cNvSpPr/>
          <p:nvPr/>
        </p:nvSpPr>
        <p:spPr>
          <a:xfrm>
            <a:off x="1432090" y="3674097"/>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A</a:t>
            </a:r>
          </a:p>
        </p:txBody>
      </p:sp>
      <p:sp>
        <p:nvSpPr>
          <p:cNvPr id="6" name="Oval 5">
            <a:extLst>
              <a:ext uri="{FF2B5EF4-FFF2-40B4-BE49-F238E27FC236}">
                <a16:creationId xmlns:a16="http://schemas.microsoft.com/office/drawing/2014/main" id="{0E886A94-C471-E60A-858B-FEDF915E3283}"/>
              </a:ext>
            </a:extLst>
          </p:cNvPr>
          <p:cNvSpPr/>
          <p:nvPr/>
        </p:nvSpPr>
        <p:spPr>
          <a:xfrm>
            <a:off x="2395195" y="2308781"/>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B</a:t>
            </a:r>
          </a:p>
        </p:txBody>
      </p:sp>
      <p:sp>
        <p:nvSpPr>
          <p:cNvPr id="7" name="Oval 6">
            <a:extLst>
              <a:ext uri="{FF2B5EF4-FFF2-40B4-BE49-F238E27FC236}">
                <a16:creationId xmlns:a16="http://schemas.microsoft.com/office/drawing/2014/main" id="{5E4A32EC-20A7-EDD5-65B6-988A00499B0A}"/>
              </a:ext>
            </a:extLst>
          </p:cNvPr>
          <p:cNvSpPr/>
          <p:nvPr/>
        </p:nvSpPr>
        <p:spPr>
          <a:xfrm>
            <a:off x="3856350" y="3674096"/>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C</a:t>
            </a:r>
          </a:p>
        </p:txBody>
      </p:sp>
      <p:sp>
        <p:nvSpPr>
          <p:cNvPr id="8" name="Oval 7">
            <a:extLst>
              <a:ext uri="{FF2B5EF4-FFF2-40B4-BE49-F238E27FC236}">
                <a16:creationId xmlns:a16="http://schemas.microsoft.com/office/drawing/2014/main" id="{8DC2DDDA-260F-26CB-9213-28FA92406333}"/>
              </a:ext>
            </a:extLst>
          </p:cNvPr>
          <p:cNvSpPr/>
          <p:nvPr/>
        </p:nvSpPr>
        <p:spPr>
          <a:xfrm>
            <a:off x="4742469" y="2308781"/>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D</a:t>
            </a:r>
          </a:p>
        </p:txBody>
      </p:sp>
      <p:cxnSp>
        <p:nvCxnSpPr>
          <p:cNvPr id="9" name="Straight Connector 8">
            <a:extLst>
              <a:ext uri="{FF2B5EF4-FFF2-40B4-BE49-F238E27FC236}">
                <a16:creationId xmlns:a16="http://schemas.microsoft.com/office/drawing/2014/main" id="{90ED9CAD-1125-3630-C7E1-D7966DFF493D}"/>
              </a:ext>
            </a:extLst>
          </p:cNvPr>
          <p:cNvCxnSpPr>
            <a:cxnSpLocks/>
            <a:stCxn id="6" idx="3"/>
            <a:endCxn id="5" idx="0"/>
          </p:cNvCxnSpPr>
          <p:nvPr/>
        </p:nvCxnSpPr>
        <p:spPr>
          <a:xfrm flipH="1">
            <a:off x="1703111" y="2771442"/>
            <a:ext cx="771464" cy="902655"/>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80D3B96A-3E17-A125-5030-93679521D7B4}"/>
              </a:ext>
            </a:extLst>
          </p:cNvPr>
          <p:cNvCxnSpPr>
            <a:cxnSpLocks/>
            <a:stCxn id="7" idx="1"/>
            <a:endCxn id="6" idx="5"/>
          </p:cNvCxnSpPr>
          <p:nvPr/>
        </p:nvCxnSpPr>
        <p:spPr>
          <a:xfrm flipH="1" flipV="1">
            <a:off x="2857856" y="2771442"/>
            <a:ext cx="1077874" cy="982034"/>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428B6C55-A1CD-44D2-8396-45E90C3D4A43}"/>
              </a:ext>
            </a:extLst>
          </p:cNvPr>
          <p:cNvCxnSpPr>
            <a:cxnSpLocks/>
            <a:stCxn id="7" idx="7"/>
            <a:endCxn id="8" idx="4"/>
          </p:cNvCxnSpPr>
          <p:nvPr/>
        </p:nvCxnSpPr>
        <p:spPr>
          <a:xfrm flipV="1">
            <a:off x="4319011" y="2850822"/>
            <a:ext cx="694479" cy="902654"/>
          </a:xfrm>
          <a:prstGeom prst="line">
            <a:avLst/>
          </a:prstGeom>
        </p:spPr>
        <p:style>
          <a:lnRef idx="1">
            <a:schemeClr val="accent1"/>
          </a:lnRef>
          <a:fillRef idx="0">
            <a:schemeClr val="accent1"/>
          </a:fillRef>
          <a:effectRef idx="0">
            <a:schemeClr val="accent1"/>
          </a:effectRef>
          <a:fontRef idx="minor">
            <a:schemeClr val="tx1"/>
          </a:fontRef>
        </p:style>
      </p:cxnSp>
      <p:sp>
        <p:nvSpPr>
          <p:cNvPr id="3" name="Slide Number Placeholder 2">
            <a:extLst>
              <a:ext uri="{FF2B5EF4-FFF2-40B4-BE49-F238E27FC236}">
                <a16:creationId xmlns:a16="http://schemas.microsoft.com/office/drawing/2014/main" id="{91723509-1D2C-0C66-6284-BDFBAB3B6453}"/>
              </a:ext>
            </a:extLst>
          </p:cNvPr>
          <p:cNvSpPr>
            <a:spLocks noGrp="1"/>
          </p:cNvSpPr>
          <p:nvPr>
            <p:ph type="sldNum" sz="quarter" idx="12"/>
          </p:nvPr>
        </p:nvSpPr>
        <p:spPr/>
        <p:txBody>
          <a:bodyPr/>
          <a:lstStyle/>
          <a:p>
            <a:fld id="{3DD08374-E544-47A5-94AF-CF56056772CB}" type="slidenum">
              <a:rPr lang="en-US" smtClean="0"/>
              <a:t>43</a:t>
            </a:fld>
            <a:endParaRPr lang="en-US"/>
          </a:p>
        </p:txBody>
      </p:sp>
    </p:spTree>
    <p:extLst>
      <p:ext uri="{BB962C8B-B14F-4D97-AF65-F5344CB8AC3E}">
        <p14:creationId xmlns:p14="http://schemas.microsoft.com/office/powerpoint/2010/main" val="41383620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91AA91-9BFE-AF92-4679-2083968CAFDB}"/>
            </a:ext>
          </a:extLst>
        </p:cNvPr>
        <p:cNvGrpSpPr/>
        <p:nvPr/>
      </p:nvGrpSpPr>
      <p:grpSpPr>
        <a:xfrm>
          <a:off x="0" y="0"/>
          <a:ext cx="0" cy="0"/>
          <a:chOff x="0" y="0"/>
          <a:chExt cx="0" cy="0"/>
        </a:xfrm>
      </p:grpSpPr>
      <p:sp>
        <p:nvSpPr>
          <p:cNvPr id="5" name="Oval 4">
            <a:extLst>
              <a:ext uri="{FF2B5EF4-FFF2-40B4-BE49-F238E27FC236}">
                <a16:creationId xmlns:a16="http://schemas.microsoft.com/office/drawing/2014/main" id="{00469F96-9143-36C4-8749-B4984AAAD252}"/>
              </a:ext>
            </a:extLst>
          </p:cNvPr>
          <p:cNvSpPr/>
          <p:nvPr/>
        </p:nvSpPr>
        <p:spPr>
          <a:xfrm>
            <a:off x="1432090" y="3674097"/>
            <a:ext cx="542041" cy="542041"/>
          </a:xfrm>
          <a:prstGeom prst="ellipse">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A</a:t>
            </a:r>
          </a:p>
        </p:txBody>
      </p:sp>
      <p:sp>
        <p:nvSpPr>
          <p:cNvPr id="6" name="Oval 5">
            <a:extLst>
              <a:ext uri="{FF2B5EF4-FFF2-40B4-BE49-F238E27FC236}">
                <a16:creationId xmlns:a16="http://schemas.microsoft.com/office/drawing/2014/main" id="{C6988389-AA57-1928-756A-840ECD0A8350}"/>
              </a:ext>
            </a:extLst>
          </p:cNvPr>
          <p:cNvSpPr/>
          <p:nvPr/>
        </p:nvSpPr>
        <p:spPr>
          <a:xfrm>
            <a:off x="2395195" y="2308781"/>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B</a:t>
            </a:r>
          </a:p>
        </p:txBody>
      </p:sp>
      <p:sp>
        <p:nvSpPr>
          <p:cNvPr id="7" name="Oval 6">
            <a:extLst>
              <a:ext uri="{FF2B5EF4-FFF2-40B4-BE49-F238E27FC236}">
                <a16:creationId xmlns:a16="http://schemas.microsoft.com/office/drawing/2014/main" id="{3E0CA683-74EA-8EAF-9A0C-DD53BEF722F7}"/>
              </a:ext>
            </a:extLst>
          </p:cNvPr>
          <p:cNvSpPr/>
          <p:nvPr/>
        </p:nvSpPr>
        <p:spPr>
          <a:xfrm>
            <a:off x="3856350" y="3674096"/>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C</a:t>
            </a:r>
          </a:p>
        </p:txBody>
      </p:sp>
      <p:sp>
        <p:nvSpPr>
          <p:cNvPr id="8" name="Oval 7">
            <a:extLst>
              <a:ext uri="{FF2B5EF4-FFF2-40B4-BE49-F238E27FC236}">
                <a16:creationId xmlns:a16="http://schemas.microsoft.com/office/drawing/2014/main" id="{5E35A96E-BC6C-6381-A522-7F7B8A64E906}"/>
              </a:ext>
            </a:extLst>
          </p:cNvPr>
          <p:cNvSpPr/>
          <p:nvPr/>
        </p:nvSpPr>
        <p:spPr>
          <a:xfrm>
            <a:off x="4742469" y="2308781"/>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D</a:t>
            </a:r>
          </a:p>
        </p:txBody>
      </p:sp>
      <p:cxnSp>
        <p:nvCxnSpPr>
          <p:cNvPr id="9" name="Straight Connector 8">
            <a:extLst>
              <a:ext uri="{FF2B5EF4-FFF2-40B4-BE49-F238E27FC236}">
                <a16:creationId xmlns:a16="http://schemas.microsoft.com/office/drawing/2014/main" id="{D8AEFA60-1216-A21E-D337-0E708EBCBCF9}"/>
              </a:ext>
            </a:extLst>
          </p:cNvPr>
          <p:cNvCxnSpPr>
            <a:cxnSpLocks/>
            <a:stCxn id="6" idx="3"/>
            <a:endCxn id="5" idx="0"/>
          </p:cNvCxnSpPr>
          <p:nvPr/>
        </p:nvCxnSpPr>
        <p:spPr>
          <a:xfrm flipH="1">
            <a:off x="1703111" y="2771442"/>
            <a:ext cx="771464" cy="902655"/>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86DE4C6-D79F-EB2A-AD2E-CD05896CF72E}"/>
              </a:ext>
            </a:extLst>
          </p:cNvPr>
          <p:cNvCxnSpPr>
            <a:cxnSpLocks/>
            <a:stCxn id="7" idx="1"/>
            <a:endCxn id="6" idx="5"/>
          </p:cNvCxnSpPr>
          <p:nvPr/>
        </p:nvCxnSpPr>
        <p:spPr>
          <a:xfrm flipH="1" flipV="1">
            <a:off x="2857856" y="2771442"/>
            <a:ext cx="1077874" cy="982034"/>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2F3AAAAB-BF63-17BD-8270-B3E661A963EA}"/>
              </a:ext>
            </a:extLst>
          </p:cNvPr>
          <p:cNvCxnSpPr>
            <a:cxnSpLocks/>
            <a:stCxn id="7" idx="7"/>
            <a:endCxn id="8" idx="4"/>
          </p:cNvCxnSpPr>
          <p:nvPr/>
        </p:nvCxnSpPr>
        <p:spPr>
          <a:xfrm flipV="1">
            <a:off x="4319011" y="2850822"/>
            <a:ext cx="694479" cy="902654"/>
          </a:xfrm>
          <a:prstGeom prst="line">
            <a:avLst/>
          </a:prstGeom>
        </p:spPr>
        <p:style>
          <a:lnRef idx="1">
            <a:schemeClr val="accent1"/>
          </a:lnRef>
          <a:fillRef idx="0">
            <a:schemeClr val="accent1"/>
          </a:fillRef>
          <a:effectRef idx="0">
            <a:schemeClr val="accent1"/>
          </a:effectRef>
          <a:fontRef idx="minor">
            <a:schemeClr val="tx1"/>
          </a:fontRef>
        </p:style>
      </p:cxnSp>
      <p:sp>
        <p:nvSpPr>
          <p:cNvPr id="3" name="Slide Number Placeholder 2">
            <a:extLst>
              <a:ext uri="{FF2B5EF4-FFF2-40B4-BE49-F238E27FC236}">
                <a16:creationId xmlns:a16="http://schemas.microsoft.com/office/drawing/2014/main" id="{363AC55F-F72D-FD67-950F-AAD410DF20DD}"/>
              </a:ext>
            </a:extLst>
          </p:cNvPr>
          <p:cNvSpPr>
            <a:spLocks noGrp="1"/>
          </p:cNvSpPr>
          <p:nvPr>
            <p:ph type="sldNum" sz="quarter" idx="12"/>
          </p:nvPr>
        </p:nvSpPr>
        <p:spPr/>
        <p:txBody>
          <a:bodyPr/>
          <a:lstStyle/>
          <a:p>
            <a:fld id="{3DD08374-E544-47A5-94AF-CF56056772CB}" type="slidenum">
              <a:rPr lang="en-US" smtClean="0"/>
              <a:t>44</a:t>
            </a:fld>
            <a:endParaRPr lang="en-US"/>
          </a:p>
        </p:txBody>
      </p:sp>
    </p:spTree>
    <p:extLst>
      <p:ext uri="{BB962C8B-B14F-4D97-AF65-F5344CB8AC3E}">
        <p14:creationId xmlns:p14="http://schemas.microsoft.com/office/powerpoint/2010/main" val="21972476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000F12-C6E6-2330-A4B2-C5DF690A8C50}"/>
            </a:ext>
          </a:extLst>
        </p:cNvPr>
        <p:cNvGrpSpPr/>
        <p:nvPr/>
      </p:nvGrpSpPr>
      <p:grpSpPr>
        <a:xfrm>
          <a:off x="0" y="0"/>
          <a:ext cx="0" cy="0"/>
          <a:chOff x="0" y="0"/>
          <a:chExt cx="0" cy="0"/>
        </a:xfrm>
      </p:grpSpPr>
      <p:sp>
        <p:nvSpPr>
          <p:cNvPr id="5" name="Oval 4">
            <a:extLst>
              <a:ext uri="{FF2B5EF4-FFF2-40B4-BE49-F238E27FC236}">
                <a16:creationId xmlns:a16="http://schemas.microsoft.com/office/drawing/2014/main" id="{050BC5DC-45E8-28E5-81F7-1A7DB3DC662C}"/>
              </a:ext>
            </a:extLst>
          </p:cNvPr>
          <p:cNvSpPr/>
          <p:nvPr/>
        </p:nvSpPr>
        <p:spPr>
          <a:xfrm>
            <a:off x="1432090" y="3674097"/>
            <a:ext cx="542041" cy="542041"/>
          </a:xfrm>
          <a:prstGeom prst="ellipse">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A</a:t>
            </a:r>
          </a:p>
        </p:txBody>
      </p:sp>
      <p:sp>
        <p:nvSpPr>
          <p:cNvPr id="6" name="Oval 5">
            <a:extLst>
              <a:ext uri="{FF2B5EF4-FFF2-40B4-BE49-F238E27FC236}">
                <a16:creationId xmlns:a16="http://schemas.microsoft.com/office/drawing/2014/main" id="{9FF23A6E-A9A9-2073-895B-DD50E1D2B2E8}"/>
              </a:ext>
            </a:extLst>
          </p:cNvPr>
          <p:cNvSpPr/>
          <p:nvPr/>
        </p:nvSpPr>
        <p:spPr>
          <a:xfrm>
            <a:off x="2395195" y="2308781"/>
            <a:ext cx="542041" cy="542041"/>
          </a:xfrm>
          <a:prstGeom prst="ellipse">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B</a:t>
            </a:r>
          </a:p>
        </p:txBody>
      </p:sp>
      <p:sp>
        <p:nvSpPr>
          <p:cNvPr id="7" name="Oval 6">
            <a:extLst>
              <a:ext uri="{FF2B5EF4-FFF2-40B4-BE49-F238E27FC236}">
                <a16:creationId xmlns:a16="http://schemas.microsoft.com/office/drawing/2014/main" id="{9152D723-8318-2B11-5839-BF298FC0A5E2}"/>
              </a:ext>
            </a:extLst>
          </p:cNvPr>
          <p:cNvSpPr/>
          <p:nvPr/>
        </p:nvSpPr>
        <p:spPr>
          <a:xfrm>
            <a:off x="3856350" y="3674096"/>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C</a:t>
            </a:r>
          </a:p>
        </p:txBody>
      </p:sp>
      <p:sp>
        <p:nvSpPr>
          <p:cNvPr id="8" name="Oval 7">
            <a:extLst>
              <a:ext uri="{FF2B5EF4-FFF2-40B4-BE49-F238E27FC236}">
                <a16:creationId xmlns:a16="http://schemas.microsoft.com/office/drawing/2014/main" id="{E20BB97B-4ABB-6873-C2F8-3F69ECB04130}"/>
              </a:ext>
            </a:extLst>
          </p:cNvPr>
          <p:cNvSpPr/>
          <p:nvPr/>
        </p:nvSpPr>
        <p:spPr>
          <a:xfrm>
            <a:off x="4742469" y="2308781"/>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D</a:t>
            </a:r>
          </a:p>
        </p:txBody>
      </p:sp>
      <p:cxnSp>
        <p:nvCxnSpPr>
          <p:cNvPr id="9" name="Straight Connector 8">
            <a:extLst>
              <a:ext uri="{FF2B5EF4-FFF2-40B4-BE49-F238E27FC236}">
                <a16:creationId xmlns:a16="http://schemas.microsoft.com/office/drawing/2014/main" id="{50DCAE4F-03F9-9B6E-732A-D880512397E2}"/>
              </a:ext>
            </a:extLst>
          </p:cNvPr>
          <p:cNvCxnSpPr>
            <a:cxnSpLocks/>
            <a:stCxn id="6" idx="3"/>
            <a:endCxn id="5" idx="0"/>
          </p:cNvCxnSpPr>
          <p:nvPr/>
        </p:nvCxnSpPr>
        <p:spPr>
          <a:xfrm flipH="1">
            <a:off x="1703111" y="2771442"/>
            <a:ext cx="771464" cy="902655"/>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B9DC41B-AD34-FE31-283C-2E6E35B8A18A}"/>
              </a:ext>
            </a:extLst>
          </p:cNvPr>
          <p:cNvCxnSpPr>
            <a:cxnSpLocks/>
            <a:stCxn id="7" idx="1"/>
            <a:endCxn id="6" idx="5"/>
          </p:cNvCxnSpPr>
          <p:nvPr/>
        </p:nvCxnSpPr>
        <p:spPr>
          <a:xfrm flipH="1" flipV="1">
            <a:off x="2857856" y="2771442"/>
            <a:ext cx="1077874" cy="982034"/>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9E90AEB2-15B5-1B10-1E67-C1A853F58F10}"/>
              </a:ext>
            </a:extLst>
          </p:cNvPr>
          <p:cNvCxnSpPr>
            <a:cxnSpLocks/>
            <a:stCxn id="7" idx="7"/>
            <a:endCxn id="8" idx="4"/>
          </p:cNvCxnSpPr>
          <p:nvPr/>
        </p:nvCxnSpPr>
        <p:spPr>
          <a:xfrm flipV="1">
            <a:off x="4319011" y="2850822"/>
            <a:ext cx="694479" cy="902654"/>
          </a:xfrm>
          <a:prstGeom prst="line">
            <a:avLst/>
          </a:prstGeom>
        </p:spPr>
        <p:style>
          <a:lnRef idx="1">
            <a:schemeClr val="accent1"/>
          </a:lnRef>
          <a:fillRef idx="0">
            <a:schemeClr val="accent1"/>
          </a:fillRef>
          <a:effectRef idx="0">
            <a:schemeClr val="accent1"/>
          </a:effectRef>
          <a:fontRef idx="minor">
            <a:schemeClr val="tx1"/>
          </a:fontRef>
        </p:style>
      </p:cxnSp>
      <p:sp>
        <p:nvSpPr>
          <p:cNvPr id="3" name="Slide Number Placeholder 2">
            <a:extLst>
              <a:ext uri="{FF2B5EF4-FFF2-40B4-BE49-F238E27FC236}">
                <a16:creationId xmlns:a16="http://schemas.microsoft.com/office/drawing/2014/main" id="{0A24ED35-F7B4-8AB4-0261-3F2699E3E584}"/>
              </a:ext>
            </a:extLst>
          </p:cNvPr>
          <p:cNvSpPr>
            <a:spLocks noGrp="1"/>
          </p:cNvSpPr>
          <p:nvPr>
            <p:ph type="sldNum" sz="quarter" idx="12"/>
          </p:nvPr>
        </p:nvSpPr>
        <p:spPr/>
        <p:txBody>
          <a:bodyPr/>
          <a:lstStyle/>
          <a:p>
            <a:fld id="{3DD08374-E544-47A5-94AF-CF56056772CB}" type="slidenum">
              <a:rPr lang="en-US" smtClean="0"/>
              <a:t>45</a:t>
            </a:fld>
            <a:endParaRPr lang="en-US"/>
          </a:p>
        </p:txBody>
      </p:sp>
    </p:spTree>
    <p:extLst>
      <p:ext uri="{BB962C8B-B14F-4D97-AF65-F5344CB8AC3E}">
        <p14:creationId xmlns:p14="http://schemas.microsoft.com/office/powerpoint/2010/main" val="95139052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333B6-2E85-5C59-08B1-57AD763E87D6}"/>
            </a:ext>
          </a:extLst>
        </p:cNvPr>
        <p:cNvGrpSpPr/>
        <p:nvPr/>
      </p:nvGrpSpPr>
      <p:grpSpPr>
        <a:xfrm>
          <a:off x="0" y="0"/>
          <a:ext cx="0" cy="0"/>
          <a:chOff x="0" y="0"/>
          <a:chExt cx="0" cy="0"/>
        </a:xfrm>
      </p:grpSpPr>
      <p:sp>
        <p:nvSpPr>
          <p:cNvPr id="5" name="Oval 4">
            <a:extLst>
              <a:ext uri="{FF2B5EF4-FFF2-40B4-BE49-F238E27FC236}">
                <a16:creationId xmlns:a16="http://schemas.microsoft.com/office/drawing/2014/main" id="{735B249E-A1E2-EA18-918A-F296C89A60B5}"/>
              </a:ext>
            </a:extLst>
          </p:cNvPr>
          <p:cNvSpPr/>
          <p:nvPr/>
        </p:nvSpPr>
        <p:spPr>
          <a:xfrm>
            <a:off x="1432090" y="3674097"/>
            <a:ext cx="542041" cy="542041"/>
          </a:xfrm>
          <a:prstGeom prst="ellipse">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A</a:t>
            </a:r>
          </a:p>
        </p:txBody>
      </p:sp>
      <p:sp>
        <p:nvSpPr>
          <p:cNvPr id="6" name="Oval 5">
            <a:extLst>
              <a:ext uri="{FF2B5EF4-FFF2-40B4-BE49-F238E27FC236}">
                <a16:creationId xmlns:a16="http://schemas.microsoft.com/office/drawing/2014/main" id="{AC02AE8B-2302-8256-AFD4-5AC2219E0917}"/>
              </a:ext>
            </a:extLst>
          </p:cNvPr>
          <p:cNvSpPr/>
          <p:nvPr/>
        </p:nvSpPr>
        <p:spPr>
          <a:xfrm>
            <a:off x="2395195" y="2308781"/>
            <a:ext cx="542041" cy="542041"/>
          </a:xfrm>
          <a:prstGeom prst="ellipse">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B</a:t>
            </a:r>
          </a:p>
        </p:txBody>
      </p:sp>
      <p:sp>
        <p:nvSpPr>
          <p:cNvPr id="7" name="Oval 6">
            <a:extLst>
              <a:ext uri="{FF2B5EF4-FFF2-40B4-BE49-F238E27FC236}">
                <a16:creationId xmlns:a16="http://schemas.microsoft.com/office/drawing/2014/main" id="{DB4195A5-D742-58D0-4051-9102889B9318}"/>
              </a:ext>
            </a:extLst>
          </p:cNvPr>
          <p:cNvSpPr/>
          <p:nvPr/>
        </p:nvSpPr>
        <p:spPr>
          <a:xfrm>
            <a:off x="3856350" y="3674096"/>
            <a:ext cx="542041" cy="542041"/>
          </a:xfrm>
          <a:prstGeom prst="ellipse">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C</a:t>
            </a:r>
          </a:p>
        </p:txBody>
      </p:sp>
      <p:sp>
        <p:nvSpPr>
          <p:cNvPr id="8" name="Oval 7">
            <a:extLst>
              <a:ext uri="{FF2B5EF4-FFF2-40B4-BE49-F238E27FC236}">
                <a16:creationId xmlns:a16="http://schemas.microsoft.com/office/drawing/2014/main" id="{4DE744EF-221A-7D9B-AAE0-75D384F83667}"/>
              </a:ext>
            </a:extLst>
          </p:cNvPr>
          <p:cNvSpPr/>
          <p:nvPr/>
        </p:nvSpPr>
        <p:spPr>
          <a:xfrm>
            <a:off x="4742469" y="2308781"/>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D</a:t>
            </a:r>
          </a:p>
        </p:txBody>
      </p:sp>
      <p:cxnSp>
        <p:nvCxnSpPr>
          <p:cNvPr id="9" name="Straight Connector 8">
            <a:extLst>
              <a:ext uri="{FF2B5EF4-FFF2-40B4-BE49-F238E27FC236}">
                <a16:creationId xmlns:a16="http://schemas.microsoft.com/office/drawing/2014/main" id="{4C89EB59-D553-98EB-2835-8C3FF6E23AAB}"/>
              </a:ext>
            </a:extLst>
          </p:cNvPr>
          <p:cNvCxnSpPr>
            <a:cxnSpLocks/>
            <a:stCxn id="6" idx="3"/>
            <a:endCxn id="5" idx="0"/>
          </p:cNvCxnSpPr>
          <p:nvPr/>
        </p:nvCxnSpPr>
        <p:spPr>
          <a:xfrm flipH="1">
            <a:off x="1703111" y="2771442"/>
            <a:ext cx="771464" cy="902655"/>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6EDD0F8E-7C90-082F-DFFD-F774522654C8}"/>
              </a:ext>
            </a:extLst>
          </p:cNvPr>
          <p:cNvCxnSpPr>
            <a:cxnSpLocks/>
            <a:stCxn id="7" idx="1"/>
            <a:endCxn id="6" idx="5"/>
          </p:cNvCxnSpPr>
          <p:nvPr/>
        </p:nvCxnSpPr>
        <p:spPr>
          <a:xfrm flipH="1" flipV="1">
            <a:off x="2857856" y="2771442"/>
            <a:ext cx="1077874" cy="982034"/>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8D4D038E-12F9-C036-A563-C78B9B22D6B3}"/>
              </a:ext>
            </a:extLst>
          </p:cNvPr>
          <p:cNvCxnSpPr>
            <a:cxnSpLocks/>
            <a:stCxn id="7" idx="7"/>
            <a:endCxn id="8" idx="4"/>
          </p:cNvCxnSpPr>
          <p:nvPr/>
        </p:nvCxnSpPr>
        <p:spPr>
          <a:xfrm flipV="1">
            <a:off x="4319011" y="2850822"/>
            <a:ext cx="694479" cy="902654"/>
          </a:xfrm>
          <a:prstGeom prst="line">
            <a:avLst/>
          </a:prstGeom>
        </p:spPr>
        <p:style>
          <a:lnRef idx="1">
            <a:schemeClr val="accent1"/>
          </a:lnRef>
          <a:fillRef idx="0">
            <a:schemeClr val="accent1"/>
          </a:fillRef>
          <a:effectRef idx="0">
            <a:schemeClr val="accent1"/>
          </a:effectRef>
          <a:fontRef idx="minor">
            <a:schemeClr val="tx1"/>
          </a:fontRef>
        </p:style>
      </p:cxnSp>
      <p:sp>
        <p:nvSpPr>
          <p:cNvPr id="3" name="Slide Number Placeholder 2">
            <a:extLst>
              <a:ext uri="{FF2B5EF4-FFF2-40B4-BE49-F238E27FC236}">
                <a16:creationId xmlns:a16="http://schemas.microsoft.com/office/drawing/2014/main" id="{35851267-E889-8EA7-2A14-EF8CC7EC3AFA}"/>
              </a:ext>
            </a:extLst>
          </p:cNvPr>
          <p:cNvSpPr>
            <a:spLocks noGrp="1"/>
          </p:cNvSpPr>
          <p:nvPr>
            <p:ph type="sldNum" sz="quarter" idx="12"/>
          </p:nvPr>
        </p:nvSpPr>
        <p:spPr/>
        <p:txBody>
          <a:bodyPr/>
          <a:lstStyle/>
          <a:p>
            <a:fld id="{3DD08374-E544-47A5-94AF-CF56056772CB}" type="slidenum">
              <a:rPr lang="en-US" smtClean="0"/>
              <a:t>46</a:t>
            </a:fld>
            <a:endParaRPr lang="en-US"/>
          </a:p>
        </p:txBody>
      </p:sp>
    </p:spTree>
    <p:extLst>
      <p:ext uri="{BB962C8B-B14F-4D97-AF65-F5344CB8AC3E}">
        <p14:creationId xmlns:p14="http://schemas.microsoft.com/office/powerpoint/2010/main" val="342025962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373F87-BA72-8BFA-8AFC-D2AC0684E4C7}"/>
            </a:ext>
          </a:extLst>
        </p:cNvPr>
        <p:cNvGrpSpPr/>
        <p:nvPr/>
      </p:nvGrpSpPr>
      <p:grpSpPr>
        <a:xfrm>
          <a:off x="0" y="0"/>
          <a:ext cx="0" cy="0"/>
          <a:chOff x="0" y="0"/>
          <a:chExt cx="0" cy="0"/>
        </a:xfrm>
      </p:grpSpPr>
      <p:sp>
        <p:nvSpPr>
          <p:cNvPr id="5" name="Oval 4">
            <a:extLst>
              <a:ext uri="{FF2B5EF4-FFF2-40B4-BE49-F238E27FC236}">
                <a16:creationId xmlns:a16="http://schemas.microsoft.com/office/drawing/2014/main" id="{3ADC874F-C58A-77D6-D428-4F4FBEF21F6C}"/>
              </a:ext>
            </a:extLst>
          </p:cNvPr>
          <p:cNvSpPr/>
          <p:nvPr/>
        </p:nvSpPr>
        <p:spPr>
          <a:xfrm>
            <a:off x="1432090" y="3674097"/>
            <a:ext cx="542041" cy="542041"/>
          </a:xfrm>
          <a:prstGeom prst="ellipse">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A</a:t>
            </a:r>
          </a:p>
        </p:txBody>
      </p:sp>
      <p:sp>
        <p:nvSpPr>
          <p:cNvPr id="6" name="Oval 5">
            <a:extLst>
              <a:ext uri="{FF2B5EF4-FFF2-40B4-BE49-F238E27FC236}">
                <a16:creationId xmlns:a16="http://schemas.microsoft.com/office/drawing/2014/main" id="{A0C10965-0689-212E-D07E-155BCC58B68B}"/>
              </a:ext>
            </a:extLst>
          </p:cNvPr>
          <p:cNvSpPr/>
          <p:nvPr/>
        </p:nvSpPr>
        <p:spPr>
          <a:xfrm>
            <a:off x="2395195" y="2308781"/>
            <a:ext cx="542041" cy="542041"/>
          </a:xfrm>
          <a:prstGeom prst="ellipse">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B</a:t>
            </a:r>
          </a:p>
        </p:txBody>
      </p:sp>
      <p:sp>
        <p:nvSpPr>
          <p:cNvPr id="7" name="Oval 6">
            <a:extLst>
              <a:ext uri="{FF2B5EF4-FFF2-40B4-BE49-F238E27FC236}">
                <a16:creationId xmlns:a16="http://schemas.microsoft.com/office/drawing/2014/main" id="{3F715493-AAD8-0C2F-60C4-18230B170ED2}"/>
              </a:ext>
            </a:extLst>
          </p:cNvPr>
          <p:cNvSpPr/>
          <p:nvPr/>
        </p:nvSpPr>
        <p:spPr>
          <a:xfrm>
            <a:off x="3856350" y="3674096"/>
            <a:ext cx="542041" cy="542041"/>
          </a:xfrm>
          <a:prstGeom prst="ellipse">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C</a:t>
            </a:r>
          </a:p>
        </p:txBody>
      </p:sp>
      <p:sp>
        <p:nvSpPr>
          <p:cNvPr id="8" name="Oval 7">
            <a:extLst>
              <a:ext uri="{FF2B5EF4-FFF2-40B4-BE49-F238E27FC236}">
                <a16:creationId xmlns:a16="http://schemas.microsoft.com/office/drawing/2014/main" id="{55F71EF9-DB44-FA0B-9EC5-F143D129903B}"/>
              </a:ext>
            </a:extLst>
          </p:cNvPr>
          <p:cNvSpPr/>
          <p:nvPr/>
        </p:nvSpPr>
        <p:spPr>
          <a:xfrm>
            <a:off x="4742469" y="2308781"/>
            <a:ext cx="542041" cy="542041"/>
          </a:xfrm>
          <a:prstGeom prst="ellipse">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D</a:t>
            </a:r>
          </a:p>
        </p:txBody>
      </p:sp>
      <p:cxnSp>
        <p:nvCxnSpPr>
          <p:cNvPr id="9" name="Straight Connector 8">
            <a:extLst>
              <a:ext uri="{FF2B5EF4-FFF2-40B4-BE49-F238E27FC236}">
                <a16:creationId xmlns:a16="http://schemas.microsoft.com/office/drawing/2014/main" id="{ADD9E060-F8ED-1950-1F24-337A4A377DBA}"/>
              </a:ext>
            </a:extLst>
          </p:cNvPr>
          <p:cNvCxnSpPr>
            <a:cxnSpLocks/>
            <a:stCxn id="6" idx="3"/>
            <a:endCxn id="5" idx="0"/>
          </p:cNvCxnSpPr>
          <p:nvPr/>
        </p:nvCxnSpPr>
        <p:spPr>
          <a:xfrm flipH="1">
            <a:off x="1703111" y="2771442"/>
            <a:ext cx="771464" cy="902655"/>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C5510D7-15D5-26E4-3F35-4BAE7F638BF4}"/>
              </a:ext>
            </a:extLst>
          </p:cNvPr>
          <p:cNvCxnSpPr>
            <a:cxnSpLocks/>
            <a:stCxn id="7" idx="1"/>
            <a:endCxn id="6" idx="5"/>
          </p:cNvCxnSpPr>
          <p:nvPr/>
        </p:nvCxnSpPr>
        <p:spPr>
          <a:xfrm flipH="1" flipV="1">
            <a:off x="2857856" y="2771442"/>
            <a:ext cx="1077874" cy="982034"/>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55267F7E-4C14-18AD-9CF3-84AB864B0D35}"/>
              </a:ext>
            </a:extLst>
          </p:cNvPr>
          <p:cNvCxnSpPr>
            <a:cxnSpLocks/>
            <a:stCxn id="7" idx="7"/>
            <a:endCxn id="8" idx="4"/>
          </p:cNvCxnSpPr>
          <p:nvPr/>
        </p:nvCxnSpPr>
        <p:spPr>
          <a:xfrm flipV="1">
            <a:off x="4319011" y="2850822"/>
            <a:ext cx="694479" cy="902654"/>
          </a:xfrm>
          <a:prstGeom prst="line">
            <a:avLst/>
          </a:prstGeom>
        </p:spPr>
        <p:style>
          <a:lnRef idx="1">
            <a:schemeClr val="accent1"/>
          </a:lnRef>
          <a:fillRef idx="0">
            <a:schemeClr val="accent1"/>
          </a:fillRef>
          <a:effectRef idx="0">
            <a:schemeClr val="accent1"/>
          </a:effectRef>
          <a:fontRef idx="minor">
            <a:schemeClr val="tx1"/>
          </a:fontRef>
        </p:style>
      </p:cxnSp>
      <p:sp>
        <p:nvSpPr>
          <p:cNvPr id="3" name="Slide Number Placeholder 2">
            <a:extLst>
              <a:ext uri="{FF2B5EF4-FFF2-40B4-BE49-F238E27FC236}">
                <a16:creationId xmlns:a16="http://schemas.microsoft.com/office/drawing/2014/main" id="{1828B070-079F-899A-946A-6F734E0E6638}"/>
              </a:ext>
            </a:extLst>
          </p:cNvPr>
          <p:cNvSpPr>
            <a:spLocks noGrp="1"/>
          </p:cNvSpPr>
          <p:nvPr>
            <p:ph type="sldNum" sz="quarter" idx="12"/>
          </p:nvPr>
        </p:nvSpPr>
        <p:spPr/>
        <p:txBody>
          <a:bodyPr/>
          <a:lstStyle/>
          <a:p>
            <a:fld id="{3DD08374-E544-47A5-94AF-CF56056772CB}" type="slidenum">
              <a:rPr lang="en-US" smtClean="0"/>
              <a:t>47</a:t>
            </a:fld>
            <a:endParaRPr lang="en-US"/>
          </a:p>
        </p:txBody>
      </p:sp>
    </p:spTree>
    <p:extLst>
      <p:ext uri="{BB962C8B-B14F-4D97-AF65-F5344CB8AC3E}">
        <p14:creationId xmlns:p14="http://schemas.microsoft.com/office/powerpoint/2010/main" val="197684222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F717D8-9C8F-A261-7A15-FB852B49DDF1}"/>
            </a:ext>
          </a:extLst>
        </p:cNvPr>
        <p:cNvGrpSpPr/>
        <p:nvPr/>
      </p:nvGrpSpPr>
      <p:grpSpPr>
        <a:xfrm>
          <a:off x="0" y="0"/>
          <a:ext cx="0" cy="0"/>
          <a:chOff x="0" y="0"/>
          <a:chExt cx="0" cy="0"/>
        </a:xfrm>
      </p:grpSpPr>
      <p:sp>
        <p:nvSpPr>
          <p:cNvPr id="5" name="Oval 4">
            <a:extLst>
              <a:ext uri="{FF2B5EF4-FFF2-40B4-BE49-F238E27FC236}">
                <a16:creationId xmlns:a16="http://schemas.microsoft.com/office/drawing/2014/main" id="{142D1DF5-2447-AE8B-77EE-3D2A347518A5}"/>
              </a:ext>
            </a:extLst>
          </p:cNvPr>
          <p:cNvSpPr/>
          <p:nvPr/>
        </p:nvSpPr>
        <p:spPr>
          <a:xfrm>
            <a:off x="1432090" y="3674097"/>
            <a:ext cx="542041" cy="542041"/>
          </a:xfrm>
          <a:prstGeom prst="ellipse">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A</a:t>
            </a:r>
          </a:p>
        </p:txBody>
      </p:sp>
      <p:sp>
        <p:nvSpPr>
          <p:cNvPr id="6" name="Oval 5">
            <a:extLst>
              <a:ext uri="{FF2B5EF4-FFF2-40B4-BE49-F238E27FC236}">
                <a16:creationId xmlns:a16="http://schemas.microsoft.com/office/drawing/2014/main" id="{742707B3-BA4C-C752-C24E-623AB0DFF59B}"/>
              </a:ext>
            </a:extLst>
          </p:cNvPr>
          <p:cNvSpPr/>
          <p:nvPr/>
        </p:nvSpPr>
        <p:spPr>
          <a:xfrm>
            <a:off x="2395195" y="2308781"/>
            <a:ext cx="542041" cy="542041"/>
          </a:xfrm>
          <a:prstGeom prst="ellipse">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B</a:t>
            </a:r>
          </a:p>
        </p:txBody>
      </p:sp>
      <p:sp>
        <p:nvSpPr>
          <p:cNvPr id="7" name="Oval 6">
            <a:extLst>
              <a:ext uri="{FF2B5EF4-FFF2-40B4-BE49-F238E27FC236}">
                <a16:creationId xmlns:a16="http://schemas.microsoft.com/office/drawing/2014/main" id="{269E67AF-3D78-223B-F12D-981E53EDD75B}"/>
              </a:ext>
            </a:extLst>
          </p:cNvPr>
          <p:cNvSpPr/>
          <p:nvPr/>
        </p:nvSpPr>
        <p:spPr>
          <a:xfrm>
            <a:off x="3856350" y="3674096"/>
            <a:ext cx="542041" cy="542041"/>
          </a:xfrm>
          <a:prstGeom prst="ellipse">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C</a:t>
            </a:r>
          </a:p>
        </p:txBody>
      </p:sp>
      <p:sp>
        <p:nvSpPr>
          <p:cNvPr id="8" name="Oval 7">
            <a:extLst>
              <a:ext uri="{FF2B5EF4-FFF2-40B4-BE49-F238E27FC236}">
                <a16:creationId xmlns:a16="http://schemas.microsoft.com/office/drawing/2014/main" id="{0444B960-290E-A7D8-FC2D-97339882CC2E}"/>
              </a:ext>
            </a:extLst>
          </p:cNvPr>
          <p:cNvSpPr/>
          <p:nvPr/>
        </p:nvSpPr>
        <p:spPr>
          <a:xfrm>
            <a:off x="4742469" y="2308781"/>
            <a:ext cx="542041" cy="542041"/>
          </a:xfrm>
          <a:prstGeom prst="ellipse">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D</a:t>
            </a:r>
          </a:p>
        </p:txBody>
      </p:sp>
      <p:cxnSp>
        <p:nvCxnSpPr>
          <p:cNvPr id="9" name="Straight Connector 8">
            <a:extLst>
              <a:ext uri="{FF2B5EF4-FFF2-40B4-BE49-F238E27FC236}">
                <a16:creationId xmlns:a16="http://schemas.microsoft.com/office/drawing/2014/main" id="{19FC3B38-31C0-9D73-83EA-6F6765D04A3F}"/>
              </a:ext>
            </a:extLst>
          </p:cNvPr>
          <p:cNvCxnSpPr>
            <a:cxnSpLocks/>
            <a:stCxn id="6" idx="3"/>
            <a:endCxn id="5" idx="0"/>
          </p:cNvCxnSpPr>
          <p:nvPr/>
        </p:nvCxnSpPr>
        <p:spPr>
          <a:xfrm flipH="1">
            <a:off x="1703111" y="2771442"/>
            <a:ext cx="771464" cy="902655"/>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1BB652CB-4ACE-8FB3-B07A-43A83E0EC065}"/>
              </a:ext>
            </a:extLst>
          </p:cNvPr>
          <p:cNvCxnSpPr>
            <a:cxnSpLocks/>
            <a:stCxn id="7" idx="1"/>
            <a:endCxn id="6" idx="5"/>
          </p:cNvCxnSpPr>
          <p:nvPr/>
        </p:nvCxnSpPr>
        <p:spPr>
          <a:xfrm flipH="1" flipV="1">
            <a:off x="2857856" y="2771442"/>
            <a:ext cx="1077874" cy="982034"/>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DEBD2BF-8310-5A28-DD86-DF4685554FC2}"/>
              </a:ext>
            </a:extLst>
          </p:cNvPr>
          <p:cNvCxnSpPr>
            <a:cxnSpLocks/>
            <a:stCxn id="7" idx="7"/>
            <a:endCxn id="8" idx="4"/>
          </p:cNvCxnSpPr>
          <p:nvPr/>
        </p:nvCxnSpPr>
        <p:spPr>
          <a:xfrm flipV="1">
            <a:off x="4319011" y="2850822"/>
            <a:ext cx="694479" cy="902654"/>
          </a:xfrm>
          <a:prstGeom prst="line">
            <a:avLst/>
          </a:prstGeom>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22AC0FDD-FA9D-68E5-E14D-6BE3B33930C2}"/>
              </a:ext>
            </a:extLst>
          </p:cNvPr>
          <p:cNvSpPr txBox="1"/>
          <p:nvPr/>
        </p:nvSpPr>
        <p:spPr>
          <a:xfrm>
            <a:off x="1593130" y="5269584"/>
            <a:ext cx="3525625" cy="369332"/>
          </a:xfrm>
          <a:prstGeom prst="rect">
            <a:avLst/>
          </a:prstGeom>
          <a:noFill/>
        </p:spPr>
        <p:txBody>
          <a:bodyPr wrap="square" rtlCol="0">
            <a:spAutoFit/>
          </a:bodyPr>
          <a:lstStyle/>
          <a:p>
            <a:r>
              <a:rPr lang="en-US" dirty="0"/>
              <a:t>Normal Graph Coloring (distance-1)</a:t>
            </a:r>
          </a:p>
        </p:txBody>
      </p:sp>
      <p:sp>
        <p:nvSpPr>
          <p:cNvPr id="4" name="Slide Number Placeholder 3">
            <a:extLst>
              <a:ext uri="{FF2B5EF4-FFF2-40B4-BE49-F238E27FC236}">
                <a16:creationId xmlns:a16="http://schemas.microsoft.com/office/drawing/2014/main" id="{9E365A9C-5321-C719-2ED8-47262E3E5DB7}"/>
              </a:ext>
            </a:extLst>
          </p:cNvPr>
          <p:cNvSpPr>
            <a:spLocks noGrp="1"/>
          </p:cNvSpPr>
          <p:nvPr>
            <p:ph type="sldNum" sz="quarter" idx="12"/>
          </p:nvPr>
        </p:nvSpPr>
        <p:spPr/>
        <p:txBody>
          <a:bodyPr/>
          <a:lstStyle/>
          <a:p>
            <a:fld id="{3DD08374-E544-47A5-94AF-CF56056772CB}" type="slidenum">
              <a:rPr lang="en-US" smtClean="0"/>
              <a:t>48</a:t>
            </a:fld>
            <a:endParaRPr lang="en-US"/>
          </a:p>
        </p:txBody>
      </p:sp>
    </p:spTree>
    <p:extLst>
      <p:ext uri="{BB962C8B-B14F-4D97-AF65-F5344CB8AC3E}">
        <p14:creationId xmlns:p14="http://schemas.microsoft.com/office/powerpoint/2010/main" val="318753917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0BA8A2-4DED-EC62-4374-07E291EBABC6}"/>
            </a:ext>
          </a:extLst>
        </p:cNvPr>
        <p:cNvGrpSpPr/>
        <p:nvPr/>
      </p:nvGrpSpPr>
      <p:grpSpPr>
        <a:xfrm>
          <a:off x="0" y="0"/>
          <a:ext cx="0" cy="0"/>
          <a:chOff x="0" y="0"/>
          <a:chExt cx="0" cy="0"/>
        </a:xfrm>
      </p:grpSpPr>
      <p:sp>
        <p:nvSpPr>
          <p:cNvPr id="5" name="Oval 4">
            <a:extLst>
              <a:ext uri="{FF2B5EF4-FFF2-40B4-BE49-F238E27FC236}">
                <a16:creationId xmlns:a16="http://schemas.microsoft.com/office/drawing/2014/main" id="{83FDE415-AD5F-1F12-1E8C-291B5C4C0C23}"/>
              </a:ext>
            </a:extLst>
          </p:cNvPr>
          <p:cNvSpPr/>
          <p:nvPr/>
        </p:nvSpPr>
        <p:spPr>
          <a:xfrm>
            <a:off x="1432090" y="3674097"/>
            <a:ext cx="542041" cy="542041"/>
          </a:xfrm>
          <a:prstGeom prst="ellipse">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A</a:t>
            </a:r>
          </a:p>
        </p:txBody>
      </p:sp>
      <p:sp>
        <p:nvSpPr>
          <p:cNvPr id="6" name="Oval 5">
            <a:extLst>
              <a:ext uri="{FF2B5EF4-FFF2-40B4-BE49-F238E27FC236}">
                <a16:creationId xmlns:a16="http://schemas.microsoft.com/office/drawing/2014/main" id="{27741957-B049-AE60-C4EF-157844088E25}"/>
              </a:ext>
            </a:extLst>
          </p:cNvPr>
          <p:cNvSpPr/>
          <p:nvPr/>
        </p:nvSpPr>
        <p:spPr>
          <a:xfrm>
            <a:off x="2395195" y="2308781"/>
            <a:ext cx="542041" cy="542041"/>
          </a:xfrm>
          <a:prstGeom prst="ellipse">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B</a:t>
            </a:r>
          </a:p>
        </p:txBody>
      </p:sp>
      <p:sp>
        <p:nvSpPr>
          <p:cNvPr id="7" name="Oval 6">
            <a:extLst>
              <a:ext uri="{FF2B5EF4-FFF2-40B4-BE49-F238E27FC236}">
                <a16:creationId xmlns:a16="http://schemas.microsoft.com/office/drawing/2014/main" id="{EC58151D-42E6-0EB2-63FF-975A50372F33}"/>
              </a:ext>
            </a:extLst>
          </p:cNvPr>
          <p:cNvSpPr/>
          <p:nvPr/>
        </p:nvSpPr>
        <p:spPr>
          <a:xfrm>
            <a:off x="3856350" y="3674096"/>
            <a:ext cx="542041" cy="542041"/>
          </a:xfrm>
          <a:prstGeom prst="ellipse">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C</a:t>
            </a:r>
          </a:p>
        </p:txBody>
      </p:sp>
      <p:sp>
        <p:nvSpPr>
          <p:cNvPr id="8" name="Oval 7">
            <a:extLst>
              <a:ext uri="{FF2B5EF4-FFF2-40B4-BE49-F238E27FC236}">
                <a16:creationId xmlns:a16="http://schemas.microsoft.com/office/drawing/2014/main" id="{7FBC245A-4E8E-DB60-1854-0311665EFAF2}"/>
              </a:ext>
            </a:extLst>
          </p:cNvPr>
          <p:cNvSpPr/>
          <p:nvPr/>
        </p:nvSpPr>
        <p:spPr>
          <a:xfrm>
            <a:off x="4742469" y="2308781"/>
            <a:ext cx="542041" cy="542041"/>
          </a:xfrm>
          <a:prstGeom prst="ellipse">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D</a:t>
            </a:r>
          </a:p>
        </p:txBody>
      </p:sp>
      <p:cxnSp>
        <p:nvCxnSpPr>
          <p:cNvPr id="9" name="Straight Connector 8">
            <a:extLst>
              <a:ext uri="{FF2B5EF4-FFF2-40B4-BE49-F238E27FC236}">
                <a16:creationId xmlns:a16="http://schemas.microsoft.com/office/drawing/2014/main" id="{363BCCDE-6A35-8DDF-6F5E-D65CCA1B345B}"/>
              </a:ext>
            </a:extLst>
          </p:cNvPr>
          <p:cNvCxnSpPr>
            <a:cxnSpLocks/>
            <a:stCxn id="6" idx="3"/>
            <a:endCxn id="5" idx="0"/>
          </p:cNvCxnSpPr>
          <p:nvPr/>
        </p:nvCxnSpPr>
        <p:spPr>
          <a:xfrm flipH="1">
            <a:off x="1703111" y="2771442"/>
            <a:ext cx="771464" cy="902655"/>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E89DE75-E1EB-F9FD-20EC-4AA2E2835AD5}"/>
              </a:ext>
            </a:extLst>
          </p:cNvPr>
          <p:cNvCxnSpPr>
            <a:cxnSpLocks/>
            <a:stCxn id="7" idx="1"/>
            <a:endCxn id="6" idx="5"/>
          </p:cNvCxnSpPr>
          <p:nvPr/>
        </p:nvCxnSpPr>
        <p:spPr>
          <a:xfrm flipH="1" flipV="1">
            <a:off x="2857856" y="2771442"/>
            <a:ext cx="1077874" cy="982034"/>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2FA76567-3F1E-09C7-D7D4-CF0F745244AA}"/>
              </a:ext>
            </a:extLst>
          </p:cNvPr>
          <p:cNvCxnSpPr>
            <a:cxnSpLocks/>
            <a:stCxn id="7" idx="7"/>
            <a:endCxn id="8" idx="4"/>
          </p:cNvCxnSpPr>
          <p:nvPr/>
        </p:nvCxnSpPr>
        <p:spPr>
          <a:xfrm flipV="1">
            <a:off x="4319011" y="2850822"/>
            <a:ext cx="694479" cy="902654"/>
          </a:xfrm>
          <a:prstGeom prst="line">
            <a:avLst/>
          </a:prstGeom>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5D1CAD79-5EAF-B3DD-B558-A633CC7247FF}"/>
              </a:ext>
            </a:extLst>
          </p:cNvPr>
          <p:cNvSpPr txBox="1"/>
          <p:nvPr/>
        </p:nvSpPr>
        <p:spPr>
          <a:xfrm>
            <a:off x="1593130" y="5269584"/>
            <a:ext cx="3525625" cy="369332"/>
          </a:xfrm>
          <a:prstGeom prst="rect">
            <a:avLst/>
          </a:prstGeom>
          <a:noFill/>
        </p:spPr>
        <p:txBody>
          <a:bodyPr wrap="square" rtlCol="0">
            <a:spAutoFit/>
          </a:bodyPr>
          <a:lstStyle/>
          <a:p>
            <a:r>
              <a:rPr lang="en-US" dirty="0"/>
              <a:t>Normal Graph Coloring (distance-1)</a:t>
            </a:r>
          </a:p>
        </p:txBody>
      </p:sp>
      <p:sp>
        <p:nvSpPr>
          <p:cNvPr id="3" name="Oval 2">
            <a:extLst>
              <a:ext uri="{FF2B5EF4-FFF2-40B4-BE49-F238E27FC236}">
                <a16:creationId xmlns:a16="http://schemas.microsoft.com/office/drawing/2014/main" id="{27FA0942-E79F-451E-3281-885BFCC09A41}"/>
              </a:ext>
            </a:extLst>
          </p:cNvPr>
          <p:cNvSpPr/>
          <p:nvPr/>
        </p:nvSpPr>
        <p:spPr>
          <a:xfrm>
            <a:off x="6861927" y="3777792"/>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A</a:t>
            </a:r>
          </a:p>
        </p:txBody>
      </p:sp>
      <p:sp>
        <p:nvSpPr>
          <p:cNvPr id="4" name="Oval 3">
            <a:extLst>
              <a:ext uri="{FF2B5EF4-FFF2-40B4-BE49-F238E27FC236}">
                <a16:creationId xmlns:a16="http://schemas.microsoft.com/office/drawing/2014/main" id="{1D4295DA-D2F2-B110-F9BF-2F6EBF9BEC6F}"/>
              </a:ext>
            </a:extLst>
          </p:cNvPr>
          <p:cNvSpPr/>
          <p:nvPr/>
        </p:nvSpPr>
        <p:spPr>
          <a:xfrm>
            <a:off x="7825032" y="2412476"/>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B</a:t>
            </a:r>
          </a:p>
        </p:txBody>
      </p:sp>
      <p:sp>
        <p:nvSpPr>
          <p:cNvPr id="12" name="Oval 11">
            <a:extLst>
              <a:ext uri="{FF2B5EF4-FFF2-40B4-BE49-F238E27FC236}">
                <a16:creationId xmlns:a16="http://schemas.microsoft.com/office/drawing/2014/main" id="{3CAE85FF-C180-D776-CF5E-ABFCF3E35241}"/>
              </a:ext>
            </a:extLst>
          </p:cNvPr>
          <p:cNvSpPr/>
          <p:nvPr/>
        </p:nvSpPr>
        <p:spPr>
          <a:xfrm>
            <a:off x="9286187" y="3777791"/>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C</a:t>
            </a:r>
          </a:p>
        </p:txBody>
      </p:sp>
      <p:sp>
        <p:nvSpPr>
          <p:cNvPr id="13" name="Oval 12">
            <a:extLst>
              <a:ext uri="{FF2B5EF4-FFF2-40B4-BE49-F238E27FC236}">
                <a16:creationId xmlns:a16="http://schemas.microsoft.com/office/drawing/2014/main" id="{FE7F330B-CF68-B593-3998-B50ED072E655}"/>
              </a:ext>
            </a:extLst>
          </p:cNvPr>
          <p:cNvSpPr/>
          <p:nvPr/>
        </p:nvSpPr>
        <p:spPr>
          <a:xfrm>
            <a:off x="10172306" y="2412476"/>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D</a:t>
            </a:r>
          </a:p>
        </p:txBody>
      </p:sp>
      <p:cxnSp>
        <p:nvCxnSpPr>
          <p:cNvPr id="14" name="Straight Connector 13">
            <a:extLst>
              <a:ext uri="{FF2B5EF4-FFF2-40B4-BE49-F238E27FC236}">
                <a16:creationId xmlns:a16="http://schemas.microsoft.com/office/drawing/2014/main" id="{20D48486-8491-F0B3-0B29-335FDBAE27EB}"/>
              </a:ext>
            </a:extLst>
          </p:cNvPr>
          <p:cNvCxnSpPr>
            <a:cxnSpLocks/>
            <a:stCxn id="4" idx="3"/>
            <a:endCxn id="3" idx="0"/>
          </p:cNvCxnSpPr>
          <p:nvPr/>
        </p:nvCxnSpPr>
        <p:spPr>
          <a:xfrm flipH="1">
            <a:off x="7132948" y="2875137"/>
            <a:ext cx="771464" cy="902655"/>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65A2F7DB-9760-9DE7-B909-53FECAE83068}"/>
              </a:ext>
            </a:extLst>
          </p:cNvPr>
          <p:cNvCxnSpPr>
            <a:cxnSpLocks/>
            <a:stCxn id="12" idx="1"/>
            <a:endCxn id="4" idx="5"/>
          </p:cNvCxnSpPr>
          <p:nvPr/>
        </p:nvCxnSpPr>
        <p:spPr>
          <a:xfrm flipH="1" flipV="1">
            <a:off x="8287693" y="2875137"/>
            <a:ext cx="1077874" cy="982034"/>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EE69B644-1677-EB45-F86C-E37C80C9940B}"/>
              </a:ext>
            </a:extLst>
          </p:cNvPr>
          <p:cNvCxnSpPr>
            <a:cxnSpLocks/>
            <a:stCxn id="12" idx="7"/>
            <a:endCxn id="13" idx="4"/>
          </p:cNvCxnSpPr>
          <p:nvPr/>
        </p:nvCxnSpPr>
        <p:spPr>
          <a:xfrm flipV="1">
            <a:off x="9748848" y="2954517"/>
            <a:ext cx="694479" cy="902654"/>
          </a:xfrm>
          <a:prstGeom prst="line">
            <a:avLst/>
          </a:prstGeom>
        </p:spPr>
        <p:style>
          <a:lnRef idx="1">
            <a:schemeClr val="accent1"/>
          </a:lnRef>
          <a:fillRef idx="0">
            <a:schemeClr val="accent1"/>
          </a:fillRef>
          <a:effectRef idx="0">
            <a:schemeClr val="accent1"/>
          </a:effectRef>
          <a:fontRef idx="minor">
            <a:schemeClr val="tx1"/>
          </a:fontRef>
        </p:style>
      </p:cxnSp>
      <p:sp>
        <p:nvSpPr>
          <p:cNvPr id="18" name="Slide Number Placeholder 17">
            <a:extLst>
              <a:ext uri="{FF2B5EF4-FFF2-40B4-BE49-F238E27FC236}">
                <a16:creationId xmlns:a16="http://schemas.microsoft.com/office/drawing/2014/main" id="{C38E8174-34AF-01B8-9291-B6956E91D032}"/>
              </a:ext>
            </a:extLst>
          </p:cNvPr>
          <p:cNvSpPr>
            <a:spLocks noGrp="1"/>
          </p:cNvSpPr>
          <p:nvPr>
            <p:ph type="sldNum" sz="quarter" idx="12"/>
          </p:nvPr>
        </p:nvSpPr>
        <p:spPr/>
        <p:txBody>
          <a:bodyPr/>
          <a:lstStyle/>
          <a:p>
            <a:fld id="{3DD08374-E544-47A5-94AF-CF56056772CB}" type="slidenum">
              <a:rPr lang="en-US" smtClean="0"/>
              <a:t>49</a:t>
            </a:fld>
            <a:endParaRPr lang="en-US"/>
          </a:p>
        </p:txBody>
      </p:sp>
    </p:spTree>
    <p:extLst>
      <p:ext uri="{BB962C8B-B14F-4D97-AF65-F5344CB8AC3E}">
        <p14:creationId xmlns:p14="http://schemas.microsoft.com/office/powerpoint/2010/main" val="44039906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00FDB8-719E-4258-73AD-EB73509B1672}"/>
            </a:ext>
          </a:extLst>
        </p:cNvPr>
        <p:cNvGrpSpPr/>
        <p:nvPr/>
      </p:nvGrpSpPr>
      <p:grpSpPr>
        <a:xfrm>
          <a:off x="0" y="0"/>
          <a:ext cx="0" cy="0"/>
          <a:chOff x="0" y="0"/>
          <a:chExt cx="0" cy="0"/>
        </a:xfrm>
      </p:grpSpPr>
      <p:sp>
        <p:nvSpPr>
          <p:cNvPr id="5" name="Oval 4">
            <a:extLst>
              <a:ext uri="{FF2B5EF4-FFF2-40B4-BE49-F238E27FC236}">
                <a16:creationId xmlns:a16="http://schemas.microsoft.com/office/drawing/2014/main" id="{1E4950A5-5390-5E05-7024-D9E02B9BF0E3}"/>
              </a:ext>
            </a:extLst>
          </p:cNvPr>
          <p:cNvSpPr/>
          <p:nvPr/>
        </p:nvSpPr>
        <p:spPr>
          <a:xfrm>
            <a:off x="1432090" y="3674097"/>
            <a:ext cx="542041" cy="542041"/>
          </a:xfrm>
          <a:prstGeom prst="ellipse">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A</a:t>
            </a:r>
          </a:p>
        </p:txBody>
      </p:sp>
      <p:sp>
        <p:nvSpPr>
          <p:cNvPr id="6" name="Oval 5">
            <a:extLst>
              <a:ext uri="{FF2B5EF4-FFF2-40B4-BE49-F238E27FC236}">
                <a16:creationId xmlns:a16="http://schemas.microsoft.com/office/drawing/2014/main" id="{E21AE0AB-4481-4DF8-D5AB-816A3A83E933}"/>
              </a:ext>
            </a:extLst>
          </p:cNvPr>
          <p:cNvSpPr/>
          <p:nvPr/>
        </p:nvSpPr>
        <p:spPr>
          <a:xfrm>
            <a:off x="2395195" y="2308781"/>
            <a:ext cx="542041" cy="542041"/>
          </a:xfrm>
          <a:prstGeom prst="ellipse">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B</a:t>
            </a:r>
          </a:p>
        </p:txBody>
      </p:sp>
      <p:sp>
        <p:nvSpPr>
          <p:cNvPr id="7" name="Oval 6">
            <a:extLst>
              <a:ext uri="{FF2B5EF4-FFF2-40B4-BE49-F238E27FC236}">
                <a16:creationId xmlns:a16="http://schemas.microsoft.com/office/drawing/2014/main" id="{7D31427C-E29F-5445-B3AF-F212AB65294F}"/>
              </a:ext>
            </a:extLst>
          </p:cNvPr>
          <p:cNvSpPr/>
          <p:nvPr/>
        </p:nvSpPr>
        <p:spPr>
          <a:xfrm>
            <a:off x="3856350" y="3674096"/>
            <a:ext cx="542041" cy="542041"/>
          </a:xfrm>
          <a:prstGeom prst="ellipse">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C</a:t>
            </a:r>
          </a:p>
        </p:txBody>
      </p:sp>
      <p:sp>
        <p:nvSpPr>
          <p:cNvPr id="8" name="Oval 7">
            <a:extLst>
              <a:ext uri="{FF2B5EF4-FFF2-40B4-BE49-F238E27FC236}">
                <a16:creationId xmlns:a16="http://schemas.microsoft.com/office/drawing/2014/main" id="{F75C1A13-F96E-0F12-178F-BCED3722C788}"/>
              </a:ext>
            </a:extLst>
          </p:cNvPr>
          <p:cNvSpPr/>
          <p:nvPr/>
        </p:nvSpPr>
        <p:spPr>
          <a:xfrm>
            <a:off x="4742469" y="2308781"/>
            <a:ext cx="542041" cy="542041"/>
          </a:xfrm>
          <a:prstGeom prst="ellipse">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D</a:t>
            </a:r>
          </a:p>
        </p:txBody>
      </p:sp>
      <p:cxnSp>
        <p:nvCxnSpPr>
          <p:cNvPr id="9" name="Straight Connector 8">
            <a:extLst>
              <a:ext uri="{FF2B5EF4-FFF2-40B4-BE49-F238E27FC236}">
                <a16:creationId xmlns:a16="http://schemas.microsoft.com/office/drawing/2014/main" id="{32330DCA-8FA7-E6B4-4F23-6D87A5560621}"/>
              </a:ext>
            </a:extLst>
          </p:cNvPr>
          <p:cNvCxnSpPr>
            <a:cxnSpLocks/>
            <a:stCxn id="6" idx="3"/>
            <a:endCxn id="5" idx="0"/>
          </p:cNvCxnSpPr>
          <p:nvPr/>
        </p:nvCxnSpPr>
        <p:spPr>
          <a:xfrm flipH="1">
            <a:off x="1703111" y="2771442"/>
            <a:ext cx="771464" cy="902655"/>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C393F0EF-2A46-1EF5-8E3C-2AFA736E3F0E}"/>
              </a:ext>
            </a:extLst>
          </p:cNvPr>
          <p:cNvCxnSpPr>
            <a:cxnSpLocks/>
            <a:stCxn id="7" idx="1"/>
            <a:endCxn id="6" idx="5"/>
          </p:cNvCxnSpPr>
          <p:nvPr/>
        </p:nvCxnSpPr>
        <p:spPr>
          <a:xfrm flipH="1" flipV="1">
            <a:off x="2857856" y="2771442"/>
            <a:ext cx="1077874" cy="982034"/>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840E2E59-65CB-2EE5-D290-0C32C2C0584E}"/>
              </a:ext>
            </a:extLst>
          </p:cNvPr>
          <p:cNvCxnSpPr>
            <a:cxnSpLocks/>
            <a:stCxn id="7" idx="7"/>
            <a:endCxn id="8" idx="4"/>
          </p:cNvCxnSpPr>
          <p:nvPr/>
        </p:nvCxnSpPr>
        <p:spPr>
          <a:xfrm flipV="1">
            <a:off x="4319011" y="2850822"/>
            <a:ext cx="694479" cy="902654"/>
          </a:xfrm>
          <a:prstGeom prst="line">
            <a:avLst/>
          </a:prstGeom>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BBFF9852-20D8-4E78-6A47-C5BF6DE440DF}"/>
              </a:ext>
            </a:extLst>
          </p:cNvPr>
          <p:cNvSpPr txBox="1"/>
          <p:nvPr/>
        </p:nvSpPr>
        <p:spPr>
          <a:xfrm>
            <a:off x="1593130" y="5269584"/>
            <a:ext cx="3525625" cy="369332"/>
          </a:xfrm>
          <a:prstGeom prst="rect">
            <a:avLst/>
          </a:prstGeom>
          <a:noFill/>
        </p:spPr>
        <p:txBody>
          <a:bodyPr wrap="square" rtlCol="0">
            <a:spAutoFit/>
          </a:bodyPr>
          <a:lstStyle/>
          <a:p>
            <a:r>
              <a:rPr lang="en-US" dirty="0"/>
              <a:t>Normal Graph Coloring (distance-1)</a:t>
            </a:r>
          </a:p>
        </p:txBody>
      </p:sp>
      <p:sp>
        <p:nvSpPr>
          <p:cNvPr id="3" name="Oval 2">
            <a:extLst>
              <a:ext uri="{FF2B5EF4-FFF2-40B4-BE49-F238E27FC236}">
                <a16:creationId xmlns:a16="http://schemas.microsoft.com/office/drawing/2014/main" id="{32F25A4E-95C2-E021-590C-55E94D139D04}"/>
              </a:ext>
            </a:extLst>
          </p:cNvPr>
          <p:cNvSpPr/>
          <p:nvPr/>
        </p:nvSpPr>
        <p:spPr>
          <a:xfrm>
            <a:off x="6861927" y="3777792"/>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A</a:t>
            </a:r>
          </a:p>
        </p:txBody>
      </p:sp>
      <p:sp>
        <p:nvSpPr>
          <p:cNvPr id="4" name="Oval 3">
            <a:extLst>
              <a:ext uri="{FF2B5EF4-FFF2-40B4-BE49-F238E27FC236}">
                <a16:creationId xmlns:a16="http://schemas.microsoft.com/office/drawing/2014/main" id="{6EB2CA10-4112-7B98-7498-98ACB4084D39}"/>
              </a:ext>
            </a:extLst>
          </p:cNvPr>
          <p:cNvSpPr/>
          <p:nvPr/>
        </p:nvSpPr>
        <p:spPr>
          <a:xfrm>
            <a:off x="7825032" y="2412476"/>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B</a:t>
            </a:r>
          </a:p>
        </p:txBody>
      </p:sp>
      <p:sp>
        <p:nvSpPr>
          <p:cNvPr id="12" name="Oval 11">
            <a:extLst>
              <a:ext uri="{FF2B5EF4-FFF2-40B4-BE49-F238E27FC236}">
                <a16:creationId xmlns:a16="http://schemas.microsoft.com/office/drawing/2014/main" id="{10584DF2-717A-69B9-0835-9C841025D08C}"/>
              </a:ext>
            </a:extLst>
          </p:cNvPr>
          <p:cNvSpPr/>
          <p:nvPr/>
        </p:nvSpPr>
        <p:spPr>
          <a:xfrm>
            <a:off x="9286187" y="3777791"/>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C</a:t>
            </a:r>
          </a:p>
        </p:txBody>
      </p:sp>
      <p:sp>
        <p:nvSpPr>
          <p:cNvPr id="13" name="Oval 12">
            <a:extLst>
              <a:ext uri="{FF2B5EF4-FFF2-40B4-BE49-F238E27FC236}">
                <a16:creationId xmlns:a16="http://schemas.microsoft.com/office/drawing/2014/main" id="{C54AD16C-25E2-3504-452C-DB2B20F9C1F5}"/>
              </a:ext>
            </a:extLst>
          </p:cNvPr>
          <p:cNvSpPr/>
          <p:nvPr/>
        </p:nvSpPr>
        <p:spPr>
          <a:xfrm>
            <a:off x="10172306" y="2412476"/>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D</a:t>
            </a:r>
          </a:p>
        </p:txBody>
      </p:sp>
      <p:cxnSp>
        <p:nvCxnSpPr>
          <p:cNvPr id="14" name="Straight Connector 13">
            <a:extLst>
              <a:ext uri="{FF2B5EF4-FFF2-40B4-BE49-F238E27FC236}">
                <a16:creationId xmlns:a16="http://schemas.microsoft.com/office/drawing/2014/main" id="{75004EE3-D214-14B1-3D33-9AD994AE2ED9}"/>
              </a:ext>
            </a:extLst>
          </p:cNvPr>
          <p:cNvCxnSpPr>
            <a:cxnSpLocks/>
            <a:stCxn id="4" idx="3"/>
            <a:endCxn id="3" idx="0"/>
          </p:cNvCxnSpPr>
          <p:nvPr/>
        </p:nvCxnSpPr>
        <p:spPr>
          <a:xfrm flipH="1">
            <a:off x="7132948" y="2875137"/>
            <a:ext cx="771464" cy="902655"/>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8CAF0E5A-5D0C-32B7-39BE-7210FFEF7C3D}"/>
              </a:ext>
            </a:extLst>
          </p:cNvPr>
          <p:cNvCxnSpPr>
            <a:cxnSpLocks/>
            <a:stCxn id="12" idx="1"/>
            <a:endCxn id="4" idx="5"/>
          </p:cNvCxnSpPr>
          <p:nvPr/>
        </p:nvCxnSpPr>
        <p:spPr>
          <a:xfrm flipH="1" flipV="1">
            <a:off x="8287693" y="2875137"/>
            <a:ext cx="1077874" cy="982034"/>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C031DD2-7B09-F535-FEC7-F5FF5F0DA036}"/>
              </a:ext>
            </a:extLst>
          </p:cNvPr>
          <p:cNvCxnSpPr>
            <a:cxnSpLocks/>
            <a:stCxn id="12" idx="7"/>
            <a:endCxn id="13" idx="4"/>
          </p:cNvCxnSpPr>
          <p:nvPr/>
        </p:nvCxnSpPr>
        <p:spPr>
          <a:xfrm flipV="1">
            <a:off x="9748848" y="2954517"/>
            <a:ext cx="694479" cy="902654"/>
          </a:xfrm>
          <a:prstGeom prst="line">
            <a:avLst/>
          </a:prstGeom>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795681AA-21AA-94D9-BAFC-E62A773F04A8}"/>
              </a:ext>
            </a:extLst>
          </p:cNvPr>
          <p:cNvSpPr txBox="1"/>
          <p:nvPr/>
        </p:nvSpPr>
        <p:spPr>
          <a:xfrm>
            <a:off x="7390612" y="5269584"/>
            <a:ext cx="2308803" cy="369332"/>
          </a:xfrm>
          <a:prstGeom prst="rect">
            <a:avLst/>
          </a:prstGeom>
          <a:noFill/>
        </p:spPr>
        <p:txBody>
          <a:bodyPr wrap="square" rtlCol="0">
            <a:spAutoFit/>
          </a:bodyPr>
          <a:lstStyle/>
          <a:p>
            <a:r>
              <a:rPr lang="en-US" dirty="0"/>
              <a:t>Distance-2 Coloring</a:t>
            </a:r>
          </a:p>
        </p:txBody>
      </p:sp>
      <p:sp>
        <p:nvSpPr>
          <p:cNvPr id="19" name="Slide Number Placeholder 18">
            <a:extLst>
              <a:ext uri="{FF2B5EF4-FFF2-40B4-BE49-F238E27FC236}">
                <a16:creationId xmlns:a16="http://schemas.microsoft.com/office/drawing/2014/main" id="{E58EDE64-5D0B-4C38-03E7-389A32EEE56E}"/>
              </a:ext>
            </a:extLst>
          </p:cNvPr>
          <p:cNvSpPr>
            <a:spLocks noGrp="1"/>
          </p:cNvSpPr>
          <p:nvPr>
            <p:ph type="sldNum" sz="quarter" idx="12"/>
          </p:nvPr>
        </p:nvSpPr>
        <p:spPr/>
        <p:txBody>
          <a:bodyPr/>
          <a:lstStyle/>
          <a:p>
            <a:fld id="{3DD08374-E544-47A5-94AF-CF56056772CB}" type="slidenum">
              <a:rPr lang="en-US" smtClean="0"/>
              <a:t>50</a:t>
            </a:fld>
            <a:endParaRPr lang="en-US"/>
          </a:p>
        </p:txBody>
      </p:sp>
    </p:spTree>
    <p:extLst>
      <p:ext uri="{BB962C8B-B14F-4D97-AF65-F5344CB8AC3E}">
        <p14:creationId xmlns:p14="http://schemas.microsoft.com/office/powerpoint/2010/main" val="155032598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00B427-1254-8720-4C51-0FD547DFEB1D}"/>
            </a:ext>
          </a:extLst>
        </p:cNvPr>
        <p:cNvGrpSpPr/>
        <p:nvPr/>
      </p:nvGrpSpPr>
      <p:grpSpPr>
        <a:xfrm>
          <a:off x="0" y="0"/>
          <a:ext cx="0" cy="0"/>
          <a:chOff x="0" y="0"/>
          <a:chExt cx="0" cy="0"/>
        </a:xfrm>
      </p:grpSpPr>
      <p:sp>
        <p:nvSpPr>
          <p:cNvPr id="5" name="Oval 4">
            <a:extLst>
              <a:ext uri="{FF2B5EF4-FFF2-40B4-BE49-F238E27FC236}">
                <a16:creationId xmlns:a16="http://schemas.microsoft.com/office/drawing/2014/main" id="{69EABA5E-8B02-4377-922D-26DCA47A6FCF}"/>
              </a:ext>
            </a:extLst>
          </p:cNvPr>
          <p:cNvSpPr/>
          <p:nvPr/>
        </p:nvSpPr>
        <p:spPr>
          <a:xfrm>
            <a:off x="1432090" y="3674097"/>
            <a:ext cx="542041" cy="542041"/>
          </a:xfrm>
          <a:prstGeom prst="ellipse">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A</a:t>
            </a:r>
          </a:p>
        </p:txBody>
      </p:sp>
      <p:sp>
        <p:nvSpPr>
          <p:cNvPr id="6" name="Oval 5">
            <a:extLst>
              <a:ext uri="{FF2B5EF4-FFF2-40B4-BE49-F238E27FC236}">
                <a16:creationId xmlns:a16="http://schemas.microsoft.com/office/drawing/2014/main" id="{96FB7953-E014-B727-B9A9-B17624790AE7}"/>
              </a:ext>
            </a:extLst>
          </p:cNvPr>
          <p:cNvSpPr/>
          <p:nvPr/>
        </p:nvSpPr>
        <p:spPr>
          <a:xfrm>
            <a:off x="2395195" y="2308781"/>
            <a:ext cx="542041" cy="542041"/>
          </a:xfrm>
          <a:prstGeom prst="ellipse">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B</a:t>
            </a:r>
          </a:p>
        </p:txBody>
      </p:sp>
      <p:sp>
        <p:nvSpPr>
          <p:cNvPr id="7" name="Oval 6">
            <a:extLst>
              <a:ext uri="{FF2B5EF4-FFF2-40B4-BE49-F238E27FC236}">
                <a16:creationId xmlns:a16="http://schemas.microsoft.com/office/drawing/2014/main" id="{26793F93-69F8-AD2B-81C9-AE33AE58F4A0}"/>
              </a:ext>
            </a:extLst>
          </p:cNvPr>
          <p:cNvSpPr/>
          <p:nvPr/>
        </p:nvSpPr>
        <p:spPr>
          <a:xfrm>
            <a:off x="3856350" y="3674096"/>
            <a:ext cx="542041" cy="542041"/>
          </a:xfrm>
          <a:prstGeom prst="ellipse">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C</a:t>
            </a:r>
          </a:p>
        </p:txBody>
      </p:sp>
      <p:sp>
        <p:nvSpPr>
          <p:cNvPr id="8" name="Oval 7">
            <a:extLst>
              <a:ext uri="{FF2B5EF4-FFF2-40B4-BE49-F238E27FC236}">
                <a16:creationId xmlns:a16="http://schemas.microsoft.com/office/drawing/2014/main" id="{495848F8-642E-8705-8CE8-551B1D38997C}"/>
              </a:ext>
            </a:extLst>
          </p:cNvPr>
          <p:cNvSpPr/>
          <p:nvPr/>
        </p:nvSpPr>
        <p:spPr>
          <a:xfrm>
            <a:off x="4742469" y="2308781"/>
            <a:ext cx="542041" cy="542041"/>
          </a:xfrm>
          <a:prstGeom prst="ellipse">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D</a:t>
            </a:r>
          </a:p>
        </p:txBody>
      </p:sp>
      <p:cxnSp>
        <p:nvCxnSpPr>
          <p:cNvPr id="9" name="Straight Connector 8">
            <a:extLst>
              <a:ext uri="{FF2B5EF4-FFF2-40B4-BE49-F238E27FC236}">
                <a16:creationId xmlns:a16="http://schemas.microsoft.com/office/drawing/2014/main" id="{EEC3ACB2-E83A-0DEB-0F1D-70B5DC5ABFAE}"/>
              </a:ext>
            </a:extLst>
          </p:cNvPr>
          <p:cNvCxnSpPr>
            <a:cxnSpLocks/>
            <a:stCxn id="6" idx="3"/>
            <a:endCxn id="5" idx="0"/>
          </p:cNvCxnSpPr>
          <p:nvPr/>
        </p:nvCxnSpPr>
        <p:spPr>
          <a:xfrm flipH="1">
            <a:off x="1703111" y="2771442"/>
            <a:ext cx="771464" cy="902655"/>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BB541378-9839-4258-D115-58D8D4560582}"/>
              </a:ext>
            </a:extLst>
          </p:cNvPr>
          <p:cNvCxnSpPr>
            <a:cxnSpLocks/>
            <a:stCxn id="7" idx="1"/>
            <a:endCxn id="6" idx="5"/>
          </p:cNvCxnSpPr>
          <p:nvPr/>
        </p:nvCxnSpPr>
        <p:spPr>
          <a:xfrm flipH="1" flipV="1">
            <a:off x="2857856" y="2771442"/>
            <a:ext cx="1077874" cy="982034"/>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397AD9D1-6463-E16F-6C55-08A4346C3706}"/>
              </a:ext>
            </a:extLst>
          </p:cNvPr>
          <p:cNvCxnSpPr>
            <a:cxnSpLocks/>
            <a:stCxn id="7" idx="7"/>
            <a:endCxn id="8" idx="4"/>
          </p:cNvCxnSpPr>
          <p:nvPr/>
        </p:nvCxnSpPr>
        <p:spPr>
          <a:xfrm flipV="1">
            <a:off x="4319011" y="2850822"/>
            <a:ext cx="694479" cy="902654"/>
          </a:xfrm>
          <a:prstGeom prst="line">
            <a:avLst/>
          </a:prstGeom>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09B590A5-E106-E967-2D6C-6DE79492A324}"/>
              </a:ext>
            </a:extLst>
          </p:cNvPr>
          <p:cNvSpPr txBox="1"/>
          <p:nvPr/>
        </p:nvSpPr>
        <p:spPr>
          <a:xfrm>
            <a:off x="1593130" y="5269584"/>
            <a:ext cx="3525625" cy="369332"/>
          </a:xfrm>
          <a:prstGeom prst="rect">
            <a:avLst/>
          </a:prstGeom>
          <a:noFill/>
        </p:spPr>
        <p:txBody>
          <a:bodyPr wrap="square" rtlCol="0">
            <a:spAutoFit/>
          </a:bodyPr>
          <a:lstStyle/>
          <a:p>
            <a:r>
              <a:rPr lang="en-US" dirty="0"/>
              <a:t>Normal Graph Coloring (distance-1)</a:t>
            </a:r>
          </a:p>
        </p:txBody>
      </p:sp>
      <p:sp>
        <p:nvSpPr>
          <p:cNvPr id="3" name="Oval 2">
            <a:extLst>
              <a:ext uri="{FF2B5EF4-FFF2-40B4-BE49-F238E27FC236}">
                <a16:creationId xmlns:a16="http://schemas.microsoft.com/office/drawing/2014/main" id="{F41D29CC-EBBE-7603-2EF8-15226E4EEE6C}"/>
              </a:ext>
            </a:extLst>
          </p:cNvPr>
          <p:cNvSpPr/>
          <p:nvPr/>
        </p:nvSpPr>
        <p:spPr>
          <a:xfrm>
            <a:off x="6861927" y="3777792"/>
            <a:ext cx="542041" cy="542041"/>
          </a:xfrm>
          <a:prstGeom prst="ellipse">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A</a:t>
            </a:r>
          </a:p>
        </p:txBody>
      </p:sp>
      <p:sp>
        <p:nvSpPr>
          <p:cNvPr id="4" name="Oval 3">
            <a:extLst>
              <a:ext uri="{FF2B5EF4-FFF2-40B4-BE49-F238E27FC236}">
                <a16:creationId xmlns:a16="http://schemas.microsoft.com/office/drawing/2014/main" id="{A120F4F2-5399-0E7C-188E-9AA633546F74}"/>
              </a:ext>
            </a:extLst>
          </p:cNvPr>
          <p:cNvSpPr/>
          <p:nvPr/>
        </p:nvSpPr>
        <p:spPr>
          <a:xfrm>
            <a:off x="7825032" y="2412476"/>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B</a:t>
            </a:r>
          </a:p>
        </p:txBody>
      </p:sp>
      <p:sp>
        <p:nvSpPr>
          <p:cNvPr id="12" name="Oval 11">
            <a:extLst>
              <a:ext uri="{FF2B5EF4-FFF2-40B4-BE49-F238E27FC236}">
                <a16:creationId xmlns:a16="http://schemas.microsoft.com/office/drawing/2014/main" id="{A9A3C6F4-3BFD-CCBB-6713-E7C08E3C399B}"/>
              </a:ext>
            </a:extLst>
          </p:cNvPr>
          <p:cNvSpPr/>
          <p:nvPr/>
        </p:nvSpPr>
        <p:spPr>
          <a:xfrm>
            <a:off x="9286187" y="3777791"/>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C</a:t>
            </a:r>
          </a:p>
        </p:txBody>
      </p:sp>
      <p:sp>
        <p:nvSpPr>
          <p:cNvPr id="13" name="Oval 12">
            <a:extLst>
              <a:ext uri="{FF2B5EF4-FFF2-40B4-BE49-F238E27FC236}">
                <a16:creationId xmlns:a16="http://schemas.microsoft.com/office/drawing/2014/main" id="{AFC5A466-635D-49AF-4994-D6BA2F047B1E}"/>
              </a:ext>
            </a:extLst>
          </p:cNvPr>
          <p:cNvSpPr/>
          <p:nvPr/>
        </p:nvSpPr>
        <p:spPr>
          <a:xfrm>
            <a:off x="10172306" y="2412476"/>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D</a:t>
            </a:r>
          </a:p>
        </p:txBody>
      </p:sp>
      <p:cxnSp>
        <p:nvCxnSpPr>
          <p:cNvPr id="14" name="Straight Connector 13">
            <a:extLst>
              <a:ext uri="{FF2B5EF4-FFF2-40B4-BE49-F238E27FC236}">
                <a16:creationId xmlns:a16="http://schemas.microsoft.com/office/drawing/2014/main" id="{645DF59D-A137-6596-B8C6-C4992A8DEC4C}"/>
              </a:ext>
            </a:extLst>
          </p:cNvPr>
          <p:cNvCxnSpPr>
            <a:cxnSpLocks/>
            <a:stCxn id="4" idx="3"/>
            <a:endCxn id="3" idx="0"/>
          </p:cNvCxnSpPr>
          <p:nvPr/>
        </p:nvCxnSpPr>
        <p:spPr>
          <a:xfrm flipH="1">
            <a:off x="7132948" y="2875137"/>
            <a:ext cx="771464" cy="902655"/>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6055767E-7393-F470-1CF8-F2B5E245881C}"/>
              </a:ext>
            </a:extLst>
          </p:cNvPr>
          <p:cNvCxnSpPr>
            <a:cxnSpLocks/>
            <a:stCxn id="12" idx="1"/>
            <a:endCxn id="4" idx="5"/>
          </p:cNvCxnSpPr>
          <p:nvPr/>
        </p:nvCxnSpPr>
        <p:spPr>
          <a:xfrm flipH="1" flipV="1">
            <a:off x="8287693" y="2875137"/>
            <a:ext cx="1077874" cy="982034"/>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3C3917C2-91C0-A2D0-20D0-1678AA3CEA20}"/>
              </a:ext>
            </a:extLst>
          </p:cNvPr>
          <p:cNvCxnSpPr>
            <a:cxnSpLocks/>
            <a:stCxn id="12" idx="7"/>
            <a:endCxn id="13" idx="4"/>
          </p:cNvCxnSpPr>
          <p:nvPr/>
        </p:nvCxnSpPr>
        <p:spPr>
          <a:xfrm flipV="1">
            <a:off x="9748848" y="2954517"/>
            <a:ext cx="694479" cy="902654"/>
          </a:xfrm>
          <a:prstGeom prst="line">
            <a:avLst/>
          </a:prstGeom>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E0602659-6A54-7CD2-F4B8-3089AD06ECD2}"/>
              </a:ext>
            </a:extLst>
          </p:cNvPr>
          <p:cNvSpPr txBox="1"/>
          <p:nvPr/>
        </p:nvSpPr>
        <p:spPr>
          <a:xfrm>
            <a:off x="7390612" y="5269584"/>
            <a:ext cx="2308803" cy="369332"/>
          </a:xfrm>
          <a:prstGeom prst="rect">
            <a:avLst/>
          </a:prstGeom>
          <a:noFill/>
        </p:spPr>
        <p:txBody>
          <a:bodyPr wrap="square" rtlCol="0">
            <a:spAutoFit/>
          </a:bodyPr>
          <a:lstStyle/>
          <a:p>
            <a:r>
              <a:rPr lang="en-US" dirty="0"/>
              <a:t>Distance-2 Coloring</a:t>
            </a:r>
          </a:p>
        </p:txBody>
      </p:sp>
      <p:sp>
        <p:nvSpPr>
          <p:cNvPr id="19" name="Slide Number Placeholder 18">
            <a:extLst>
              <a:ext uri="{FF2B5EF4-FFF2-40B4-BE49-F238E27FC236}">
                <a16:creationId xmlns:a16="http://schemas.microsoft.com/office/drawing/2014/main" id="{288D2E7F-B65E-4040-244A-E80AFF38CEA8}"/>
              </a:ext>
            </a:extLst>
          </p:cNvPr>
          <p:cNvSpPr>
            <a:spLocks noGrp="1"/>
          </p:cNvSpPr>
          <p:nvPr>
            <p:ph type="sldNum" sz="quarter" idx="12"/>
          </p:nvPr>
        </p:nvSpPr>
        <p:spPr/>
        <p:txBody>
          <a:bodyPr/>
          <a:lstStyle/>
          <a:p>
            <a:fld id="{3DD08374-E544-47A5-94AF-CF56056772CB}" type="slidenum">
              <a:rPr lang="en-US" smtClean="0"/>
              <a:t>51</a:t>
            </a:fld>
            <a:endParaRPr lang="en-US"/>
          </a:p>
        </p:txBody>
      </p:sp>
    </p:spTree>
    <p:extLst>
      <p:ext uri="{BB962C8B-B14F-4D97-AF65-F5344CB8AC3E}">
        <p14:creationId xmlns:p14="http://schemas.microsoft.com/office/powerpoint/2010/main" val="381769940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1BBC8F-84CC-9684-7974-E0C54AA47876}"/>
            </a:ext>
          </a:extLst>
        </p:cNvPr>
        <p:cNvGrpSpPr/>
        <p:nvPr/>
      </p:nvGrpSpPr>
      <p:grpSpPr>
        <a:xfrm>
          <a:off x="0" y="0"/>
          <a:ext cx="0" cy="0"/>
          <a:chOff x="0" y="0"/>
          <a:chExt cx="0" cy="0"/>
        </a:xfrm>
      </p:grpSpPr>
      <p:sp>
        <p:nvSpPr>
          <p:cNvPr id="5" name="Oval 4">
            <a:extLst>
              <a:ext uri="{FF2B5EF4-FFF2-40B4-BE49-F238E27FC236}">
                <a16:creationId xmlns:a16="http://schemas.microsoft.com/office/drawing/2014/main" id="{A6CF3533-F3CC-AE4E-E1F0-E230FE9A80E9}"/>
              </a:ext>
            </a:extLst>
          </p:cNvPr>
          <p:cNvSpPr/>
          <p:nvPr/>
        </p:nvSpPr>
        <p:spPr>
          <a:xfrm>
            <a:off x="1432090" y="3674097"/>
            <a:ext cx="542041" cy="542041"/>
          </a:xfrm>
          <a:prstGeom prst="ellipse">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A</a:t>
            </a:r>
          </a:p>
        </p:txBody>
      </p:sp>
      <p:sp>
        <p:nvSpPr>
          <p:cNvPr id="6" name="Oval 5">
            <a:extLst>
              <a:ext uri="{FF2B5EF4-FFF2-40B4-BE49-F238E27FC236}">
                <a16:creationId xmlns:a16="http://schemas.microsoft.com/office/drawing/2014/main" id="{BD08B492-D156-43F3-0AE8-8675243933F0}"/>
              </a:ext>
            </a:extLst>
          </p:cNvPr>
          <p:cNvSpPr/>
          <p:nvPr/>
        </p:nvSpPr>
        <p:spPr>
          <a:xfrm>
            <a:off x="2395195" y="2308781"/>
            <a:ext cx="542041" cy="542041"/>
          </a:xfrm>
          <a:prstGeom prst="ellipse">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B</a:t>
            </a:r>
          </a:p>
        </p:txBody>
      </p:sp>
      <p:sp>
        <p:nvSpPr>
          <p:cNvPr id="7" name="Oval 6">
            <a:extLst>
              <a:ext uri="{FF2B5EF4-FFF2-40B4-BE49-F238E27FC236}">
                <a16:creationId xmlns:a16="http://schemas.microsoft.com/office/drawing/2014/main" id="{BC4A4557-7D15-636E-119D-0830149D4338}"/>
              </a:ext>
            </a:extLst>
          </p:cNvPr>
          <p:cNvSpPr/>
          <p:nvPr/>
        </p:nvSpPr>
        <p:spPr>
          <a:xfrm>
            <a:off x="3856350" y="3674096"/>
            <a:ext cx="542041" cy="542041"/>
          </a:xfrm>
          <a:prstGeom prst="ellipse">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C</a:t>
            </a:r>
          </a:p>
        </p:txBody>
      </p:sp>
      <p:sp>
        <p:nvSpPr>
          <p:cNvPr id="8" name="Oval 7">
            <a:extLst>
              <a:ext uri="{FF2B5EF4-FFF2-40B4-BE49-F238E27FC236}">
                <a16:creationId xmlns:a16="http://schemas.microsoft.com/office/drawing/2014/main" id="{E2BEF625-780F-F56C-75B6-33656E811CD2}"/>
              </a:ext>
            </a:extLst>
          </p:cNvPr>
          <p:cNvSpPr/>
          <p:nvPr/>
        </p:nvSpPr>
        <p:spPr>
          <a:xfrm>
            <a:off x="4742469" y="2308781"/>
            <a:ext cx="542041" cy="542041"/>
          </a:xfrm>
          <a:prstGeom prst="ellipse">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D</a:t>
            </a:r>
          </a:p>
        </p:txBody>
      </p:sp>
      <p:cxnSp>
        <p:nvCxnSpPr>
          <p:cNvPr id="9" name="Straight Connector 8">
            <a:extLst>
              <a:ext uri="{FF2B5EF4-FFF2-40B4-BE49-F238E27FC236}">
                <a16:creationId xmlns:a16="http://schemas.microsoft.com/office/drawing/2014/main" id="{9F998223-C088-03AE-EF19-825D14C95466}"/>
              </a:ext>
            </a:extLst>
          </p:cNvPr>
          <p:cNvCxnSpPr>
            <a:cxnSpLocks/>
            <a:stCxn id="6" idx="3"/>
            <a:endCxn id="5" idx="0"/>
          </p:cNvCxnSpPr>
          <p:nvPr/>
        </p:nvCxnSpPr>
        <p:spPr>
          <a:xfrm flipH="1">
            <a:off x="1703111" y="2771442"/>
            <a:ext cx="771464" cy="902655"/>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811B794-193D-32D7-5082-2363D686A518}"/>
              </a:ext>
            </a:extLst>
          </p:cNvPr>
          <p:cNvCxnSpPr>
            <a:cxnSpLocks/>
            <a:stCxn id="7" idx="1"/>
            <a:endCxn id="6" idx="5"/>
          </p:cNvCxnSpPr>
          <p:nvPr/>
        </p:nvCxnSpPr>
        <p:spPr>
          <a:xfrm flipH="1" flipV="1">
            <a:off x="2857856" y="2771442"/>
            <a:ext cx="1077874" cy="982034"/>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846ECE30-8054-BB9B-C459-C3B49739275C}"/>
              </a:ext>
            </a:extLst>
          </p:cNvPr>
          <p:cNvCxnSpPr>
            <a:cxnSpLocks/>
            <a:stCxn id="7" idx="7"/>
            <a:endCxn id="8" idx="4"/>
          </p:cNvCxnSpPr>
          <p:nvPr/>
        </p:nvCxnSpPr>
        <p:spPr>
          <a:xfrm flipV="1">
            <a:off x="4319011" y="2850822"/>
            <a:ext cx="694479" cy="902654"/>
          </a:xfrm>
          <a:prstGeom prst="line">
            <a:avLst/>
          </a:prstGeom>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8C6852D4-45CF-FB25-3761-306E53870A7D}"/>
              </a:ext>
            </a:extLst>
          </p:cNvPr>
          <p:cNvSpPr txBox="1"/>
          <p:nvPr/>
        </p:nvSpPr>
        <p:spPr>
          <a:xfrm>
            <a:off x="1593130" y="5269584"/>
            <a:ext cx="3525625" cy="369332"/>
          </a:xfrm>
          <a:prstGeom prst="rect">
            <a:avLst/>
          </a:prstGeom>
          <a:noFill/>
        </p:spPr>
        <p:txBody>
          <a:bodyPr wrap="square" rtlCol="0">
            <a:spAutoFit/>
          </a:bodyPr>
          <a:lstStyle/>
          <a:p>
            <a:r>
              <a:rPr lang="en-US" dirty="0"/>
              <a:t>Normal Graph Coloring (distance-1)</a:t>
            </a:r>
          </a:p>
        </p:txBody>
      </p:sp>
      <p:sp>
        <p:nvSpPr>
          <p:cNvPr id="3" name="Oval 2">
            <a:extLst>
              <a:ext uri="{FF2B5EF4-FFF2-40B4-BE49-F238E27FC236}">
                <a16:creationId xmlns:a16="http://schemas.microsoft.com/office/drawing/2014/main" id="{BDFC61C2-F1DD-7280-E164-4FD62A178F2F}"/>
              </a:ext>
            </a:extLst>
          </p:cNvPr>
          <p:cNvSpPr/>
          <p:nvPr/>
        </p:nvSpPr>
        <p:spPr>
          <a:xfrm>
            <a:off x="6861927" y="3777792"/>
            <a:ext cx="542041" cy="542041"/>
          </a:xfrm>
          <a:prstGeom prst="ellipse">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A</a:t>
            </a:r>
          </a:p>
        </p:txBody>
      </p:sp>
      <p:sp>
        <p:nvSpPr>
          <p:cNvPr id="4" name="Oval 3">
            <a:extLst>
              <a:ext uri="{FF2B5EF4-FFF2-40B4-BE49-F238E27FC236}">
                <a16:creationId xmlns:a16="http://schemas.microsoft.com/office/drawing/2014/main" id="{AF73A046-D270-4DA1-7F04-C13D2AA86414}"/>
              </a:ext>
            </a:extLst>
          </p:cNvPr>
          <p:cNvSpPr/>
          <p:nvPr/>
        </p:nvSpPr>
        <p:spPr>
          <a:xfrm>
            <a:off x="7825032" y="2412476"/>
            <a:ext cx="542041" cy="542041"/>
          </a:xfrm>
          <a:prstGeom prst="ellipse">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B</a:t>
            </a:r>
          </a:p>
        </p:txBody>
      </p:sp>
      <p:sp>
        <p:nvSpPr>
          <p:cNvPr id="12" name="Oval 11">
            <a:extLst>
              <a:ext uri="{FF2B5EF4-FFF2-40B4-BE49-F238E27FC236}">
                <a16:creationId xmlns:a16="http://schemas.microsoft.com/office/drawing/2014/main" id="{88B504BE-490B-3F20-6C2E-5623E4CE8E62}"/>
              </a:ext>
            </a:extLst>
          </p:cNvPr>
          <p:cNvSpPr/>
          <p:nvPr/>
        </p:nvSpPr>
        <p:spPr>
          <a:xfrm>
            <a:off x="9286187" y="3777791"/>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C</a:t>
            </a:r>
          </a:p>
        </p:txBody>
      </p:sp>
      <p:sp>
        <p:nvSpPr>
          <p:cNvPr id="13" name="Oval 12">
            <a:extLst>
              <a:ext uri="{FF2B5EF4-FFF2-40B4-BE49-F238E27FC236}">
                <a16:creationId xmlns:a16="http://schemas.microsoft.com/office/drawing/2014/main" id="{D825E9EC-8E8F-B7E8-FD26-3A59282BE2E5}"/>
              </a:ext>
            </a:extLst>
          </p:cNvPr>
          <p:cNvSpPr/>
          <p:nvPr/>
        </p:nvSpPr>
        <p:spPr>
          <a:xfrm>
            <a:off x="10172306" y="2412476"/>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D</a:t>
            </a:r>
          </a:p>
        </p:txBody>
      </p:sp>
      <p:cxnSp>
        <p:nvCxnSpPr>
          <p:cNvPr id="14" name="Straight Connector 13">
            <a:extLst>
              <a:ext uri="{FF2B5EF4-FFF2-40B4-BE49-F238E27FC236}">
                <a16:creationId xmlns:a16="http://schemas.microsoft.com/office/drawing/2014/main" id="{EFCCFCE5-0A80-9F1B-10F4-B396663A7FBE}"/>
              </a:ext>
            </a:extLst>
          </p:cNvPr>
          <p:cNvCxnSpPr>
            <a:cxnSpLocks/>
            <a:stCxn id="4" idx="3"/>
            <a:endCxn id="3" idx="0"/>
          </p:cNvCxnSpPr>
          <p:nvPr/>
        </p:nvCxnSpPr>
        <p:spPr>
          <a:xfrm flipH="1">
            <a:off x="7132948" y="2875137"/>
            <a:ext cx="771464" cy="902655"/>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C1CB323-48AD-972A-BC70-78085D468652}"/>
              </a:ext>
            </a:extLst>
          </p:cNvPr>
          <p:cNvCxnSpPr>
            <a:cxnSpLocks/>
            <a:stCxn id="12" idx="1"/>
            <a:endCxn id="4" idx="5"/>
          </p:cNvCxnSpPr>
          <p:nvPr/>
        </p:nvCxnSpPr>
        <p:spPr>
          <a:xfrm flipH="1" flipV="1">
            <a:off x="8287693" y="2875137"/>
            <a:ext cx="1077874" cy="982034"/>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AC3EBA84-FA69-0FD6-79A4-1BC2D88DEA23}"/>
              </a:ext>
            </a:extLst>
          </p:cNvPr>
          <p:cNvCxnSpPr>
            <a:cxnSpLocks/>
            <a:stCxn id="12" idx="7"/>
            <a:endCxn id="13" idx="4"/>
          </p:cNvCxnSpPr>
          <p:nvPr/>
        </p:nvCxnSpPr>
        <p:spPr>
          <a:xfrm flipV="1">
            <a:off x="9748848" y="2954517"/>
            <a:ext cx="694479" cy="902654"/>
          </a:xfrm>
          <a:prstGeom prst="line">
            <a:avLst/>
          </a:prstGeom>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48FB4310-1B08-3A1B-92FE-6491DBAE6F04}"/>
              </a:ext>
            </a:extLst>
          </p:cNvPr>
          <p:cNvSpPr txBox="1"/>
          <p:nvPr/>
        </p:nvSpPr>
        <p:spPr>
          <a:xfrm>
            <a:off x="7390612" y="5269584"/>
            <a:ext cx="2308803" cy="369332"/>
          </a:xfrm>
          <a:prstGeom prst="rect">
            <a:avLst/>
          </a:prstGeom>
          <a:noFill/>
        </p:spPr>
        <p:txBody>
          <a:bodyPr wrap="square" rtlCol="0">
            <a:spAutoFit/>
          </a:bodyPr>
          <a:lstStyle/>
          <a:p>
            <a:r>
              <a:rPr lang="en-US" dirty="0"/>
              <a:t>Distance-2 Coloring</a:t>
            </a:r>
          </a:p>
        </p:txBody>
      </p:sp>
      <p:sp>
        <p:nvSpPr>
          <p:cNvPr id="19" name="Slide Number Placeholder 18">
            <a:extLst>
              <a:ext uri="{FF2B5EF4-FFF2-40B4-BE49-F238E27FC236}">
                <a16:creationId xmlns:a16="http://schemas.microsoft.com/office/drawing/2014/main" id="{28E9947C-2140-1EE1-DF85-ACD463169665}"/>
              </a:ext>
            </a:extLst>
          </p:cNvPr>
          <p:cNvSpPr>
            <a:spLocks noGrp="1"/>
          </p:cNvSpPr>
          <p:nvPr>
            <p:ph type="sldNum" sz="quarter" idx="12"/>
          </p:nvPr>
        </p:nvSpPr>
        <p:spPr/>
        <p:txBody>
          <a:bodyPr/>
          <a:lstStyle/>
          <a:p>
            <a:fld id="{3DD08374-E544-47A5-94AF-CF56056772CB}" type="slidenum">
              <a:rPr lang="en-US" smtClean="0"/>
              <a:t>52</a:t>
            </a:fld>
            <a:endParaRPr lang="en-US"/>
          </a:p>
        </p:txBody>
      </p:sp>
    </p:spTree>
    <p:extLst>
      <p:ext uri="{BB962C8B-B14F-4D97-AF65-F5344CB8AC3E}">
        <p14:creationId xmlns:p14="http://schemas.microsoft.com/office/powerpoint/2010/main" val="217547705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F54E77-6C94-45FB-07AE-8D47D94C1198}"/>
            </a:ext>
          </a:extLst>
        </p:cNvPr>
        <p:cNvGrpSpPr/>
        <p:nvPr/>
      </p:nvGrpSpPr>
      <p:grpSpPr>
        <a:xfrm>
          <a:off x="0" y="0"/>
          <a:ext cx="0" cy="0"/>
          <a:chOff x="0" y="0"/>
          <a:chExt cx="0" cy="0"/>
        </a:xfrm>
      </p:grpSpPr>
      <p:sp>
        <p:nvSpPr>
          <p:cNvPr id="5" name="Oval 4">
            <a:extLst>
              <a:ext uri="{FF2B5EF4-FFF2-40B4-BE49-F238E27FC236}">
                <a16:creationId xmlns:a16="http://schemas.microsoft.com/office/drawing/2014/main" id="{3BFCD327-58BA-BF06-6B97-B16713090287}"/>
              </a:ext>
            </a:extLst>
          </p:cNvPr>
          <p:cNvSpPr/>
          <p:nvPr/>
        </p:nvSpPr>
        <p:spPr>
          <a:xfrm>
            <a:off x="1432090" y="3674097"/>
            <a:ext cx="542041" cy="542041"/>
          </a:xfrm>
          <a:prstGeom prst="ellipse">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A</a:t>
            </a:r>
          </a:p>
        </p:txBody>
      </p:sp>
      <p:sp>
        <p:nvSpPr>
          <p:cNvPr id="6" name="Oval 5">
            <a:extLst>
              <a:ext uri="{FF2B5EF4-FFF2-40B4-BE49-F238E27FC236}">
                <a16:creationId xmlns:a16="http://schemas.microsoft.com/office/drawing/2014/main" id="{C8B06020-781E-EEB5-1A15-25F26931A3F2}"/>
              </a:ext>
            </a:extLst>
          </p:cNvPr>
          <p:cNvSpPr/>
          <p:nvPr/>
        </p:nvSpPr>
        <p:spPr>
          <a:xfrm>
            <a:off x="2395195" y="2308781"/>
            <a:ext cx="542041" cy="542041"/>
          </a:xfrm>
          <a:prstGeom prst="ellipse">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B</a:t>
            </a:r>
          </a:p>
        </p:txBody>
      </p:sp>
      <p:sp>
        <p:nvSpPr>
          <p:cNvPr id="7" name="Oval 6">
            <a:extLst>
              <a:ext uri="{FF2B5EF4-FFF2-40B4-BE49-F238E27FC236}">
                <a16:creationId xmlns:a16="http://schemas.microsoft.com/office/drawing/2014/main" id="{23FC4AF9-80FC-1E9D-F8F0-CECE916E4930}"/>
              </a:ext>
            </a:extLst>
          </p:cNvPr>
          <p:cNvSpPr/>
          <p:nvPr/>
        </p:nvSpPr>
        <p:spPr>
          <a:xfrm>
            <a:off x="3856350" y="3674096"/>
            <a:ext cx="542041" cy="542041"/>
          </a:xfrm>
          <a:prstGeom prst="ellipse">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C</a:t>
            </a:r>
          </a:p>
        </p:txBody>
      </p:sp>
      <p:sp>
        <p:nvSpPr>
          <p:cNvPr id="8" name="Oval 7">
            <a:extLst>
              <a:ext uri="{FF2B5EF4-FFF2-40B4-BE49-F238E27FC236}">
                <a16:creationId xmlns:a16="http://schemas.microsoft.com/office/drawing/2014/main" id="{53EC7E77-9139-C533-DEB1-E2E8328CD7E3}"/>
              </a:ext>
            </a:extLst>
          </p:cNvPr>
          <p:cNvSpPr/>
          <p:nvPr/>
        </p:nvSpPr>
        <p:spPr>
          <a:xfrm>
            <a:off x="4742469" y="2308781"/>
            <a:ext cx="542041" cy="542041"/>
          </a:xfrm>
          <a:prstGeom prst="ellipse">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D</a:t>
            </a:r>
          </a:p>
        </p:txBody>
      </p:sp>
      <p:cxnSp>
        <p:nvCxnSpPr>
          <p:cNvPr id="9" name="Straight Connector 8">
            <a:extLst>
              <a:ext uri="{FF2B5EF4-FFF2-40B4-BE49-F238E27FC236}">
                <a16:creationId xmlns:a16="http://schemas.microsoft.com/office/drawing/2014/main" id="{3336319C-68A6-5C92-C7DA-EDC6CCA7ECDE}"/>
              </a:ext>
            </a:extLst>
          </p:cNvPr>
          <p:cNvCxnSpPr>
            <a:cxnSpLocks/>
            <a:stCxn id="6" idx="3"/>
            <a:endCxn id="5" idx="0"/>
          </p:cNvCxnSpPr>
          <p:nvPr/>
        </p:nvCxnSpPr>
        <p:spPr>
          <a:xfrm flipH="1">
            <a:off x="1703111" y="2771442"/>
            <a:ext cx="771464" cy="902655"/>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10EC13B-02C7-2BF6-61EB-20908030DBE8}"/>
              </a:ext>
            </a:extLst>
          </p:cNvPr>
          <p:cNvCxnSpPr>
            <a:cxnSpLocks/>
            <a:stCxn id="7" idx="1"/>
            <a:endCxn id="6" idx="5"/>
          </p:cNvCxnSpPr>
          <p:nvPr/>
        </p:nvCxnSpPr>
        <p:spPr>
          <a:xfrm flipH="1" flipV="1">
            <a:off x="2857856" y="2771442"/>
            <a:ext cx="1077874" cy="982034"/>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131DDEE2-842F-F543-820E-F40BB1FEF75F}"/>
              </a:ext>
            </a:extLst>
          </p:cNvPr>
          <p:cNvCxnSpPr>
            <a:cxnSpLocks/>
            <a:stCxn id="7" idx="7"/>
            <a:endCxn id="8" idx="4"/>
          </p:cNvCxnSpPr>
          <p:nvPr/>
        </p:nvCxnSpPr>
        <p:spPr>
          <a:xfrm flipV="1">
            <a:off x="4319011" y="2850822"/>
            <a:ext cx="694479" cy="902654"/>
          </a:xfrm>
          <a:prstGeom prst="line">
            <a:avLst/>
          </a:prstGeom>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54BFC45B-D5BF-87D2-A596-7BAEA6B94E61}"/>
              </a:ext>
            </a:extLst>
          </p:cNvPr>
          <p:cNvSpPr txBox="1"/>
          <p:nvPr/>
        </p:nvSpPr>
        <p:spPr>
          <a:xfrm>
            <a:off x="1593130" y="5269584"/>
            <a:ext cx="3525625" cy="369332"/>
          </a:xfrm>
          <a:prstGeom prst="rect">
            <a:avLst/>
          </a:prstGeom>
          <a:noFill/>
        </p:spPr>
        <p:txBody>
          <a:bodyPr wrap="square" rtlCol="0">
            <a:spAutoFit/>
          </a:bodyPr>
          <a:lstStyle/>
          <a:p>
            <a:r>
              <a:rPr lang="en-US" dirty="0"/>
              <a:t>Normal Graph Coloring (distance-1)</a:t>
            </a:r>
          </a:p>
        </p:txBody>
      </p:sp>
      <p:sp>
        <p:nvSpPr>
          <p:cNvPr id="3" name="Oval 2">
            <a:extLst>
              <a:ext uri="{FF2B5EF4-FFF2-40B4-BE49-F238E27FC236}">
                <a16:creationId xmlns:a16="http://schemas.microsoft.com/office/drawing/2014/main" id="{91613932-F7AA-F940-D2C3-26CF8DDC5F9B}"/>
              </a:ext>
            </a:extLst>
          </p:cNvPr>
          <p:cNvSpPr/>
          <p:nvPr/>
        </p:nvSpPr>
        <p:spPr>
          <a:xfrm>
            <a:off x="6861927" y="3777792"/>
            <a:ext cx="542041" cy="542041"/>
          </a:xfrm>
          <a:prstGeom prst="ellipse">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A</a:t>
            </a:r>
          </a:p>
        </p:txBody>
      </p:sp>
      <p:sp>
        <p:nvSpPr>
          <p:cNvPr id="4" name="Oval 3">
            <a:extLst>
              <a:ext uri="{FF2B5EF4-FFF2-40B4-BE49-F238E27FC236}">
                <a16:creationId xmlns:a16="http://schemas.microsoft.com/office/drawing/2014/main" id="{6FA6D525-A75F-DEE3-D760-E4F7461F9047}"/>
              </a:ext>
            </a:extLst>
          </p:cNvPr>
          <p:cNvSpPr/>
          <p:nvPr/>
        </p:nvSpPr>
        <p:spPr>
          <a:xfrm>
            <a:off x="7825032" y="2412476"/>
            <a:ext cx="542041" cy="542041"/>
          </a:xfrm>
          <a:prstGeom prst="ellipse">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B</a:t>
            </a:r>
          </a:p>
        </p:txBody>
      </p:sp>
      <p:sp>
        <p:nvSpPr>
          <p:cNvPr id="12" name="Oval 11">
            <a:extLst>
              <a:ext uri="{FF2B5EF4-FFF2-40B4-BE49-F238E27FC236}">
                <a16:creationId xmlns:a16="http://schemas.microsoft.com/office/drawing/2014/main" id="{9ECE68F7-EE36-21A9-7748-43AB53AC6277}"/>
              </a:ext>
            </a:extLst>
          </p:cNvPr>
          <p:cNvSpPr/>
          <p:nvPr/>
        </p:nvSpPr>
        <p:spPr>
          <a:xfrm>
            <a:off x="9286187" y="3777791"/>
            <a:ext cx="542041" cy="542041"/>
          </a:xfrm>
          <a:prstGeom prst="ellipse">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C</a:t>
            </a:r>
          </a:p>
        </p:txBody>
      </p:sp>
      <p:sp>
        <p:nvSpPr>
          <p:cNvPr id="13" name="Oval 12">
            <a:extLst>
              <a:ext uri="{FF2B5EF4-FFF2-40B4-BE49-F238E27FC236}">
                <a16:creationId xmlns:a16="http://schemas.microsoft.com/office/drawing/2014/main" id="{46EF47E8-8375-2477-4521-386DE4CF6B2E}"/>
              </a:ext>
            </a:extLst>
          </p:cNvPr>
          <p:cNvSpPr/>
          <p:nvPr/>
        </p:nvSpPr>
        <p:spPr>
          <a:xfrm>
            <a:off x="10172306" y="2412476"/>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D</a:t>
            </a:r>
          </a:p>
        </p:txBody>
      </p:sp>
      <p:cxnSp>
        <p:nvCxnSpPr>
          <p:cNvPr id="14" name="Straight Connector 13">
            <a:extLst>
              <a:ext uri="{FF2B5EF4-FFF2-40B4-BE49-F238E27FC236}">
                <a16:creationId xmlns:a16="http://schemas.microsoft.com/office/drawing/2014/main" id="{DE838E9B-D405-A0AE-C2E7-EE60AA5080F1}"/>
              </a:ext>
            </a:extLst>
          </p:cNvPr>
          <p:cNvCxnSpPr>
            <a:cxnSpLocks/>
            <a:stCxn id="4" idx="3"/>
            <a:endCxn id="3" idx="0"/>
          </p:cNvCxnSpPr>
          <p:nvPr/>
        </p:nvCxnSpPr>
        <p:spPr>
          <a:xfrm flipH="1">
            <a:off x="7132948" y="2875137"/>
            <a:ext cx="771464" cy="902655"/>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C57D10EC-4C0A-C313-4139-879A08915C03}"/>
              </a:ext>
            </a:extLst>
          </p:cNvPr>
          <p:cNvCxnSpPr>
            <a:cxnSpLocks/>
            <a:stCxn id="12" idx="1"/>
            <a:endCxn id="4" idx="5"/>
          </p:cNvCxnSpPr>
          <p:nvPr/>
        </p:nvCxnSpPr>
        <p:spPr>
          <a:xfrm flipH="1" flipV="1">
            <a:off x="8287693" y="2875137"/>
            <a:ext cx="1077874" cy="982034"/>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DAD5E14A-4368-7161-8D4C-8C3E5FD45CBA}"/>
              </a:ext>
            </a:extLst>
          </p:cNvPr>
          <p:cNvCxnSpPr>
            <a:cxnSpLocks/>
            <a:stCxn id="12" idx="7"/>
            <a:endCxn id="13" idx="4"/>
          </p:cNvCxnSpPr>
          <p:nvPr/>
        </p:nvCxnSpPr>
        <p:spPr>
          <a:xfrm flipV="1">
            <a:off x="9748848" y="2954517"/>
            <a:ext cx="694479" cy="902654"/>
          </a:xfrm>
          <a:prstGeom prst="line">
            <a:avLst/>
          </a:prstGeom>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27998316-68D1-1DB9-4D8D-609C7C9BC020}"/>
              </a:ext>
            </a:extLst>
          </p:cNvPr>
          <p:cNvSpPr txBox="1"/>
          <p:nvPr/>
        </p:nvSpPr>
        <p:spPr>
          <a:xfrm>
            <a:off x="7390612" y="5269584"/>
            <a:ext cx="2308803" cy="369332"/>
          </a:xfrm>
          <a:prstGeom prst="rect">
            <a:avLst/>
          </a:prstGeom>
          <a:noFill/>
        </p:spPr>
        <p:txBody>
          <a:bodyPr wrap="square" rtlCol="0">
            <a:spAutoFit/>
          </a:bodyPr>
          <a:lstStyle/>
          <a:p>
            <a:r>
              <a:rPr lang="en-US" dirty="0"/>
              <a:t>Distance-2 Coloring</a:t>
            </a:r>
          </a:p>
        </p:txBody>
      </p:sp>
      <p:sp>
        <p:nvSpPr>
          <p:cNvPr id="19" name="Slide Number Placeholder 18">
            <a:extLst>
              <a:ext uri="{FF2B5EF4-FFF2-40B4-BE49-F238E27FC236}">
                <a16:creationId xmlns:a16="http://schemas.microsoft.com/office/drawing/2014/main" id="{0BECA1AD-E7B7-C836-AC91-5ADCB49CB1D0}"/>
              </a:ext>
            </a:extLst>
          </p:cNvPr>
          <p:cNvSpPr>
            <a:spLocks noGrp="1"/>
          </p:cNvSpPr>
          <p:nvPr>
            <p:ph type="sldNum" sz="quarter" idx="12"/>
          </p:nvPr>
        </p:nvSpPr>
        <p:spPr/>
        <p:txBody>
          <a:bodyPr/>
          <a:lstStyle/>
          <a:p>
            <a:fld id="{3DD08374-E544-47A5-94AF-CF56056772CB}" type="slidenum">
              <a:rPr lang="en-US" smtClean="0"/>
              <a:t>53</a:t>
            </a:fld>
            <a:endParaRPr lang="en-US"/>
          </a:p>
        </p:txBody>
      </p:sp>
    </p:spTree>
    <p:extLst>
      <p:ext uri="{BB962C8B-B14F-4D97-AF65-F5344CB8AC3E}">
        <p14:creationId xmlns:p14="http://schemas.microsoft.com/office/powerpoint/2010/main" val="142978404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9098AE-80E7-99D7-FE0F-50037F2E4F2C}"/>
            </a:ext>
          </a:extLst>
        </p:cNvPr>
        <p:cNvGrpSpPr/>
        <p:nvPr/>
      </p:nvGrpSpPr>
      <p:grpSpPr>
        <a:xfrm>
          <a:off x="0" y="0"/>
          <a:ext cx="0" cy="0"/>
          <a:chOff x="0" y="0"/>
          <a:chExt cx="0" cy="0"/>
        </a:xfrm>
      </p:grpSpPr>
      <p:sp>
        <p:nvSpPr>
          <p:cNvPr id="5" name="Oval 4">
            <a:extLst>
              <a:ext uri="{FF2B5EF4-FFF2-40B4-BE49-F238E27FC236}">
                <a16:creationId xmlns:a16="http://schemas.microsoft.com/office/drawing/2014/main" id="{A60ECE45-09B4-BBA1-DF4A-A05A8A805B22}"/>
              </a:ext>
            </a:extLst>
          </p:cNvPr>
          <p:cNvSpPr/>
          <p:nvPr/>
        </p:nvSpPr>
        <p:spPr>
          <a:xfrm>
            <a:off x="1432090" y="3674097"/>
            <a:ext cx="542041" cy="542041"/>
          </a:xfrm>
          <a:prstGeom prst="ellipse">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A</a:t>
            </a:r>
          </a:p>
        </p:txBody>
      </p:sp>
      <p:sp>
        <p:nvSpPr>
          <p:cNvPr id="6" name="Oval 5">
            <a:extLst>
              <a:ext uri="{FF2B5EF4-FFF2-40B4-BE49-F238E27FC236}">
                <a16:creationId xmlns:a16="http://schemas.microsoft.com/office/drawing/2014/main" id="{403C9237-E052-2D9C-A310-20A322615A01}"/>
              </a:ext>
            </a:extLst>
          </p:cNvPr>
          <p:cNvSpPr/>
          <p:nvPr/>
        </p:nvSpPr>
        <p:spPr>
          <a:xfrm>
            <a:off x="2395195" y="2308781"/>
            <a:ext cx="542041" cy="542041"/>
          </a:xfrm>
          <a:prstGeom prst="ellipse">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B</a:t>
            </a:r>
          </a:p>
        </p:txBody>
      </p:sp>
      <p:sp>
        <p:nvSpPr>
          <p:cNvPr id="7" name="Oval 6">
            <a:extLst>
              <a:ext uri="{FF2B5EF4-FFF2-40B4-BE49-F238E27FC236}">
                <a16:creationId xmlns:a16="http://schemas.microsoft.com/office/drawing/2014/main" id="{B09C1183-C5A2-A29D-3244-6DE1E00CCEAE}"/>
              </a:ext>
            </a:extLst>
          </p:cNvPr>
          <p:cNvSpPr/>
          <p:nvPr/>
        </p:nvSpPr>
        <p:spPr>
          <a:xfrm>
            <a:off x="3856350" y="3674096"/>
            <a:ext cx="542041" cy="542041"/>
          </a:xfrm>
          <a:prstGeom prst="ellipse">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C</a:t>
            </a:r>
          </a:p>
        </p:txBody>
      </p:sp>
      <p:sp>
        <p:nvSpPr>
          <p:cNvPr id="8" name="Oval 7">
            <a:extLst>
              <a:ext uri="{FF2B5EF4-FFF2-40B4-BE49-F238E27FC236}">
                <a16:creationId xmlns:a16="http://schemas.microsoft.com/office/drawing/2014/main" id="{3BEE8975-FEB8-786E-0195-F43E070FADA5}"/>
              </a:ext>
            </a:extLst>
          </p:cNvPr>
          <p:cNvSpPr/>
          <p:nvPr/>
        </p:nvSpPr>
        <p:spPr>
          <a:xfrm>
            <a:off x="4742469" y="2308781"/>
            <a:ext cx="542041" cy="542041"/>
          </a:xfrm>
          <a:prstGeom prst="ellipse">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D</a:t>
            </a:r>
          </a:p>
        </p:txBody>
      </p:sp>
      <p:cxnSp>
        <p:nvCxnSpPr>
          <p:cNvPr id="9" name="Straight Connector 8">
            <a:extLst>
              <a:ext uri="{FF2B5EF4-FFF2-40B4-BE49-F238E27FC236}">
                <a16:creationId xmlns:a16="http://schemas.microsoft.com/office/drawing/2014/main" id="{B80FA9AE-23D9-48A3-93EF-0C8EA604629B}"/>
              </a:ext>
            </a:extLst>
          </p:cNvPr>
          <p:cNvCxnSpPr>
            <a:cxnSpLocks/>
            <a:stCxn id="6" idx="3"/>
            <a:endCxn id="5" idx="0"/>
          </p:cNvCxnSpPr>
          <p:nvPr/>
        </p:nvCxnSpPr>
        <p:spPr>
          <a:xfrm flipH="1">
            <a:off x="1703111" y="2771442"/>
            <a:ext cx="771464" cy="902655"/>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0CF9A016-1729-D96C-F680-76CDB71521A9}"/>
              </a:ext>
            </a:extLst>
          </p:cNvPr>
          <p:cNvCxnSpPr>
            <a:cxnSpLocks/>
            <a:stCxn id="7" idx="1"/>
            <a:endCxn id="6" idx="5"/>
          </p:cNvCxnSpPr>
          <p:nvPr/>
        </p:nvCxnSpPr>
        <p:spPr>
          <a:xfrm flipH="1" flipV="1">
            <a:off x="2857856" y="2771442"/>
            <a:ext cx="1077874" cy="982034"/>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463DAAA-57F1-EC29-DB2A-7A5ACD0B10EB}"/>
              </a:ext>
            </a:extLst>
          </p:cNvPr>
          <p:cNvCxnSpPr>
            <a:cxnSpLocks/>
            <a:stCxn id="7" idx="7"/>
            <a:endCxn id="8" idx="4"/>
          </p:cNvCxnSpPr>
          <p:nvPr/>
        </p:nvCxnSpPr>
        <p:spPr>
          <a:xfrm flipV="1">
            <a:off x="4319011" y="2850822"/>
            <a:ext cx="694479" cy="902654"/>
          </a:xfrm>
          <a:prstGeom prst="line">
            <a:avLst/>
          </a:prstGeom>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829CB883-1DE0-5E48-FE66-119A7484B9C9}"/>
              </a:ext>
            </a:extLst>
          </p:cNvPr>
          <p:cNvSpPr txBox="1"/>
          <p:nvPr/>
        </p:nvSpPr>
        <p:spPr>
          <a:xfrm>
            <a:off x="1593130" y="5269584"/>
            <a:ext cx="3525625" cy="369332"/>
          </a:xfrm>
          <a:prstGeom prst="rect">
            <a:avLst/>
          </a:prstGeom>
          <a:noFill/>
        </p:spPr>
        <p:txBody>
          <a:bodyPr wrap="square" rtlCol="0">
            <a:spAutoFit/>
          </a:bodyPr>
          <a:lstStyle/>
          <a:p>
            <a:r>
              <a:rPr lang="en-US" dirty="0"/>
              <a:t>Normal Graph Coloring (distance-1)</a:t>
            </a:r>
          </a:p>
        </p:txBody>
      </p:sp>
      <p:sp>
        <p:nvSpPr>
          <p:cNvPr id="3" name="Oval 2">
            <a:extLst>
              <a:ext uri="{FF2B5EF4-FFF2-40B4-BE49-F238E27FC236}">
                <a16:creationId xmlns:a16="http://schemas.microsoft.com/office/drawing/2014/main" id="{DB4266FE-BAF3-01C4-7BF2-E2F458DD84EA}"/>
              </a:ext>
            </a:extLst>
          </p:cNvPr>
          <p:cNvSpPr/>
          <p:nvPr/>
        </p:nvSpPr>
        <p:spPr>
          <a:xfrm>
            <a:off x="6861927" y="3777792"/>
            <a:ext cx="542041" cy="542041"/>
          </a:xfrm>
          <a:prstGeom prst="ellipse">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A</a:t>
            </a:r>
          </a:p>
        </p:txBody>
      </p:sp>
      <p:sp>
        <p:nvSpPr>
          <p:cNvPr id="4" name="Oval 3">
            <a:extLst>
              <a:ext uri="{FF2B5EF4-FFF2-40B4-BE49-F238E27FC236}">
                <a16:creationId xmlns:a16="http://schemas.microsoft.com/office/drawing/2014/main" id="{2E92544F-4B0A-0601-AD88-87EAF3D62C72}"/>
              </a:ext>
            </a:extLst>
          </p:cNvPr>
          <p:cNvSpPr/>
          <p:nvPr/>
        </p:nvSpPr>
        <p:spPr>
          <a:xfrm>
            <a:off x="7825032" y="2412476"/>
            <a:ext cx="542041" cy="542041"/>
          </a:xfrm>
          <a:prstGeom prst="ellipse">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B</a:t>
            </a:r>
          </a:p>
        </p:txBody>
      </p:sp>
      <p:sp>
        <p:nvSpPr>
          <p:cNvPr id="12" name="Oval 11">
            <a:extLst>
              <a:ext uri="{FF2B5EF4-FFF2-40B4-BE49-F238E27FC236}">
                <a16:creationId xmlns:a16="http://schemas.microsoft.com/office/drawing/2014/main" id="{F526D50C-1DAD-F369-8AD3-900405F1C241}"/>
              </a:ext>
            </a:extLst>
          </p:cNvPr>
          <p:cNvSpPr/>
          <p:nvPr/>
        </p:nvSpPr>
        <p:spPr>
          <a:xfrm>
            <a:off x="9286187" y="3777791"/>
            <a:ext cx="542041" cy="542041"/>
          </a:xfrm>
          <a:prstGeom prst="ellipse">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C</a:t>
            </a:r>
          </a:p>
        </p:txBody>
      </p:sp>
      <p:sp>
        <p:nvSpPr>
          <p:cNvPr id="13" name="Oval 12">
            <a:extLst>
              <a:ext uri="{FF2B5EF4-FFF2-40B4-BE49-F238E27FC236}">
                <a16:creationId xmlns:a16="http://schemas.microsoft.com/office/drawing/2014/main" id="{DF10CB6E-6496-7F30-858C-7734B207FB0C}"/>
              </a:ext>
            </a:extLst>
          </p:cNvPr>
          <p:cNvSpPr/>
          <p:nvPr/>
        </p:nvSpPr>
        <p:spPr>
          <a:xfrm>
            <a:off x="10172306" y="2412476"/>
            <a:ext cx="542041" cy="542041"/>
          </a:xfrm>
          <a:prstGeom prst="ellipse">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D</a:t>
            </a:r>
          </a:p>
        </p:txBody>
      </p:sp>
      <p:cxnSp>
        <p:nvCxnSpPr>
          <p:cNvPr id="14" name="Straight Connector 13">
            <a:extLst>
              <a:ext uri="{FF2B5EF4-FFF2-40B4-BE49-F238E27FC236}">
                <a16:creationId xmlns:a16="http://schemas.microsoft.com/office/drawing/2014/main" id="{78B136DB-D19E-1EAC-0CB5-BBBBE8B11C45}"/>
              </a:ext>
            </a:extLst>
          </p:cNvPr>
          <p:cNvCxnSpPr>
            <a:cxnSpLocks/>
            <a:stCxn id="4" idx="3"/>
            <a:endCxn id="3" idx="0"/>
          </p:cNvCxnSpPr>
          <p:nvPr/>
        </p:nvCxnSpPr>
        <p:spPr>
          <a:xfrm flipH="1">
            <a:off x="7132948" y="2875137"/>
            <a:ext cx="771464" cy="902655"/>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66F6D22E-81FA-B973-1DAA-5B1608CC382F}"/>
              </a:ext>
            </a:extLst>
          </p:cNvPr>
          <p:cNvCxnSpPr>
            <a:cxnSpLocks/>
            <a:stCxn id="12" idx="1"/>
            <a:endCxn id="4" idx="5"/>
          </p:cNvCxnSpPr>
          <p:nvPr/>
        </p:nvCxnSpPr>
        <p:spPr>
          <a:xfrm flipH="1" flipV="1">
            <a:off x="8287693" y="2875137"/>
            <a:ext cx="1077874" cy="982034"/>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96B5DF68-A3A8-BBDB-E184-8E569B19BE4C}"/>
              </a:ext>
            </a:extLst>
          </p:cNvPr>
          <p:cNvCxnSpPr>
            <a:cxnSpLocks/>
            <a:stCxn id="12" idx="7"/>
            <a:endCxn id="13" idx="4"/>
          </p:cNvCxnSpPr>
          <p:nvPr/>
        </p:nvCxnSpPr>
        <p:spPr>
          <a:xfrm flipV="1">
            <a:off x="9748848" y="2954517"/>
            <a:ext cx="694479" cy="902654"/>
          </a:xfrm>
          <a:prstGeom prst="line">
            <a:avLst/>
          </a:prstGeom>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E0B952A2-BB52-0074-BB4B-7425217CAFA8}"/>
              </a:ext>
            </a:extLst>
          </p:cNvPr>
          <p:cNvSpPr txBox="1"/>
          <p:nvPr/>
        </p:nvSpPr>
        <p:spPr>
          <a:xfrm>
            <a:off x="7390612" y="5269584"/>
            <a:ext cx="2308803" cy="369332"/>
          </a:xfrm>
          <a:prstGeom prst="rect">
            <a:avLst/>
          </a:prstGeom>
          <a:noFill/>
        </p:spPr>
        <p:txBody>
          <a:bodyPr wrap="square" rtlCol="0">
            <a:spAutoFit/>
          </a:bodyPr>
          <a:lstStyle/>
          <a:p>
            <a:r>
              <a:rPr lang="en-US" dirty="0"/>
              <a:t>Distance-2 Coloring</a:t>
            </a:r>
          </a:p>
        </p:txBody>
      </p:sp>
      <p:sp>
        <p:nvSpPr>
          <p:cNvPr id="19" name="Slide Number Placeholder 18">
            <a:extLst>
              <a:ext uri="{FF2B5EF4-FFF2-40B4-BE49-F238E27FC236}">
                <a16:creationId xmlns:a16="http://schemas.microsoft.com/office/drawing/2014/main" id="{EAFC5CE7-39F9-016D-75CC-BFD859E54201}"/>
              </a:ext>
            </a:extLst>
          </p:cNvPr>
          <p:cNvSpPr>
            <a:spLocks noGrp="1"/>
          </p:cNvSpPr>
          <p:nvPr>
            <p:ph type="sldNum" sz="quarter" idx="12"/>
          </p:nvPr>
        </p:nvSpPr>
        <p:spPr/>
        <p:txBody>
          <a:bodyPr/>
          <a:lstStyle/>
          <a:p>
            <a:fld id="{3DD08374-E544-47A5-94AF-CF56056772CB}" type="slidenum">
              <a:rPr lang="en-US" smtClean="0"/>
              <a:t>54</a:t>
            </a:fld>
            <a:endParaRPr lang="en-US"/>
          </a:p>
        </p:txBody>
      </p:sp>
    </p:spTree>
    <p:extLst>
      <p:ext uri="{BB962C8B-B14F-4D97-AF65-F5344CB8AC3E}">
        <p14:creationId xmlns:p14="http://schemas.microsoft.com/office/powerpoint/2010/main" val="241151620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626C34-5055-1B79-CADE-77C45AFDB8B2}"/>
              </a:ext>
            </a:extLst>
          </p:cNvPr>
          <p:cNvSpPr>
            <a:spLocks noGrp="1"/>
          </p:cNvSpPr>
          <p:nvPr>
            <p:ph type="title"/>
          </p:nvPr>
        </p:nvSpPr>
        <p:spPr/>
        <p:txBody>
          <a:bodyPr>
            <a:normAutofit fontScale="90000"/>
          </a:bodyPr>
          <a:lstStyle/>
          <a:p>
            <a:r>
              <a:rPr lang="en-US" b="1" dirty="0"/>
              <a:t>Reduction:</a:t>
            </a:r>
            <a:r>
              <a:rPr lang="en-US" dirty="0"/>
              <a:t> Distance-k coloring to normal graph coloring (distance-1 coloring)</a:t>
            </a:r>
          </a:p>
        </p:txBody>
      </p:sp>
      <p:sp>
        <p:nvSpPr>
          <p:cNvPr id="4" name="Slide Number Placeholder 3">
            <a:extLst>
              <a:ext uri="{FF2B5EF4-FFF2-40B4-BE49-F238E27FC236}">
                <a16:creationId xmlns:a16="http://schemas.microsoft.com/office/drawing/2014/main" id="{B6985456-0037-96D5-ADB0-2114917513B5}"/>
              </a:ext>
            </a:extLst>
          </p:cNvPr>
          <p:cNvSpPr>
            <a:spLocks noGrp="1"/>
          </p:cNvSpPr>
          <p:nvPr>
            <p:ph type="sldNum" sz="quarter" idx="12"/>
          </p:nvPr>
        </p:nvSpPr>
        <p:spPr/>
        <p:txBody>
          <a:bodyPr/>
          <a:lstStyle/>
          <a:p>
            <a:fld id="{3DD08374-E544-47A5-94AF-CF56056772CB}" type="slidenum">
              <a:rPr lang="en-US" smtClean="0"/>
              <a:t>55</a:t>
            </a:fld>
            <a:endParaRPr lang="en-US"/>
          </a:p>
        </p:txBody>
      </p:sp>
    </p:spTree>
    <p:extLst>
      <p:ext uri="{BB962C8B-B14F-4D97-AF65-F5344CB8AC3E}">
        <p14:creationId xmlns:p14="http://schemas.microsoft.com/office/powerpoint/2010/main" val="84745270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E5ADEA-703C-88D7-8041-5FE8799E27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D9CD37-FC41-BE3E-6946-369A6C2DC78C}"/>
              </a:ext>
            </a:extLst>
          </p:cNvPr>
          <p:cNvSpPr>
            <a:spLocks noGrp="1"/>
          </p:cNvSpPr>
          <p:nvPr>
            <p:ph type="title"/>
          </p:nvPr>
        </p:nvSpPr>
        <p:spPr/>
        <p:txBody>
          <a:bodyPr>
            <a:normAutofit fontScale="90000"/>
          </a:bodyPr>
          <a:lstStyle/>
          <a:p>
            <a:r>
              <a:rPr lang="en-US" b="1" dirty="0"/>
              <a:t>Reduction:</a:t>
            </a:r>
            <a:r>
              <a:rPr lang="en-US" dirty="0"/>
              <a:t> Distance-k coloring to normal graph coloring (distance-1 coloring)</a:t>
            </a:r>
          </a:p>
        </p:txBody>
      </p:sp>
      <p:sp>
        <p:nvSpPr>
          <p:cNvPr id="12" name="Slide Number Placeholder 11">
            <a:extLst>
              <a:ext uri="{FF2B5EF4-FFF2-40B4-BE49-F238E27FC236}">
                <a16:creationId xmlns:a16="http://schemas.microsoft.com/office/drawing/2014/main" id="{FF6E02E1-1089-4125-5ACF-831524A1DE2D}"/>
              </a:ext>
            </a:extLst>
          </p:cNvPr>
          <p:cNvSpPr>
            <a:spLocks noGrp="1"/>
          </p:cNvSpPr>
          <p:nvPr>
            <p:ph type="sldNum" sz="quarter" idx="12"/>
          </p:nvPr>
        </p:nvSpPr>
        <p:spPr/>
        <p:txBody>
          <a:bodyPr/>
          <a:lstStyle/>
          <a:p>
            <a:fld id="{3DD08374-E544-47A5-94AF-CF56056772CB}" type="slidenum">
              <a:rPr lang="en-US" smtClean="0"/>
              <a:t>56</a:t>
            </a:fld>
            <a:endParaRPr lang="en-US"/>
          </a:p>
        </p:txBody>
      </p:sp>
      <p:sp>
        <p:nvSpPr>
          <p:cNvPr id="3" name="TextBox 2">
            <a:extLst>
              <a:ext uri="{FF2B5EF4-FFF2-40B4-BE49-F238E27FC236}">
                <a16:creationId xmlns:a16="http://schemas.microsoft.com/office/drawing/2014/main" id="{77DC3E64-41F2-9986-F0C2-F04133FFAE1E}"/>
              </a:ext>
            </a:extLst>
          </p:cNvPr>
          <p:cNvSpPr txBox="1"/>
          <p:nvPr/>
        </p:nvSpPr>
        <p:spPr>
          <a:xfrm>
            <a:off x="1055802" y="2328421"/>
            <a:ext cx="2413262" cy="369332"/>
          </a:xfrm>
          <a:prstGeom prst="rect">
            <a:avLst/>
          </a:prstGeom>
          <a:noFill/>
        </p:spPr>
        <p:txBody>
          <a:bodyPr wrap="square" rtlCol="0">
            <a:spAutoFit/>
          </a:bodyPr>
          <a:lstStyle/>
          <a:p>
            <a:r>
              <a:rPr lang="en-US" dirty="0"/>
              <a:t>Given a graph G=(V,E)</a:t>
            </a:r>
          </a:p>
        </p:txBody>
      </p:sp>
      <p:sp>
        <p:nvSpPr>
          <p:cNvPr id="4" name="Oval 3">
            <a:extLst>
              <a:ext uri="{FF2B5EF4-FFF2-40B4-BE49-F238E27FC236}">
                <a16:creationId xmlns:a16="http://schemas.microsoft.com/office/drawing/2014/main" id="{CD28AE0F-54FD-5C71-611F-6AD127A3B054}"/>
              </a:ext>
            </a:extLst>
          </p:cNvPr>
          <p:cNvSpPr/>
          <p:nvPr/>
        </p:nvSpPr>
        <p:spPr>
          <a:xfrm>
            <a:off x="1055802" y="4794316"/>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A</a:t>
            </a:r>
          </a:p>
        </p:txBody>
      </p:sp>
      <p:sp>
        <p:nvSpPr>
          <p:cNvPr id="5" name="Oval 4">
            <a:extLst>
              <a:ext uri="{FF2B5EF4-FFF2-40B4-BE49-F238E27FC236}">
                <a16:creationId xmlns:a16="http://schemas.microsoft.com/office/drawing/2014/main" id="{5E4E9341-0D1C-442E-9BF2-F37CA5B51D0E}"/>
              </a:ext>
            </a:extLst>
          </p:cNvPr>
          <p:cNvSpPr/>
          <p:nvPr/>
        </p:nvSpPr>
        <p:spPr>
          <a:xfrm>
            <a:off x="2018907" y="3429000"/>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B</a:t>
            </a:r>
          </a:p>
        </p:txBody>
      </p:sp>
      <p:sp>
        <p:nvSpPr>
          <p:cNvPr id="6" name="Oval 5">
            <a:extLst>
              <a:ext uri="{FF2B5EF4-FFF2-40B4-BE49-F238E27FC236}">
                <a16:creationId xmlns:a16="http://schemas.microsoft.com/office/drawing/2014/main" id="{7FB59583-1503-3674-2F3B-F50C7054E874}"/>
              </a:ext>
            </a:extLst>
          </p:cNvPr>
          <p:cNvSpPr/>
          <p:nvPr/>
        </p:nvSpPr>
        <p:spPr>
          <a:xfrm>
            <a:off x="3480062" y="4794315"/>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C</a:t>
            </a:r>
          </a:p>
        </p:txBody>
      </p:sp>
      <p:sp>
        <p:nvSpPr>
          <p:cNvPr id="7" name="Oval 6">
            <a:extLst>
              <a:ext uri="{FF2B5EF4-FFF2-40B4-BE49-F238E27FC236}">
                <a16:creationId xmlns:a16="http://schemas.microsoft.com/office/drawing/2014/main" id="{A55EB7DA-840F-E04C-7A29-DCB483C6629A}"/>
              </a:ext>
            </a:extLst>
          </p:cNvPr>
          <p:cNvSpPr/>
          <p:nvPr/>
        </p:nvSpPr>
        <p:spPr>
          <a:xfrm>
            <a:off x="4366181" y="3429000"/>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D</a:t>
            </a:r>
          </a:p>
        </p:txBody>
      </p:sp>
      <p:cxnSp>
        <p:nvCxnSpPr>
          <p:cNvPr id="8" name="Straight Connector 7">
            <a:extLst>
              <a:ext uri="{FF2B5EF4-FFF2-40B4-BE49-F238E27FC236}">
                <a16:creationId xmlns:a16="http://schemas.microsoft.com/office/drawing/2014/main" id="{D2915C7B-E1F2-9D03-7194-4EB2B250BD2E}"/>
              </a:ext>
            </a:extLst>
          </p:cNvPr>
          <p:cNvCxnSpPr>
            <a:cxnSpLocks/>
            <a:stCxn id="5" idx="3"/>
            <a:endCxn id="4" idx="0"/>
          </p:cNvCxnSpPr>
          <p:nvPr/>
        </p:nvCxnSpPr>
        <p:spPr>
          <a:xfrm flipH="1">
            <a:off x="1326823" y="3891661"/>
            <a:ext cx="771464" cy="902655"/>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510F1A6-9AAC-F289-B82B-98924122D526}"/>
              </a:ext>
            </a:extLst>
          </p:cNvPr>
          <p:cNvCxnSpPr>
            <a:cxnSpLocks/>
            <a:stCxn id="6" idx="1"/>
            <a:endCxn id="5" idx="5"/>
          </p:cNvCxnSpPr>
          <p:nvPr/>
        </p:nvCxnSpPr>
        <p:spPr>
          <a:xfrm flipH="1" flipV="1">
            <a:off x="2481568" y="3891661"/>
            <a:ext cx="1077874" cy="98203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BFE54F1C-26D7-3F32-B3E0-0BC0CB1A6172}"/>
              </a:ext>
            </a:extLst>
          </p:cNvPr>
          <p:cNvCxnSpPr>
            <a:cxnSpLocks/>
            <a:stCxn id="6" idx="7"/>
            <a:endCxn id="7" idx="4"/>
          </p:cNvCxnSpPr>
          <p:nvPr/>
        </p:nvCxnSpPr>
        <p:spPr>
          <a:xfrm flipV="1">
            <a:off x="3942723" y="3971041"/>
            <a:ext cx="694479" cy="902654"/>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7906599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E9ADB3-0B18-C6D8-C669-063E5C226D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F79D4D-2399-EC63-7F24-8D9372EF562C}"/>
              </a:ext>
            </a:extLst>
          </p:cNvPr>
          <p:cNvSpPr>
            <a:spLocks noGrp="1"/>
          </p:cNvSpPr>
          <p:nvPr>
            <p:ph type="title"/>
          </p:nvPr>
        </p:nvSpPr>
        <p:spPr/>
        <p:txBody>
          <a:bodyPr>
            <a:normAutofit fontScale="90000"/>
          </a:bodyPr>
          <a:lstStyle/>
          <a:p>
            <a:r>
              <a:rPr lang="en-US" b="1" dirty="0"/>
              <a:t>Reduction:</a:t>
            </a:r>
            <a:r>
              <a:rPr lang="en-US" dirty="0"/>
              <a:t> Distance-k coloring to normal graph coloring (distance-1 coloring)</a:t>
            </a:r>
          </a:p>
        </p:txBody>
      </p:sp>
      <p:sp>
        <p:nvSpPr>
          <p:cNvPr id="13" name="Slide Number Placeholder 12">
            <a:extLst>
              <a:ext uri="{FF2B5EF4-FFF2-40B4-BE49-F238E27FC236}">
                <a16:creationId xmlns:a16="http://schemas.microsoft.com/office/drawing/2014/main" id="{430EB5DE-AE0C-7B04-1560-675F9E3F3432}"/>
              </a:ext>
            </a:extLst>
          </p:cNvPr>
          <p:cNvSpPr>
            <a:spLocks noGrp="1"/>
          </p:cNvSpPr>
          <p:nvPr>
            <p:ph type="sldNum" sz="quarter" idx="12"/>
          </p:nvPr>
        </p:nvSpPr>
        <p:spPr/>
        <p:txBody>
          <a:bodyPr/>
          <a:lstStyle/>
          <a:p>
            <a:fld id="{3DD08374-E544-47A5-94AF-CF56056772CB}" type="slidenum">
              <a:rPr lang="en-US" smtClean="0"/>
              <a:t>57</a:t>
            </a:fld>
            <a:endParaRPr lang="en-US"/>
          </a:p>
        </p:txBody>
      </p:sp>
      <p:sp>
        <p:nvSpPr>
          <p:cNvPr id="3" name="TextBox 2">
            <a:extLst>
              <a:ext uri="{FF2B5EF4-FFF2-40B4-BE49-F238E27FC236}">
                <a16:creationId xmlns:a16="http://schemas.microsoft.com/office/drawing/2014/main" id="{9CA976AA-15AF-B3E6-25F0-43FFEBC24D9B}"/>
              </a:ext>
            </a:extLst>
          </p:cNvPr>
          <p:cNvSpPr txBox="1"/>
          <p:nvPr/>
        </p:nvSpPr>
        <p:spPr>
          <a:xfrm>
            <a:off x="1055802" y="2328421"/>
            <a:ext cx="2413262" cy="369332"/>
          </a:xfrm>
          <a:prstGeom prst="rect">
            <a:avLst/>
          </a:prstGeom>
          <a:noFill/>
        </p:spPr>
        <p:txBody>
          <a:bodyPr wrap="square" rtlCol="0">
            <a:spAutoFit/>
          </a:bodyPr>
          <a:lstStyle/>
          <a:p>
            <a:r>
              <a:rPr lang="en-US" dirty="0"/>
              <a:t>Given a graph G=(V,E)</a:t>
            </a:r>
          </a:p>
        </p:txBody>
      </p:sp>
      <p:sp>
        <p:nvSpPr>
          <p:cNvPr id="4" name="Oval 3">
            <a:extLst>
              <a:ext uri="{FF2B5EF4-FFF2-40B4-BE49-F238E27FC236}">
                <a16:creationId xmlns:a16="http://schemas.microsoft.com/office/drawing/2014/main" id="{E8D44020-CDC3-4C0B-5A49-AB7229AE0F16}"/>
              </a:ext>
            </a:extLst>
          </p:cNvPr>
          <p:cNvSpPr/>
          <p:nvPr/>
        </p:nvSpPr>
        <p:spPr>
          <a:xfrm>
            <a:off x="1055802" y="4794316"/>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A</a:t>
            </a:r>
          </a:p>
        </p:txBody>
      </p:sp>
      <p:sp>
        <p:nvSpPr>
          <p:cNvPr id="5" name="Oval 4">
            <a:extLst>
              <a:ext uri="{FF2B5EF4-FFF2-40B4-BE49-F238E27FC236}">
                <a16:creationId xmlns:a16="http://schemas.microsoft.com/office/drawing/2014/main" id="{3AA9753F-F0E0-36DE-FC42-CB4A14B76BCF}"/>
              </a:ext>
            </a:extLst>
          </p:cNvPr>
          <p:cNvSpPr/>
          <p:nvPr/>
        </p:nvSpPr>
        <p:spPr>
          <a:xfrm>
            <a:off x="2018907" y="3429000"/>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B</a:t>
            </a:r>
          </a:p>
        </p:txBody>
      </p:sp>
      <p:sp>
        <p:nvSpPr>
          <p:cNvPr id="6" name="Oval 5">
            <a:extLst>
              <a:ext uri="{FF2B5EF4-FFF2-40B4-BE49-F238E27FC236}">
                <a16:creationId xmlns:a16="http://schemas.microsoft.com/office/drawing/2014/main" id="{56C43260-2471-4647-9BE1-B08D5C4C2EAA}"/>
              </a:ext>
            </a:extLst>
          </p:cNvPr>
          <p:cNvSpPr/>
          <p:nvPr/>
        </p:nvSpPr>
        <p:spPr>
          <a:xfrm>
            <a:off x="3480062" y="4794315"/>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C</a:t>
            </a:r>
          </a:p>
        </p:txBody>
      </p:sp>
      <p:sp>
        <p:nvSpPr>
          <p:cNvPr id="7" name="Oval 6">
            <a:extLst>
              <a:ext uri="{FF2B5EF4-FFF2-40B4-BE49-F238E27FC236}">
                <a16:creationId xmlns:a16="http://schemas.microsoft.com/office/drawing/2014/main" id="{DFEE0F00-FE0B-3F87-B512-EB686E0B4984}"/>
              </a:ext>
            </a:extLst>
          </p:cNvPr>
          <p:cNvSpPr/>
          <p:nvPr/>
        </p:nvSpPr>
        <p:spPr>
          <a:xfrm>
            <a:off x="4366181" y="3429000"/>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D</a:t>
            </a:r>
          </a:p>
        </p:txBody>
      </p:sp>
      <p:cxnSp>
        <p:nvCxnSpPr>
          <p:cNvPr id="8" name="Straight Connector 7">
            <a:extLst>
              <a:ext uri="{FF2B5EF4-FFF2-40B4-BE49-F238E27FC236}">
                <a16:creationId xmlns:a16="http://schemas.microsoft.com/office/drawing/2014/main" id="{3C2B3A24-D80B-E9A8-9B7B-04BD429CC71B}"/>
              </a:ext>
            </a:extLst>
          </p:cNvPr>
          <p:cNvCxnSpPr>
            <a:cxnSpLocks/>
            <a:stCxn id="5" idx="3"/>
            <a:endCxn id="4" idx="0"/>
          </p:cNvCxnSpPr>
          <p:nvPr/>
        </p:nvCxnSpPr>
        <p:spPr>
          <a:xfrm flipH="1">
            <a:off x="1326823" y="3891661"/>
            <a:ext cx="771464" cy="902655"/>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38B02B0-4090-F5A4-07CE-A283C93EEE6E}"/>
              </a:ext>
            </a:extLst>
          </p:cNvPr>
          <p:cNvCxnSpPr>
            <a:cxnSpLocks/>
            <a:stCxn id="6" idx="1"/>
            <a:endCxn id="5" idx="5"/>
          </p:cNvCxnSpPr>
          <p:nvPr/>
        </p:nvCxnSpPr>
        <p:spPr>
          <a:xfrm flipH="1" flipV="1">
            <a:off x="2481568" y="3891661"/>
            <a:ext cx="1077874" cy="98203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6C06B4BD-134E-C8B0-93C1-41D44A0B3C8B}"/>
              </a:ext>
            </a:extLst>
          </p:cNvPr>
          <p:cNvCxnSpPr>
            <a:cxnSpLocks/>
            <a:stCxn id="6" idx="7"/>
            <a:endCxn id="7" idx="4"/>
          </p:cNvCxnSpPr>
          <p:nvPr/>
        </p:nvCxnSpPr>
        <p:spPr>
          <a:xfrm flipV="1">
            <a:off x="3942723" y="3971041"/>
            <a:ext cx="694479" cy="902654"/>
          </a:xfrm>
          <a:prstGeom prst="line">
            <a:avLst/>
          </a:prstGeom>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6CB66A0E-8BE3-52A4-661E-65BC17553FB9}"/>
              </a:ext>
            </a:extLst>
          </p:cNvPr>
          <p:cNvSpPr txBox="1"/>
          <p:nvPr/>
        </p:nvSpPr>
        <p:spPr>
          <a:xfrm>
            <a:off x="7156515" y="2328421"/>
            <a:ext cx="2413262" cy="646331"/>
          </a:xfrm>
          <a:prstGeom prst="rect">
            <a:avLst/>
          </a:prstGeom>
          <a:noFill/>
        </p:spPr>
        <p:txBody>
          <a:bodyPr wrap="square" rtlCol="0">
            <a:spAutoFit/>
          </a:bodyPr>
          <a:lstStyle/>
          <a:p>
            <a:r>
              <a:rPr lang="en-US" dirty="0"/>
              <a:t>We have to construct power-k graph </a:t>
            </a:r>
            <a:r>
              <a:rPr lang="en-US" dirty="0" err="1"/>
              <a:t>G</a:t>
            </a:r>
            <a:r>
              <a:rPr lang="en-US" baseline="30000" dirty="0" err="1"/>
              <a:t>k</a:t>
            </a:r>
            <a:endParaRPr lang="en-US" dirty="0"/>
          </a:p>
        </p:txBody>
      </p:sp>
    </p:spTree>
    <p:extLst>
      <p:ext uri="{BB962C8B-B14F-4D97-AF65-F5344CB8AC3E}">
        <p14:creationId xmlns:p14="http://schemas.microsoft.com/office/powerpoint/2010/main" val="363213351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8F6F4D-FAB5-7A85-A023-81922E8034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78FB7B-320A-35E2-9B3B-5B91F464E339}"/>
              </a:ext>
            </a:extLst>
          </p:cNvPr>
          <p:cNvSpPr>
            <a:spLocks noGrp="1"/>
          </p:cNvSpPr>
          <p:nvPr>
            <p:ph type="title"/>
          </p:nvPr>
        </p:nvSpPr>
        <p:spPr/>
        <p:txBody>
          <a:bodyPr>
            <a:normAutofit fontScale="90000"/>
          </a:bodyPr>
          <a:lstStyle/>
          <a:p>
            <a:r>
              <a:rPr lang="en-US" b="1" dirty="0"/>
              <a:t>Reduction:</a:t>
            </a:r>
            <a:r>
              <a:rPr lang="en-US" dirty="0"/>
              <a:t> Distance-k coloring to normal graph coloring (distance-1 coloring)</a:t>
            </a:r>
          </a:p>
        </p:txBody>
      </p:sp>
      <p:sp>
        <p:nvSpPr>
          <p:cNvPr id="14" name="Slide Number Placeholder 13">
            <a:extLst>
              <a:ext uri="{FF2B5EF4-FFF2-40B4-BE49-F238E27FC236}">
                <a16:creationId xmlns:a16="http://schemas.microsoft.com/office/drawing/2014/main" id="{CB56F197-3CF7-E08C-3C93-F44200744A7B}"/>
              </a:ext>
            </a:extLst>
          </p:cNvPr>
          <p:cNvSpPr>
            <a:spLocks noGrp="1"/>
          </p:cNvSpPr>
          <p:nvPr>
            <p:ph type="sldNum" sz="quarter" idx="12"/>
          </p:nvPr>
        </p:nvSpPr>
        <p:spPr/>
        <p:txBody>
          <a:bodyPr/>
          <a:lstStyle/>
          <a:p>
            <a:fld id="{3DD08374-E544-47A5-94AF-CF56056772CB}" type="slidenum">
              <a:rPr lang="en-US" smtClean="0"/>
              <a:t>58</a:t>
            </a:fld>
            <a:endParaRPr lang="en-US"/>
          </a:p>
        </p:txBody>
      </p:sp>
      <p:sp>
        <p:nvSpPr>
          <p:cNvPr id="3" name="TextBox 2">
            <a:extLst>
              <a:ext uri="{FF2B5EF4-FFF2-40B4-BE49-F238E27FC236}">
                <a16:creationId xmlns:a16="http://schemas.microsoft.com/office/drawing/2014/main" id="{B2B390B4-30F1-85ED-B6E1-5ED20ADFFE38}"/>
              </a:ext>
            </a:extLst>
          </p:cNvPr>
          <p:cNvSpPr txBox="1"/>
          <p:nvPr/>
        </p:nvSpPr>
        <p:spPr>
          <a:xfrm>
            <a:off x="1055802" y="2328421"/>
            <a:ext cx="2413262" cy="369332"/>
          </a:xfrm>
          <a:prstGeom prst="rect">
            <a:avLst/>
          </a:prstGeom>
          <a:noFill/>
        </p:spPr>
        <p:txBody>
          <a:bodyPr wrap="square" rtlCol="0">
            <a:spAutoFit/>
          </a:bodyPr>
          <a:lstStyle/>
          <a:p>
            <a:r>
              <a:rPr lang="en-US" dirty="0"/>
              <a:t>Given a graph G=(V,E)</a:t>
            </a:r>
          </a:p>
        </p:txBody>
      </p:sp>
      <p:sp>
        <p:nvSpPr>
          <p:cNvPr id="4" name="Oval 3">
            <a:extLst>
              <a:ext uri="{FF2B5EF4-FFF2-40B4-BE49-F238E27FC236}">
                <a16:creationId xmlns:a16="http://schemas.microsoft.com/office/drawing/2014/main" id="{B8BF6676-4663-1898-9334-BC79E12DA54E}"/>
              </a:ext>
            </a:extLst>
          </p:cNvPr>
          <p:cNvSpPr/>
          <p:nvPr/>
        </p:nvSpPr>
        <p:spPr>
          <a:xfrm>
            <a:off x="1055802" y="4794316"/>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A</a:t>
            </a:r>
          </a:p>
        </p:txBody>
      </p:sp>
      <p:sp>
        <p:nvSpPr>
          <p:cNvPr id="5" name="Oval 4">
            <a:extLst>
              <a:ext uri="{FF2B5EF4-FFF2-40B4-BE49-F238E27FC236}">
                <a16:creationId xmlns:a16="http://schemas.microsoft.com/office/drawing/2014/main" id="{D02CD0C0-25F7-A982-D247-DB6034C8A19A}"/>
              </a:ext>
            </a:extLst>
          </p:cNvPr>
          <p:cNvSpPr/>
          <p:nvPr/>
        </p:nvSpPr>
        <p:spPr>
          <a:xfrm>
            <a:off x="2018907" y="3429000"/>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B</a:t>
            </a:r>
          </a:p>
        </p:txBody>
      </p:sp>
      <p:sp>
        <p:nvSpPr>
          <p:cNvPr id="6" name="Oval 5">
            <a:extLst>
              <a:ext uri="{FF2B5EF4-FFF2-40B4-BE49-F238E27FC236}">
                <a16:creationId xmlns:a16="http://schemas.microsoft.com/office/drawing/2014/main" id="{F4D8DCBB-8067-FC5E-F4C5-177F54F1A052}"/>
              </a:ext>
            </a:extLst>
          </p:cNvPr>
          <p:cNvSpPr/>
          <p:nvPr/>
        </p:nvSpPr>
        <p:spPr>
          <a:xfrm>
            <a:off x="3480062" y="4794315"/>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C</a:t>
            </a:r>
          </a:p>
        </p:txBody>
      </p:sp>
      <p:sp>
        <p:nvSpPr>
          <p:cNvPr id="7" name="Oval 6">
            <a:extLst>
              <a:ext uri="{FF2B5EF4-FFF2-40B4-BE49-F238E27FC236}">
                <a16:creationId xmlns:a16="http://schemas.microsoft.com/office/drawing/2014/main" id="{B2E7462D-1360-829F-C8E9-265EBB5720FE}"/>
              </a:ext>
            </a:extLst>
          </p:cNvPr>
          <p:cNvSpPr/>
          <p:nvPr/>
        </p:nvSpPr>
        <p:spPr>
          <a:xfrm>
            <a:off x="4366181" y="3429000"/>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D</a:t>
            </a:r>
          </a:p>
        </p:txBody>
      </p:sp>
      <p:cxnSp>
        <p:nvCxnSpPr>
          <p:cNvPr id="8" name="Straight Connector 7">
            <a:extLst>
              <a:ext uri="{FF2B5EF4-FFF2-40B4-BE49-F238E27FC236}">
                <a16:creationId xmlns:a16="http://schemas.microsoft.com/office/drawing/2014/main" id="{6507E2BD-FE74-4C6D-934F-E10F1E9032F5}"/>
              </a:ext>
            </a:extLst>
          </p:cNvPr>
          <p:cNvCxnSpPr>
            <a:cxnSpLocks/>
            <a:stCxn id="5" idx="3"/>
            <a:endCxn id="4" idx="0"/>
          </p:cNvCxnSpPr>
          <p:nvPr/>
        </p:nvCxnSpPr>
        <p:spPr>
          <a:xfrm flipH="1">
            <a:off x="1326823" y="3891661"/>
            <a:ext cx="771464" cy="902655"/>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C17B1CF-4966-8BF9-F817-E7734320AECA}"/>
              </a:ext>
            </a:extLst>
          </p:cNvPr>
          <p:cNvCxnSpPr>
            <a:cxnSpLocks/>
            <a:stCxn id="6" idx="1"/>
            <a:endCxn id="5" idx="5"/>
          </p:cNvCxnSpPr>
          <p:nvPr/>
        </p:nvCxnSpPr>
        <p:spPr>
          <a:xfrm flipH="1" flipV="1">
            <a:off x="2481568" y="3891661"/>
            <a:ext cx="1077874" cy="98203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BC226621-621F-75F7-F85B-47D89C7823E8}"/>
              </a:ext>
            </a:extLst>
          </p:cNvPr>
          <p:cNvCxnSpPr>
            <a:cxnSpLocks/>
            <a:stCxn id="6" idx="7"/>
            <a:endCxn id="7" idx="4"/>
          </p:cNvCxnSpPr>
          <p:nvPr/>
        </p:nvCxnSpPr>
        <p:spPr>
          <a:xfrm flipV="1">
            <a:off x="3942723" y="3971041"/>
            <a:ext cx="694479" cy="902654"/>
          </a:xfrm>
          <a:prstGeom prst="line">
            <a:avLst/>
          </a:prstGeom>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FF354D43-E241-9AA4-E8CE-CFBB3C8E4136}"/>
              </a:ext>
            </a:extLst>
          </p:cNvPr>
          <p:cNvSpPr txBox="1"/>
          <p:nvPr/>
        </p:nvSpPr>
        <p:spPr>
          <a:xfrm>
            <a:off x="7156515" y="2328421"/>
            <a:ext cx="2413262" cy="646331"/>
          </a:xfrm>
          <a:prstGeom prst="rect">
            <a:avLst/>
          </a:prstGeom>
          <a:noFill/>
        </p:spPr>
        <p:txBody>
          <a:bodyPr wrap="square" rtlCol="0">
            <a:spAutoFit/>
          </a:bodyPr>
          <a:lstStyle/>
          <a:p>
            <a:r>
              <a:rPr lang="en-US" dirty="0"/>
              <a:t>We have to construct power-k graph </a:t>
            </a:r>
            <a:r>
              <a:rPr lang="en-US" dirty="0" err="1"/>
              <a:t>G</a:t>
            </a:r>
            <a:r>
              <a:rPr lang="en-US" baseline="30000" dirty="0" err="1"/>
              <a:t>k</a:t>
            </a:r>
            <a:endParaRPr lang="en-US" dirty="0"/>
          </a:p>
        </p:txBody>
      </p:sp>
      <p:sp>
        <p:nvSpPr>
          <p:cNvPr id="12" name="TextBox 11">
            <a:extLst>
              <a:ext uri="{FF2B5EF4-FFF2-40B4-BE49-F238E27FC236}">
                <a16:creationId xmlns:a16="http://schemas.microsoft.com/office/drawing/2014/main" id="{4E692393-0E63-918E-4CBB-7B76C783984A}"/>
              </a:ext>
            </a:extLst>
          </p:cNvPr>
          <p:cNvSpPr txBox="1"/>
          <p:nvPr/>
        </p:nvSpPr>
        <p:spPr>
          <a:xfrm>
            <a:off x="6919274" y="4194928"/>
            <a:ext cx="3789575" cy="1077218"/>
          </a:xfrm>
          <a:prstGeom prst="rect">
            <a:avLst/>
          </a:prstGeom>
          <a:noFill/>
        </p:spPr>
        <p:txBody>
          <a:bodyPr wrap="square" rtlCol="0">
            <a:spAutoFit/>
          </a:bodyPr>
          <a:lstStyle/>
          <a:p>
            <a:r>
              <a:rPr lang="en-US" sz="3200" dirty="0"/>
              <a:t>What is power-k graph?</a:t>
            </a:r>
          </a:p>
        </p:txBody>
      </p:sp>
    </p:spTree>
    <p:extLst>
      <p:ext uri="{BB962C8B-B14F-4D97-AF65-F5344CB8AC3E}">
        <p14:creationId xmlns:p14="http://schemas.microsoft.com/office/powerpoint/2010/main" val="307331126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546DBC-F358-D7A3-0BB8-6E0B02F3D474}"/>
            </a:ext>
          </a:extLst>
        </p:cNvPr>
        <p:cNvGrpSpPr/>
        <p:nvPr/>
      </p:nvGrpSpPr>
      <p:grpSpPr>
        <a:xfrm>
          <a:off x="0" y="0"/>
          <a:ext cx="0" cy="0"/>
          <a:chOff x="0" y="0"/>
          <a:chExt cx="0" cy="0"/>
        </a:xfrm>
      </p:grpSpPr>
      <p:sp>
        <p:nvSpPr>
          <p:cNvPr id="5" name="Oval 4">
            <a:extLst>
              <a:ext uri="{FF2B5EF4-FFF2-40B4-BE49-F238E27FC236}">
                <a16:creationId xmlns:a16="http://schemas.microsoft.com/office/drawing/2014/main" id="{3FE72698-6B2A-EF56-09A0-74A3152C8B93}"/>
              </a:ext>
            </a:extLst>
          </p:cNvPr>
          <p:cNvSpPr/>
          <p:nvPr/>
        </p:nvSpPr>
        <p:spPr>
          <a:xfrm>
            <a:off x="1488650" y="3947474"/>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A</a:t>
            </a:r>
          </a:p>
        </p:txBody>
      </p:sp>
      <p:sp>
        <p:nvSpPr>
          <p:cNvPr id="6" name="Oval 5">
            <a:extLst>
              <a:ext uri="{FF2B5EF4-FFF2-40B4-BE49-F238E27FC236}">
                <a16:creationId xmlns:a16="http://schemas.microsoft.com/office/drawing/2014/main" id="{848C2660-3BFB-8111-663E-225ADB34AB8D}"/>
              </a:ext>
            </a:extLst>
          </p:cNvPr>
          <p:cNvSpPr/>
          <p:nvPr/>
        </p:nvSpPr>
        <p:spPr>
          <a:xfrm>
            <a:off x="2451755" y="2582158"/>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B</a:t>
            </a:r>
          </a:p>
        </p:txBody>
      </p:sp>
      <p:sp>
        <p:nvSpPr>
          <p:cNvPr id="7" name="Oval 6">
            <a:extLst>
              <a:ext uri="{FF2B5EF4-FFF2-40B4-BE49-F238E27FC236}">
                <a16:creationId xmlns:a16="http://schemas.microsoft.com/office/drawing/2014/main" id="{D3535081-9BFA-8500-1505-22087B9DDCF9}"/>
              </a:ext>
            </a:extLst>
          </p:cNvPr>
          <p:cNvSpPr/>
          <p:nvPr/>
        </p:nvSpPr>
        <p:spPr>
          <a:xfrm>
            <a:off x="3912910" y="3947473"/>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C</a:t>
            </a:r>
          </a:p>
        </p:txBody>
      </p:sp>
      <p:sp>
        <p:nvSpPr>
          <p:cNvPr id="8" name="Oval 7">
            <a:extLst>
              <a:ext uri="{FF2B5EF4-FFF2-40B4-BE49-F238E27FC236}">
                <a16:creationId xmlns:a16="http://schemas.microsoft.com/office/drawing/2014/main" id="{DD40C570-24B3-920E-D057-D29BA80DB83A}"/>
              </a:ext>
            </a:extLst>
          </p:cNvPr>
          <p:cNvSpPr/>
          <p:nvPr/>
        </p:nvSpPr>
        <p:spPr>
          <a:xfrm>
            <a:off x="4799029" y="2582158"/>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D</a:t>
            </a:r>
          </a:p>
        </p:txBody>
      </p:sp>
      <p:cxnSp>
        <p:nvCxnSpPr>
          <p:cNvPr id="10" name="Straight Connector 9">
            <a:extLst>
              <a:ext uri="{FF2B5EF4-FFF2-40B4-BE49-F238E27FC236}">
                <a16:creationId xmlns:a16="http://schemas.microsoft.com/office/drawing/2014/main" id="{27B5852C-DA22-AF08-BAB2-9B951DFE482F}"/>
              </a:ext>
            </a:extLst>
          </p:cNvPr>
          <p:cNvCxnSpPr>
            <a:cxnSpLocks/>
            <a:stCxn id="6" idx="3"/>
            <a:endCxn id="5" idx="0"/>
          </p:cNvCxnSpPr>
          <p:nvPr/>
        </p:nvCxnSpPr>
        <p:spPr>
          <a:xfrm flipH="1">
            <a:off x="1759671" y="3044819"/>
            <a:ext cx="771464" cy="902655"/>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4CDDCB3-570B-9D5E-0550-C8F8E0C46E9B}"/>
              </a:ext>
            </a:extLst>
          </p:cNvPr>
          <p:cNvCxnSpPr>
            <a:cxnSpLocks/>
            <a:stCxn id="7" idx="1"/>
            <a:endCxn id="6" idx="5"/>
          </p:cNvCxnSpPr>
          <p:nvPr/>
        </p:nvCxnSpPr>
        <p:spPr>
          <a:xfrm flipH="1" flipV="1">
            <a:off x="2914416" y="3044819"/>
            <a:ext cx="1077874" cy="982034"/>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EA894000-E080-4CB3-B1C5-95DAEA99296F}"/>
              </a:ext>
            </a:extLst>
          </p:cNvPr>
          <p:cNvCxnSpPr>
            <a:cxnSpLocks/>
            <a:stCxn id="7" idx="7"/>
            <a:endCxn id="8" idx="4"/>
          </p:cNvCxnSpPr>
          <p:nvPr/>
        </p:nvCxnSpPr>
        <p:spPr>
          <a:xfrm flipV="1">
            <a:off x="4375571" y="3124199"/>
            <a:ext cx="694479" cy="902654"/>
          </a:xfrm>
          <a:prstGeom prst="line">
            <a:avLst/>
          </a:prstGeom>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1A86B34B-0286-8AB5-13B4-1B48E064A1BD}"/>
              </a:ext>
            </a:extLst>
          </p:cNvPr>
          <p:cNvSpPr txBox="1"/>
          <p:nvPr/>
        </p:nvSpPr>
        <p:spPr>
          <a:xfrm>
            <a:off x="2454858" y="1750165"/>
            <a:ext cx="1077875" cy="369332"/>
          </a:xfrm>
          <a:prstGeom prst="rect">
            <a:avLst/>
          </a:prstGeom>
          <a:noFill/>
        </p:spPr>
        <p:txBody>
          <a:bodyPr wrap="square" rtlCol="0">
            <a:spAutoFit/>
          </a:bodyPr>
          <a:lstStyle/>
          <a:p>
            <a:r>
              <a:rPr lang="en-US" dirty="0"/>
              <a:t>G=(V,E)</a:t>
            </a:r>
          </a:p>
        </p:txBody>
      </p:sp>
      <p:sp>
        <p:nvSpPr>
          <p:cNvPr id="3" name="Slide Number Placeholder 2">
            <a:extLst>
              <a:ext uri="{FF2B5EF4-FFF2-40B4-BE49-F238E27FC236}">
                <a16:creationId xmlns:a16="http://schemas.microsoft.com/office/drawing/2014/main" id="{E8357818-39E7-0F48-3C1C-9A862667BFB0}"/>
              </a:ext>
            </a:extLst>
          </p:cNvPr>
          <p:cNvSpPr>
            <a:spLocks noGrp="1"/>
          </p:cNvSpPr>
          <p:nvPr>
            <p:ph type="sldNum" sz="quarter" idx="12"/>
          </p:nvPr>
        </p:nvSpPr>
        <p:spPr/>
        <p:txBody>
          <a:bodyPr/>
          <a:lstStyle/>
          <a:p>
            <a:fld id="{8A7A6979-0714-4377-B894-6BE4C2D6E202}" type="slidenum">
              <a:rPr lang="en-US" smtClean="0"/>
              <a:pPr/>
              <a:t>59</a:t>
            </a:fld>
            <a:endParaRPr lang="en-US" dirty="0"/>
          </a:p>
        </p:txBody>
      </p:sp>
    </p:spTree>
    <p:extLst>
      <p:ext uri="{BB962C8B-B14F-4D97-AF65-F5344CB8AC3E}">
        <p14:creationId xmlns:p14="http://schemas.microsoft.com/office/powerpoint/2010/main" val="76767810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863678-5937-50E8-63C8-9737C3203859}"/>
            </a:ext>
          </a:extLst>
        </p:cNvPr>
        <p:cNvGrpSpPr/>
        <p:nvPr/>
      </p:nvGrpSpPr>
      <p:grpSpPr>
        <a:xfrm>
          <a:off x="0" y="0"/>
          <a:ext cx="0" cy="0"/>
          <a:chOff x="0" y="0"/>
          <a:chExt cx="0" cy="0"/>
        </a:xfrm>
      </p:grpSpPr>
      <p:sp>
        <p:nvSpPr>
          <p:cNvPr id="5" name="Oval 4">
            <a:extLst>
              <a:ext uri="{FF2B5EF4-FFF2-40B4-BE49-F238E27FC236}">
                <a16:creationId xmlns:a16="http://schemas.microsoft.com/office/drawing/2014/main" id="{2F5DDD83-4B70-8D47-9702-EEEBC95F6AC3}"/>
              </a:ext>
            </a:extLst>
          </p:cNvPr>
          <p:cNvSpPr/>
          <p:nvPr/>
        </p:nvSpPr>
        <p:spPr>
          <a:xfrm>
            <a:off x="1488650" y="3947474"/>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A</a:t>
            </a:r>
          </a:p>
        </p:txBody>
      </p:sp>
      <p:sp>
        <p:nvSpPr>
          <p:cNvPr id="6" name="Oval 5">
            <a:extLst>
              <a:ext uri="{FF2B5EF4-FFF2-40B4-BE49-F238E27FC236}">
                <a16:creationId xmlns:a16="http://schemas.microsoft.com/office/drawing/2014/main" id="{9CADB058-7015-9142-8493-C9E9881D0F90}"/>
              </a:ext>
            </a:extLst>
          </p:cNvPr>
          <p:cNvSpPr/>
          <p:nvPr/>
        </p:nvSpPr>
        <p:spPr>
          <a:xfrm>
            <a:off x="2451755" y="2582158"/>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B</a:t>
            </a:r>
          </a:p>
        </p:txBody>
      </p:sp>
      <p:sp>
        <p:nvSpPr>
          <p:cNvPr id="7" name="Oval 6">
            <a:extLst>
              <a:ext uri="{FF2B5EF4-FFF2-40B4-BE49-F238E27FC236}">
                <a16:creationId xmlns:a16="http://schemas.microsoft.com/office/drawing/2014/main" id="{C8C22CC0-4F1F-D178-DBF7-4F8F5C917E3B}"/>
              </a:ext>
            </a:extLst>
          </p:cNvPr>
          <p:cNvSpPr/>
          <p:nvPr/>
        </p:nvSpPr>
        <p:spPr>
          <a:xfrm>
            <a:off x="3912910" y="3947473"/>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C</a:t>
            </a:r>
          </a:p>
        </p:txBody>
      </p:sp>
      <p:sp>
        <p:nvSpPr>
          <p:cNvPr id="8" name="Oval 7">
            <a:extLst>
              <a:ext uri="{FF2B5EF4-FFF2-40B4-BE49-F238E27FC236}">
                <a16:creationId xmlns:a16="http://schemas.microsoft.com/office/drawing/2014/main" id="{0011B87E-1696-8BA6-7752-CE1C815BEBCD}"/>
              </a:ext>
            </a:extLst>
          </p:cNvPr>
          <p:cNvSpPr/>
          <p:nvPr/>
        </p:nvSpPr>
        <p:spPr>
          <a:xfrm>
            <a:off x="4799029" y="2582158"/>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D</a:t>
            </a:r>
          </a:p>
        </p:txBody>
      </p:sp>
      <p:cxnSp>
        <p:nvCxnSpPr>
          <p:cNvPr id="10" name="Straight Connector 9">
            <a:extLst>
              <a:ext uri="{FF2B5EF4-FFF2-40B4-BE49-F238E27FC236}">
                <a16:creationId xmlns:a16="http://schemas.microsoft.com/office/drawing/2014/main" id="{4BEC86A1-B503-8F93-BA2B-84971A3220CB}"/>
              </a:ext>
            </a:extLst>
          </p:cNvPr>
          <p:cNvCxnSpPr>
            <a:cxnSpLocks/>
            <a:stCxn id="6" idx="3"/>
            <a:endCxn id="5" idx="0"/>
          </p:cNvCxnSpPr>
          <p:nvPr/>
        </p:nvCxnSpPr>
        <p:spPr>
          <a:xfrm flipH="1">
            <a:off x="1759671" y="3044819"/>
            <a:ext cx="771464" cy="902655"/>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77A6E3F-DF5F-D0EA-2324-D2D87241C5FB}"/>
              </a:ext>
            </a:extLst>
          </p:cNvPr>
          <p:cNvCxnSpPr>
            <a:cxnSpLocks/>
            <a:stCxn id="7" idx="1"/>
            <a:endCxn id="6" idx="5"/>
          </p:cNvCxnSpPr>
          <p:nvPr/>
        </p:nvCxnSpPr>
        <p:spPr>
          <a:xfrm flipH="1" flipV="1">
            <a:off x="2914416" y="3044819"/>
            <a:ext cx="1077874" cy="982034"/>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661B6014-6764-5679-0BA7-4DE8E09B89AB}"/>
              </a:ext>
            </a:extLst>
          </p:cNvPr>
          <p:cNvCxnSpPr>
            <a:cxnSpLocks/>
            <a:stCxn id="7" idx="7"/>
            <a:endCxn id="8" idx="4"/>
          </p:cNvCxnSpPr>
          <p:nvPr/>
        </p:nvCxnSpPr>
        <p:spPr>
          <a:xfrm flipV="1">
            <a:off x="4375571" y="3124199"/>
            <a:ext cx="694479" cy="902654"/>
          </a:xfrm>
          <a:prstGeom prst="line">
            <a:avLst/>
          </a:prstGeom>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CA52724B-FD8E-22C1-E429-C182008EB6C1}"/>
              </a:ext>
            </a:extLst>
          </p:cNvPr>
          <p:cNvSpPr txBox="1"/>
          <p:nvPr/>
        </p:nvSpPr>
        <p:spPr>
          <a:xfrm>
            <a:off x="2454858" y="1750165"/>
            <a:ext cx="1077875" cy="369332"/>
          </a:xfrm>
          <a:prstGeom prst="rect">
            <a:avLst/>
          </a:prstGeom>
          <a:noFill/>
        </p:spPr>
        <p:txBody>
          <a:bodyPr wrap="square" rtlCol="0">
            <a:spAutoFit/>
          </a:bodyPr>
          <a:lstStyle/>
          <a:p>
            <a:r>
              <a:rPr lang="en-US" dirty="0"/>
              <a:t>G=(V,E)</a:t>
            </a:r>
          </a:p>
        </p:txBody>
      </p:sp>
      <p:sp>
        <p:nvSpPr>
          <p:cNvPr id="2" name="TextBox 1">
            <a:extLst>
              <a:ext uri="{FF2B5EF4-FFF2-40B4-BE49-F238E27FC236}">
                <a16:creationId xmlns:a16="http://schemas.microsoft.com/office/drawing/2014/main" id="{588B6541-3549-8911-39AC-21EFE475BD5B}"/>
              </a:ext>
            </a:extLst>
          </p:cNvPr>
          <p:cNvSpPr txBox="1"/>
          <p:nvPr/>
        </p:nvSpPr>
        <p:spPr>
          <a:xfrm>
            <a:off x="8734681" y="1750165"/>
            <a:ext cx="1077875" cy="369332"/>
          </a:xfrm>
          <a:prstGeom prst="rect">
            <a:avLst/>
          </a:prstGeom>
          <a:noFill/>
        </p:spPr>
        <p:txBody>
          <a:bodyPr wrap="square" rtlCol="0">
            <a:spAutoFit/>
          </a:bodyPr>
          <a:lstStyle/>
          <a:p>
            <a:r>
              <a:rPr lang="en-US" dirty="0"/>
              <a:t>G</a:t>
            </a:r>
            <a:r>
              <a:rPr lang="en-US" baseline="30000" dirty="0"/>
              <a:t>2</a:t>
            </a:r>
            <a:endParaRPr lang="en-US" dirty="0"/>
          </a:p>
        </p:txBody>
      </p:sp>
      <p:sp>
        <p:nvSpPr>
          <p:cNvPr id="9" name="Slide Number Placeholder 8">
            <a:extLst>
              <a:ext uri="{FF2B5EF4-FFF2-40B4-BE49-F238E27FC236}">
                <a16:creationId xmlns:a16="http://schemas.microsoft.com/office/drawing/2014/main" id="{B06D0DC9-F6BE-F325-132D-19573F19E114}"/>
              </a:ext>
            </a:extLst>
          </p:cNvPr>
          <p:cNvSpPr>
            <a:spLocks noGrp="1"/>
          </p:cNvSpPr>
          <p:nvPr>
            <p:ph type="sldNum" sz="quarter" idx="12"/>
          </p:nvPr>
        </p:nvSpPr>
        <p:spPr/>
        <p:txBody>
          <a:bodyPr/>
          <a:lstStyle/>
          <a:p>
            <a:fld id="{8A7A6979-0714-4377-B894-6BE4C2D6E202}" type="slidenum">
              <a:rPr lang="en-US" smtClean="0"/>
              <a:pPr/>
              <a:t>60</a:t>
            </a:fld>
            <a:endParaRPr lang="en-US" dirty="0"/>
          </a:p>
        </p:txBody>
      </p:sp>
    </p:spTree>
    <p:extLst>
      <p:ext uri="{BB962C8B-B14F-4D97-AF65-F5344CB8AC3E}">
        <p14:creationId xmlns:p14="http://schemas.microsoft.com/office/powerpoint/2010/main" val="44213611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19F05C-813F-6CC0-69B1-4BA23151E537}"/>
            </a:ext>
          </a:extLst>
        </p:cNvPr>
        <p:cNvGrpSpPr/>
        <p:nvPr/>
      </p:nvGrpSpPr>
      <p:grpSpPr>
        <a:xfrm>
          <a:off x="0" y="0"/>
          <a:ext cx="0" cy="0"/>
          <a:chOff x="0" y="0"/>
          <a:chExt cx="0" cy="0"/>
        </a:xfrm>
      </p:grpSpPr>
      <p:sp>
        <p:nvSpPr>
          <p:cNvPr id="5" name="Oval 4">
            <a:extLst>
              <a:ext uri="{FF2B5EF4-FFF2-40B4-BE49-F238E27FC236}">
                <a16:creationId xmlns:a16="http://schemas.microsoft.com/office/drawing/2014/main" id="{4EF4C432-CFA3-4AD0-3E2E-C35352700EDE}"/>
              </a:ext>
            </a:extLst>
          </p:cNvPr>
          <p:cNvSpPr/>
          <p:nvPr/>
        </p:nvSpPr>
        <p:spPr>
          <a:xfrm>
            <a:off x="1488650" y="3947474"/>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A</a:t>
            </a:r>
          </a:p>
        </p:txBody>
      </p:sp>
      <p:sp>
        <p:nvSpPr>
          <p:cNvPr id="6" name="Oval 5">
            <a:extLst>
              <a:ext uri="{FF2B5EF4-FFF2-40B4-BE49-F238E27FC236}">
                <a16:creationId xmlns:a16="http://schemas.microsoft.com/office/drawing/2014/main" id="{848A04FB-3DA6-82E9-00DC-EE346A1D7EB0}"/>
              </a:ext>
            </a:extLst>
          </p:cNvPr>
          <p:cNvSpPr/>
          <p:nvPr/>
        </p:nvSpPr>
        <p:spPr>
          <a:xfrm>
            <a:off x="2451755" y="2582158"/>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B</a:t>
            </a:r>
          </a:p>
        </p:txBody>
      </p:sp>
      <p:sp>
        <p:nvSpPr>
          <p:cNvPr id="7" name="Oval 6">
            <a:extLst>
              <a:ext uri="{FF2B5EF4-FFF2-40B4-BE49-F238E27FC236}">
                <a16:creationId xmlns:a16="http://schemas.microsoft.com/office/drawing/2014/main" id="{BDBC4DA8-467E-FA01-ED3B-92D7AC758283}"/>
              </a:ext>
            </a:extLst>
          </p:cNvPr>
          <p:cNvSpPr/>
          <p:nvPr/>
        </p:nvSpPr>
        <p:spPr>
          <a:xfrm>
            <a:off x="3912910" y="3947473"/>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C</a:t>
            </a:r>
          </a:p>
        </p:txBody>
      </p:sp>
      <p:sp>
        <p:nvSpPr>
          <p:cNvPr id="8" name="Oval 7">
            <a:extLst>
              <a:ext uri="{FF2B5EF4-FFF2-40B4-BE49-F238E27FC236}">
                <a16:creationId xmlns:a16="http://schemas.microsoft.com/office/drawing/2014/main" id="{57E005E4-AA8C-86DE-B35E-2EE789B3B072}"/>
              </a:ext>
            </a:extLst>
          </p:cNvPr>
          <p:cNvSpPr/>
          <p:nvPr/>
        </p:nvSpPr>
        <p:spPr>
          <a:xfrm>
            <a:off x="4799029" y="2582158"/>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D</a:t>
            </a:r>
          </a:p>
        </p:txBody>
      </p:sp>
      <p:cxnSp>
        <p:nvCxnSpPr>
          <p:cNvPr id="10" name="Straight Connector 9">
            <a:extLst>
              <a:ext uri="{FF2B5EF4-FFF2-40B4-BE49-F238E27FC236}">
                <a16:creationId xmlns:a16="http://schemas.microsoft.com/office/drawing/2014/main" id="{09AFC496-5FB0-8527-9DDD-4C55695A05AB}"/>
              </a:ext>
            </a:extLst>
          </p:cNvPr>
          <p:cNvCxnSpPr>
            <a:cxnSpLocks/>
            <a:stCxn id="6" idx="3"/>
            <a:endCxn id="5" idx="0"/>
          </p:cNvCxnSpPr>
          <p:nvPr/>
        </p:nvCxnSpPr>
        <p:spPr>
          <a:xfrm flipH="1">
            <a:off x="1759671" y="3044819"/>
            <a:ext cx="771464" cy="902655"/>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7A40AC5F-25CA-5C4E-3A26-D9B1FD4A27BF}"/>
              </a:ext>
            </a:extLst>
          </p:cNvPr>
          <p:cNvCxnSpPr>
            <a:cxnSpLocks/>
            <a:stCxn id="7" idx="1"/>
            <a:endCxn id="6" idx="5"/>
          </p:cNvCxnSpPr>
          <p:nvPr/>
        </p:nvCxnSpPr>
        <p:spPr>
          <a:xfrm flipH="1" flipV="1">
            <a:off x="2914416" y="3044819"/>
            <a:ext cx="1077874" cy="982034"/>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F87021D-6ED5-A976-3935-E6C95E42E53D}"/>
              </a:ext>
            </a:extLst>
          </p:cNvPr>
          <p:cNvCxnSpPr>
            <a:cxnSpLocks/>
            <a:stCxn id="7" idx="7"/>
            <a:endCxn id="8" idx="4"/>
          </p:cNvCxnSpPr>
          <p:nvPr/>
        </p:nvCxnSpPr>
        <p:spPr>
          <a:xfrm flipV="1">
            <a:off x="4375571" y="3124199"/>
            <a:ext cx="694479" cy="902654"/>
          </a:xfrm>
          <a:prstGeom prst="line">
            <a:avLst/>
          </a:prstGeom>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88C1E34C-B448-CEC8-6423-7DAF19C018BD}"/>
              </a:ext>
            </a:extLst>
          </p:cNvPr>
          <p:cNvSpPr txBox="1"/>
          <p:nvPr/>
        </p:nvSpPr>
        <p:spPr>
          <a:xfrm>
            <a:off x="2454858" y="1750165"/>
            <a:ext cx="1077875" cy="369332"/>
          </a:xfrm>
          <a:prstGeom prst="rect">
            <a:avLst/>
          </a:prstGeom>
          <a:noFill/>
        </p:spPr>
        <p:txBody>
          <a:bodyPr wrap="square" rtlCol="0">
            <a:spAutoFit/>
          </a:bodyPr>
          <a:lstStyle/>
          <a:p>
            <a:r>
              <a:rPr lang="en-US" dirty="0"/>
              <a:t>G=(V,E)</a:t>
            </a:r>
          </a:p>
        </p:txBody>
      </p:sp>
      <p:sp>
        <p:nvSpPr>
          <p:cNvPr id="2" name="TextBox 1">
            <a:extLst>
              <a:ext uri="{FF2B5EF4-FFF2-40B4-BE49-F238E27FC236}">
                <a16:creationId xmlns:a16="http://schemas.microsoft.com/office/drawing/2014/main" id="{26A84E77-021D-EE7F-BACD-5CE6F9382234}"/>
              </a:ext>
            </a:extLst>
          </p:cNvPr>
          <p:cNvSpPr txBox="1"/>
          <p:nvPr/>
        </p:nvSpPr>
        <p:spPr>
          <a:xfrm>
            <a:off x="8734681" y="1750165"/>
            <a:ext cx="1077875" cy="369332"/>
          </a:xfrm>
          <a:prstGeom prst="rect">
            <a:avLst/>
          </a:prstGeom>
          <a:noFill/>
        </p:spPr>
        <p:txBody>
          <a:bodyPr wrap="square" rtlCol="0">
            <a:spAutoFit/>
          </a:bodyPr>
          <a:lstStyle/>
          <a:p>
            <a:r>
              <a:rPr lang="en-US" dirty="0"/>
              <a:t>G</a:t>
            </a:r>
            <a:r>
              <a:rPr lang="en-US" baseline="30000" dirty="0"/>
              <a:t>2</a:t>
            </a:r>
            <a:endParaRPr lang="en-US" dirty="0"/>
          </a:p>
        </p:txBody>
      </p:sp>
      <p:sp>
        <p:nvSpPr>
          <p:cNvPr id="3" name="Oval 2">
            <a:extLst>
              <a:ext uri="{FF2B5EF4-FFF2-40B4-BE49-F238E27FC236}">
                <a16:creationId xmlns:a16="http://schemas.microsoft.com/office/drawing/2014/main" id="{4C71AE40-00F8-17C9-5D12-C3AE0DF80629}"/>
              </a:ext>
            </a:extLst>
          </p:cNvPr>
          <p:cNvSpPr/>
          <p:nvPr/>
        </p:nvSpPr>
        <p:spPr>
          <a:xfrm>
            <a:off x="6773946" y="3963971"/>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A</a:t>
            </a:r>
          </a:p>
        </p:txBody>
      </p:sp>
      <p:sp>
        <p:nvSpPr>
          <p:cNvPr id="9" name="Oval 8">
            <a:extLst>
              <a:ext uri="{FF2B5EF4-FFF2-40B4-BE49-F238E27FC236}">
                <a16:creationId xmlns:a16="http://schemas.microsoft.com/office/drawing/2014/main" id="{503EA9D3-52D4-7CEE-B388-135DFABE49EA}"/>
              </a:ext>
            </a:extLst>
          </p:cNvPr>
          <p:cNvSpPr/>
          <p:nvPr/>
        </p:nvSpPr>
        <p:spPr>
          <a:xfrm>
            <a:off x="7737051" y="2598655"/>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B</a:t>
            </a:r>
          </a:p>
        </p:txBody>
      </p:sp>
      <p:sp>
        <p:nvSpPr>
          <p:cNvPr id="11" name="Oval 10">
            <a:extLst>
              <a:ext uri="{FF2B5EF4-FFF2-40B4-BE49-F238E27FC236}">
                <a16:creationId xmlns:a16="http://schemas.microsoft.com/office/drawing/2014/main" id="{04B2227B-E4D5-F024-BF96-27B247D87972}"/>
              </a:ext>
            </a:extLst>
          </p:cNvPr>
          <p:cNvSpPr/>
          <p:nvPr/>
        </p:nvSpPr>
        <p:spPr>
          <a:xfrm>
            <a:off x="9198206" y="3963970"/>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C</a:t>
            </a:r>
          </a:p>
        </p:txBody>
      </p:sp>
      <p:sp>
        <p:nvSpPr>
          <p:cNvPr id="13" name="Oval 12">
            <a:extLst>
              <a:ext uri="{FF2B5EF4-FFF2-40B4-BE49-F238E27FC236}">
                <a16:creationId xmlns:a16="http://schemas.microsoft.com/office/drawing/2014/main" id="{4C2A26F3-96D4-40A7-48C5-69FAA6C45192}"/>
              </a:ext>
            </a:extLst>
          </p:cNvPr>
          <p:cNvSpPr/>
          <p:nvPr/>
        </p:nvSpPr>
        <p:spPr>
          <a:xfrm>
            <a:off x="10084325" y="2598655"/>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D</a:t>
            </a:r>
          </a:p>
        </p:txBody>
      </p:sp>
      <p:cxnSp>
        <p:nvCxnSpPr>
          <p:cNvPr id="14" name="Straight Connector 13">
            <a:extLst>
              <a:ext uri="{FF2B5EF4-FFF2-40B4-BE49-F238E27FC236}">
                <a16:creationId xmlns:a16="http://schemas.microsoft.com/office/drawing/2014/main" id="{5EAAE9B2-3BC1-B298-9D10-76F63575ED0C}"/>
              </a:ext>
            </a:extLst>
          </p:cNvPr>
          <p:cNvCxnSpPr>
            <a:cxnSpLocks/>
            <a:stCxn id="9" idx="3"/>
            <a:endCxn id="3" idx="0"/>
          </p:cNvCxnSpPr>
          <p:nvPr/>
        </p:nvCxnSpPr>
        <p:spPr>
          <a:xfrm flipH="1">
            <a:off x="7044967" y="3061316"/>
            <a:ext cx="771464" cy="902655"/>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99747438-8145-8CDD-EAE1-D7B5D3FD3E37}"/>
              </a:ext>
            </a:extLst>
          </p:cNvPr>
          <p:cNvCxnSpPr>
            <a:cxnSpLocks/>
            <a:stCxn id="11" idx="1"/>
            <a:endCxn id="9" idx="5"/>
          </p:cNvCxnSpPr>
          <p:nvPr/>
        </p:nvCxnSpPr>
        <p:spPr>
          <a:xfrm flipH="1" flipV="1">
            <a:off x="8199712" y="3061316"/>
            <a:ext cx="1077874" cy="982034"/>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89F3F589-A0F2-38AF-03BF-0BB74ADEE977}"/>
              </a:ext>
            </a:extLst>
          </p:cNvPr>
          <p:cNvCxnSpPr>
            <a:cxnSpLocks/>
            <a:stCxn id="11" idx="7"/>
            <a:endCxn id="13" idx="4"/>
          </p:cNvCxnSpPr>
          <p:nvPr/>
        </p:nvCxnSpPr>
        <p:spPr>
          <a:xfrm flipV="1">
            <a:off x="9660867" y="3140696"/>
            <a:ext cx="694479" cy="902654"/>
          </a:xfrm>
          <a:prstGeom prst="line">
            <a:avLst/>
          </a:prstGeom>
        </p:spPr>
        <p:style>
          <a:lnRef idx="1">
            <a:schemeClr val="accent1"/>
          </a:lnRef>
          <a:fillRef idx="0">
            <a:schemeClr val="accent1"/>
          </a:fillRef>
          <a:effectRef idx="0">
            <a:schemeClr val="accent1"/>
          </a:effectRef>
          <a:fontRef idx="minor">
            <a:schemeClr val="tx1"/>
          </a:fontRef>
        </p:style>
      </p:cxnSp>
      <p:sp>
        <p:nvSpPr>
          <p:cNvPr id="19" name="Slide Number Placeholder 18">
            <a:extLst>
              <a:ext uri="{FF2B5EF4-FFF2-40B4-BE49-F238E27FC236}">
                <a16:creationId xmlns:a16="http://schemas.microsoft.com/office/drawing/2014/main" id="{93271092-0F5C-C953-8EB4-00E3742E305B}"/>
              </a:ext>
            </a:extLst>
          </p:cNvPr>
          <p:cNvSpPr>
            <a:spLocks noGrp="1"/>
          </p:cNvSpPr>
          <p:nvPr>
            <p:ph type="sldNum" sz="quarter" idx="12"/>
          </p:nvPr>
        </p:nvSpPr>
        <p:spPr/>
        <p:txBody>
          <a:bodyPr/>
          <a:lstStyle/>
          <a:p>
            <a:fld id="{8A7A6979-0714-4377-B894-6BE4C2D6E202}" type="slidenum">
              <a:rPr lang="en-US" smtClean="0"/>
              <a:pPr/>
              <a:t>61</a:t>
            </a:fld>
            <a:endParaRPr lang="en-US" dirty="0"/>
          </a:p>
        </p:txBody>
      </p:sp>
    </p:spTree>
    <p:extLst>
      <p:ext uri="{BB962C8B-B14F-4D97-AF65-F5344CB8AC3E}">
        <p14:creationId xmlns:p14="http://schemas.microsoft.com/office/powerpoint/2010/main" val="193440440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DB9E65-6263-F54C-43F1-5E30F313AE1E}"/>
            </a:ext>
          </a:extLst>
        </p:cNvPr>
        <p:cNvGrpSpPr/>
        <p:nvPr/>
      </p:nvGrpSpPr>
      <p:grpSpPr>
        <a:xfrm>
          <a:off x="0" y="0"/>
          <a:ext cx="0" cy="0"/>
          <a:chOff x="0" y="0"/>
          <a:chExt cx="0" cy="0"/>
        </a:xfrm>
      </p:grpSpPr>
      <p:sp>
        <p:nvSpPr>
          <p:cNvPr id="5" name="Oval 4">
            <a:extLst>
              <a:ext uri="{FF2B5EF4-FFF2-40B4-BE49-F238E27FC236}">
                <a16:creationId xmlns:a16="http://schemas.microsoft.com/office/drawing/2014/main" id="{45324982-2BF8-B58E-812C-EC6D25DA922F}"/>
              </a:ext>
            </a:extLst>
          </p:cNvPr>
          <p:cNvSpPr/>
          <p:nvPr/>
        </p:nvSpPr>
        <p:spPr>
          <a:xfrm>
            <a:off x="1488650" y="3947474"/>
            <a:ext cx="542041" cy="542041"/>
          </a:xfrm>
          <a:prstGeom prst="ellipse">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A</a:t>
            </a:r>
          </a:p>
        </p:txBody>
      </p:sp>
      <p:sp>
        <p:nvSpPr>
          <p:cNvPr id="6" name="Oval 5">
            <a:extLst>
              <a:ext uri="{FF2B5EF4-FFF2-40B4-BE49-F238E27FC236}">
                <a16:creationId xmlns:a16="http://schemas.microsoft.com/office/drawing/2014/main" id="{457D5984-3A24-A89D-DB62-716D48B9C515}"/>
              </a:ext>
            </a:extLst>
          </p:cNvPr>
          <p:cNvSpPr/>
          <p:nvPr/>
        </p:nvSpPr>
        <p:spPr>
          <a:xfrm>
            <a:off x="2451755" y="2582158"/>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B</a:t>
            </a:r>
          </a:p>
        </p:txBody>
      </p:sp>
      <p:sp>
        <p:nvSpPr>
          <p:cNvPr id="7" name="Oval 6">
            <a:extLst>
              <a:ext uri="{FF2B5EF4-FFF2-40B4-BE49-F238E27FC236}">
                <a16:creationId xmlns:a16="http://schemas.microsoft.com/office/drawing/2014/main" id="{EB0E3886-4869-BEF5-3C96-C4546ACF8AD7}"/>
              </a:ext>
            </a:extLst>
          </p:cNvPr>
          <p:cNvSpPr/>
          <p:nvPr/>
        </p:nvSpPr>
        <p:spPr>
          <a:xfrm>
            <a:off x="3912910" y="3947473"/>
            <a:ext cx="542041" cy="542041"/>
          </a:xfrm>
          <a:prstGeom prst="ellipse">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C</a:t>
            </a:r>
          </a:p>
        </p:txBody>
      </p:sp>
      <p:sp>
        <p:nvSpPr>
          <p:cNvPr id="8" name="Oval 7">
            <a:extLst>
              <a:ext uri="{FF2B5EF4-FFF2-40B4-BE49-F238E27FC236}">
                <a16:creationId xmlns:a16="http://schemas.microsoft.com/office/drawing/2014/main" id="{FC52396F-E0F9-F94C-6EBA-4B5369F06B6B}"/>
              </a:ext>
            </a:extLst>
          </p:cNvPr>
          <p:cNvSpPr/>
          <p:nvPr/>
        </p:nvSpPr>
        <p:spPr>
          <a:xfrm>
            <a:off x="4799029" y="2582158"/>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D</a:t>
            </a:r>
          </a:p>
        </p:txBody>
      </p:sp>
      <p:cxnSp>
        <p:nvCxnSpPr>
          <p:cNvPr id="10" name="Straight Connector 9">
            <a:extLst>
              <a:ext uri="{FF2B5EF4-FFF2-40B4-BE49-F238E27FC236}">
                <a16:creationId xmlns:a16="http://schemas.microsoft.com/office/drawing/2014/main" id="{784DA1C9-39E1-1334-C9C5-631B8F91AEBE}"/>
              </a:ext>
            </a:extLst>
          </p:cNvPr>
          <p:cNvCxnSpPr>
            <a:cxnSpLocks/>
            <a:stCxn id="6" idx="3"/>
            <a:endCxn id="5" idx="0"/>
          </p:cNvCxnSpPr>
          <p:nvPr/>
        </p:nvCxnSpPr>
        <p:spPr>
          <a:xfrm flipH="1">
            <a:off x="1759671" y="3044819"/>
            <a:ext cx="771464" cy="902655"/>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13FF92A-C638-A50F-324C-F8CDA63E06C6}"/>
              </a:ext>
            </a:extLst>
          </p:cNvPr>
          <p:cNvCxnSpPr>
            <a:cxnSpLocks/>
            <a:stCxn id="7" idx="1"/>
            <a:endCxn id="6" idx="5"/>
          </p:cNvCxnSpPr>
          <p:nvPr/>
        </p:nvCxnSpPr>
        <p:spPr>
          <a:xfrm flipH="1" flipV="1">
            <a:off x="2914416" y="3044819"/>
            <a:ext cx="1077874" cy="982034"/>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C7A1144B-2BE9-D7FE-6A6F-4851F3F15438}"/>
              </a:ext>
            </a:extLst>
          </p:cNvPr>
          <p:cNvCxnSpPr>
            <a:cxnSpLocks/>
            <a:stCxn id="7" idx="7"/>
            <a:endCxn id="8" idx="4"/>
          </p:cNvCxnSpPr>
          <p:nvPr/>
        </p:nvCxnSpPr>
        <p:spPr>
          <a:xfrm flipV="1">
            <a:off x="4375571" y="3124199"/>
            <a:ext cx="694479" cy="902654"/>
          </a:xfrm>
          <a:prstGeom prst="line">
            <a:avLst/>
          </a:prstGeom>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9E757A6C-B912-2116-D947-26BFE484CAD9}"/>
              </a:ext>
            </a:extLst>
          </p:cNvPr>
          <p:cNvSpPr txBox="1"/>
          <p:nvPr/>
        </p:nvSpPr>
        <p:spPr>
          <a:xfrm>
            <a:off x="2454858" y="1750165"/>
            <a:ext cx="1077875" cy="369332"/>
          </a:xfrm>
          <a:prstGeom prst="rect">
            <a:avLst/>
          </a:prstGeom>
          <a:noFill/>
        </p:spPr>
        <p:txBody>
          <a:bodyPr wrap="square" rtlCol="0">
            <a:spAutoFit/>
          </a:bodyPr>
          <a:lstStyle/>
          <a:p>
            <a:r>
              <a:rPr lang="en-US" dirty="0"/>
              <a:t>G=(V,E)</a:t>
            </a:r>
          </a:p>
        </p:txBody>
      </p:sp>
      <p:sp>
        <p:nvSpPr>
          <p:cNvPr id="2" name="TextBox 1">
            <a:extLst>
              <a:ext uri="{FF2B5EF4-FFF2-40B4-BE49-F238E27FC236}">
                <a16:creationId xmlns:a16="http://schemas.microsoft.com/office/drawing/2014/main" id="{B47952ED-3D40-0B4A-4EA3-9B03F684C828}"/>
              </a:ext>
            </a:extLst>
          </p:cNvPr>
          <p:cNvSpPr txBox="1"/>
          <p:nvPr/>
        </p:nvSpPr>
        <p:spPr>
          <a:xfrm>
            <a:off x="8734681" y="1750165"/>
            <a:ext cx="1077875" cy="369332"/>
          </a:xfrm>
          <a:prstGeom prst="rect">
            <a:avLst/>
          </a:prstGeom>
          <a:noFill/>
        </p:spPr>
        <p:txBody>
          <a:bodyPr wrap="square" rtlCol="0">
            <a:spAutoFit/>
          </a:bodyPr>
          <a:lstStyle/>
          <a:p>
            <a:r>
              <a:rPr lang="en-US" dirty="0"/>
              <a:t>G</a:t>
            </a:r>
            <a:r>
              <a:rPr lang="en-US" baseline="30000" dirty="0"/>
              <a:t>2</a:t>
            </a:r>
            <a:endParaRPr lang="en-US" dirty="0"/>
          </a:p>
        </p:txBody>
      </p:sp>
      <p:sp>
        <p:nvSpPr>
          <p:cNvPr id="3" name="Oval 2">
            <a:extLst>
              <a:ext uri="{FF2B5EF4-FFF2-40B4-BE49-F238E27FC236}">
                <a16:creationId xmlns:a16="http://schemas.microsoft.com/office/drawing/2014/main" id="{8EB7BE36-FAC0-F703-5182-EBAEB88BDA48}"/>
              </a:ext>
            </a:extLst>
          </p:cNvPr>
          <p:cNvSpPr/>
          <p:nvPr/>
        </p:nvSpPr>
        <p:spPr>
          <a:xfrm>
            <a:off x="6773946" y="3963971"/>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A</a:t>
            </a:r>
          </a:p>
        </p:txBody>
      </p:sp>
      <p:sp>
        <p:nvSpPr>
          <p:cNvPr id="9" name="Oval 8">
            <a:extLst>
              <a:ext uri="{FF2B5EF4-FFF2-40B4-BE49-F238E27FC236}">
                <a16:creationId xmlns:a16="http://schemas.microsoft.com/office/drawing/2014/main" id="{2953CFAA-26C7-C20D-23EA-B44EB87C9652}"/>
              </a:ext>
            </a:extLst>
          </p:cNvPr>
          <p:cNvSpPr/>
          <p:nvPr/>
        </p:nvSpPr>
        <p:spPr>
          <a:xfrm>
            <a:off x="7737051" y="2598655"/>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B</a:t>
            </a:r>
          </a:p>
        </p:txBody>
      </p:sp>
      <p:sp>
        <p:nvSpPr>
          <p:cNvPr id="11" name="Oval 10">
            <a:extLst>
              <a:ext uri="{FF2B5EF4-FFF2-40B4-BE49-F238E27FC236}">
                <a16:creationId xmlns:a16="http://schemas.microsoft.com/office/drawing/2014/main" id="{AE160CC1-CA5A-B289-E0A5-481398AE84BB}"/>
              </a:ext>
            </a:extLst>
          </p:cNvPr>
          <p:cNvSpPr/>
          <p:nvPr/>
        </p:nvSpPr>
        <p:spPr>
          <a:xfrm>
            <a:off x="9198206" y="3963970"/>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C</a:t>
            </a:r>
          </a:p>
        </p:txBody>
      </p:sp>
      <p:sp>
        <p:nvSpPr>
          <p:cNvPr id="13" name="Oval 12">
            <a:extLst>
              <a:ext uri="{FF2B5EF4-FFF2-40B4-BE49-F238E27FC236}">
                <a16:creationId xmlns:a16="http://schemas.microsoft.com/office/drawing/2014/main" id="{472A726C-1249-C4DB-47AE-71DC08ADA3B1}"/>
              </a:ext>
            </a:extLst>
          </p:cNvPr>
          <p:cNvSpPr/>
          <p:nvPr/>
        </p:nvSpPr>
        <p:spPr>
          <a:xfrm>
            <a:off x="10084325" y="2598655"/>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D</a:t>
            </a:r>
          </a:p>
        </p:txBody>
      </p:sp>
      <p:cxnSp>
        <p:nvCxnSpPr>
          <p:cNvPr id="14" name="Straight Connector 13">
            <a:extLst>
              <a:ext uri="{FF2B5EF4-FFF2-40B4-BE49-F238E27FC236}">
                <a16:creationId xmlns:a16="http://schemas.microsoft.com/office/drawing/2014/main" id="{970A4EAE-450D-714F-F473-6022AE832C80}"/>
              </a:ext>
            </a:extLst>
          </p:cNvPr>
          <p:cNvCxnSpPr>
            <a:cxnSpLocks/>
            <a:stCxn id="9" idx="3"/>
            <a:endCxn id="3" idx="0"/>
          </p:cNvCxnSpPr>
          <p:nvPr/>
        </p:nvCxnSpPr>
        <p:spPr>
          <a:xfrm flipH="1">
            <a:off x="7044967" y="3061316"/>
            <a:ext cx="771464" cy="902655"/>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35FC9CA-C969-9125-84CD-4F9A07BA6B86}"/>
              </a:ext>
            </a:extLst>
          </p:cNvPr>
          <p:cNvCxnSpPr>
            <a:cxnSpLocks/>
            <a:stCxn id="11" idx="1"/>
            <a:endCxn id="9" idx="5"/>
          </p:cNvCxnSpPr>
          <p:nvPr/>
        </p:nvCxnSpPr>
        <p:spPr>
          <a:xfrm flipH="1" flipV="1">
            <a:off x="8199712" y="3061316"/>
            <a:ext cx="1077874" cy="982034"/>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A8D5FB17-E877-6C95-DAB4-28340BB9F8B3}"/>
              </a:ext>
            </a:extLst>
          </p:cNvPr>
          <p:cNvCxnSpPr>
            <a:cxnSpLocks/>
            <a:stCxn id="11" idx="7"/>
            <a:endCxn id="13" idx="4"/>
          </p:cNvCxnSpPr>
          <p:nvPr/>
        </p:nvCxnSpPr>
        <p:spPr>
          <a:xfrm flipV="1">
            <a:off x="9660867" y="3140696"/>
            <a:ext cx="694479" cy="902654"/>
          </a:xfrm>
          <a:prstGeom prst="line">
            <a:avLst/>
          </a:prstGeom>
        </p:spPr>
        <p:style>
          <a:lnRef idx="1">
            <a:schemeClr val="accent1"/>
          </a:lnRef>
          <a:fillRef idx="0">
            <a:schemeClr val="accent1"/>
          </a:fillRef>
          <a:effectRef idx="0">
            <a:schemeClr val="accent1"/>
          </a:effectRef>
          <a:fontRef idx="minor">
            <a:schemeClr val="tx1"/>
          </a:fontRef>
        </p:style>
      </p:cxnSp>
      <p:sp>
        <p:nvSpPr>
          <p:cNvPr id="19" name="Slide Number Placeholder 18">
            <a:extLst>
              <a:ext uri="{FF2B5EF4-FFF2-40B4-BE49-F238E27FC236}">
                <a16:creationId xmlns:a16="http://schemas.microsoft.com/office/drawing/2014/main" id="{AB7902D8-9D25-88DA-6CDA-4D19349DFDB8}"/>
              </a:ext>
            </a:extLst>
          </p:cNvPr>
          <p:cNvSpPr>
            <a:spLocks noGrp="1"/>
          </p:cNvSpPr>
          <p:nvPr>
            <p:ph type="sldNum" sz="quarter" idx="12"/>
          </p:nvPr>
        </p:nvSpPr>
        <p:spPr/>
        <p:txBody>
          <a:bodyPr/>
          <a:lstStyle/>
          <a:p>
            <a:fld id="{8A7A6979-0714-4377-B894-6BE4C2D6E202}" type="slidenum">
              <a:rPr lang="en-US" smtClean="0"/>
              <a:pPr/>
              <a:t>62</a:t>
            </a:fld>
            <a:endParaRPr lang="en-US" dirty="0"/>
          </a:p>
        </p:txBody>
      </p:sp>
    </p:spTree>
    <p:extLst>
      <p:ext uri="{BB962C8B-B14F-4D97-AF65-F5344CB8AC3E}">
        <p14:creationId xmlns:p14="http://schemas.microsoft.com/office/powerpoint/2010/main" val="362799609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C942DE-C4DA-61D0-2316-8658DB8F4EA9}"/>
            </a:ext>
          </a:extLst>
        </p:cNvPr>
        <p:cNvGrpSpPr/>
        <p:nvPr/>
      </p:nvGrpSpPr>
      <p:grpSpPr>
        <a:xfrm>
          <a:off x="0" y="0"/>
          <a:ext cx="0" cy="0"/>
          <a:chOff x="0" y="0"/>
          <a:chExt cx="0" cy="0"/>
        </a:xfrm>
      </p:grpSpPr>
      <p:sp>
        <p:nvSpPr>
          <p:cNvPr id="5" name="Oval 4">
            <a:extLst>
              <a:ext uri="{FF2B5EF4-FFF2-40B4-BE49-F238E27FC236}">
                <a16:creationId xmlns:a16="http://schemas.microsoft.com/office/drawing/2014/main" id="{AB261DD0-1D1C-EF51-8712-CE1B2A928D36}"/>
              </a:ext>
            </a:extLst>
          </p:cNvPr>
          <p:cNvSpPr/>
          <p:nvPr/>
        </p:nvSpPr>
        <p:spPr>
          <a:xfrm>
            <a:off x="1488650" y="3947474"/>
            <a:ext cx="542041" cy="542041"/>
          </a:xfrm>
          <a:prstGeom prst="ellipse">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A</a:t>
            </a:r>
          </a:p>
        </p:txBody>
      </p:sp>
      <p:sp>
        <p:nvSpPr>
          <p:cNvPr id="6" name="Oval 5">
            <a:extLst>
              <a:ext uri="{FF2B5EF4-FFF2-40B4-BE49-F238E27FC236}">
                <a16:creationId xmlns:a16="http://schemas.microsoft.com/office/drawing/2014/main" id="{57A7D036-F1F7-9545-F837-8170DD3BBB6D}"/>
              </a:ext>
            </a:extLst>
          </p:cNvPr>
          <p:cNvSpPr/>
          <p:nvPr/>
        </p:nvSpPr>
        <p:spPr>
          <a:xfrm>
            <a:off x="2451755" y="2582158"/>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B</a:t>
            </a:r>
          </a:p>
        </p:txBody>
      </p:sp>
      <p:sp>
        <p:nvSpPr>
          <p:cNvPr id="7" name="Oval 6">
            <a:extLst>
              <a:ext uri="{FF2B5EF4-FFF2-40B4-BE49-F238E27FC236}">
                <a16:creationId xmlns:a16="http://schemas.microsoft.com/office/drawing/2014/main" id="{3582486D-045F-C809-E86F-78C1F0C0A22F}"/>
              </a:ext>
            </a:extLst>
          </p:cNvPr>
          <p:cNvSpPr/>
          <p:nvPr/>
        </p:nvSpPr>
        <p:spPr>
          <a:xfrm>
            <a:off x="3912910" y="3947473"/>
            <a:ext cx="542041" cy="542041"/>
          </a:xfrm>
          <a:prstGeom prst="ellipse">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C</a:t>
            </a:r>
          </a:p>
        </p:txBody>
      </p:sp>
      <p:sp>
        <p:nvSpPr>
          <p:cNvPr id="8" name="Oval 7">
            <a:extLst>
              <a:ext uri="{FF2B5EF4-FFF2-40B4-BE49-F238E27FC236}">
                <a16:creationId xmlns:a16="http://schemas.microsoft.com/office/drawing/2014/main" id="{D8923D88-1D71-927E-016E-359D3E2603A6}"/>
              </a:ext>
            </a:extLst>
          </p:cNvPr>
          <p:cNvSpPr/>
          <p:nvPr/>
        </p:nvSpPr>
        <p:spPr>
          <a:xfrm>
            <a:off x="4799029" y="2582158"/>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D</a:t>
            </a:r>
          </a:p>
        </p:txBody>
      </p:sp>
      <p:cxnSp>
        <p:nvCxnSpPr>
          <p:cNvPr id="10" name="Straight Connector 9">
            <a:extLst>
              <a:ext uri="{FF2B5EF4-FFF2-40B4-BE49-F238E27FC236}">
                <a16:creationId xmlns:a16="http://schemas.microsoft.com/office/drawing/2014/main" id="{62DAC1E4-976C-596F-1A45-ED663B89B906}"/>
              </a:ext>
            </a:extLst>
          </p:cNvPr>
          <p:cNvCxnSpPr>
            <a:cxnSpLocks/>
            <a:stCxn id="6" idx="3"/>
            <a:endCxn id="5" idx="0"/>
          </p:cNvCxnSpPr>
          <p:nvPr/>
        </p:nvCxnSpPr>
        <p:spPr>
          <a:xfrm flipH="1">
            <a:off x="1759671" y="3044819"/>
            <a:ext cx="771464" cy="902655"/>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FA88232E-F976-6A51-77C4-E201E16A12F0}"/>
              </a:ext>
            </a:extLst>
          </p:cNvPr>
          <p:cNvCxnSpPr>
            <a:cxnSpLocks/>
            <a:stCxn id="7" idx="1"/>
            <a:endCxn id="6" idx="5"/>
          </p:cNvCxnSpPr>
          <p:nvPr/>
        </p:nvCxnSpPr>
        <p:spPr>
          <a:xfrm flipH="1" flipV="1">
            <a:off x="2914416" y="3044819"/>
            <a:ext cx="1077874" cy="982034"/>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C200A7A-4130-9853-E5F0-82C36B7B56C6}"/>
              </a:ext>
            </a:extLst>
          </p:cNvPr>
          <p:cNvCxnSpPr>
            <a:cxnSpLocks/>
            <a:stCxn id="7" idx="7"/>
            <a:endCxn id="8" idx="4"/>
          </p:cNvCxnSpPr>
          <p:nvPr/>
        </p:nvCxnSpPr>
        <p:spPr>
          <a:xfrm flipV="1">
            <a:off x="4375571" y="3124199"/>
            <a:ext cx="694479" cy="902654"/>
          </a:xfrm>
          <a:prstGeom prst="line">
            <a:avLst/>
          </a:prstGeom>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B70AEF2C-FD66-9D4B-9AAB-1EBEC55F62B9}"/>
              </a:ext>
            </a:extLst>
          </p:cNvPr>
          <p:cNvSpPr txBox="1"/>
          <p:nvPr/>
        </p:nvSpPr>
        <p:spPr>
          <a:xfrm>
            <a:off x="2454858" y="1750165"/>
            <a:ext cx="1077875" cy="369332"/>
          </a:xfrm>
          <a:prstGeom prst="rect">
            <a:avLst/>
          </a:prstGeom>
          <a:noFill/>
        </p:spPr>
        <p:txBody>
          <a:bodyPr wrap="square" rtlCol="0">
            <a:spAutoFit/>
          </a:bodyPr>
          <a:lstStyle/>
          <a:p>
            <a:r>
              <a:rPr lang="en-US" dirty="0"/>
              <a:t>G=(V,E)</a:t>
            </a:r>
          </a:p>
        </p:txBody>
      </p:sp>
      <p:sp>
        <p:nvSpPr>
          <p:cNvPr id="2" name="TextBox 1">
            <a:extLst>
              <a:ext uri="{FF2B5EF4-FFF2-40B4-BE49-F238E27FC236}">
                <a16:creationId xmlns:a16="http://schemas.microsoft.com/office/drawing/2014/main" id="{A625BEA7-80BB-4A80-796C-3FC2E974E4C2}"/>
              </a:ext>
            </a:extLst>
          </p:cNvPr>
          <p:cNvSpPr txBox="1"/>
          <p:nvPr/>
        </p:nvSpPr>
        <p:spPr>
          <a:xfrm>
            <a:off x="8734681" y="1750165"/>
            <a:ext cx="1077875" cy="369332"/>
          </a:xfrm>
          <a:prstGeom prst="rect">
            <a:avLst/>
          </a:prstGeom>
          <a:noFill/>
        </p:spPr>
        <p:txBody>
          <a:bodyPr wrap="square" rtlCol="0">
            <a:spAutoFit/>
          </a:bodyPr>
          <a:lstStyle/>
          <a:p>
            <a:r>
              <a:rPr lang="en-US" dirty="0"/>
              <a:t>G</a:t>
            </a:r>
            <a:r>
              <a:rPr lang="en-US" baseline="30000" dirty="0"/>
              <a:t>2</a:t>
            </a:r>
            <a:endParaRPr lang="en-US" dirty="0"/>
          </a:p>
        </p:txBody>
      </p:sp>
      <p:sp>
        <p:nvSpPr>
          <p:cNvPr id="3" name="Oval 2">
            <a:extLst>
              <a:ext uri="{FF2B5EF4-FFF2-40B4-BE49-F238E27FC236}">
                <a16:creationId xmlns:a16="http://schemas.microsoft.com/office/drawing/2014/main" id="{9AD60059-6A9F-C2C3-0836-0FF09ED78379}"/>
              </a:ext>
            </a:extLst>
          </p:cNvPr>
          <p:cNvSpPr/>
          <p:nvPr/>
        </p:nvSpPr>
        <p:spPr>
          <a:xfrm>
            <a:off x="6773946" y="3963971"/>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A</a:t>
            </a:r>
          </a:p>
        </p:txBody>
      </p:sp>
      <p:sp>
        <p:nvSpPr>
          <p:cNvPr id="9" name="Oval 8">
            <a:extLst>
              <a:ext uri="{FF2B5EF4-FFF2-40B4-BE49-F238E27FC236}">
                <a16:creationId xmlns:a16="http://schemas.microsoft.com/office/drawing/2014/main" id="{1A1519C1-77AC-710D-6369-A0E32B44169B}"/>
              </a:ext>
            </a:extLst>
          </p:cNvPr>
          <p:cNvSpPr/>
          <p:nvPr/>
        </p:nvSpPr>
        <p:spPr>
          <a:xfrm>
            <a:off x="7737051" y="2598655"/>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B</a:t>
            </a:r>
          </a:p>
        </p:txBody>
      </p:sp>
      <p:sp>
        <p:nvSpPr>
          <p:cNvPr id="11" name="Oval 10">
            <a:extLst>
              <a:ext uri="{FF2B5EF4-FFF2-40B4-BE49-F238E27FC236}">
                <a16:creationId xmlns:a16="http://schemas.microsoft.com/office/drawing/2014/main" id="{FBE693B5-0A00-8C47-5233-93EBD17CB952}"/>
              </a:ext>
            </a:extLst>
          </p:cNvPr>
          <p:cNvSpPr/>
          <p:nvPr/>
        </p:nvSpPr>
        <p:spPr>
          <a:xfrm>
            <a:off x="9198206" y="3963970"/>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C</a:t>
            </a:r>
          </a:p>
        </p:txBody>
      </p:sp>
      <p:sp>
        <p:nvSpPr>
          <p:cNvPr id="13" name="Oval 12">
            <a:extLst>
              <a:ext uri="{FF2B5EF4-FFF2-40B4-BE49-F238E27FC236}">
                <a16:creationId xmlns:a16="http://schemas.microsoft.com/office/drawing/2014/main" id="{D64ECFF2-3D16-AF03-CF90-E73473024AA2}"/>
              </a:ext>
            </a:extLst>
          </p:cNvPr>
          <p:cNvSpPr/>
          <p:nvPr/>
        </p:nvSpPr>
        <p:spPr>
          <a:xfrm>
            <a:off x="10084325" y="2598655"/>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D</a:t>
            </a:r>
          </a:p>
        </p:txBody>
      </p:sp>
      <p:cxnSp>
        <p:nvCxnSpPr>
          <p:cNvPr id="14" name="Straight Connector 13">
            <a:extLst>
              <a:ext uri="{FF2B5EF4-FFF2-40B4-BE49-F238E27FC236}">
                <a16:creationId xmlns:a16="http://schemas.microsoft.com/office/drawing/2014/main" id="{466A8799-E3CE-AE1B-720A-C89DBC5DBEA1}"/>
              </a:ext>
            </a:extLst>
          </p:cNvPr>
          <p:cNvCxnSpPr>
            <a:cxnSpLocks/>
            <a:stCxn id="9" idx="3"/>
            <a:endCxn id="3" idx="0"/>
          </p:cNvCxnSpPr>
          <p:nvPr/>
        </p:nvCxnSpPr>
        <p:spPr>
          <a:xfrm flipH="1">
            <a:off x="7044967" y="3061316"/>
            <a:ext cx="771464" cy="902655"/>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E32B4A53-613D-4A86-655A-56DBAEE17DD0}"/>
              </a:ext>
            </a:extLst>
          </p:cNvPr>
          <p:cNvCxnSpPr>
            <a:cxnSpLocks/>
            <a:stCxn id="11" idx="1"/>
            <a:endCxn id="9" idx="5"/>
          </p:cNvCxnSpPr>
          <p:nvPr/>
        </p:nvCxnSpPr>
        <p:spPr>
          <a:xfrm flipH="1" flipV="1">
            <a:off x="8199712" y="3061316"/>
            <a:ext cx="1077874" cy="982034"/>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3A007256-3D32-5588-57C5-2080536CC8C9}"/>
              </a:ext>
            </a:extLst>
          </p:cNvPr>
          <p:cNvCxnSpPr>
            <a:cxnSpLocks/>
            <a:stCxn id="11" idx="7"/>
            <a:endCxn id="13" idx="4"/>
          </p:cNvCxnSpPr>
          <p:nvPr/>
        </p:nvCxnSpPr>
        <p:spPr>
          <a:xfrm flipV="1">
            <a:off x="9660867" y="3140696"/>
            <a:ext cx="694479" cy="902654"/>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92BE3A2-5BA5-80D7-2F9F-442C3C4DC435}"/>
              </a:ext>
            </a:extLst>
          </p:cNvPr>
          <p:cNvCxnSpPr>
            <a:stCxn id="3" idx="6"/>
            <a:endCxn id="11" idx="2"/>
          </p:cNvCxnSpPr>
          <p:nvPr/>
        </p:nvCxnSpPr>
        <p:spPr>
          <a:xfrm flipV="1">
            <a:off x="7315987" y="4234991"/>
            <a:ext cx="1882219" cy="1"/>
          </a:xfrm>
          <a:prstGeom prst="line">
            <a:avLst/>
          </a:prstGeom>
        </p:spPr>
        <p:style>
          <a:lnRef idx="1">
            <a:schemeClr val="accent1"/>
          </a:lnRef>
          <a:fillRef idx="0">
            <a:schemeClr val="accent1"/>
          </a:fillRef>
          <a:effectRef idx="0">
            <a:schemeClr val="accent1"/>
          </a:effectRef>
          <a:fontRef idx="minor">
            <a:schemeClr val="tx1"/>
          </a:fontRef>
        </p:style>
      </p:cxnSp>
      <p:sp>
        <p:nvSpPr>
          <p:cNvPr id="20" name="Slide Number Placeholder 19">
            <a:extLst>
              <a:ext uri="{FF2B5EF4-FFF2-40B4-BE49-F238E27FC236}">
                <a16:creationId xmlns:a16="http://schemas.microsoft.com/office/drawing/2014/main" id="{15072D95-3441-C0FE-35FE-E951EF5A973B}"/>
              </a:ext>
            </a:extLst>
          </p:cNvPr>
          <p:cNvSpPr>
            <a:spLocks noGrp="1"/>
          </p:cNvSpPr>
          <p:nvPr>
            <p:ph type="sldNum" sz="quarter" idx="12"/>
          </p:nvPr>
        </p:nvSpPr>
        <p:spPr/>
        <p:txBody>
          <a:bodyPr/>
          <a:lstStyle/>
          <a:p>
            <a:fld id="{8A7A6979-0714-4377-B894-6BE4C2D6E202}" type="slidenum">
              <a:rPr lang="en-US" smtClean="0"/>
              <a:pPr/>
              <a:t>63</a:t>
            </a:fld>
            <a:endParaRPr lang="en-US" dirty="0"/>
          </a:p>
        </p:txBody>
      </p:sp>
    </p:spTree>
    <p:extLst>
      <p:ext uri="{BB962C8B-B14F-4D97-AF65-F5344CB8AC3E}">
        <p14:creationId xmlns:p14="http://schemas.microsoft.com/office/powerpoint/2010/main" val="339407125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3B3169-2536-40C9-E106-94B013CE0F8B}"/>
            </a:ext>
          </a:extLst>
        </p:cNvPr>
        <p:cNvGrpSpPr/>
        <p:nvPr/>
      </p:nvGrpSpPr>
      <p:grpSpPr>
        <a:xfrm>
          <a:off x="0" y="0"/>
          <a:ext cx="0" cy="0"/>
          <a:chOff x="0" y="0"/>
          <a:chExt cx="0" cy="0"/>
        </a:xfrm>
      </p:grpSpPr>
      <p:sp>
        <p:nvSpPr>
          <p:cNvPr id="5" name="Oval 4">
            <a:extLst>
              <a:ext uri="{FF2B5EF4-FFF2-40B4-BE49-F238E27FC236}">
                <a16:creationId xmlns:a16="http://schemas.microsoft.com/office/drawing/2014/main" id="{3F3216B5-65E9-E646-5345-5FCC76062211}"/>
              </a:ext>
            </a:extLst>
          </p:cNvPr>
          <p:cNvSpPr/>
          <p:nvPr/>
        </p:nvSpPr>
        <p:spPr>
          <a:xfrm>
            <a:off x="1488650" y="3947474"/>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A</a:t>
            </a:r>
          </a:p>
        </p:txBody>
      </p:sp>
      <p:sp>
        <p:nvSpPr>
          <p:cNvPr id="6" name="Oval 5">
            <a:extLst>
              <a:ext uri="{FF2B5EF4-FFF2-40B4-BE49-F238E27FC236}">
                <a16:creationId xmlns:a16="http://schemas.microsoft.com/office/drawing/2014/main" id="{F4A07709-6C7A-D572-D5C6-BF42E3527C75}"/>
              </a:ext>
            </a:extLst>
          </p:cNvPr>
          <p:cNvSpPr/>
          <p:nvPr/>
        </p:nvSpPr>
        <p:spPr>
          <a:xfrm>
            <a:off x="2451755" y="2582158"/>
            <a:ext cx="542041" cy="542041"/>
          </a:xfrm>
          <a:prstGeom prst="ellipse">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B</a:t>
            </a:r>
          </a:p>
        </p:txBody>
      </p:sp>
      <p:sp>
        <p:nvSpPr>
          <p:cNvPr id="7" name="Oval 6">
            <a:extLst>
              <a:ext uri="{FF2B5EF4-FFF2-40B4-BE49-F238E27FC236}">
                <a16:creationId xmlns:a16="http://schemas.microsoft.com/office/drawing/2014/main" id="{10F51C14-C027-9534-4544-F52249AA830A}"/>
              </a:ext>
            </a:extLst>
          </p:cNvPr>
          <p:cNvSpPr/>
          <p:nvPr/>
        </p:nvSpPr>
        <p:spPr>
          <a:xfrm>
            <a:off x="3912910" y="3947473"/>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C</a:t>
            </a:r>
          </a:p>
        </p:txBody>
      </p:sp>
      <p:sp>
        <p:nvSpPr>
          <p:cNvPr id="8" name="Oval 7">
            <a:extLst>
              <a:ext uri="{FF2B5EF4-FFF2-40B4-BE49-F238E27FC236}">
                <a16:creationId xmlns:a16="http://schemas.microsoft.com/office/drawing/2014/main" id="{5081554C-099C-7D81-2E4C-5F9C053453E0}"/>
              </a:ext>
            </a:extLst>
          </p:cNvPr>
          <p:cNvSpPr/>
          <p:nvPr/>
        </p:nvSpPr>
        <p:spPr>
          <a:xfrm>
            <a:off x="4799029" y="2582158"/>
            <a:ext cx="542041" cy="542041"/>
          </a:xfrm>
          <a:prstGeom prst="ellipse">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D</a:t>
            </a:r>
          </a:p>
        </p:txBody>
      </p:sp>
      <p:cxnSp>
        <p:nvCxnSpPr>
          <p:cNvPr id="10" name="Straight Connector 9">
            <a:extLst>
              <a:ext uri="{FF2B5EF4-FFF2-40B4-BE49-F238E27FC236}">
                <a16:creationId xmlns:a16="http://schemas.microsoft.com/office/drawing/2014/main" id="{3F4C5F88-0E8C-CF86-DD30-EC0652169E37}"/>
              </a:ext>
            </a:extLst>
          </p:cNvPr>
          <p:cNvCxnSpPr>
            <a:cxnSpLocks/>
            <a:stCxn id="6" idx="3"/>
            <a:endCxn id="5" idx="0"/>
          </p:cNvCxnSpPr>
          <p:nvPr/>
        </p:nvCxnSpPr>
        <p:spPr>
          <a:xfrm flipH="1">
            <a:off x="1759671" y="3044819"/>
            <a:ext cx="771464" cy="902655"/>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411C71FF-A69A-2D63-DC57-DF6789D6C50C}"/>
              </a:ext>
            </a:extLst>
          </p:cNvPr>
          <p:cNvCxnSpPr>
            <a:cxnSpLocks/>
            <a:stCxn id="7" idx="1"/>
            <a:endCxn id="6" idx="5"/>
          </p:cNvCxnSpPr>
          <p:nvPr/>
        </p:nvCxnSpPr>
        <p:spPr>
          <a:xfrm flipH="1" flipV="1">
            <a:off x="2914416" y="3044819"/>
            <a:ext cx="1077874" cy="982034"/>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52A7ECFB-2765-4E69-707C-A62FB60F10D5}"/>
              </a:ext>
            </a:extLst>
          </p:cNvPr>
          <p:cNvCxnSpPr>
            <a:cxnSpLocks/>
            <a:stCxn id="7" idx="7"/>
            <a:endCxn id="8" idx="4"/>
          </p:cNvCxnSpPr>
          <p:nvPr/>
        </p:nvCxnSpPr>
        <p:spPr>
          <a:xfrm flipV="1">
            <a:off x="4375571" y="3124199"/>
            <a:ext cx="694479" cy="902654"/>
          </a:xfrm>
          <a:prstGeom prst="line">
            <a:avLst/>
          </a:prstGeom>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B6A6497F-CC56-10E4-974B-375D0F9F1C87}"/>
              </a:ext>
            </a:extLst>
          </p:cNvPr>
          <p:cNvSpPr txBox="1"/>
          <p:nvPr/>
        </p:nvSpPr>
        <p:spPr>
          <a:xfrm>
            <a:off x="2454858" y="1750165"/>
            <a:ext cx="1077875" cy="369332"/>
          </a:xfrm>
          <a:prstGeom prst="rect">
            <a:avLst/>
          </a:prstGeom>
          <a:noFill/>
        </p:spPr>
        <p:txBody>
          <a:bodyPr wrap="square" rtlCol="0">
            <a:spAutoFit/>
          </a:bodyPr>
          <a:lstStyle/>
          <a:p>
            <a:r>
              <a:rPr lang="en-US" dirty="0"/>
              <a:t>G=(V,E)</a:t>
            </a:r>
          </a:p>
        </p:txBody>
      </p:sp>
      <p:sp>
        <p:nvSpPr>
          <p:cNvPr id="2" name="TextBox 1">
            <a:extLst>
              <a:ext uri="{FF2B5EF4-FFF2-40B4-BE49-F238E27FC236}">
                <a16:creationId xmlns:a16="http://schemas.microsoft.com/office/drawing/2014/main" id="{F3B7DF1E-48F7-6E16-3802-5597BB60A70B}"/>
              </a:ext>
            </a:extLst>
          </p:cNvPr>
          <p:cNvSpPr txBox="1"/>
          <p:nvPr/>
        </p:nvSpPr>
        <p:spPr>
          <a:xfrm>
            <a:off x="8734681" y="1750165"/>
            <a:ext cx="1077875" cy="369332"/>
          </a:xfrm>
          <a:prstGeom prst="rect">
            <a:avLst/>
          </a:prstGeom>
          <a:noFill/>
        </p:spPr>
        <p:txBody>
          <a:bodyPr wrap="square" rtlCol="0">
            <a:spAutoFit/>
          </a:bodyPr>
          <a:lstStyle/>
          <a:p>
            <a:r>
              <a:rPr lang="en-US" dirty="0"/>
              <a:t>G</a:t>
            </a:r>
            <a:r>
              <a:rPr lang="en-US" baseline="30000" dirty="0"/>
              <a:t>2</a:t>
            </a:r>
            <a:endParaRPr lang="en-US" dirty="0"/>
          </a:p>
        </p:txBody>
      </p:sp>
      <p:sp>
        <p:nvSpPr>
          <p:cNvPr id="3" name="Oval 2">
            <a:extLst>
              <a:ext uri="{FF2B5EF4-FFF2-40B4-BE49-F238E27FC236}">
                <a16:creationId xmlns:a16="http://schemas.microsoft.com/office/drawing/2014/main" id="{3B71ABD5-CF9F-3A6B-0565-8B2C5D07BE51}"/>
              </a:ext>
            </a:extLst>
          </p:cNvPr>
          <p:cNvSpPr/>
          <p:nvPr/>
        </p:nvSpPr>
        <p:spPr>
          <a:xfrm>
            <a:off x="6773946" y="3963971"/>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A</a:t>
            </a:r>
          </a:p>
        </p:txBody>
      </p:sp>
      <p:sp>
        <p:nvSpPr>
          <p:cNvPr id="9" name="Oval 8">
            <a:extLst>
              <a:ext uri="{FF2B5EF4-FFF2-40B4-BE49-F238E27FC236}">
                <a16:creationId xmlns:a16="http://schemas.microsoft.com/office/drawing/2014/main" id="{B4AB5E02-E249-476B-4A08-8AFD98B1D980}"/>
              </a:ext>
            </a:extLst>
          </p:cNvPr>
          <p:cNvSpPr/>
          <p:nvPr/>
        </p:nvSpPr>
        <p:spPr>
          <a:xfrm>
            <a:off x="7737051" y="2598655"/>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B</a:t>
            </a:r>
          </a:p>
        </p:txBody>
      </p:sp>
      <p:sp>
        <p:nvSpPr>
          <p:cNvPr id="11" name="Oval 10">
            <a:extLst>
              <a:ext uri="{FF2B5EF4-FFF2-40B4-BE49-F238E27FC236}">
                <a16:creationId xmlns:a16="http://schemas.microsoft.com/office/drawing/2014/main" id="{1E387FB9-66F0-9DE7-0119-70C2E979E240}"/>
              </a:ext>
            </a:extLst>
          </p:cNvPr>
          <p:cNvSpPr/>
          <p:nvPr/>
        </p:nvSpPr>
        <p:spPr>
          <a:xfrm>
            <a:off x="9198206" y="3963970"/>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C</a:t>
            </a:r>
          </a:p>
        </p:txBody>
      </p:sp>
      <p:sp>
        <p:nvSpPr>
          <p:cNvPr id="13" name="Oval 12">
            <a:extLst>
              <a:ext uri="{FF2B5EF4-FFF2-40B4-BE49-F238E27FC236}">
                <a16:creationId xmlns:a16="http://schemas.microsoft.com/office/drawing/2014/main" id="{00274D2C-C531-2935-D110-4C63D8FABE1E}"/>
              </a:ext>
            </a:extLst>
          </p:cNvPr>
          <p:cNvSpPr/>
          <p:nvPr/>
        </p:nvSpPr>
        <p:spPr>
          <a:xfrm>
            <a:off x="10084325" y="2598655"/>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D</a:t>
            </a:r>
          </a:p>
        </p:txBody>
      </p:sp>
      <p:cxnSp>
        <p:nvCxnSpPr>
          <p:cNvPr id="14" name="Straight Connector 13">
            <a:extLst>
              <a:ext uri="{FF2B5EF4-FFF2-40B4-BE49-F238E27FC236}">
                <a16:creationId xmlns:a16="http://schemas.microsoft.com/office/drawing/2014/main" id="{BECF524D-D5C3-EF8C-C40F-EB1DF2E33E3B}"/>
              </a:ext>
            </a:extLst>
          </p:cNvPr>
          <p:cNvCxnSpPr>
            <a:cxnSpLocks/>
            <a:stCxn id="9" idx="3"/>
            <a:endCxn id="3" idx="0"/>
          </p:cNvCxnSpPr>
          <p:nvPr/>
        </p:nvCxnSpPr>
        <p:spPr>
          <a:xfrm flipH="1">
            <a:off x="7044967" y="3061316"/>
            <a:ext cx="771464" cy="902655"/>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F9A45758-FC10-51FB-D9BC-50786A4630D9}"/>
              </a:ext>
            </a:extLst>
          </p:cNvPr>
          <p:cNvCxnSpPr>
            <a:cxnSpLocks/>
            <a:stCxn id="11" idx="1"/>
            <a:endCxn id="9" idx="5"/>
          </p:cNvCxnSpPr>
          <p:nvPr/>
        </p:nvCxnSpPr>
        <p:spPr>
          <a:xfrm flipH="1" flipV="1">
            <a:off x="8199712" y="3061316"/>
            <a:ext cx="1077874" cy="982034"/>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1EC33678-B787-57D2-5EA3-760DCD048C94}"/>
              </a:ext>
            </a:extLst>
          </p:cNvPr>
          <p:cNvCxnSpPr>
            <a:cxnSpLocks/>
            <a:stCxn id="11" idx="7"/>
            <a:endCxn id="13" idx="4"/>
          </p:cNvCxnSpPr>
          <p:nvPr/>
        </p:nvCxnSpPr>
        <p:spPr>
          <a:xfrm flipV="1">
            <a:off x="9660867" y="3140696"/>
            <a:ext cx="694479" cy="902654"/>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CFD2F0D7-782F-7BB7-4912-E6B4AFEB60B2}"/>
              </a:ext>
            </a:extLst>
          </p:cNvPr>
          <p:cNvCxnSpPr>
            <a:stCxn id="3" idx="6"/>
            <a:endCxn id="11" idx="2"/>
          </p:cNvCxnSpPr>
          <p:nvPr/>
        </p:nvCxnSpPr>
        <p:spPr>
          <a:xfrm flipV="1">
            <a:off x="7315987" y="4234991"/>
            <a:ext cx="1882219" cy="1"/>
          </a:xfrm>
          <a:prstGeom prst="line">
            <a:avLst/>
          </a:prstGeom>
        </p:spPr>
        <p:style>
          <a:lnRef idx="1">
            <a:schemeClr val="accent1"/>
          </a:lnRef>
          <a:fillRef idx="0">
            <a:schemeClr val="accent1"/>
          </a:fillRef>
          <a:effectRef idx="0">
            <a:schemeClr val="accent1"/>
          </a:effectRef>
          <a:fontRef idx="minor">
            <a:schemeClr val="tx1"/>
          </a:fontRef>
        </p:style>
      </p:cxnSp>
      <p:sp>
        <p:nvSpPr>
          <p:cNvPr id="20" name="Slide Number Placeholder 19">
            <a:extLst>
              <a:ext uri="{FF2B5EF4-FFF2-40B4-BE49-F238E27FC236}">
                <a16:creationId xmlns:a16="http://schemas.microsoft.com/office/drawing/2014/main" id="{AA1433FD-2117-FB10-8EA0-B129F6A962FF}"/>
              </a:ext>
            </a:extLst>
          </p:cNvPr>
          <p:cNvSpPr>
            <a:spLocks noGrp="1"/>
          </p:cNvSpPr>
          <p:nvPr>
            <p:ph type="sldNum" sz="quarter" idx="12"/>
          </p:nvPr>
        </p:nvSpPr>
        <p:spPr/>
        <p:txBody>
          <a:bodyPr/>
          <a:lstStyle/>
          <a:p>
            <a:fld id="{8A7A6979-0714-4377-B894-6BE4C2D6E202}" type="slidenum">
              <a:rPr lang="en-US" smtClean="0"/>
              <a:pPr/>
              <a:t>64</a:t>
            </a:fld>
            <a:endParaRPr lang="en-US" dirty="0"/>
          </a:p>
        </p:txBody>
      </p:sp>
    </p:spTree>
    <p:extLst>
      <p:ext uri="{BB962C8B-B14F-4D97-AF65-F5344CB8AC3E}">
        <p14:creationId xmlns:p14="http://schemas.microsoft.com/office/powerpoint/2010/main" val="322166397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7271B-4BB4-7A72-7B96-7E520E9E0E83}"/>
            </a:ext>
          </a:extLst>
        </p:cNvPr>
        <p:cNvGrpSpPr/>
        <p:nvPr/>
      </p:nvGrpSpPr>
      <p:grpSpPr>
        <a:xfrm>
          <a:off x="0" y="0"/>
          <a:ext cx="0" cy="0"/>
          <a:chOff x="0" y="0"/>
          <a:chExt cx="0" cy="0"/>
        </a:xfrm>
      </p:grpSpPr>
      <p:sp>
        <p:nvSpPr>
          <p:cNvPr id="5" name="Oval 4">
            <a:extLst>
              <a:ext uri="{FF2B5EF4-FFF2-40B4-BE49-F238E27FC236}">
                <a16:creationId xmlns:a16="http://schemas.microsoft.com/office/drawing/2014/main" id="{231D9A2D-8335-2D00-7210-0499BD6A6969}"/>
              </a:ext>
            </a:extLst>
          </p:cNvPr>
          <p:cNvSpPr/>
          <p:nvPr/>
        </p:nvSpPr>
        <p:spPr>
          <a:xfrm>
            <a:off x="1488650" y="3947474"/>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A</a:t>
            </a:r>
          </a:p>
        </p:txBody>
      </p:sp>
      <p:sp>
        <p:nvSpPr>
          <p:cNvPr id="6" name="Oval 5">
            <a:extLst>
              <a:ext uri="{FF2B5EF4-FFF2-40B4-BE49-F238E27FC236}">
                <a16:creationId xmlns:a16="http://schemas.microsoft.com/office/drawing/2014/main" id="{E0A938D3-8B74-AD63-79C8-7BB26D366F33}"/>
              </a:ext>
            </a:extLst>
          </p:cNvPr>
          <p:cNvSpPr/>
          <p:nvPr/>
        </p:nvSpPr>
        <p:spPr>
          <a:xfrm>
            <a:off x="2451755" y="2582158"/>
            <a:ext cx="542041" cy="542041"/>
          </a:xfrm>
          <a:prstGeom prst="ellipse">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B</a:t>
            </a:r>
          </a:p>
        </p:txBody>
      </p:sp>
      <p:sp>
        <p:nvSpPr>
          <p:cNvPr id="7" name="Oval 6">
            <a:extLst>
              <a:ext uri="{FF2B5EF4-FFF2-40B4-BE49-F238E27FC236}">
                <a16:creationId xmlns:a16="http://schemas.microsoft.com/office/drawing/2014/main" id="{96E481C4-341E-A53E-D4C5-93D32304E2CE}"/>
              </a:ext>
            </a:extLst>
          </p:cNvPr>
          <p:cNvSpPr/>
          <p:nvPr/>
        </p:nvSpPr>
        <p:spPr>
          <a:xfrm>
            <a:off x="3912910" y="3947473"/>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C</a:t>
            </a:r>
          </a:p>
        </p:txBody>
      </p:sp>
      <p:sp>
        <p:nvSpPr>
          <p:cNvPr id="8" name="Oval 7">
            <a:extLst>
              <a:ext uri="{FF2B5EF4-FFF2-40B4-BE49-F238E27FC236}">
                <a16:creationId xmlns:a16="http://schemas.microsoft.com/office/drawing/2014/main" id="{D6172418-0C1E-21D9-58E3-E97A782CDDCA}"/>
              </a:ext>
            </a:extLst>
          </p:cNvPr>
          <p:cNvSpPr/>
          <p:nvPr/>
        </p:nvSpPr>
        <p:spPr>
          <a:xfrm>
            <a:off x="4799029" y="2582158"/>
            <a:ext cx="542041" cy="542041"/>
          </a:xfrm>
          <a:prstGeom prst="ellipse">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D</a:t>
            </a:r>
          </a:p>
        </p:txBody>
      </p:sp>
      <p:cxnSp>
        <p:nvCxnSpPr>
          <p:cNvPr id="10" name="Straight Connector 9">
            <a:extLst>
              <a:ext uri="{FF2B5EF4-FFF2-40B4-BE49-F238E27FC236}">
                <a16:creationId xmlns:a16="http://schemas.microsoft.com/office/drawing/2014/main" id="{843E9B43-CA98-04CB-A018-FF896C39D39C}"/>
              </a:ext>
            </a:extLst>
          </p:cNvPr>
          <p:cNvCxnSpPr>
            <a:cxnSpLocks/>
            <a:stCxn id="6" idx="3"/>
            <a:endCxn id="5" idx="0"/>
          </p:cNvCxnSpPr>
          <p:nvPr/>
        </p:nvCxnSpPr>
        <p:spPr>
          <a:xfrm flipH="1">
            <a:off x="1759671" y="3044819"/>
            <a:ext cx="771464" cy="902655"/>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716D3B30-0F7A-8618-CB44-1832E907A1BB}"/>
              </a:ext>
            </a:extLst>
          </p:cNvPr>
          <p:cNvCxnSpPr>
            <a:cxnSpLocks/>
            <a:stCxn id="7" idx="1"/>
            <a:endCxn id="6" idx="5"/>
          </p:cNvCxnSpPr>
          <p:nvPr/>
        </p:nvCxnSpPr>
        <p:spPr>
          <a:xfrm flipH="1" flipV="1">
            <a:off x="2914416" y="3044819"/>
            <a:ext cx="1077874" cy="982034"/>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E137B3E4-5C6D-DC27-D35E-2096B7157DB2}"/>
              </a:ext>
            </a:extLst>
          </p:cNvPr>
          <p:cNvCxnSpPr>
            <a:cxnSpLocks/>
            <a:stCxn id="7" idx="7"/>
            <a:endCxn id="8" idx="4"/>
          </p:cNvCxnSpPr>
          <p:nvPr/>
        </p:nvCxnSpPr>
        <p:spPr>
          <a:xfrm flipV="1">
            <a:off x="4375571" y="3124199"/>
            <a:ext cx="694479" cy="902654"/>
          </a:xfrm>
          <a:prstGeom prst="line">
            <a:avLst/>
          </a:prstGeom>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813E2BBF-70D8-C8D8-3B83-2EB3B22713BC}"/>
              </a:ext>
            </a:extLst>
          </p:cNvPr>
          <p:cNvSpPr txBox="1"/>
          <p:nvPr/>
        </p:nvSpPr>
        <p:spPr>
          <a:xfrm>
            <a:off x="2454858" y="1750165"/>
            <a:ext cx="1077875" cy="369332"/>
          </a:xfrm>
          <a:prstGeom prst="rect">
            <a:avLst/>
          </a:prstGeom>
          <a:noFill/>
        </p:spPr>
        <p:txBody>
          <a:bodyPr wrap="square" rtlCol="0">
            <a:spAutoFit/>
          </a:bodyPr>
          <a:lstStyle/>
          <a:p>
            <a:r>
              <a:rPr lang="en-US" dirty="0"/>
              <a:t>G=(V,E)</a:t>
            </a:r>
          </a:p>
        </p:txBody>
      </p:sp>
      <p:sp>
        <p:nvSpPr>
          <p:cNvPr id="2" name="TextBox 1">
            <a:extLst>
              <a:ext uri="{FF2B5EF4-FFF2-40B4-BE49-F238E27FC236}">
                <a16:creationId xmlns:a16="http://schemas.microsoft.com/office/drawing/2014/main" id="{D4254270-FA35-34FF-E34D-3D6B0DEB7B52}"/>
              </a:ext>
            </a:extLst>
          </p:cNvPr>
          <p:cNvSpPr txBox="1"/>
          <p:nvPr/>
        </p:nvSpPr>
        <p:spPr>
          <a:xfrm>
            <a:off x="8734681" y="1750165"/>
            <a:ext cx="1077875" cy="369332"/>
          </a:xfrm>
          <a:prstGeom prst="rect">
            <a:avLst/>
          </a:prstGeom>
          <a:noFill/>
        </p:spPr>
        <p:txBody>
          <a:bodyPr wrap="square" rtlCol="0">
            <a:spAutoFit/>
          </a:bodyPr>
          <a:lstStyle/>
          <a:p>
            <a:r>
              <a:rPr lang="en-US" dirty="0"/>
              <a:t>G</a:t>
            </a:r>
            <a:r>
              <a:rPr lang="en-US" baseline="30000" dirty="0"/>
              <a:t>2</a:t>
            </a:r>
            <a:endParaRPr lang="en-US" dirty="0"/>
          </a:p>
        </p:txBody>
      </p:sp>
      <p:sp>
        <p:nvSpPr>
          <p:cNvPr id="3" name="Oval 2">
            <a:extLst>
              <a:ext uri="{FF2B5EF4-FFF2-40B4-BE49-F238E27FC236}">
                <a16:creationId xmlns:a16="http://schemas.microsoft.com/office/drawing/2014/main" id="{74FC0DBC-071B-8CCB-1874-544CF7980FAE}"/>
              </a:ext>
            </a:extLst>
          </p:cNvPr>
          <p:cNvSpPr/>
          <p:nvPr/>
        </p:nvSpPr>
        <p:spPr>
          <a:xfrm>
            <a:off x="6773946" y="3963971"/>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A</a:t>
            </a:r>
          </a:p>
        </p:txBody>
      </p:sp>
      <p:sp>
        <p:nvSpPr>
          <p:cNvPr id="9" name="Oval 8">
            <a:extLst>
              <a:ext uri="{FF2B5EF4-FFF2-40B4-BE49-F238E27FC236}">
                <a16:creationId xmlns:a16="http://schemas.microsoft.com/office/drawing/2014/main" id="{8776A68E-33B6-DF73-A02E-F4D8A43C1BED}"/>
              </a:ext>
            </a:extLst>
          </p:cNvPr>
          <p:cNvSpPr/>
          <p:nvPr/>
        </p:nvSpPr>
        <p:spPr>
          <a:xfrm>
            <a:off x="7737051" y="2598655"/>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B</a:t>
            </a:r>
          </a:p>
        </p:txBody>
      </p:sp>
      <p:sp>
        <p:nvSpPr>
          <p:cNvPr id="11" name="Oval 10">
            <a:extLst>
              <a:ext uri="{FF2B5EF4-FFF2-40B4-BE49-F238E27FC236}">
                <a16:creationId xmlns:a16="http://schemas.microsoft.com/office/drawing/2014/main" id="{E91AD343-4110-B700-7F65-FA22FDF84495}"/>
              </a:ext>
            </a:extLst>
          </p:cNvPr>
          <p:cNvSpPr/>
          <p:nvPr/>
        </p:nvSpPr>
        <p:spPr>
          <a:xfrm>
            <a:off x="9198206" y="3963970"/>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C</a:t>
            </a:r>
          </a:p>
        </p:txBody>
      </p:sp>
      <p:sp>
        <p:nvSpPr>
          <p:cNvPr id="13" name="Oval 12">
            <a:extLst>
              <a:ext uri="{FF2B5EF4-FFF2-40B4-BE49-F238E27FC236}">
                <a16:creationId xmlns:a16="http://schemas.microsoft.com/office/drawing/2014/main" id="{91C907D0-EA31-3685-4FE4-04CCA52CF011}"/>
              </a:ext>
            </a:extLst>
          </p:cNvPr>
          <p:cNvSpPr/>
          <p:nvPr/>
        </p:nvSpPr>
        <p:spPr>
          <a:xfrm>
            <a:off x="10084325" y="2598655"/>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D</a:t>
            </a:r>
          </a:p>
        </p:txBody>
      </p:sp>
      <p:cxnSp>
        <p:nvCxnSpPr>
          <p:cNvPr id="14" name="Straight Connector 13">
            <a:extLst>
              <a:ext uri="{FF2B5EF4-FFF2-40B4-BE49-F238E27FC236}">
                <a16:creationId xmlns:a16="http://schemas.microsoft.com/office/drawing/2014/main" id="{95250B93-EA86-6F89-5CA6-56B8F47D0ADA}"/>
              </a:ext>
            </a:extLst>
          </p:cNvPr>
          <p:cNvCxnSpPr>
            <a:cxnSpLocks/>
            <a:stCxn id="9" idx="3"/>
            <a:endCxn id="3" idx="0"/>
          </p:cNvCxnSpPr>
          <p:nvPr/>
        </p:nvCxnSpPr>
        <p:spPr>
          <a:xfrm flipH="1">
            <a:off x="7044967" y="3061316"/>
            <a:ext cx="771464" cy="902655"/>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728082E4-82A3-DD30-9D19-AF99E89D752F}"/>
              </a:ext>
            </a:extLst>
          </p:cNvPr>
          <p:cNvCxnSpPr>
            <a:cxnSpLocks/>
            <a:stCxn id="11" idx="1"/>
            <a:endCxn id="9" idx="5"/>
          </p:cNvCxnSpPr>
          <p:nvPr/>
        </p:nvCxnSpPr>
        <p:spPr>
          <a:xfrm flipH="1" flipV="1">
            <a:off x="8199712" y="3061316"/>
            <a:ext cx="1077874" cy="982034"/>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FF9ED8F0-2C4C-4220-E4A6-B9EBB65603FB}"/>
              </a:ext>
            </a:extLst>
          </p:cNvPr>
          <p:cNvCxnSpPr>
            <a:cxnSpLocks/>
            <a:stCxn id="11" idx="7"/>
            <a:endCxn id="13" idx="4"/>
          </p:cNvCxnSpPr>
          <p:nvPr/>
        </p:nvCxnSpPr>
        <p:spPr>
          <a:xfrm flipV="1">
            <a:off x="9660867" y="3140696"/>
            <a:ext cx="694479" cy="902654"/>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BCC35EFD-1F69-789A-96BF-9447714CEB43}"/>
              </a:ext>
            </a:extLst>
          </p:cNvPr>
          <p:cNvCxnSpPr>
            <a:stCxn id="3" idx="6"/>
            <a:endCxn id="11" idx="2"/>
          </p:cNvCxnSpPr>
          <p:nvPr/>
        </p:nvCxnSpPr>
        <p:spPr>
          <a:xfrm flipV="1">
            <a:off x="7315987" y="4234991"/>
            <a:ext cx="1882219" cy="1"/>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1ED9D2F-EDDB-ADE0-9279-FE760F03D06E}"/>
              </a:ext>
            </a:extLst>
          </p:cNvPr>
          <p:cNvCxnSpPr>
            <a:stCxn id="9" idx="6"/>
            <a:endCxn id="13" idx="2"/>
          </p:cNvCxnSpPr>
          <p:nvPr/>
        </p:nvCxnSpPr>
        <p:spPr>
          <a:xfrm>
            <a:off x="8279092" y="2869676"/>
            <a:ext cx="1805233" cy="0"/>
          </a:xfrm>
          <a:prstGeom prst="line">
            <a:avLst/>
          </a:prstGeom>
        </p:spPr>
        <p:style>
          <a:lnRef idx="1">
            <a:schemeClr val="accent1"/>
          </a:lnRef>
          <a:fillRef idx="0">
            <a:schemeClr val="accent1"/>
          </a:fillRef>
          <a:effectRef idx="0">
            <a:schemeClr val="accent1"/>
          </a:effectRef>
          <a:fontRef idx="minor">
            <a:schemeClr val="tx1"/>
          </a:fontRef>
        </p:style>
      </p:cxnSp>
      <p:sp>
        <p:nvSpPr>
          <p:cNvPr id="21" name="Slide Number Placeholder 20">
            <a:extLst>
              <a:ext uri="{FF2B5EF4-FFF2-40B4-BE49-F238E27FC236}">
                <a16:creationId xmlns:a16="http://schemas.microsoft.com/office/drawing/2014/main" id="{B8482A6F-FFFE-67AE-A0D1-AA6E8B5D7B7C}"/>
              </a:ext>
            </a:extLst>
          </p:cNvPr>
          <p:cNvSpPr>
            <a:spLocks noGrp="1"/>
          </p:cNvSpPr>
          <p:nvPr>
            <p:ph type="sldNum" sz="quarter" idx="12"/>
          </p:nvPr>
        </p:nvSpPr>
        <p:spPr/>
        <p:txBody>
          <a:bodyPr/>
          <a:lstStyle/>
          <a:p>
            <a:fld id="{8A7A6979-0714-4377-B894-6BE4C2D6E202}" type="slidenum">
              <a:rPr lang="en-US" smtClean="0"/>
              <a:pPr/>
              <a:t>65</a:t>
            </a:fld>
            <a:endParaRPr lang="en-US" dirty="0"/>
          </a:p>
        </p:txBody>
      </p:sp>
    </p:spTree>
    <p:extLst>
      <p:ext uri="{BB962C8B-B14F-4D97-AF65-F5344CB8AC3E}">
        <p14:creationId xmlns:p14="http://schemas.microsoft.com/office/powerpoint/2010/main" val="365569537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CBD623-09E5-870E-7ED3-FFC72D0B90E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F8A4F3B-F5BD-22FF-07C1-9D067C075213}"/>
              </a:ext>
            </a:extLst>
          </p:cNvPr>
          <p:cNvSpPr txBox="1"/>
          <p:nvPr/>
        </p:nvSpPr>
        <p:spPr>
          <a:xfrm>
            <a:off x="5265618" y="1684179"/>
            <a:ext cx="1077875" cy="369332"/>
          </a:xfrm>
          <a:prstGeom prst="rect">
            <a:avLst/>
          </a:prstGeom>
          <a:noFill/>
        </p:spPr>
        <p:txBody>
          <a:bodyPr wrap="square" rtlCol="0">
            <a:spAutoFit/>
          </a:bodyPr>
          <a:lstStyle/>
          <a:p>
            <a:r>
              <a:rPr lang="en-US" dirty="0"/>
              <a:t>G</a:t>
            </a:r>
            <a:r>
              <a:rPr lang="en-US" baseline="30000" dirty="0"/>
              <a:t>2</a:t>
            </a:r>
            <a:endParaRPr lang="en-US" dirty="0"/>
          </a:p>
        </p:txBody>
      </p:sp>
      <p:sp>
        <p:nvSpPr>
          <p:cNvPr id="3" name="Oval 2">
            <a:extLst>
              <a:ext uri="{FF2B5EF4-FFF2-40B4-BE49-F238E27FC236}">
                <a16:creationId xmlns:a16="http://schemas.microsoft.com/office/drawing/2014/main" id="{BCC0CC89-EC9B-7451-D1E9-6CBF16BC1F43}"/>
              </a:ext>
            </a:extLst>
          </p:cNvPr>
          <p:cNvSpPr/>
          <p:nvPr/>
        </p:nvSpPr>
        <p:spPr>
          <a:xfrm>
            <a:off x="3304883" y="3897985"/>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A</a:t>
            </a:r>
          </a:p>
        </p:txBody>
      </p:sp>
      <p:sp>
        <p:nvSpPr>
          <p:cNvPr id="9" name="Oval 8">
            <a:extLst>
              <a:ext uri="{FF2B5EF4-FFF2-40B4-BE49-F238E27FC236}">
                <a16:creationId xmlns:a16="http://schemas.microsoft.com/office/drawing/2014/main" id="{EE41DAB1-EF45-29E7-F7FC-D0687D477213}"/>
              </a:ext>
            </a:extLst>
          </p:cNvPr>
          <p:cNvSpPr/>
          <p:nvPr/>
        </p:nvSpPr>
        <p:spPr>
          <a:xfrm>
            <a:off x="4267988" y="2532669"/>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B</a:t>
            </a:r>
          </a:p>
        </p:txBody>
      </p:sp>
      <p:sp>
        <p:nvSpPr>
          <p:cNvPr id="11" name="Oval 10">
            <a:extLst>
              <a:ext uri="{FF2B5EF4-FFF2-40B4-BE49-F238E27FC236}">
                <a16:creationId xmlns:a16="http://schemas.microsoft.com/office/drawing/2014/main" id="{AABC20BA-FC64-3252-A5F7-4450BEA32053}"/>
              </a:ext>
            </a:extLst>
          </p:cNvPr>
          <p:cNvSpPr/>
          <p:nvPr/>
        </p:nvSpPr>
        <p:spPr>
          <a:xfrm>
            <a:off x="5729143" y="3897984"/>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C</a:t>
            </a:r>
          </a:p>
        </p:txBody>
      </p:sp>
      <p:sp>
        <p:nvSpPr>
          <p:cNvPr id="13" name="Oval 12">
            <a:extLst>
              <a:ext uri="{FF2B5EF4-FFF2-40B4-BE49-F238E27FC236}">
                <a16:creationId xmlns:a16="http://schemas.microsoft.com/office/drawing/2014/main" id="{F8F7E373-C43A-1D0E-8D68-18E74FF77801}"/>
              </a:ext>
            </a:extLst>
          </p:cNvPr>
          <p:cNvSpPr/>
          <p:nvPr/>
        </p:nvSpPr>
        <p:spPr>
          <a:xfrm>
            <a:off x="6615262" y="2532669"/>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D</a:t>
            </a:r>
          </a:p>
        </p:txBody>
      </p:sp>
      <p:cxnSp>
        <p:nvCxnSpPr>
          <p:cNvPr id="14" name="Straight Connector 13">
            <a:extLst>
              <a:ext uri="{FF2B5EF4-FFF2-40B4-BE49-F238E27FC236}">
                <a16:creationId xmlns:a16="http://schemas.microsoft.com/office/drawing/2014/main" id="{F7E42A41-801A-4A2C-9274-EE7EBB3AABFD}"/>
              </a:ext>
            </a:extLst>
          </p:cNvPr>
          <p:cNvCxnSpPr>
            <a:cxnSpLocks/>
            <a:stCxn id="9" idx="3"/>
            <a:endCxn id="3" idx="0"/>
          </p:cNvCxnSpPr>
          <p:nvPr/>
        </p:nvCxnSpPr>
        <p:spPr>
          <a:xfrm flipH="1">
            <a:off x="3575904" y="2995330"/>
            <a:ext cx="771464" cy="902655"/>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3517E334-7EB1-0134-8D28-4210EE95A441}"/>
              </a:ext>
            </a:extLst>
          </p:cNvPr>
          <p:cNvCxnSpPr>
            <a:cxnSpLocks/>
            <a:stCxn id="11" idx="1"/>
            <a:endCxn id="9" idx="5"/>
          </p:cNvCxnSpPr>
          <p:nvPr/>
        </p:nvCxnSpPr>
        <p:spPr>
          <a:xfrm flipH="1" flipV="1">
            <a:off x="4730649" y="2995330"/>
            <a:ext cx="1077874" cy="982034"/>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63E1EAF9-5427-20F4-42E2-2B1FC609538A}"/>
              </a:ext>
            </a:extLst>
          </p:cNvPr>
          <p:cNvCxnSpPr>
            <a:cxnSpLocks/>
            <a:stCxn id="11" idx="7"/>
            <a:endCxn id="13" idx="4"/>
          </p:cNvCxnSpPr>
          <p:nvPr/>
        </p:nvCxnSpPr>
        <p:spPr>
          <a:xfrm flipV="1">
            <a:off x="6191804" y="3074710"/>
            <a:ext cx="694479" cy="902654"/>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F9677999-65A1-64AD-BC9F-C760C14CCCD8}"/>
              </a:ext>
            </a:extLst>
          </p:cNvPr>
          <p:cNvCxnSpPr>
            <a:stCxn id="3" idx="6"/>
            <a:endCxn id="11" idx="2"/>
          </p:cNvCxnSpPr>
          <p:nvPr/>
        </p:nvCxnSpPr>
        <p:spPr>
          <a:xfrm flipV="1">
            <a:off x="3846924" y="4169005"/>
            <a:ext cx="1882219" cy="1"/>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6B58EC6-DDC4-F41C-4AA5-28A88D7156F2}"/>
              </a:ext>
            </a:extLst>
          </p:cNvPr>
          <p:cNvCxnSpPr>
            <a:stCxn id="9" idx="6"/>
            <a:endCxn id="13" idx="2"/>
          </p:cNvCxnSpPr>
          <p:nvPr/>
        </p:nvCxnSpPr>
        <p:spPr>
          <a:xfrm>
            <a:off x="4810029" y="2803690"/>
            <a:ext cx="1805233"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2CB4C787-29AC-E076-F2AD-80FCCAB05592}"/>
              </a:ext>
            </a:extLst>
          </p:cNvPr>
          <p:cNvSpPr>
            <a:spLocks noGrp="1"/>
          </p:cNvSpPr>
          <p:nvPr>
            <p:ph type="sldNum" sz="quarter" idx="12"/>
          </p:nvPr>
        </p:nvSpPr>
        <p:spPr/>
        <p:txBody>
          <a:bodyPr/>
          <a:lstStyle/>
          <a:p>
            <a:fld id="{8A7A6979-0714-4377-B894-6BE4C2D6E202}" type="slidenum">
              <a:rPr lang="en-US" smtClean="0"/>
              <a:pPr/>
              <a:t>66</a:t>
            </a:fld>
            <a:endParaRPr lang="en-US" dirty="0"/>
          </a:p>
        </p:txBody>
      </p:sp>
    </p:spTree>
    <p:extLst>
      <p:ext uri="{BB962C8B-B14F-4D97-AF65-F5344CB8AC3E}">
        <p14:creationId xmlns:p14="http://schemas.microsoft.com/office/powerpoint/2010/main" val="245849400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7F07F5-EB6D-9E64-D61D-AF54EF7AADA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9FE58AB-0209-72C1-2878-80F4F8E6569A}"/>
              </a:ext>
            </a:extLst>
          </p:cNvPr>
          <p:cNvSpPr txBox="1"/>
          <p:nvPr/>
        </p:nvSpPr>
        <p:spPr>
          <a:xfrm>
            <a:off x="5265618" y="1684179"/>
            <a:ext cx="1077875" cy="369332"/>
          </a:xfrm>
          <a:prstGeom prst="rect">
            <a:avLst/>
          </a:prstGeom>
          <a:noFill/>
        </p:spPr>
        <p:txBody>
          <a:bodyPr wrap="square" rtlCol="0">
            <a:spAutoFit/>
          </a:bodyPr>
          <a:lstStyle/>
          <a:p>
            <a:r>
              <a:rPr lang="en-US" dirty="0"/>
              <a:t>G</a:t>
            </a:r>
            <a:r>
              <a:rPr lang="en-US" baseline="30000" dirty="0"/>
              <a:t>2</a:t>
            </a:r>
            <a:endParaRPr lang="en-US" dirty="0"/>
          </a:p>
        </p:txBody>
      </p:sp>
      <p:sp>
        <p:nvSpPr>
          <p:cNvPr id="3" name="Oval 2">
            <a:extLst>
              <a:ext uri="{FF2B5EF4-FFF2-40B4-BE49-F238E27FC236}">
                <a16:creationId xmlns:a16="http://schemas.microsoft.com/office/drawing/2014/main" id="{CA3E061B-B6C1-9C9C-2311-37401F177FE9}"/>
              </a:ext>
            </a:extLst>
          </p:cNvPr>
          <p:cNvSpPr/>
          <p:nvPr/>
        </p:nvSpPr>
        <p:spPr>
          <a:xfrm>
            <a:off x="3304883" y="3897985"/>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A</a:t>
            </a:r>
          </a:p>
        </p:txBody>
      </p:sp>
      <p:sp>
        <p:nvSpPr>
          <p:cNvPr id="9" name="Oval 8">
            <a:extLst>
              <a:ext uri="{FF2B5EF4-FFF2-40B4-BE49-F238E27FC236}">
                <a16:creationId xmlns:a16="http://schemas.microsoft.com/office/drawing/2014/main" id="{8D6BAE10-F9A4-4076-7DAE-938CD09A3D51}"/>
              </a:ext>
            </a:extLst>
          </p:cNvPr>
          <p:cNvSpPr/>
          <p:nvPr/>
        </p:nvSpPr>
        <p:spPr>
          <a:xfrm>
            <a:off x="4267988" y="2532669"/>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B</a:t>
            </a:r>
          </a:p>
        </p:txBody>
      </p:sp>
      <p:sp>
        <p:nvSpPr>
          <p:cNvPr id="11" name="Oval 10">
            <a:extLst>
              <a:ext uri="{FF2B5EF4-FFF2-40B4-BE49-F238E27FC236}">
                <a16:creationId xmlns:a16="http://schemas.microsoft.com/office/drawing/2014/main" id="{99F2E796-CF36-7097-21CC-144FFC29735D}"/>
              </a:ext>
            </a:extLst>
          </p:cNvPr>
          <p:cNvSpPr/>
          <p:nvPr/>
        </p:nvSpPr>
        <p:spPr>
          <a:xfrm>
            <a:off x="5729143" y="3897984"/>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C</a:t>
            </a:r>
          </a:p>
        </p:txBody>
      </p:sp>
      <p:sp>
        <p:nvSpPr>
          <p:cNvPr id="13" name="Oval 12">
            <a:extLst>
              <a:ext uri="{FF2B5EF4-FFF2-40B4-BE49-F238E27FC236}">
                <a16:creationId xmlns:a16="http://schemas.microsoft.com/office/drawing/2014/main" id="{8483AAAF-B61C-DCE5-13B1-68C6B10BBBC7}"/>
              </a:ext>
            </a:extLst>
          </p:cNvPr>
          <p:cNvSpPr/>
          <p:nvPr/>
        </p:nvSpPr>
        <p:spPr>
          <a:xfrm>
            <a:off x="6615262" y="2532669"/>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D</a:t>
            </a:r>
          </a:p>
        </p:txBody>
      </p:sp>
      <p:cxnSp>
        <p:nvCxnSpPr>
          <p:cNvPr id="14" name="Straight Connector 13">
            <a:extLst>
              <a:ext uri="{FF2B5EF4-FFF2-40B4-BE49-F238E27FC236}">
                <a16:creationId xmlns:a16="http://schemas.microsoft.com/office/drawing/2014/main" id="{757C51FB-2AD7-283B-B261-CB6061727390}"/>
              </a:ext>
            </a:extLst>
          </p:cNvPr>
          <p:cNvCxnSpPr>
            <a:cxnSpLocks/>
            <a:stCxn id="9" idx="3"/>
            <a:endCxn id="3" idx="0"/>
          </p:cNvCxnSpPr>
          <p:nvPr/>
        </p:nvCxnSpPr>
        <p:spPr>
          <a:xfrm flipH="1">
            <a:off x="3575904" y="2995330"/>
            <a:ext cx="771464" cy="902655"/>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3C865CF1-7079-564E-16C1-E05AB50002EA}"/>
              </a:ext>
            </a:extLst>
          </p:cNvPr>
          <p:cNvCxnSpPr>
            <a:cxnSpLocks/>
            <a:stCxn id="11" idx="1"/>
            <a:endCxn id="9" idx="5"/>
          </p:cNvCxnSpPr>
          <p:nvPr/>
        </p:nvCxnSpPr>
        <p:spPr>
          <a:xfrm flipH="1" flipV="1">
            <a:off x="4730649" y="2995330"/>
            <a:ext cx="1077874" cy="982034"/>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807091A3-2A46-E66B-914E-98498D02138F}"/>
              </a:ext>
            </a:extLst>
          </p:cNvPr>
          <p:cNvCxnSpPr>
            <a:cxnSpLocks/>
            <a:stCxn id="11" idx="7"/>
            <a:endCxn id="13" idx="4"/>
          </p:cNvCxnSpPr>
          <p:nvPr/>
        </p:nvCxnSpPr>
        <p:spPr>
          <a:xfrm flipV="1">
            <a:off x="6191804" y="3074710"/>
            <a:ext cx="694479" cy="902654"/>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6B95C061-7ECA-F485-59CA-DB5CE90DD20E}"/>
              </a:ext>
            </a:extLst>
          </p:cNvPr>
          <p:cNvCxnSpPr>
            <a:stCxn id="3" idx="6"/>
            <a:endCxn id="11" idx="2"/>
          </p:cNvCxnSpPr>
          <p:nvPr/>
        </p:nvCxnSpPr>
        <p:spPr>
          <a:xfrm flipV="1">
            <a:off x="3846924" y="4169005"/>
            <a:ext cx="1882219" cy="1"/>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377656B0-9B98-3B39-67DE-0A40334DEBCE}"/>
              </a:ext>
            </a:extLst>
          </p:cNvPr>
          <p:cNvCxnSpPr>
            <a:stCxn id="9" idx="6"/>
            <a:endCxn id="13" idx="2"/>
          </p:cNvCxnSpPr>
          <p:nvPr/>
        </p:nvCxnSpPr>
        <p:spPr>
          <a:xfrm>
            <a:off x="4810029" y="2803690"/>
            <a:ext cx="1805233" cy="0"/>
          </a:xfrm>
          <a:prstGeom prst="line">
            <a:avLst/>
          </a:prstGeom>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078E1AE4-159A-4850-55AF-FDD5319DE791}"/>
              </a:ext>
            </a:extLst>
          </p:cNvPr>
          <p:cNvSpPr txBox="1"/>
          <p:nvPr/>
        </p:nvSpPr>
        <p:spPr>
          <a:xfrm>
            <a:off x="3091992" y="5373278"/>
            <a:ext cx="4873657" cy="369332"/>
          </a:xfrm>
          <a:prstGeom prst="rect">
            <a:avLst/>
          </a:prstGeom>
          <a:noFill/>
        </p:spPr>
        <p:txBody>
          <a:bodyPr wrap="square" rtlCol="0">
            <a:spAutoFit/>
          </a:bodyPr>
          <a:lstStyle/>
          <a:p>
            <a:r>
              <a:rPr lang="en-US" dirty="0"/>
              <a:t>Normal graph coloring (distance-1 coloring)</a:t>
            </a:r>
          </a:p>
        </p:txBody>
      </p:sp>
      <p:sp>
        <p:nvSpPr>
          <p:cNvPr id="6" name="Slide Number Placeholder 5">
            <a:extLst>
              <a:ext uri="{FF2B5EF4-FFF2-40B4-BE49-F238E27FC236}">
                <a16:creationId xmlns:a16="http://schemas.microsoft.com/office/drawing/2014/main" id="{BE3428F1-B37B-66D1-53E9-9CA980BD69F4}"/>
              </a:ext>
            </a:extLst>
          </p:cNvPr>
          <p:cNvSpPr>
            <a:spLocks noGrp="1"/>
          </p:cNvSpPr>
          <p:nvPr>
            <p:ph type="sldNum" sz="quarter" idx="12"/>
          </p:nvPr>
        </p:nvSpPr>
        <p:spPr/>
        <p:txBody>
          <a:bodyPr/>
          <a:lstStyle/>
          <a:p>
            <a:fld id="{8A7A6979-0714-4377-B894-6BE4C2D6E202}" type="slidenum">
              <a:rPr lang="en-US" smtClean="0"/>
              <a:pPr/>
              <a:t>67</a:t>
            </a:fld>
            <a:endParaRPr lang="en-US" dirty="0"/>
          </a:p>
        </p:txBody>
      </p:sp>
    </p:spTree>
    <p:extLst>
      <p:ext uri="{BB962C8B-B14F-4D97-AF65-F5344CB8AC3E}">
        <p14:creationId xmlns:p14="http://schemas.microsoft.com/office/powerpoint/2010/main" val="70777127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75F4B-D177-517E-A592-5A4B0A4A7DB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EC4CB8B-BEA2-EE34-E71F-149FBBBE9856}"/>
              </a:ext>
            </a:extLst>
          </p:cNvPr>
          <p:cNvSpPr txBox="1"/>
          <p:nvPr/>
        </p:nvSpPr>
        <p:spPr>
          <a:xfrm>
            <a:off x="5265618" y="1684179"/>
            <a:ext cx="1077875" cy="369332"/>
          </a:xfrm>
          <a:prstGeom prst="rect">
            <a:avLst/>
          </a:prstGeom>
          <a:noFill/>
        </p:spPr>
        <p:txBody>
          <a:bodyPr wrap="square" rtlCol="0">
            <a:spAutoFit/>
          </a:bodyPr>
          <a:lstStyle/>
          <a:p>
            <a:r>
              <a:rPr lang="en-US" dirty="0"/>
              <a:t>G</a:t>
            </a:r>
            <a:r>
              <a:rPr lang="en-US" baseline="30000" dirty="0"/>
              <a:t>2</a:t>
            </a:r>
            <a:endParaRPr lang="en-US" dirty="0"/>
          </a:p>
        </p:txBody>
      </p:sp>
      <p:sp>
        <p:nvSpPr>
          <p:cNvPr id="3" name="Oval 2">
            <a:extLst>
              <a:ext uri="{FF2B5EF4-FFF2-40B4-BE49-F238E27FC236}">
                <a16:creationId xmlns:a16="http://schemas.microsoft.com/office/drawing/2014/main" id="{4B3F2365-4F60-DB02-70EC-91D1EEC92429}"/>
              </a:ext>
            </a:extLst>
          </p:cNvPr>
          <p:cNvSpPr/>
          <p:nvPr/>
        </p:nvSpPr>
        <p:spPr>
          <a:xfrm>
            <a:off x="3304883" y="3897985"/>
            <a:ext cx="542041" cy="542041"/>
          </a:xfrm>
          <a:prstGeom prst="ellipse">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A</a:t>
            </a:r>
          </a:p>
        </p:txBody>
      </p:sp>
      <p:sp>
        <p:nvSpPr>
          <p:cNvPr id="9" name="Oval 8">
            <a:extLst>
              <a:ext uri="{FF2B5EF4-FFF2-40B4-BE49-F238E27FC236}">
                <a16:creationId xmlns:a16="http://schemas.microsoft.com/office/drawing/2014/main" id="{149AA3E6-7DFB-B037-F9FF-4151B5FBF9DD}"/>
              </a:ext>
            </a:extLst>
          </p:cNvPr>
          <p:cNvSpPr/>
          <p:nvPr/>
        </p:nvSpPr>
        <p:spPr>
          <a:xfrm>
            <a:off x="4267988" y="2532669"/>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B</a:t>
            </a:r>
          </a:p>
        </p:txBody>
      </p:sp>
      <p:sp>
        <p:nvSpPr>
          <p:cNvPr id="11" name="Oval 10">
            <a:extLst>
              <a:ext uri="{FF2B5EF4-FFF2-40B4-BE49-F238E27FC236}">
                <a16:creationId xmlns:a16="http://schemas.microsoft.com/office/drawing/2014/main" id="{33BA350D-8C20-8E1F-C0DB-9FF32FDD5083}"/>
              </a:ext>
            </a:extLst>
          </p:cNvPr>
          <p:cNvSpPr/>
          <p:nvPr/>
        </p:nvSpPr>
        <p:spPr>
          <a:xfrm>
            <a:off x="5729143" y="3897984"/>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C</a:t>
            </a:r>
          </a:p>
        </p:txBody>
      </p:sp>
      <p:sp>
        <p:nvSpPr>
          <p:cNvPr id="13" name="Oval 12">
            <a:extLst>
              <a:ext uri="{FF2B5EF4-FFF2-40B4-BE49-F238E27FC236}">
                <a16:creationId xmlns:a16="http://schemas.microsoft.com/office/drawing/2014/main" id="{185461B3-F1FE-20BE-C05D-243D760DE7F7}"/>
              </a:ext>
            </a:extLst>
          </p:cNvPr>
          <p:cNvSpPr/>
          <p:nvPr/>
        </p:nvSpPr>
        <p:spPr>
          <a:xfrm>
            <a:off x="6615262" y="2532669"/>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D</a:t>
            </a:r>
          </a:p>
        </p:txBody>
      </p:sp>
      <p:cxnSp>
        <p:nvCxnSpPr>
          <p:cNvPr id="14" name="Straight Connector 13">
            <a:extLst>
              <a:ext uri="{FF2B5EF4-FFF2-40B4-BE49-F238E27FC236}">
                <a16:creationId xmlns:a16="http://schemas.microsoft.com/office/drawing/2014/main" id="{F24666C5-4D3F-7107-0B16-A296C8E46218}"/>
              </a:ext>
            </a:extLst>
          </p:cNvPr>
          <p:cNvCxnSpPr>
            <a:cxnSpLocks/>
            <a:stCxn id="9" idx="3"/>
            <a:endCxn id="3" idx="0"/>
          </p:cNvCxnSpPr>
          <p:nvPr/>
        </p:nvCxnSpPr>
        <p:spPr>
          <a:xfrm flipH="1">
            <a:off x="3575904" y="2995330"/>
            <a:ext cx="771464" cy="902655"/>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4930DD97-C361-5BB4-CB9D-62155E34BA30}"/>
              </a:ext>
            </a:extLst>
          </p:cNvPr>
          <p:cNvCxnSpPr>
            <a:cxnSpLocks/>
            <a:stCxn id="11" idx="1"/>
            <a:endCxn id="9" idx="5"/>
          </p:cNvCxnSpPr>
          <p:nvPr/>
        </p:nvCxnSpPr>
        <p:spPr>
          <a:xfrm flipH="1" flipV="1">
            <a:off x="4730649" y="2995330"/>
            <a:ext cx="1077874" cy="982034"/>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9D69A11F-6395-B54F-EC87-3F74EB07C0AB}"/>
              </a:ext>
            </a:extLst>
          </p:cNvPr>
          <p:cNvCxnSpPr>
            <a:cxnSpLocks/>
            <a:stCxn id="11" idx="7"/>
            <a:endCxn id="13" idx="4"/>
          </p:cNvCxnSpPr>
          <p:nvPr/>
        </p:nvCxnSpPr>
        <p:spPr>
          <a:xfrm flipV="1">
            <a:off x="6191804" y="3074710"/>
            <a:ext cx="694479" cy="902654"/>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6C80D5E-E346-B9AF-766E-B0D2D5F6DD0D}"/>
              </a:ext>
            </a:extLst>
          </p:cNvPr>
          <p:cNvCxnSpPr>
            <a:stCxn id="3" idx="6"/>
            <a:endCxn id="11" idx="2"/>
          </p:cNvCxnSpPr>
          <p:nvPr/>
        </p:nvCxnSpPr>
        <p:spPr>
          <a:xfrm flipV="1">
            <a:off x="3846924" y="4169005"/>
            <a:ext cx="1882219" cy="1"/>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9D1E999A-9F56-5C4A-4082-A10773D8B1E8}"/>
              </a:ext>
            </a:extLst>
          </p:cNvPr>
          <p:cNvCxnSpPr>
            <a:stCxn id="9" idx="6"/>
            <a:endCxn id="13" idx="2"/>
          </p:cNvCxnSpPr>
          <p:nvPr/>
        </p:nvCxnSpPr>
        <p:spPr>
          <a:xfrm>
            <a:off x="4810029" y="2803690"/>
            <a:ext cx="1805233" cy="0"/>
          </a:xfrm>
          <a:prstGeom prst="line">
            <a:avLst/>
          </a:prstGeom>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B01D07DE-C5E6-47BD-211C-F3E499E0E019}"/>
              </a:ext>
            </a:extLst>
          </p:cNvPr>
          <p:cNvSpPr txBox="1"/>
          <p:nvPr/>
        </p:nvSpPr>
        <p:spPr>
          <a:xfrm>
            <a:off x="3091992" y="5373278"/>
            <a:ext cx="4873657" cy="369332"/>
          </a:xfrm>
          <a:prstGeom prst="rect">
            <a:avLst/>
          </a:prstGeom>
          <a:noFill/>
        </p:spPr>
        <p:txBody>
          <a:bodyPr wrap="square" rtlCol="0">
            <a:spAutoFit/>
          </a:bodyPr>
          <a:lstStyle/>
          <a:p>
            <a:r>
              <a:rPr lang="en-US" dirty="0"/>
              <a:t>Normal graph coloring (distance-1 coloring)</a:t>
            </a:r>
          </a:p>
        </p:txBody>
      </p:sp>
      <p:sp>
        <p:nvSpPr>
          <p:cNvPr id="6" name="Slide Number Placeholder 5">
            <a:extLst>
              <a:ext uri="{FF2B5EF4-FFF2-40B4-BE49-F238E27FC236}">
                <a16:creationId xmlns:a16="http://schemas.microsoft.com/office/drawing/2014/main" id="{A6D7C9C9-0433-4C72-6CFA-D3A4E1F0CE04}"/>
              </a:ext>
            </a:extLst>
          </p:cNvPr>
          <p:cNvSpPr>
            <a:spLocks noGrp="1"/>
          </p:cNvSpPr>
          <p:nvPr>
            <p:ph type="sldNum" sz="quarter" idx="12"/>
          </p:nvPr>
        </p:nvSpPr>
        <p:spPr/>
        <p:txBody>
          <a:bodyPr/>
          <a:lstStyle/>
          <a:p>
            <a:fld id="{8A7A6979-0714-4377-B894-6BE4C2D6E202}" type="slidenum">
              <a:rPr lang="en-US" smtClean="0"/>
              <a:pPr/>
              <a:t>68</a:t>
            </a:fld>
            <a:endParaRPr lang="en-US" dirty="0"/>
          </a:p>
        </p:txBody>
      </p:sp>
    </p:spTree>
    <p:extLst>
      <p:ext uri="{BB962C8B-B14F-4D97-AF65-F5344CB8AC3E}">
        <p14:creationId xmlns:p14="http://schemas.microsoft.com/office/powerpoint/2010/main" val="90038700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95AB2F-730A-8F2A-DC9C-58C391A8122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4E3737A-1185-EF74-EED6-3E49FFE1918B}"/>
              </a:ext>
            </a:extLst>
          </p:cNvPr>
          <p:cNvSpPr txBox="1"/>
          <p:nvPr/>
        </p:nvSpPr>
        <p:spPr>
          <a:xfrm>
            <a:off x="5265618" y="1684179"/>
            <a:ext cx="1077875" cy="369332"/>
          </a:xfrm>
          <a:prstGeom prst="rect">
            <a:avLst/>
          </a:prstGeom>
          <a:noFill/>
        </p:spPr>
        <p:txBody>
          <a:bodyPr wrap="square" rtlCol="0">
            <a:spAutoFit/>
          </a:bodyPr>
          <a:lstStyle/>
          <a:p>
            <a:r>
              <a:rPr lang="en-US" dirty="0"/>
              <a:t>G</a:t>
            </a:r>
            <a:r>
              <a:rPr lang="en-US" baseline="30000" dirty="0"/>
              <a:t>2</a:t>
            </a:r>
            <a:endParaRPr lang="en-US" dirty="0"/>
          </a:p>
        </p:txBody>
      </p:sp>
      <p:sp>
        <p:nvSpPr>
          <p:cNvPr id="3" name="Oval 2">
            <a:extLst>
              <a:ext uri="{FF2B5EF4-FFF2-40B4-BE49-F238E27FC236}">
                <a16:creationId xmlns:a16="http://schemas.microsoft.com/office/drawing/2014/main" id="{FDED444E-28F6-4F4E-00B5-48705F362274}"/>
              </a:ext>
            </a:extLst>
          </p:cNvPr>
          <p:cNvSpPr/>
          <p:nvPr/>
        </p:nvSpPr>
        <p:spPr>
          <a:xfrm>
            <a:off x="3304883" y="3897985"/>
            <a:ext cx="542041" cy="542041"/>
          </a:xfrm>
          <a:prstGeom prst="ellipse">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A</a:t>
            </a:r>
          </a:p>
        </p:txBody>
      </p:sp>
      <p:sp>
        <p:nvSpPr>
          <p:cNvPr id="9" name="Oval 8">
            <a:extLst>
              <a:ext uri="{FF2B5EF4-FFF2-40B4-BE49-F238E27FC236}">
                <a16:creationId xmlns:a16="http://schemas.microsoft.com/office/drawing/2014/main" id="{A5E655A2-28CC-4FAE-0C22-6BA097B7778C}"/>
              </a:ext>
            </a:extLst>
          </p:cNvPr>
          <p:cNvSpPr/>
          <p:nvPr/>
        </p:nvSpPr>
        <p:spPr>
          <a:xfrm>
            <a:off x="4267988" y="2532669"/>
            <a:ext cx="542041" cy="542041"/>
          </a:xfrm>
          <a:prstGeom prst="ellipse">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B</a:t>
            </a:r>
          </a:p>
        </p:txBody>
      </p:sp>
      <p:sp>
        <p:nvSpPr>
          <p:cNvPr id="11" name="Oval 10">
            <a:extLst>
              <a:ext uri="{FF2B5EF4-FFF2-40B4-BE49-F238E27FC236}">
                <a16:creationId xmlns:a16="http://schemas.microsoft.com/office/drawing/2014/main" id="{F37482CC-0024-E651-65BD-ADD9D7C897A5}"/>
              </a:ext>
            </a:extLst>
          </p:cNvPr>
          <p:cNvSpPr/>
          <p:nvPr/>
        </p:nvSpPr>
        <p:spPr>
          <a:xfrm>
            <a:off x="5729143" y="3897984"/>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C</a:t>
            </a:r>
          </a:p>
        </p:txBody>
      </p:sp>
      <p:sp>
        <p:nvSpPr>
          <p:cNvPr id="13" name="Oval 12">
            <a:extLst>
              <a:ext uri="{FF2B5EF4-FFF2-40B4-BE49-F238E27FC236}">
                <a16:creationId xmlns:a16="http://schemas.microsoft.com/office/drawing/2014/main" id="{8609C673-723B-6F52-49B9-9EE804053215}"/>
              </a:ext>
            </a:extLst>
          </p:cNvPr>
          <p:cNvSpPr/>
          <p:nvPr/>
        </p:nvSpPr>
        <p:spPr>
          <a:xfrm>
            <a:off x="6615262" y="2532669"/>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D</a:t>
            </a:r>
          </a:p>
        </p:txBody>
      </p:sp>
      <p:cxnSp>
        <p:nvCxnSpPr>
          <p:cNvPr id="14" name="Straight Connector 13">
            <a:extLst>
              <a:ext uri="{FF2B5EF4-FFF2-40B4-BE49-F238E27FC236}">
                <a16:creationId xmlns:a16="http://schemas.microsoft.com/office/drawing/2014/main" id="{2973CC67-85E6-0C41-1928-550F817C7577}"/>
              </a:ext>
            </a:extLst>
          </p:cNvPr>
          <p:cNvCxnSpPr>
            <a:cxnSpLocks/>
            <a:stCxn id="9" idx="3"/>
            <a:endCxn id="3" idx="0"/>
          </p:cNvCxnSpPr>
          <p:nvPr/>
        </p:nvCxnSpPr>
        <p:spPr>
          <a:xfrm flipH="1">
            <a:off x="3575904" y="2995330"/>
            <a:ext cx="771464" cy="902655"/>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7035450-FDC6-EC0C-C66A-45A9BADEEF4C}"/>
              </a:ext>
            </a:extLst>
          </p:cNvPr>
          <p:cNvCxnSpPr>
            <a:cxnSpLocks/>
            <a:stCxn id="11" idx="1"/>
            <a:endCxn id="9" idx="5"/>
          </p:cNvCxnSpPr>
          <p:nvPr/>
        </p:nvCxnSpPr>
        <p:spPr>
          <a:xfrm flipH="1" flipV="1">
            <a:off x="4730649" y="2995330"/>
            <a:ext cx="1077874" cy="982034"/>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C6D93434-BDC0-5D1C-ADB9-DFFD956EC2BD}"/>
              </a:ext>
            </a:extLst>
          </p:cNvPr>
          <p:cNvCxnSpPr>
            <a:cxnSpLocks/>
            <a:stCxn id="11" idx="7"/>
            <a:endCxn id="13" idx="4"/>
          </p:cNvCxnSpPr>
          <p:nvPr/>
        </p:nvCxnSpPr>
        <p:spPr>
          <a:xfrm flipV="1">
            <a:off x="6191804" y="3074710"/>
            <a:ext cx="694479" cy="902654"/>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3BF17D7B-FFED-E649-13E7-5C2FCAA79652}"/>
              </a:ext>
            </a:extLst>
          </p:cNvPr>
          <p:cNvCxnSpPr>
            <a:stCxn id="3" idx="6"/>
            <a:endCxn id="11" idx="2"/>
          </p:cNvCxnSpPr>
          <p:nvPr/>
        </p:nvCxnSpPr>
        <p:spPr>
          <a:xfrm flipV="1">
            <a:off x="3846924" y="4169005"/>
            <a:ext cx="1882219" cy="1"/>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80E2361-61EF-9915-CD5A-E2A6BCA37246}"/>
              </a:ext>
            </a:extLst>
          </p:cNvPr>
          <p:cNvCxnSpPr>
            <a:stCxn id="9" idx="6"/>
            <a:endCxn id="13" idx="2"/>
          </p:cNvCxnSpPr>
          <p:nvPr/>
        </p:nvCxnSpPr>
        <p:spPr>
          <a:xfrm>
            <a:off x="4810029" y="2803690"/>
            <a:ext cx="1805233" cy="0"/>
          </a:xfrm>
          <a:prstGeom prst="line">
            <a:avLst/>
          </a:prstGeom>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D6DA6D36-D070-9BD8-ACA2-69820ED4F741}"/>
              </a:ext>
            </a:extLst>
          </p:cNvPr>
          <p:cNvSpPr txBox="1"/>
          <p:nvPr/>
        </p:nvSpPr>
        <p:spPr>
          <a:xfrm>
            <a:off x="3091992" y="5373278"/>
            <a:ext cx="4873657" cy="369332"/>
          </a:xfrm>
          <a:prstGeom prst="rect">
            <a:avLst/>
          </a:prstGeom>
          <a:noFill/>
        </p:spPr>
        <p:txBody>
          <a:bodyPr wrap="square" rtlCol="0">
            <a:spAutoFit/>
          </a:bodyPr>
          <a:lstStyle/>
          <a:p>
            <a:r>
              <a:rPr lang="en-US" dirty="0"/>
              <a:t>Normal graph coloring (distance-1 coloring)</a:t>
            </a:r>
          </a:p>
        </p:txBody>
      </p:sp>
      <p:sp>
        <p:nvSpPr>
          <p:cNvPr id="6" name="Slide Number Placeholder 5">
            <a:extLst>
              <a:ext uri="{FF2B5EF4-FFF2-40B4-BE49-F238E27FC236}">
                <a16:creationId xmlns:a16="http://schemas.microsoft.com/office/drawing/2014/main" id="{53EFBEB8-5B3F-87EC-6406-1FC401CFD1F0}"/>
              </a:ext>
            </a:extLst>
          </p:cNvPr>
          <p:cNvSpPr>
            <a:spLocks noGrp="1"/>
          </p:cNvSpPr>
          <p:nvPr>
            <p:ph type="sldNum" sz="quarter" idx="12"/>
          </p:nvPr>
        </p:nvSpPr>
        <p:spPr/>
        <p:txBody>
          <a:bodyPr/>
          <a:lstStyle/>
          <a:p>
            <a:fld id="{8A7A6979-0714-4377-B894-6BE4C2D6E202}" type="slidenum">
              <a:rPr lang="en-US" smtClean="0"/>
              <a:pPr/>
              <a:t>69</a:t>
            </a:fld>
            <a:endParaRPr lang="en-US" dirty="0"/>
          </a:p>
        </p:txBody>
      </p:sp>
    </p:spTree>
    <p:extLst>
      <p:ext uri="{BB962C8B-B14F-4D97-AF65-F5344CB8AC3E}">
        <p14:creationId xmlns:p14="http://schemas.microsoft.com/office/powerpoint/2010/main" val="15981976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15BE9F-2F27-4201-5A38-8591B08DAB7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EB32861-A9E2-FB0B-FABF-0C5ECD9DFDFF}"/>
              </a:ext>
            </a:extLst>
          </p:cNvPr>
          <p:cNvSpPr txBox="1"/>
          <p:nvPr/>
        </p:nvSpPr>
        <p:spPr>
          <a:xfrm>
            <a:off x="5265618" y="1684179"/>
            <a:ext cx="1077875" cy="369332"/>
          </a:xfrm>
          <a:prstGeom prst="rect">
            <a:avLst/>
          </a:prstGeom>
          <a:noFill/>
        </p:spPr>
        <p:txBody>
          <a:bodyPr wrap="square" rtlCol="0">
            <a:spAutoFit/>
          </a:bodyPr>
          <a:lstStyle/>
          <a:p>
            <a:r>
              <a:rPr lang="en-US" dirty="0"/>
              <a:t>G</a:t>
            </a:r>
            <a:r>
              <a:rPr lang="en-US" baseline="30000" dirty="0"/>
              <a:t>2</a:t>
            </a:r>
            <a:endParaRPr lang="en-US" dirty="0"/>
          </a:p>
        </p:txBody>
      </p:sp>
      <p:sp>
        <p:nvSpPr>
          <p:cNvPr id="3" name="Oval 2">
            <a:extLst>
              <a:ext uri="{FF2B5EF4-FFF2-40B4-BE49-F238E27FC236}">
                <a16:creationId xmlns:a16="http://schemas.microsoft.com/office/drawing/2014/main" id="{F1388D23-665E-9AFC-194E-2434CBFECE97}"/>
              </a:ext>
            </a:extLst>
          </p:cNvPr>
          <p:cNvSpPr/>
          <p:nvPr/>
        </p:nvSpPr>
        <p:spPr>
          <a:xfrm>
            <a:off x="3304883" y="3897985"/>
            <a:ext cx="542041" cy="542041"/>
          </a:xfrm>
          <a:prstGeom prst="ellipse">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A</a:t>
            </a:r>
          </a:p>
        </p:txBody>
      </p:sp>
      <p:sp>
        <p:nvSpPr>
          <p:cNvPr id="9" name="Oval 8">
            <a:extLst>
              <a:ext uri="{FF2B5EF4-FFF2-40B4-BE49-F238E27FC236}">
                <a16:creationId xmlns:a16="http://schemas.microsoft.com/office/drawing/2014/main" id="{409E6D6F-F14D-0C22-00FC-D3DEF62DCF09}"/>
              </a:ext>
            </a:extLst>
          </p:cNvPr>
          <p:cNvSpPr/>
          <p:nvPr/>
        </p:nvSpPr>
        <p:spPr>
          <a:xfrm>
            <a:off x="4267988" y="2532669"/>
            <a:ext cx="542041" cy="542041"/>
          </a:xfrm>
          <a:prstGeom prst="ellipse">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B</a:t>
            </a:r>
          </a:p>
        </p:txBody>
      </p:sp>
      <p:sp>
        <p:nvSpPr>
          <p:cNvPr id="11" name="Oval 10">
            <a:extLst>
              <a:ext uri="{FF2B5EF4-FFF2-40B4-BE49-F238E27FC236}">
                <a16:creationId xmlns:a16="http://schemas.microsoft.com/office/drawing/2014/main" id="{FAC3661E-D55A-1286-DD93-67697A4D3F81}"/>
              </a:ext>
            </a:extLst>
          </p:cNvPr>
          <p:cNvSpPr/>
          <p:nvPr/>
        </p:nvSpPr>
        <p:spPr>
          <a:xfrm>
            <a:off x="5729143" y="3897984"/>
            <a:ext cx="542041" cy="542041"/>
          </a:xfrm>
          <a:prstGeom prst="ellipse">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C</a:t>
            </a:r>
          </a:p>
        </p:txBody>
      </p:sp>
      <p:sp>
        <p:nvSpPr>
          <p:cNvPr id="13" name="Oval 12">
            <a:extLst>
              <a:ext uri="{FF2B5EF4-FFF2-40B4-BE49-F238E27FC236}">
                <a16:creationId xmlns:a16="http://schemas.microsoft.com/office/drawing/2014/main" id="{6392B534-8F64-1999-6852-4B163FEC5A42}"/>
              </a:ext>
            </a:extLst>
          </p:cNvPr>
          <p:cNvSpPr/>
          <p:nvPr/>
        </p:nvSpPr>
        <p:spPr>
          <a:xfrm>
            <a:off x="6615262" y="2532669"/>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D</a:t>
            </a:r>
          </a:p>
        </p:txBody>
      </p:sp>
      <p:cxnSp>
        <p:nvCxnSpPr>
          <p:cNvPr id="14" name="Straight Connector 13">
            <a:extLst>
              <a:ext uri="{FF2B5EF4-FFF2-40B4-BE49-F238E27FC236}">
                <a16:creationId xmlns:a16="http://schemas.microsoft.com/office/drawing/2014/main" id="{3B1F867F-367B-6186-FF34-52DEDDA49DF5}"/>
              </a:ext>
            </a:extLst>
          </p:cNvPr>
          <p:cNvCxnSpPr>
            <a:cxnSpLocks/>
            <a:stCxn id="9" idx="3"/>
            <a:endCxn id="3" idx="0"/>
          </p:cNvCxnSpPr>
          <p:nvPr/>
        </p:nvCxnSpPr>
        <p:spPr>
          <a:xfrm flipH="1">
            <a:off x="3575904" y="2995330"/>
            <a:ext cx="771464" cy="902655"/>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AADC1F52-9647-B2A9-9E3A-0E93EA115879}"/>
              </a:ext>
            </a:extLst>
          </p:cNvPr>
          <p:cNvCxnSpPr>
            <a:cxnSpLocks/>
            <a:stCxn id="11" idx="1"/>
            <a:endCxn id="9" idx="5"/>
          </p:cNvCxnSpPr>
          <p:nvPr/>
        </p:nvCxnSpPr>
        <p:spPr>
          <a:xfrm flipH="1" flipV="1">
            <a:off x="4730649" y="2995330"/>
            <a:ext cx="1077874" cy="982034"/>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54B32E3E-EB99-EAA8-ABAE-7234D195ED00}"/>
              </a:ext>
            </a:extLst>
          </p:cNvPr>
          <p:cNvCxnSpPr>
            <a:cxnSpLocks/>
            <a:stCxn id="11" idx="7"/>
            <a:endCxn id="13" idx="4"/>
          </p:cNvCxnSpPr>
          <p:nvPr/>
        </p:nvCxnSpPr>
        <p:spPr>
          <a:xfrm flipV="1">
            <a:off x="6191804" y="3074710"/>
            <a:ext cx="694479" cy="902654"/>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2481CF5E-B6F1-D9BF-7708-1748EBB0CCB0}"/>
              </a:ext>
            </a:extLst>
          </p:cNvPr>
          <p:cNvCxnSpPr>
            <a:stCxn id="3" idx="6"/>
            <a:endCxn id="11" idx="2"/>
          </p:cNvCxnSpPr>
          <p:nvPr/>
        </p:nvCxnSpPr>
        <p:spPr>
          <a:xfrm flipV="1">
            <a:off x="3846924" y="4169005"/>
            <a:ext cx="1882219" cy="1"/>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F5F3269D-FCA3-2811-8F78-19DD4F623AC1}"/>
              </a:ext>
            </a:extLst>
          </p:cNvPr>
          <p:cNvCxnSpPr>
            <a:stCxn id="9" idx="6"/>
            <a:endCxn id="13" idx="2"/>
          </p:cNvCxnSpPr>
          <p:nvPr/>
        </p:nvCxnSpPr>
        <p:spPr>
          <a:xfrm>
            <a:off x="4810029" y="2803690"/>
            <a:ext cx="1805233" cy="0"/>
          </a:xfrm>
          <a:prstGeom prst="line">
            <a:avLst/>
          </a:prstGeom>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8370668A-C145-6B28-D8E5-D4DA73099589}"/>
              </a:ext>
            </a:extLst>
          </p:cNvPr>
          <p:cNvSpPr txBox="1"/>
          <p:nvPr/>
        </p:nvSpPr>
        <p:spPr>
          <a:xfrm>
            <a:off x="3091992" y="5373278"/>
            <a:ext cx="4873657" cy="369332"/>
          </a:xfrm>
          <a:prstGeom prst="rect">
            <a:avLst/>
          </a:prstGeom>
          <a:noFill/>
        </p:spPr>
        <p:txBody>
          <a:bodyPr wrap="square" rtlCol="0">
            <a:spAutoFit/>
          </a:bodyPr>
          <a:lstStyle/>
          <a:p>
            <a:r>
              <a:rPr lang="en-US" dirty="0"/>
              <a:t>Normal graph coloring (distance-1 coloring)</a:t>
            </a:r>
          </a:p>
        </p:txBody>
      </p:sp>
      <p:sp>
        <p:nvSpPr>
          <p:cNvPr id="6" name="Slide Number Placeholder 5">
            <a:extLst>
              <a:ext uri="{FF2B5EF4-FFF2-40B4-BE49-F238E27FC236}">
                <a16:creationId xmlns:a16="http://schemas.microsoft.com/office/drawing/2014/main" id="{75B516D1-FE49-9544-06C3-71C45A4839E8}"/>
              </a:ext>
            </a:extLst>
          </p:cNvPr>
          <p:cNvSpPr>
            <a:spLocks noGrp="1"/>
          </p:cNvSpPr>
          <p:nvPr>
            <p:ph type="sldNum" sz="quarter" idx="12"/>
          </p:nvPr>
        </p:nvSpPr>
        <p:spPr/>
        <p:txBody>
          <a:bodyPr/>
          <a:lstStyle/>
          <a:p>
            <a:fld id="{8A7A6979-0714-4377-B894-6BE4C2D6E202}" type="slidenum">
              <a:rPr lang="en-US" smtClean="0"/>
              <a:pPr/>
              <a:t>70</a:t>
            </a:fld>
            <a:endParaRPr lang="en-US" dirty="0"/>
          </a:p>
        </p:txBody>
      </p:sp>
    </p:spTree>
    <p:extLst>
      <p:ext uri="{BB962C8B-B14F-4D97-AF65-F5344CB8AC3E}">
        <p14:creationId xmlns:p14="http://schemas.microsoft.com/office/powerpoint/2010/main" val="184006800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7147D7-666C-BAE1-6592-9B2F3008525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08B49DA-477E-BB89-CC46-BE97A853C77E}"/>
              </a:ext>
            </a:extLst>
          </p:cNvPr>
          <p:cNvSpPr txBox="1"/>
          <p:nvPr/>
        </p:nvSpPr>
        <p:spPr>
          <a:xfrm>
            <a:off x="5265618" y="1684179"/>
            <a:ext cx="1077875" cy="369332"/>
          </a:xfrm>
          <a:prstGeom prst="rect">
            <a:avLst/>
          </a:prstGeom>
          <a:noFill/>
        </p:spPr>
        <p:txBody>
          <a:bodyPr wrap="square" rtlCol="0">
            <a:spAutoFit/>
          </a:bodyPr>
          <a:lstStyle/>
          <a:p>
            <a:r>
              <a:rPr lang="en-US" dirty="0"/>
              <a:t>G</a:t>
            </a:r>
            <a:r>
              <a:rPr lang="en-US" baseline="30000" dirty="0"/>
              <a:t>2</a:t>
            </a:r>
            <a:endParaRPr lang="en-US" dirty="0"/>
          </a:p>
        </p:txBody>
      </p:sp>
      <p:sp>
        <p:nvSpPr>
          <p:cNvPr id="3" name="Oval 2">
            <a:extLst>
              <a:ext uri="{FF2B5EF4-FFF2-40B4-BE49-F238E27FC236}">
                <a16:creationId xmlns:a16="http://schemas.microsoft.com/office/drawing/2014/main" id="{BC959991-2641-7ED3-32B7-B803813E00B8}"/>
              </a:ext>
            </a:extLst>
          </p:cNvPr>
          <p:cNvSpPr/>
          <p:nvPr/>
        </p:nvSpPr>
        <p:spPr>
          <a:xfrm>
            <a:off x="3304883" y="3897985"/>
            <a:ext cx="542041" cy="542041"/>
          </a:xfrm>
          <a:prstGeom prst="ellipse">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A</a:t>
            </a:r>
          </a:p>
        </p:txBody>
      </p:sp>
      <p:sp>
        <p:nvSpPr>
          <p:cNvPr id="9" name="Oval 8">
            <a:extLst>
              <a:ext uri="{FF2B5EF4-FFF2-40B4-BE49-F238E27FC236}">
                <a16:creationId xmlns:a16="http://schemas.microsoft.com/office/drawing/2014/main" id="{B2383C2A-146C-AD6E-2631-3A5EB4FAFDAE}"/>
              </a:ext>
            </a:extLst>
          </p:cNvPr>
          <p:cNvSpPr/>
          <p:nvPr/>
        </p:nvSpPr>
        <p:spPr>
          <a:xfrm>
            <a:off x="4267988" y="2532669"/>
            <a:ext cx="542041" cy="542041"/>
          </a:xfrm>
          <a:prstGeom prst="ellipse">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B</a:t>
            </a:r>
          </a:p>
        </p:txBody>
      </p:sp>
      <p:sp>
        <p:nvSpPr>
          <p:cNvPr id="11" name="Oval 10">
            <a:extLst>
              <a:ext uri="{FF2B5EF4-FFF2-40B4-BE49-F238E27FC236}">
                <a16:creationId xmlns:a16="http://schemas.microsoft.com/office/drawing/2014/main" id="{7FF337E9-7A62-F9DD-C690-51CAC08AEA49}"/>
              </a:ext>
            </a:extLst>
          </p:cNvPr>
          <p:cNvSpPr/>
          <p:nvPr/>
        </p:nvSpPr>
        <p:spPr>
          <a:xfrm>
            <a:off x="5729143" y="3897984"/>
            <a:ext cx="542041" cy="542041"/>
          </a:xfrm>
          <a:prstGeom prst="ellipse">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C</a:t>
            </a:r>
          </a:p>
        </p:txBody>
      </p:sp>
      <p:sp>
        <p:nvSpPr>
          <p:cNvPr id="13" name="Oval 12">
            <a:extLst>
              <a:ext uri="{FF2B5EF4-FFF2-40B4-BE49-F238E27FC236}">
                <a16:creationId xmlns:a16="http://schemas.microsoft.com/office/drawing/2014/main" id="{E9756F54-1693-C274-DE61-F868DF23ADAB}"/>
              </a:ext>
            </a:extLst>
          </p:cNvPr>
          <p:cNvSpPr/>
          <p:nvPr/>
        </p:nvSpPr>
        <p:spPr>
          <a:xfrm>
            <a:off x="6615262" y="2532669"/>
            <a:ext cx="542041" cy="542041"/>
          </a:xfrm>
          <a:prstGeom prst="ellipse">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D</a:t>
            </a:r>
          </a:p>
        </p:txBody>
      </p:sp>
      <p:cxnSp>
        <p:nvCxnSpPr>
          <p:cNvPr id="14" name="Straight Connector 13">
            <a:extLst>
              <a:ext uri="{FF2B5EF4-FFF2-40B4-BE49-F238E27FC236}">
                <a16:creationId xmlns:a16="http://schemas.microsoft.com/office/drawing/2014/main" id="{6FD2B8D2-F9F5-FD1F-063C-E40954CF4721}"/>
              </a:ext>
            </a:extLst>
          </p:cNvPr>
          <p:cNvCxnSpPr>
            <a:cxnSpLocks/>
            <a:stCxn id="9" idx="3"/>
            <a:endCxn id="3" idx="0"/>
          </p:cNvCxnSpPr>
          <p:nvPr/>
        </p:nvCxnSpPr>
        <p:spPr>
          <a:xfrm flipH="1">
            <a:off x="3575904" y="2995330"/>
            <a:ext cx="771464" cy="902655"/>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55E629EB-88E6-F40D-4E41-424995D64E14}"/>
              </a:ext>
            </a:extLst>
          </p:cNvPr>
          <p:cNvCxnSpPr>
            <a:cxnSpLocks/>
            <a:stCxn id="11" idx="1"/>
            <a:endCxn id="9" idx="5"/>
          </p:cNvCxnSpPr>
          <p:nvPr/>
        </p:nvCxnSpPr>
        <p:spPr>
          <a:xfrm flipH="1" flipV="1">
            <a:off x="4730649" y="2995330"/>
            <a:ext cx="1077874" cy="982034"/>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0780BE58-6776-94AD-4056-1888306A4790}"/>
              </a:ext>
            </a:extLst>
          </p:cNvPr>
          <p:cNvCxnSpPr>
            <a:cxnSpLocks/>
            <a:stCxn id="11" idx="7"/>
            <a:endCxn id="13" idx="4"/>
          </p:cNvCxnSpPr>
          <p:nvPr/>
        </p:nvCxnSpPr>
        <p:spPr>
          <a:xfrm flipV="1">
            <a:off x="6191804" y="3074710"/>
            <a:ext cx="694479" cy="902654"/>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36DF7ED-9E33-8F30-B921-53567C60D52A}"/>
              </a:ext>
            </a:extLst>
          </p:cNvPr>
          <p:cNvCxnSpPr>
            <a:stCxn id="3" idx="6"/>
            <a:endCxn id="11" idx="2"/>
          </p:cNvCxnSpPr>
          <p:nvPr/>
        </p:nvCxnSpPr>
        <p:spPr>
          <a:xfrm flipV="1">
            <a:off x="3846924" y="4169005"/>
            <a:ext cx="1882219" cy="1"/>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AD272D47-0DBE-6426-78A4-3030A99E25E1}"/>
              </a:ext>
            </a:extLst>
          </p:cNvPr>
          <p:cNvCxnSpPr>
            <a:stCxn id="9" idx="6"/>
            <a:endCxn id="13" idx="2"/>
          </p:cNvCxnSpPr>
          <p:nvPr/>
        </p:nvCxnSpPr>
        <p:spPr>
          <a:xfrm>
            <a:off x="4810029" y="2803690"/>
            <a:ext cx="1805233" cy="0"/>
          </a:xfrm>
          <a:prstGeom prst="line">
            <a:avLst/>
          </a:prstGeom>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D942ABB4-6159-3DA5-0270-8125298D346D}"/>
              </a:ext>
            </a:extLst>
          </p:cNvPr>
          <p:cNvSpPr txBox="1"/>
          <p:nvPr/>
        </p:nvSpPr>
        <p:spPr>
          <a:xfrm>
            <a:off x="3091992" y="5373278"/>
            <a:ext cx="4873657" cy="369332"/>
          </a:xfrm>
          <a:prstGeom prst="rect">
            <a:avLst/>
          </a:prstGeom>
          <a:noFill/>
        </p:spPr>
        <p:txBody>
          <a:bodyPr wrap="square" rtlCol="0">
            <a:spAutoFit/>
          </a:bodyPr>
          <a:lstStyle/>
          <a:p>
            <a:r>
              <a:rPr lang="en-US" dirty="0"/>
              <a:t>Normal graph coloring (distance-1 coloring)</a:t>
            </a:r>
          </a:p>
        </p:txBody>
      </p:sp>
      <p:sp>
        <p:nvSpPr>
          <p:cNvPr id="6" name="Slide Number Placeholder 5">
            <a:extLst>
              <a:ext uri="{FF2B5EF4-FFF2-40B4-BE49-F238E27FC236}">
                <a16:creationId xmlns:a16="http://schemas.microsoft.com/office/drawing/2014/main" id="{55FAF4F2-0990-4161-C24D-013442722F31}"/>
              </a:ext>
            </a:extLst>
          </p:cNvPr>
          <p:cNvSpPr>
            <a:spLocks noGrp="1"/>
          </p:cNvSpPr>
          <p:nvPr>
            <p:ph type="sldNum" sz="quarter" idx="12"/>
          </p:nvPr>
        </p:nvSpPr>
        <p:spPr/>
        <p:txBody>
          <a:bodyPr/>
          <a:lstStyle/>
          <a:p>
            <a:fld id="{8A7A6979-0714-4377-B894-6BE4C2D6E202}" type="slidenum">
              <a:rPr lang="en-US" smtClean="0"/>
              <a:pPr/>
              <a:t>71</a:t>
            </a:fld>
            <a:endParaRPr lang="en-US" dirty="0"/>
          </a:p>
        </p:txBody>
      </p:sp>
    </p:spTree>
    <p:extLst>
      <p:ext uri="{BB962C8B-B14F-4D97-AF65-F5344CB8AC3E}">
        <p14:creationId xmlns:p14="http://schemas.microsoft.com/office/powerpoint/2010/main" val="332243802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3365F8-5DF9-49CC-6BDD-185B5562723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1BAE1E0-F6B9-48BB-2699-78EA8E08334D}"/>
              </a:ext>
            </a:extLst>
          </p:cNvPr>
          <p:cNvSpPr txBox="1"/>
          <p:nvPr/>
        </p:nvSpPr>
        <p:spPr>
          <a:xfrm>
            <a:off x="1536568" y="1253766"/>
            <a:ext cx="8757501" cy="523220"/>
          </a:xfrm>
          <a:prstGeom prst="rect">
            <a:avLst/>
          </a:prstGeom>
          <a:noFill/>
        </p:spPr>
        <p:txBody>
          <a:bodyPr wrap="square" rtlCol="0">
            <a:spAutoFit/>
          </a:bodyPr>
          <a:lstStyle/>
          <a:p>
            <a:r>
              <a:rPr lang="en-US" sz="2800" dirty="0"/>
              <a:t>Distance – k coloring algorithms:</a:t>
            </a:r>
          </a:p>
        </p:txBody>
      </p:sp>
      <p:sp>
        <p:nvSpPr>
          <p:cNvPr id="3" name="TextBox 2">
            <a:extLst>
              <a:ext uri="{FF2B5EF4-FFF2-40B4-BE49-F238E27FC236}">
                <a16:creationId xmlns:a16="http://schemas.microsoft.com/office/drawing/2014/main" id="{6D82F71F-5619-1097-5FD9-2A03D1347129}"/>
              </a:ext>
            </a:extLst>
          </p:cNvPr>
          <p:cNvSpPr txBox="1"/>
          <p:nvPr/>
        </p:nvSpPr>
        <p:spPr>
          <a:xfrm>
            <a:off x="2019693" y="2228671"/>
            <a:ext cx="6860355" cy="1200329"/>
          </a:xfrm>
          <a:prstGeom prst="rect">
            <a:avLst/>
          </a:prstGeom>
          <a:noFill/>
        </p:spPr>
        <p:txBody>
          <a:bodyPr wrap="square">
            <a:spAutoFit/>
          </a:bodyPr>
          <a:lstStyle/>
          <a:p>
            <a:pPr marL="285750" indent="-285750">
              <a:buFont typeface="Arial" panose="020B0604020202020204" pitchFamily="34" charset="0"/>
              <a:buChar char="•"/>
            </a:pPr>
            <a:r>
              <a:rPr lang="en-US" dirty="0"/>
              <a:t>Backtracking</a:t>
            </a:r>
          </a:p>
          <a:p>
            <a:pPr marL="285750" indent="-285750">
              <a:buFont typeface="Arial" panose="020B0604020202020204" pitchFamily="34" charset="0"/>
              <a:buChar char="•"/>
            </a:pPr>
            <a:r>
              <a:rPr lang="en-US" dirty="0"/>
              <a:t>Greedy</a:t>
            </a:r>
          </a:p>
          <a:p>
            <a:pPr marL="285750" indent="-285750">
              <a:buFont typeface="Arial" panose="020B0604020202020204" pitchFamily="34" charset="0"/>
              <a:buChar char="•"/>
            </a:pPr>
            <a:r>
              <a:rPr lang="en-US" dirty="0"/>
              <a:t>DSATUR (Degree of Saturation)</a:t>
            </a:r>
          </a:p>
          <a:p>
            <a:pPr marL="285750" indent="-285750">
              <a:buFont typeface="Arial" panose="020B0604020202020204" pitchFamily="34" charset="0"/>
              <a:buChar char="•"/>
            </a:pPr>
            <a:r>
              <a:rPr lang="en-US" dirty="0"/>
              <a:t>Branch and bound </a:t>
            </a:r>
          </a:p>
        </p:txBody>
      </p:sp>
      <p:sp>
        <p:nvSpPr>
          <p:cNvPr id="5" name="Slide Number Placeholder 4">
            <a:extLst>
              <a:ext uri="{FF2B5EF4-FFF2-40B4-BE49-F238E27FC236}">
                <a16:creationId xmlns:a16="http://schemas.microsoft.com/office/drawing/2014/main" id="{234FC9BB-C782-A27F-83AA-FBA94461108A}"/>
              </a:ext>
            </a:extLst>
          </p:cNvPr>
          <p:cNvSpPr>
            <a:spLocks noGrp="1"/>
          </p:cNvSpPr>
          <p:nvPr>
            <p:ph type="sldNum" sz="quarter" idx="12"/>
          </p:nvPr>
        </p:nvSpPr>
        <p:spPr/>
        <p:txBody>
          <a:bodyPr/>
          <a:lstStyle/>
          <a:p>
            <a:fld id="{3DD08374-E544-47A5-94AF-CF56056772CB}" type="slidenum">
              <a:rPr lang="en-US" smtClean="0"/>
              <a:t>72</a:t>
            </a:fld>
            <a:endParaRPr lang="en-US"/>
          </a:p>
        </p:txBody>
      </p:sp>
    </p:spTree>
    <p:extLst>
      <p:ext uri="{BB962C8B-B14F-4D97-AF65-F5344CB8AC3E}">
        <p14:creationId xmlns:p14="http://schemas.microsoft.com/office/powerpoint/2010/main" val="397611643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B29CFA-36E7-D584-D242-1F2687BA898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C78D112-231C-29E4-BD55-9888F9ED8F3D}"/>
              </a:ext>
            </a:extLst>
          </p:cNvPr>
          <p:cNvSpPr txBox="1"/>
          <p:nvPr/>
        </p:nvSpPr>
        <p:spPr>
          <a:xfrm>
            <a:off x="1536568" y="1253766"/>
            <a:ext cx="8757501" cy="523220"/>
          </a:xfrm>
          <a:prstGeom prst="rect">
            <a:avLst/>
          </a:prstGeom>
          <a:noFill/>
        </p:spPr>
        <p:txBody>
          <a:bodyPr wrap="square" rtlCol="0">
            <a:spAutoFit/>
          </a:bodyPr>
          <a:lstStyle/>
          <a:p>
            <a:r>
              <a:rPr lang="en-US" sz="2800" dirty="0"/>
              <a:t>Distance – k coloring algorithms:</a:t>
            </a:r>
          </a:p>
        </p:txBody>
      </p:sp>
      <p:sp>
        <p:nvSpPr>
          <p:cNvPr id="3" name="TextBox 2">
            <a:extLst>
              <a:ext uri="{FF2B5EF4-FFF2-40B4-BE49-F238E27FC236}">
                <a16:creationId xmlns:a16="http://schemas.microsoft.com/office/drawing/2014/main" id="{27CA6FC7-C4E6-D60F-45E6-F0B160249F6B}"/>
              </a:ext>
            </a:extLst>
          </p:cNvPr>
          <p:cNvSpPr txBox="1"/>
          <p:nvPr/>
        </p:nvSpPr>
        <p:spPr>
          <a:xfrm>
            <a:off x="2019693" y="2228671"/>
            <a:ext cx="6860355" cy="1200329"/>
          </a:xfrm>
          <a:prstGeom prst="rect">
            <a:avLst/>
          </a:prstGeom>
          <a:noFill/>
        </p:spPr>
        <p:txBody>
          <a:bodyPr wrap="square">
            <a:spAutoFit/>
          </a:bodyPr>
          <a:lstStyle/>
          <a:p>
            <a:pPr marL="285750" indent="-285750">
              <a:buFont typeface="Arial" panose="020B0604020202020204" pitchFamily="34" charset="0"/>
              <a:buChar char="•"/>
            </a:pPr>
            <a:r>
              <a:rPr lang="en-US" dirty="0"/>
              <a:t>Backtracking</a:t>
            </a:r>
          </a:p>
          <a:p>
            <a:pPr marL="285750" indent="-285750">
              <a:buFont typeface="Arial" panose="020B0604020202020204" pitchFamily="34" charset="0"/>
              <a:buChar char="•"/>
            </a:pPr>
            <a:r>
              <a:rPr lang="en-US" dirty="0"/>
              <a:t>Greedy</a:t>
            </a:r>
          </a:p>
          <a:p>
            <a:pPr marL="285750" indent="-285750">
              <a:buFont typeface="Arial" panose="020B0604020202020204" pitchFamily="34" charset="0"/>
              <a:buChar char="•"/>
            </a:pPr>
            <a:r>
              <a:rPr lang="en-US" dirty="0">
                <a:solidFill>
                  <a:srgbClr val="FF0000"/>
                </a:solidFill>
              </a:rPr>
              <a:t>DSATUR (Degree of Saturation)</a:t>
            </a:r>
          </a:p>
          <a:p>
            <a:pPr marL="285750" indent="-285750">
              <a:buFont typeface="Arial" panose="020B0604020202020204" pitchFamily="34" charset="0"/>
              <a:buChar char="•"/>
            </a:pPr>
            <a:r>
              <a:rPr lang="en-US" dirty="0"/>
              <a:t>Branch and bound </a:t>
            </a:r>
          </a:p>
        </p:txBody>
      </p:sp>
      <p:sp>
        <p:nvSpPr>
          <p:cNvPr id="5" name="Slide Number Placeholder 4">
            <a:extLst>
              <a:ext uri="{FF2B5EF4-FFF2-40B4-BE49-F238E27FC236}">
                <a16:creationId xmlns:a16="http://schemas.microsoft.com/office/drawing/2014/main" id="{A1C80F84-B2B7-7302-D852-715BCA4E6B4B}"/>
              </a:ext>
            </a:extLst>
          </p:cNvPr>
          <p:cNvSpPr>
            <a:spLocks noGrp="1"/>
          </p:cNvSpPr>
          <p:nvPr>
            <p:ph type="sldNum" sz="quarter" idx="12"/>
          </p:nvPr>
        </p:nvSpPr>
        <p:spPr/>
        <p:txBody>
          <a:bodyPr/>
          <a:lstStyle/>
          <a:p>
            <a:fld id="{3DD08374-E544-47A5-94AF-CF56056772CB}" type="slidenum">
              <a:rPr lang="en-US" smtClean="0"/>
              <a:t>73</a:t>
            </a:fld>
            <a:endParaRPr lang="en-US"/>
          </a:p>
        </p:txBody>
      </p:sp>
    </p:spTree>
    <p:extLst>
      <p:ext uri="{BB962C8B-B14F-4D97-AF65-F5344CB8AC3E}">
        <p14:creationId xmlns:p14="http://schemas.microsoft.com/office/powerpoint/2010/main" val="105637348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4365C-B60F-AC12-81A6-D17B73BDACA7}"/>
              </a:ext>
            </a:extLst>
          </p:cNvPr>
          <p:cNvSpPr>
            <a:spLocks noGrp="1"/>
          </p:cNvSpPr>
          <p:nvPr>
            <p:ph type="title"/>
          </p:nvPr>
        </p:nvSpPr>
        <p:spPr/>
        <p:txBody>
          <a:bodyPr/>
          <a:lstStyle/>
          <a:p>
            <a:r>
              <a:rPr lang="en-US" dirty="0"/>
              <a:t>DSATUR (Degree of saturation)</a:t>
            </a:r>
          </a:p>
        </p:txBody>
      </p:sp>
      <p:sp>
        <p:nvSpPr>
          <p:cNvPr id="4" name="Slide Number Placeholder 3">
            <a:extLst>
              <a:ext uri="{FF2B5EF4-FFF2-40B4-BE49-F238E27FC236}">
                <a16:creationId xmlns:a16="http://schemas.microsoft.com/office/drawing/2014/main" id="{535BE704-DFED-0262-F485-B0E93DF6ECAA}"/>
              </a:ext>
            </a:extLst>
          </p:cNvPr>
          <p:cNvSpPr>
            <a:spLocks noGrp="1"/>
          </p:cNvSpPr>
          <p:nvPr>
            <p:ph type="sldNum" sz="quarter" idx="12"/>
          </p:nvPr>
        </p:nvSpPr>
        <p:spPr/>
        <p:txBody>
          <a:bodyPr/>
          <a:lstStyle/>
          <a:p>
            <a:fld id="{3DD08374-E544-47A5-94AF-CF56056772CB}" type="slidenum">
              <a:rPr lang="en-US" smtClean="0"/>
              <a:t>74</a:t>
            </a:fld>
            <a:endParaRPr lang="en-US"/>
          </a:p>
        </p:txBody>
      </p:sp>
    </p:spTree>
    <p:extLst>
      <p:ext uri="{BB962C8B-B14F-4D97-AF65-F5344CB8AC3E}">
        <p14:creationId xmlns:p14="http://schemas.microsoft.com/office/powerpoint/2010/main" val="247683932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2B49E8-B30B-9EEE-499A-223A6A81C4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0EFC39-FDAD-A7E6-E92E-5EB982D43F73}"/>
              </a:ext>
            </a:extLst>
          </p:cNvPr>
          <p:cNvSpPr>
            <a:spLocks noGrp="1"/>
          </p:cNvSpPr>
          <p:nvPr>
            <p:ph type="title"/>
          </p:nvPr>
        </p:nvSpPr>
        <p:spPr/>
        <p:txBody>
          <a:bodyPr/>
          <a:lstStyle/>
          <a:p>
            <a:r>
              <a:rPr lang="en-US" dirty="0"/>
              <a:t>DSATUR (Degree of saturation)</a:t>
            </a:r>
          </a:p>
        </p:txBody>
      </p:sp>
      <p:sp>
        <p:nvSpPr>
          <p:cNvPr id="5" name="Slide Number Placeholder 4">
            <a:extLst>
              <a:ext uri="{FF2B5EF4-FFF2-40B4-BE49-F238E27FC236}">
                <a16:creationId xmlns:a16="http://schemas.microsoft.com/office/drawing/2014/main" id="{5DFAC69B-150B-A17C-F3D5-DB7780B8DB7A}"/>
              </a:ext>
            </a:extLst>
          </p:cNvPr>
          <p:cNvSpPr>
            <a:spLocks noGrp="1"/>
          </p:cNvSpPr>
          <p:nvPr>
            <p:ph type="sldNum" sz="quarter" idx="12"/>
          </p:nvPr>
        </p:nvSpPr>
        <p:spPr/>
        <p:txBody>
          <a:bodyPr/>
          <a:lstStyle/>
          <a:p>
            <a:fld id="{3DD08374-E544-47A5-94AF-CF56056772CB}" type="slidenum">
              <a:rPr lang="en-US" smtClean="0"/>
              <a:t>75</a:t>
            </a:fld>
            <a:endParaRPr lang="en-US"/>
          </a:p>
        </p:txBody>
      </p:sp>
      <p:sp>
        <p:nvSpPr>
          <p:cNvPr id="4" name="TextBox 3">
            <a:extLst>
              <a:ext uri="{FF2B5EF4-FFF2-40B4-BE49-F238E27FC236}">
                <a16:creationId xmlns:a16="http://schemas.microsoft.com/office/drawing/2014/main" id="{C9A76A52-E6C6-A593-D40D-795D54C31704}"/>
              </a:ext>
            </a:extLst>
          </p:cNvPr>
          <p:cNvSpPr txBox="1"/>
          <p:nvPr/>
        </p:nvSpPr>
        <p:spPr>
          <a:xfrm>
            <a:off x="1423448" y="2967335"/>
            <a:ext cx="3535051" cy="923330"/>
          </a:xfrm>
          <a:prstGeom prst="rect">
            <a:avLst/>
          </a:prstGeom>
          <a:noFill/>
        </p:spPr>
        <p:txBody>
          <a:bodyPr wrap="square" rtlCol="0">
            <a:spAutoFit/>
          </a:bodyPr>
          <a:lstStyle/>
          <a:p>
            <a:pPr marL="342900" indent="-342900">
              <a:buAutoNum type="arabicPeriod"/>
            </a:pPr>
            <a:r>
              <a:rPr lang="en-US" dirty="0"/>
              <a:t>Choose the vertex with highest </a:t>
            </a:r>
            <a:r>
              <a:rPr lang="en-US" b="1" dirty="0"/>
              <a:t>saturation degree</a:t>
            </a:r>
          </a:p>
          <a:p>
            <a:pPr marL="342900" indent="-342900">
              <a:buAutoNum type="arabicPeriod"/>
            </a:pPr>
            <a:endParaRPr lang="en-US" dirty="0"/>
          </a:p>
        </p:txBody>
      </p:sp>
    </p:spTree>
    <p:extLst>
      <p:ext uri="{BB962C8B-B14F-4D97-AF65-F5344CB8AC3E}">
        <p14:creationId xmlns:p14="http://schemas.microsoft.com/office/powerpoint/2010/main" val="151494008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0D7CBB-CD05-A452-9303-14C28A52D4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D34B2E-B5F8-1B9D-B6C1-D1ADFCAD3867}"/>
              </a:ext>
            </a:extLst>
          </p:cNvPr>
          <p:cNvSpPr>
            <a:spLocks noGrp="1"/>
          </p:cNvSpPr>
          <p:nvPr>
            <p:ph type="title"/>
          </p:nvPr>
        </p:nvSpPr>
        <p:spPr/>
        <p:txBody>
          <a:bodyPr/>
          <a:lstStyle/>
          <a:p>
            <a:r>
              <a:rPr lang="en-US" dirty="0"/>
              <a:t>DSATUR (Degree of saturation)</a:t>
            </a:r>
          </a:p>
        </p:txBody>
      </p:sp>
      <p:sp>
        <p:nvSpPr>
          <p:cNvPr id="12" name="Slide Number Placeholder 11">
            <a:extLst>
              <a:ext uri="{FF2B5EF4-FFF2-40B4-BE49-F238E27FC236}">
                <a16:creationId xmlns:a16="http://schemas.microsoft.com/office/drawing/2014/main" id="{25978DD4-A2C8-5D1D-004F-A5BF1B2F19EE}"/>
              </a:ext>
            </a:extLst>
          </p:cNvPr>
          <p:cNvSpPr>
            <a:spLocks noGrp="1"/>
          </p:cNvSpPr>
          <p:nvPr>
            <p:ph type="sldNum" sz="quarter" idx="12"/>
          </p:nvPr>
        </p:nvSpPr>
        <p:spPr/>
        <p:txBody>
          <a:bodyPr/>
          <a:lstStyle/>
          <a:p>
            <a:fld id="{3DD08374-E544-47A5-94AF-CF56056772CB}" type="slidenum">
              <a:rPr lang="en-US" smtClean="0"/>
              <a:t>76</a:t>
            </a:fld>
            <a:endParaRPr lang="en-US"/>
          </a:p>
        </p:txBody>
      </p:sp>
      <p:sp>
        <p:nvSpPr>
          <p:cNvPr id="4" name="TextBox 3">
            <a:extLst>
              <a:ext uri="{FF2B5EF4-FFF2-40B4-BE49-F238E27FC236}">
                <a16:creationId xmlns:a16="http://schemas.microsoft.com/office/drawing/2014/main" id="{FC29603A-84D6-27EB-BCD0-7C821F466A93}"/>
              </a:ext>
            </a:extLst>
          </p:cNvPr>
          <p:cNvSpPr txBox="1"/>
          <p:nvPr/>
        </p:nvSpPr>
        <p:spPr>
          <a:xfrm>
            <a:off x="1423448" y="2967335"/>
            <a:ext cx="3535051" cy="923330"/>
          </a:xfrm>
          <a:prstGeom prst="rect">
            <a:avLst/>
          </a:prstGeom>
          <a:noFill/>
        </p:spPr>
        <p:txBody>
          <a:bodyPr wrap="square" rtlCol="0">
            <a:spAutoFit/>
          </a:bodyPr>
          <a:lstStyle/>
          <a:p>
            <a:pPr marL="342900" indent="-342900">
              <a:buAutoNum type="arabicPeriod"/>
            </a:pPr>
            <a:r>
              <a:rPr lang="en-US" dirty="0"/>
              <a:t>Choose the vertex with highest </a:t>
            </a:r>
            <a:r>
              <a:rPr lang="en-US" b="1" dirty="0"/>
              <a:t>saturation degree</a:t>
            </a:r>
          </a:p>
          <a:p>
            <a:pPr marL="342900" indent="-342900">
              <a:buAutoNum type="arabicPeriod"/>
            </a:pPr>
            <a:endParaRPr lang="en-US" dirty="0"/>
          </a:p>
        </p:txBody>
      </p:sp>
      <p:sp>
        <p:nvSpPr>
          <p:cNvPr id="3" name="Oval 2">
            <a:extLst>
              <a:ext uri="{FF2B5EF4-FFF2-40B4-BE49-F238E27FC236}">
                <a16:creationId xmlns:a16="http://schemas.microsoft.com/office/drawing/2014/main" id="{1939BFC9-7EBE-9A07-5C81-52657B9B98DA}"/>
              </a:ext>
            </a:extLst>
          </p:cNvPr>
          <p:cNvSpPr/>
          <p:nvPr/>
        </p:nvSpPr>
        <p:spPr>
          <a:xfrm>
            <a:off x="6567340" y="3979146"/>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A</a:t>
            </a:r>
          </a:p>
        </p:txBody>
      </p:sp>
      <p:sp>
        <p:nvSpPr>
          <p:cNvPr id="5" name="Oval 4">
            <a:extLst>
              <a:ext uri="{FF2B5EF4-FFF2-40B4-BE49-F238E27FC236}">
                <a16:creationId xmlns:a16="http://schemas.microsoft.com/office/drawing/2014/main" id="{7D3E7694-D29A-69E2-C0C6-1E6E784B943C}"/>
              </a:ext>
            </a:extLst>
          </p:cNvPr>
          <p:cNvSpPr/>
          <p:nvPr/>
        </p:nvSpPr>
        <p:spPr>
          <a:xfrm>
            <a:off x="7530445" y="2613830"/>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B</a:t>
            </a:r>
          </a:p>
        </p:txBody>
      </p:sp>
      <p:sp>
        <p:nvSpPr>
          <p:cNvPr id="6" name="Oval 5">
            <a:extLst>
              <a:ext uri="{FF2B5EF4-FFF2-40B4-BE49-F238E27FC236}">
                <a16:creationId xmlns:a16="http://schemas.microsoft.com/office/drawing/2014/main" id="{F2567510-3143-899B-3B8C-1EEFED0954B8}"/>
              </a:ext>
            </a:extLst>
          </p:cNvPr>
          <p:cNvSpPr/>
          <p:nvPr/>
        </p:nvSpPr>
        <p:spPr>
          <a:xfrm>
            <a:off x="8991600" y="3979145"/>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C</a:t>
            </a:r>
          </a:p>
        </p:txBody>
      </p:sp>
      <p:sp>
        <p:nvSpPr>
          <p:cNvPr id="7" name="Oval 6">
            <a:extLst>
              <a:ext uri="{FF2B5EF4-FFF2-40B4-BE49-F238E27FC236}">
                <a16:creationId xmlns:a16="http://schemas.microsoft.com/office/drawing/2014/main" id="{E28A2E18-AE67-9F2A-8208-7B3925477D7F}"/>
              </a:ext>
            </a:extLst>
          </p:cNvPr>
          <p:cNvSpPr/>
          <p:nvPr/>
        </p:nvSpPr>
        <p:spPr>
          <a:xfrm>
            <a:off x="9877719" y="2613830"/>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D</a:t>
            </a:r>
          </a:p>
        </p:txBody>
      </p:sp>
      <p:cxnSp>
        <p:nvCxnSpPr>
          <p:cNvPr id="8" name="Straight Connector 7">
            <a:extLst>
              <a:ext uri="{FF2B5EF4-FFF2-40B4-BE49-F238E27FC236}">
                <a16:creationId xmlns:a16="http://schemas.microsoft.com/office/drawing/2014/main" id="{18429BA5-12BD-B8BE-B4E0-BC8E5832B7F9}"/>
              </a:ext>
            </a:extLst>
          </p:cNvPr>
          <p:cNvCxnSpPr>
            <a:cxnSpLocks/>
            <a:stCxn id="5" idx="3"/>
            <a:endCxn id="3" idx="0"/>
          </p:cNvCxnSpPr>
          <p:nvPr/>
        </p:nvCxnSpPr>
        <p:spPr>
          <a:xfrm flipH="1">
            <a:off x="6838361" y="3076491"/>
            <a:ext cx="771464" cy="902655"/>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EF99D2AC-A799-A7A2-2FBD-3067197F675D}"/>
              </a:ext>
            </a:extLst>
          </p:cNvPr>
          <p:cNvCxnSpPr>
            <a:cxnSpLocks/>
            <a:stCxn id="6" idx="1"/>
            <a:endCxn id="5" idx="5"/>
          </p:cNvCxnSpPr>
          <p:nvPr/>
        </p:nvCxnSpPr>
        <p:spPr>
          <a:xfrm flipH="1" flipV="1">
            <a:off x="7993106" y="3076491"/>
            <a:ext cx="1077874" cy="98203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F337A973-4915-6A1C-4B02-38072074A9DC}"/>
              </a:ext>
            </a:extLst>
          </p:cNvPr>
          <p:cNvCxnSpPr>
            <a:cxnSpLocks/>
            <a:stCxn id="6" idx="7"/>
            <a:endCxn id="7" idx="4"/>
          </p:cNvCxnSpPr>
          <p:nvPr/>
        </p:nvCxnSpPr>
        <p:spPr>
          <a:xfrm flipV="1">
            <a:off x="9454261" y="3155871"/>
            <a:ext cx="694479" cy="902654"/>
          </a:xfrm>
          <a:prstGeom prst="line">
            <a:avLst/>
          </a:prstGeom>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7D087767-1302-4D12-6E94-5525518F5262}"/>
              </a:ext>
            </a:extLst>
          </p:cNvPr>
          <p:cNvSpPr txBox="1"/>
          <p:nvPr/>
        </p:nvSpPr>
        <p:spPr>
          <a:xfrm>
            <a:off x="7258639" y="5872899"/>
            <a:ext cx="2479250" cy="369332"/>
          </a:xfrm>
          <a:prstGeom prst="rect">
            <a:avLst/>
          </a:prstGeom>
          <a:noFill/>
        </p:spPr>
        <p:txBody>
          <a:bodyPr wrap="square" rtlCol="0">
            <a:spAutoFit/>
          </a:bodyPr>
          <a:lstStyle/>
          <a:p>
            <a:r>
              <a:rPr lang="en-US" dirty="0"/>
              <a:t>Distance-2 coloring</a:t>
            </a:r>
          </a:p>
        </p:txBody>
      </p:sp>
    </p:spTree>
    <p:extLst>
      <p:ext uri="{BB962C8B-B14F-4D97-AF65-F5344CB8AC3E}">
        <p14:creationId xmlns:p14="http://schemas.microsoft.com/office/powerpoint/2010/main" val="5756429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33046A-149D-AA9D-9CAD-AA971D2F1E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1FDEE6-5A62-70A2-E508-805B51040427}"/>
              </a:ext>
            </a:extLst>
          </p:cNvPr>
          <p:cNvSpPr>
            <a:spLocks noGrp="1"/>
          </p:cNvSpPr>
          <p:nvPr>
            <p:ph type="title"/>
          </p:nvPr>
        </p:nvSpPr>
        <p:spPr>
          <a:xfrm>
            <a:off x="2233225" y="375345"/>
            <a:ext cx="7729728" cy="1188720"/>
          </a:xfrm>
        </p:spPr>
        <p:txBody>
          <a:bodyPr/>
          <a:lstStyle/>
          <a:p>
            <a:r>
              <a:rPr lang="en-US" dirty="0"/>
              <a:t>DSATUR (Degree of saturation)</a:t>
            </a:r>
          </a:p>
        </p:txBody>
      </p:sp>
      <p:sp>
        <p:nvSpPr>
          <p:cNvPr id="12" name="Slide Number Placeholder 11">
            <a:extLst>
              <a:ext uri="{FF2B5EF4-FFF2-40B4-BE49-F238E27FC236}">
                <a16:creationId xmlns:a16="http://schemas.microsoft.com/office/drawing/2014/main" id="{5F078966-ADBD-B902-442D-45C7ADC657B8}"/>
              </a:ext>
            </a:extLst>
          </p:cNvPr>
          <p:cNvSpPr>
            <a:spLocks noGrp="1"/>
          </p:cNvSpPr>
          <p:nvPr>
            <p:ph type="sldNum" sz="quarter" idx="12"/>
          </p:nvPr>
        </p:nvSpPr>
        <p:spPr/>
        <p:txBody>
          <a:bodyPr/>
          <a:lstStyle/>
          <a:p>
            <a:fld id="{3DD08374-E544-47A5-94AF-CF56056772CB}" type="slidenum">
              <a:rPr lang="en-US" smtClean="0"/>
              <a:t>77</a:t>
            </a:fld>
            <a:endParaRPr lang="en-US"/>
          </a:p>
        </p:txBody>
      </p:sp>
      <p:sp>
        <p:nvSpPr>
          <p:cNvPr id="4" name="TextBox 3">
            <a:extLst>
              <a:ext uri="{FF2B5EF4-FFF2-40B4-BE49-F238E27FC236}">
                <a16:creationId xmlns:a16="http://schemas.microsoft.com/office/drawing/2014/main" id="{7EF250B9-0875-4215-6F3A-59A747DA6B03}"/>
              </a:ext>
            </a:extLst>
          </p:cNvPr>
          <p:cNvSpPr txBox="1"/>
          <p:nvPr/>
        </p:nvSpPr>
        <p:spPr>
          <a:xfrm>
            <a:off x="1423448" y="2967335"/>
            <a:ext cx="3535051" cy="923330"/>
          </a:xfrm>
          <a:prstGeom prst="rect">
            <a:avLst/>
          </a:prstGeom>
          <a:noFill/>
        </p:spPr>
        <p:txBody>
          <a:bodyPr wrap="square" rtlCol="0">
            <a:spAutoFit/>
          </a:bodyPr>
          <a:lstStyle/>
          <a:p>
            <a:pPr marL="342900" indent="-342900">
              <a:buAutoNum type="arabicPeriod"/>
            </a:pPr>
            <a:r>
              <a:rPr lang="en-US" dirty="0"/>
              <a:t>Choose the vertex with highest </a:t>
            </a:r>
            <a:r>
              <a:rPr lang="en-US" b="1" dirty="0"/>
              <a:t>saturation degree</a:t>
            </a:r>
          </a:p>
          <a:p>
            <a:pPr marL="342900" indent="-342900">
              <a:buAutoNum type="arabicPeriod"/>
            </a:pPr>
            <a:endParaRPr lang="en-US" dirty="0"/>
          </a:p>
        </p:txBody>
      </p:sp>
      <p:sp>
        <p:nvSpPr>
          <p:cNvPr id="3" name="Oval 2">
            <a:extLst>
              <a:ext uri="{FF2B5EF4-FFF2-40B4-BE49-F238E27FC236}">
                <a16:creationId xmlns:a16="http://schemas.microsoft.com/office/drawing/2014/main" id="{E5E1C3C8-5ECC-B607-9230-476F93F0A8DA}"/>
              </a:ext>
            </a:extLst>
          </p:cNvPr>
          <p:cNvSpPr/>
          <p:nvPr/>
        </p:nvSpPr>
        <p:spPr>
          <a:xfrm>
            <a:off x="6567340" y="3979146"/>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A</a:t>
            </a:r>
          </a:p>
        </p:txBody>
      </p:sp>
      <p:sp>
        <p:nvSpPr>
          <p:cNvPr id="5" name="Oval 4">
            <a:extLst>
              <a:ext uri="{FF2B5EF4-FFF2-40B4-BE49-F238E27FC236}">
                <a16:creationId xmlns:a16="http://schemas.microsoft.com/office/drawing/2014/main" id="{82C89003-7212-6B79-711B-AB650D6EB032}"/>
              </a:ext>
            </a:extLst>
          </p:cNvPr>
          <p:cNvSpPr/>
          <p:nvPr/>
        </p:nvSpPr>
        <p:spPr>
          <a:xfrm>
            <a:off x="7530445" y="2613830"/>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B</a:t>
            </a:r>
          </a:p>
        </p:txBody>
      </p:sp>
      <p:sp>
        <p:nvSpPr>
          <p:cNvPr id="6" name="Oval 5">
            <a:extLst>
              <a:ext uri="{FF2B5EF4-FFF2-40B4-BE49-F238E27FC236}">
                <a16:creationId xmlns:a16="http://schemas.microsoft.com/office/drawing/2014/main" id="{D176A704-18A6-B008-7EA1-A088B52D59A3}"/>
              </a:ext>
            </a:extLst>
          </p:cNvPr>
          <p:cNvSpPr/>
          <p:nvPr/>
        </p:nvSpPr>
        <p:spPr>
          <a:xfrm>
            <a:off x="8991600" y="3979145"/>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C</a:t>
            </a:r>
          </a:p>
        </p:txBody>
      </p:sp>
      <p:sp>
        <p:nvSpPr>
          <p:cNvPr id="7" name="Oval 6">
            <a:extLst>
              <a:ext uri="{FF2B5EF4-FFF2-40B4-BE49-F238E27FC236}">
                <a16:creationId xmlns:a16="http://schemas.microsoft.com/office/drawing/2014/main" id="{66778927-C7C8-5197-7CED-5ED0C8144303}"/>
              </a:ext>
            </a:extLst>
          </p:cNvPr>
          <p:cNvSpPr/>
          <p:nvPr/>
        </p:nvSpPr>
        <p:spPr>
          <a:xfrm>
            <a:off x="9877719" y="2613830"/>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D</a:t>
            </a:r>
          </a:p>
        </p:txBody>
      </p:sp>
      <p:cxnSp>
        <p:nvCxnSpPr>
          <p:cNvPr id="8" name="Straight Connector 7">
            <a:extLst>
              <a:ext uri="{FF2B5EF4-FFF2-40B4-BE49-F238E27FC236}">
                <a16:creationId xmlns:a16="http://schemas.microsoft.com/office/drawing/2014/main" id="{1DC43F40-9E0E-906D-BA5C-960E08FB117E}"/>
              </a:ext>
            </a:extLst>
          </p:cNvPr>
          <p:cNvCxnSpPr>
            <a:cxnSpLocks/>
            <a:stCxn id="5" idx="3"/>
            <a:endCxn id="3" idx="0"/>
          </p:cNvCxnSpPr>
          <p:nvPr/>
        </p:nvCxnSpPr>
        <p:spPr>
          <a:xfrm flipH="1">
            <a:off x="6838361" y="3076491"/>
            <a:ext cx="771464" cy="902655"/>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6B043D4-EF82-4E48-B186-FA7703B41AF6}"/>
              </a:ext>
            </a:extLst>
          </p:cNvPr>
          <p:cNvCxnSpPr>
            <a:cxnSpLocks/>
            <a:stCxn id="6" idx="1"/>
            <a:endCxn id="5" idx="5"/>
          </p:cNvCxnSpPr>
          <p:nvPr/>
        </p:nvCxnSpPr>
        <p:spPr>
          <a:xfrm flipH="1" flipV="1">
            <a:off x="7993106" y="3076491"/>
            <a:ext cx="1077874" cy="98203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56EAF213-84BA-11B5-8353-D267381AD5DB}"/>
              </a:ext>
            </a:extLst>
          </p:cNvPr>
          <p:cNvCxnSpPr>
            <a:cxnSpLocks/>
            <a:stCxn id="6" idx="7"/>
            <a:endCxn id="7" idx="4"/>
          </p:cNvCxnSpPr>
          <p:nvPr/>
        </p:nvCxnSpPr>
        <p:spPr>
          <a:xfrm flipV="1">
            <a:off x="9454261" y="3155871"/>
            <a:ext cx="694479" cy="902654"/>
          </a:xfrm>
          <a:prstGeom prst="line">
            <a:avLst/>
          </a:prstGeom>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6A370465-645D-9AB8-31A6-E42970EBF8B8}"/>
              </a:ext>
            </a:extLst>
          </p:cNvPr>
          <p:cNvSpPr txBox="1"/>
          <p:nvPr/>
        </p:nvSpPr>
        <p:spPr>
          <a:xfrm>
            <a:off x="7258639" y="5872899"/>
            <a:ext cx="2479250" cy="369332"/>
          </a:xfrm>
          <a:prstGeom prst="rect">
            <a:avLst/>
          </a:prstGeom>
          <a:noFill/>
        </p:spPr>
        <p:txBody>
          <a:bodyPr wrap="square" rtlCol="0">
            <a:spAutoFit/>
          </a:bodyPr>
          <a:lstStyle/>
          <a:p>
            <a:r>
              <a:rPr lang="en-US" dirty="0"/>
              <a:t>Distance-2 coloring</a:t>
            </a:r>
          </a:p>
        </p:txBody>
      </p:sp>
      <p:sp>
        <p:nvSpPr>
          <p:cNvPr id="14" name="TextBox 13">
            <a:extLst>
              <a:ext uri="{FF2B5EF4-FFF2-40B4-BE49-F238E27FC236}">
                <a16:creationId xmlns:a16="http://schemas.microsoft.com/office/drawing/2014/main" id="{00790E89-4C96-C7F0-5CB2-ABEB4557A80D}"/>
              </a:ext>
            </a:extLst>
          </p:cNvPr>
          <p:cNvSpPr txBox="1"/>
          <p:nvPr/>
        </p:nvSpPr>
        <p:spPr>
          <a:xfrm>
            <a:off x="6652574" y="4541674"/>
            <a:ext cx="456807" cy="369332"/>
          </a:xfrm>
          <a:prstGeom prst="rect">
            <a:avLst/>
          </a:prstGeom>
          <a:noFill/>
        </p:spPr>
        <p:txBody>
          <a:bodyPr wrap="square" rtlCol="0">
            <a:spAutoFit/>
          </a:bodyPr>
          <a:lstStyle/>
          <a:p>
            <a:r>
              <a:rPr lang="en-US" dirty="0"/>
              <a:t>[ ]</a:t>
            </a:r>
          </a:p>
        </p:txBody>
      </p:sp>
      <p:sp>
        <p:nvSpPr>
          <p:cNvPr id="15" name="TextBox 14">
            <a:extLst>
              <a:ext uri="{FF2B5EF4-FFF2-40B4-BE49-F238E27FC236}">
                <a16:creationId xmlns:a16="http://schemas.microsoft.com/office/drawing/2014/main" id="{A2FEA8F9-B7E5-05DC-E41E-4492F0786FF9}"/>
              </a:ext>
            </a:extLst>
          </p:cNvPr>
          <p:cNvSpPr txBox="1"/>
          <p:nvPr/>
        </p:nvSpPr>
        <p:spPr>
          <a:xfrm>
            <a:off x="9076834" y="4550626"/>
            <a:ext cx="456807" cy="369332"/>
          </a:xfrm>
          <a:prstGeom prst="rect">
            <a:avLst/>
          </a:prstGeom>
          <a:noFill/>
        </p:spPr>
        <p:txBody>
          <a:bodyPr wrap="square" rtlCol="0">
            <a:spAutoFit/>
          </a:bodyPr>
          <a:lstStyle/>
          <a:p>
            <a:r>
              <a:rPr lang="en-US" dirty="0"/>
              <a:t>[ ]</a:t>
            </a:r>
          </a:p>
        </p:txBody>
      </p:sp>
      <p:sp>
        <p:nvSpPr>
          <p:cNvPr id="16" name="TextBox 15">
            <a:extLst>
              <a:ext uri="{FF2B5EF4-FFF2-40B4-BE49-F238E27FC236}">
                <a16:creationId xmlns:a16="http://schemas.microsoft.com/office/drawing/2014/main" id="{A362424D-498F-BEF6-99FD-571297962D93}"/>
              </a:ext>
            </a:extLst>
          </p:cNvPr>
          <p:cNvSpPr txBox="1"/>
          <p:nvPr/>
        </p:nvSpPr>
        <p:spPr>
          <a:xfrm>
            <a:off x="7573061" y="1799972"/>
            <a:ext cx="456807" cy="369332"/>
          </a:xfrm>
          <a:prstGeom prst="rect">
            <a:avLst/>
          </a:prstGeom>
          <a:noFill/>
        </p:spPr>
        <p:txBody>
          <a:bodyPr wrap="square" rtlCol="0">
            <a:spAutoFit/>
          </a:bodyPr>
          <a:lstStyle/>
          <a:p>
            <a:r>
              <a:rPr lang="en-US" dirty="0"/>
              <a:t>[ ]</a:t>
            </a:r>
          </a:p>
        </p:txBody>
      </p:sp>
      <p:sp>
        <p:nvSpPr>
          <p:cNvPr id="17" name="TextBox 16">
            <a:extLst>
              <a:ext uri="{FF2B5EF4-FFF2-40B4-BE49-F238E27FC236}">
                <a16:creationId xmlns:a16="http://schemas.microsoft.com/office/drawing/2014/main" id="{3DE6C2F4-5DAF-6574-F924-95FDBB828A97}"/>
              </a:ext>
            </a:extLst>
          </p:cNvPr>
          <p:cNvSpPr txBox="1"/>
          <p:nvPr/>
        </p:nvSpPr>
        <p:spPr>
          <a:xfrm>
            <a:off x="9962953" y="1772683"/>
            <a:ext cx="456807" cy="369332"/>
          </a:xfrm>
          <a:prstGeom prst="rect">
            <a:avLst/>
          </a:prstGeom>
          <a:noFill/>
        </p:spPr>
        <p:txBody>
          <a:bodyPr wrap="square" rtlCol="0">
            <a:spAutoFit/>
          </a:bodyPr>
          <a:lstStyle/>
          <a:p>
            <a:r>
              <a:rPr lang="en-US" dirty="0"/>
              <a:t>[ ]</a:t>
            </a:r>
          </a:p>
        </p:txBody>
      </p:sp>
    </p:spTree>
    <p:extLst>
      <p:ext uri="{BB962C8B-B14F-4D97-AF65-F5344CB8AC3E}">
        <p14:creationId xmlns:p14="http://schemas.microsoft.com/office/powerpoint/2010/main" val="14090888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C95CB2-B952-8F18-0553-B64D9DBED4D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CEA4CF9-F92F-CA83-10F6-A5ADEC14BF5F}"/>
              </a:ext>
            </a:extLst>
          </p:cNvPr>
          <p:cNvSpPr txBox="1"/>
          <p:nvPr/>
        </p:nvSpPr>
        <p:spPr>
          <a:xfrm>
            <a:off x="1423448" y="2967335"/>
            <a:ext cx="3535051" cy="1477328"/>
          </a:xfrm>
          <a:prstGeom prst="rect">
            <a:avLst/>
          </a:prstGeom>
          <a:noFill/>
        </p:spPr>
        <p:txBody>
          <a:bodyPr wrap="square" rtlCol="0">
            <a:spAutoFit/>
          </a:bodyPr>
          <a:lstStyle/>
          <a:p>
            <a:pPr marL="342900" indent="-342900">
              <a:buAutoNum type="arabicPeriod"/>
            </a:pPr>
            <a:r>
              <a:rPr lang="en-US" dirty="0"/>
              <a:t>Choose the vertex with highest </a:t>
            </a:r>
            <a:r>
              <a:rPr lang="en-US" b="1" dirty="0"/>
              <a:t>saturation degree</a:t>
            </a:r>
          </a:p>
          <a:p>
            <a:pPr marL="800100" lvl="1" indent="-342900">
              <a:buFont typeface="Arial" panose="020B0604020202020204" pitchFamily="34" charset="0"/>
              <a:buChar char="•"/>
            </a:pPr>
            <a:r>
              <a:rPr lang="en-US" dirty="0"/>
              <a:t>In case of tie, choose the one with highest degree</a:t>
            </a:r>
          </a:p>
          <a:p>
            <a:pPr marL="342900" indent="-342900">
              <a:buAutoNum type="arabicPeriod"/>
            </a:pPr>
            <a:endParaRPr lang="en-US" dirty="0"/>
          </a:p>
        </p:txBody>
      </p:sp>
      <p:sp>
        <p:nvSpPr>
          <p:cNvPr id="3" name="Oval 2">
            <a:extLst>
              <a:ext uri="{FF2B5EF4-FFF2-40B4-BE49-F238E27FC236}">
                <a16:creationId xmlns:a16="http://schemas.microsoft.com/office/drawing/2014/main" id="{2E0F3D89-FA61-8D35-CFB0-3ADB74373A75}"/>
              </a:ext>
            </a:extLst>
          </p:cNvPr>
          <p:cNvSpPr/>
          <p:nvPr/>
        </p:nvSpPr>
        <p:spPr>
          <a:xfrm>
            <a:off x="6567340" y="3979146"/>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A</a:t>
            </a:r>
          </a:p>
        </p:txBody>
      </p:sp>
      <p:sp>
        <p:nvSpPr>
          <p:cNvPr id="5" name="Oval 4">
            <a:extLst>
              <a:ext uri="{FF2B5EF4-FFF2-40B4-BE49-F238E27FC236}">
                <a16:creationId xmlns:a16="http://schemas.microsoft.com/office/drawing/2014/main" id="{8D2F1AF1-3207-6380-2253-8F83A591C588}"/>
              </a:ext>
            </a:extLst>
          </p:cNvPr>
          <p:cNvSpPr/>
          <p:nvPr/>
        </p:nvSpPr>
        <p:spPr>
          <a:xfrm>
            <a:off x="7530445" y="2613830"/>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B</a:t>
            </a:r>
          </a:p>
        </p:txBody>
      </p:sp>
      <p:sp>
        <p:nvSpPr>
          <p:cNvPr id="6" name="Oval 5">
            <a:extLst>
              <a:ext uri="{FF2B5EF4-FFF2-40B4-BE49-F238E27FC236}">
                <a16:creationId xmlns:a16="http://schemas.microsoft.com/office/drawing/2014/main" id="{4C3E1C81-CA6E-E96C-66DE-620774F76C9E}"/>
              </a:ext>
            </a:extLst>
          </p:cNvPr>
          <p:cNvSpPr/>
          <p:nvPr/>
        </p:nvSpPr>
        <p:spPr>
          <a:xfrm>
            <a:off x="8991600" y="3979145"/>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C</a:t>
            </a:r>
          </a:p>
        </p:txBody>
      </p:sp>
      <p:sp>
        <p:nvSpPr>
          <p:cNvPr id="7" name="Oval 6">
            <a:extLst>
              <a:ext uri="{FF2B5EF4-FFF2-40B4-BE49-F238E27FC236}">
                <a16:creationId xmlns:a16="http://schemas.microsoft.com/office/drawing/2014/main" id="{A0D7A522-A822-3EC6-33F2-738900765DD5}"/>
              </a:ext>
            </a:extLst>
          </p:cNvPr>
          <p:cNvSpPr/>
          <p:nvPr/>
        </p:nvSpPr>
        <p:spPr>
          <a:xfrm>
            <a:off x="9877719" y="2613830"/>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D</a:t>
            </a:r>
          </a:p>
        </p:txBody>
      </p:sp>
      <p:cxnSp>
        <p:nvCxnSpPr>
          <p:cNvPr id="8" name="Straight Connector 7">
            <a:extLst>
              <a:ext uri="{FF2B5EF4-FFF2-40B4-BE49-F238E27FC236}">
                <a16:creationId xmlns:a16="http://schemas.microsoft.com/office/drawing/2014/main" id="{C3D6334E-AC24-DBF8-4C08-D57BD40EE053}"/>
              </a:ext>
            </a:extLst>
          </p:cNvPr>
          <p:cNvCxnSpPr>
            <a:cxnSpLocks/>
            <a:stCxn id="5" idx="3"/>
            <a:endCxn id="3" idx="0"/>
          </p:cNvCxnSpPr>
          <p:nvPr/>
        </p:nvCxnSpPr>
        <p:spPr>
          <a:xfrm flipH="1">
            <a:off x="6838361" y="3076491"/>
            <a:ext cx="771464" cy="902655"/>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67B2CD14-80F7-C47C-B609-148549DBCBBA}"/>
              </a:ext>
            </a:extLst>
          </p:cNvPr>
          <p:cNvCxnSpPr>
            <a:cxnSpLocks/>
            <a:stCxn id="6" idx="1"/>
            <a:endCxn id="5" idx="5"/>
          </p:cNvCxnSpPr>
          <p:nvPr/>
        </p:nvCxnSpPr>
        <p:spPr>
          <a:xfrm flipH="1" flipV="1">
            <a:off x="7993106" y="3076491"/>
            <a:ext cx="1077874" cy="98203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0A8042F-ABF8-B46A-93B2-11B3F950EA83}"/>
              </a:ext>
            </a:extLst>
          </p:cNvPr>
          <p:cNvCxnSpPr>
            <a:cxnSpLocks/>
            <a:stCxn id="6" idx="7"/>
            <a:endCxn id="7" idx="4"/>
          </p:cNvCxnSpPr>
          <p:nvPr/>
        </p:nvCxnSpPr>
        <p:spPr>
          <a:xfrm flipV="1">
            <a:off x="9454261" y="3155871"/>
            <a:ext cx="694479" cy="902654"/>
          </a:xfrm>
          <a:prstGeom prst="line">
            <a:avLst/>
          </a:prstGeom>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CC7A03E0-4A79-899E-A123-F2A893F304A4}"/>
              </a:ext>
            </a:extLst>
          </p:cNvPr>
          <p:cNvSpPr txBox="1"/>
          <p:nvPr/>
        </p:nvSpPr>
        <p:spPr>
          <a:xfrm>
            <a:off x="7258639" y="5872899"/>
            <a:ext cx="2479250" cy="369332"/>
          </a:xfrm>
          <a:prstGeom prst="rect">
            <a:avLst/>
          </a:prstGeom>
          <a:noFill/>
        </p:spPr>
        <p:txBody>
          <a:bodyPr wrap="square" rtlCol="0">
            <a:spAutoFit/>
          </a:bodyPr>
          <a:lstStyle/>
          <a:p>
            <a:r>
              <a:rPr lang="en-US" dirty="0"/>
              <a:t>Distance-2 coloring</a:t>
            </a:r>
          </a:p>
        </p:txBody>
      </p:sp>
      <p:sp>
        <p:nvSpPr>
          <p:cNvPr id="14" name="TextBox 13">
            <a:extLst>
              <a:ext uri="{FF2B5EF4-FFF2-40B4-BE49-F238E27FC236}">
                <a16:creationId xmlns:a16="http://schemas.microsoft.com/office/drawing/2014/main" id="{89FC6B42-957E-B0A2-81F0-3468797BF92C}"/>
              </a:ext>
            </a:extLst>
          </p:cNvPr>
          <p:cNvSpPr txBox="1"/>
          <p:nvPr/>
        </p:nvSpPr>
        <p:spPr>
          <a:xfrm>
            <a:off x="6652574" y="4541674"/>
            <a:ext cx="456807" cy="369332"/>
          </a:xfrm>
          <a:prstGeom prst="rect">
            <a:avLst/>
          </a:prstGeom>
          <a:noFill/>
        </p:spPr>
        <p:txBody>
          <a:bodyPr wrap="square" rtlCol="0">
            <a:spAutoFit/>
          </a:bodyPr>
          <a:lstStyle/>
          <a:p>
            <a:r>
              <a:rPr lang="en-US" dirty="0"/>
              <a:t>[ ]</a:t>
            </a:r>
          </a:p>
        </p:txBody>
      </p:sp>
      <p:sp>
        <p:nvSpPr>
          <p:cNvPr id="15" name="TextBox 14">
            <a:extLst>
              <a:ext uri="{FF2B5EF4-FFF2-40B4-BE49-F238E27FC236}">
                <a16:creationId xmlns:a16="http://schemas.microsoft.com/office/drawing/2014/main" id="{0C97B49B-A78C-597B-83B7-C81E0ABFF377}"/>
              </a:ext>
            </a:extLst>
          </p:cNvPr>
          <p:cNvSpPr txBox="1"/>
          <p:nvPr/>
        </p:nvSpPr>
        <p:spPr>
          <a:xfrm>
            <a:off x="9076834" y="4550626"/>
            <a:ext cx="456807" cy="369332"/>
          </a:xfrm>
          <a:prstGeom prst="rect">
            <a:avLst/>
          </a:prstGeom>
          <a:noFill/>
        </p:spPr>
        <p:txBody>
          <a:bodyPr wrap="square" rtlCol="0">
            <a:spAutoFit/>
          </a:bodyPr>
          <a:lstStyle/>
          <a:p>
            <a:r>
              <a:rPr lang="en-US" dirty="0"/>
              <a:t>[ ]</a:t>
            </a:r>
          </a:p>
        </p:txBody>
      </p:sp>
      <p:sp>
        <p:nvSpPr>
          <p:cNvPr id="16" name="TextBox 15">
            <a:extLst>
              <a:ext uri="{FF2B5EF4-FFF2-40B4-BE49-F238E27FC236}">
                <a16:creationId xmlns:a16="http://schemas.microsoft.com/office/drawing/2014/main" id="{68644280-0CDE-5028-6A65-28FBEFF07074}"/>
              </a:ext>
            </a:extLst>
          </p:cNvPr>
          <p:cNvSpPr txBox="1"/>
          <p:nvPr/>
        </p:nvSpPr>
        <p:spPr>
          <a:xfrm>
            <a:off x="7573061" y="1799972"/>
            <a:ext cx="456807" cy="369332"/>
          </a:xfrm>
          <a:prstGeom prst="rect">
            <a:avLst/>
          </a:prstGeom>
          <a:noFill/>
        </p:spPr>
        <p:txBody>
          <a:bodyPr wrap="square" rtlCol="0">
            <a:spAutoFit/>
          </a:bodyPr>
          <a:lstStyle/>
          <a:p>
            <a:r>
              <a:rPr lang="en-US" dirty="0"/>
              <a:t>[ ]</a:t>
            </a:r>
          </a:p>
        </p:txBody>
      </p:sp>
      <p:sp>
        <p:nvSpPr>
          <p:cNvPr id="17" name="TextBox 16">
            <a:extLst>
              <a:ext uri="{FF2B5EF4-FFF2-40B4-BE49-F238E27FC236}">
                <a16:creationId xmlns:a16="http://schemas.microsoft.com/office/drawing/2014/main" id="{3938B465-A21C-535D-0880-1D84F355DAC5}"/>
              </a:ext>
            </a:extLst>
          </p:cNvPr>
          <p:cNvSpPr txBox="1"/>
          <p:nvPr/>
        </p:nvSpPr>
        <p:spPr>
          <a:xfrm>
            <a:off x="9962953" y="1772683"/>
            <a:ext cx="456807" cy="369332"/>
          </a:xfrm>
          <a:prstGeom prst="rect">
            <a:avLst/>
          </a:prstGeom>
          <a:noFill/>
        </p:spPr>
        <p:txBody>
          <a:bodyPr wrap="square" rtlCol="0">
            <a:spAutoFit/>
          </a:bodyPr>
          <a:lstStyle/>
          <a:p>
            <a:r>
              <a:rPr lang="en-US" dirty="0"/>
              <a:t>[ ]</a:t>
            </a:r>
          </a:p>
        </p:txBody>
      </p:sp>
      <p:sp>
        <p:nvSpPr>
          <p:cNvPr id="18" name="Title 1">
            <a:extLst>
              <a:ext uri="{FF2B5EF4-FFF2-40B4-BE49-F238E27FC236}">
                <a16:creationId xmlns:a16="http://schemas.microsoft.com/office/drawing/2014/main" id="{EAB17242-F181-A4E0-D87A-817400C08D9E}"/>
              </a:ext>
            </a:extLst>
          </p:cNvPr>
          <p:cNvSpPr>
            <a:spLocks noGrp="1"/>
          </p:cNvSpPr>
          <p:nvPr>
            <p:ph type="title"/>
          </p:nvPr>
        </p:nvSpPr>
        <p:spPr>
          <a:xfrm>
            <a:off x="2233225" y="375345"/>
            <a:ext cx="7729728" cy="1188720"/>
          </a:xfrm>
        </p:spPr>
        <p:txBody>
          <a:bodyPr/>
          <a:lstStyle/>
          <a:p>
            <a:r>
              <a:rPr lang="en-US" dirty="0"/>
              <a:t>DSATUR (Degree of saturation)</a:t>
            </a:r>
          </a:p>
        </p:txBody>
      </p:sp>
      <p:sp>
        <p:nvSpPr>
          <p:cNvPr id="11" name="Slide Number Placeholder 10">
            <a:extLst>
              <a:ext uri="{FF2B5EF4-FFF2-40B4-BE49-F238E27FC236}">
                <a16:creationId xmlns:a16="http://schemas.microsoft.com/office/drawing/2014/main" id="{8C643C17-F2AE-054D-6B12-54D340F5E182}"/>
              </a:ext>
            </a:extLst>
          </p:cNvPr>
          <p:cNvSpPr>
            <a:spLocks noGrp="1"/>
          </p:cNvSpPr>
          <p:nvPr>
            <p:ph type="sldNum" sz="quarter" idx="12"/>
          </p:nvPr>
        </p:nvSpPr>
        <p:spPr/>
        <p:txBody>
          <a:bodyPr/>
          <a:lstStyle/>
          <a:p>
            <a:fld id="{3DD08374-E544-47A5-94AF-CF56056772CB}" type="slidenum">
              <a:rPr lang="en-US" smtClean="0"/>
              <a:t>78</a:t>
            </a:fld>
            <a:endParaRPr lang="en-US"/>
          </a:p>
        </p:txBody>
      </p:sp>
    </p:spTree>
    <p:extLst>
      <p:ext uri="{BB962C8B-B14F-4D97-AF65-F5344CB8AC3E}">
        <p14:creationId xmlns:p14="http://schemas.microsoft.com/office/powerpoint/2010/main" val="239734885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927730-0CEF-868C-FF70-3B829A403AB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B6842A9-CD5C-F483-5BF2-1C81EC1BB8E9}"/>
              </a:ext>
            </a:extLst>
          </p:cNvPr>
          <p:cNvSpPr txBox="1"/>
          <p:nvPr/>
        </p:nvSpPr>
        <p:spPr>
          <a:xfrm>
            <a:off x="1423448" y="2967335"/>
            <a:ext cx="3535051" cy="1477328"/>
          </a:xfrm>
          <a:prstGeom prst="rect">
            <a:avLst/>
          </a:prstGeom>
          <a:noFill/>
        </p:spPr>
        <p:txBody>
          <a:bodyPr wrap="square" rtlCol="0">
            <a:spAutoFit/>
          </a:bodyPr>
          <a:lstStyle/>
          <a:p>
            <a:pPr marL="342900" indent="-342900">
              <a:buAutoNum type="arabicPeriod"/>
            </a:pPr>
            <a:r>
              <a:rPr lang="en-US" dirty="0"/>
              <a:t>Choose the vertex with highest </a:t>
            </a:r>
            <a:r>
              <a:rPr lang="en-US" b="1" dirty="0"/>
              <a:t>saturation degree</a:t>
            </a:r>
          </a:p>
          <a:p>
            <a:pPr marL="800100" lvl="1" indent="-342900">
              <a:buFont typeface="Arial" panose="020B0604020202020204" pitchFamily="34" charset="0"/>
              <a:buChar char="•"/>
            </a:pPr>
            <a:r>
              <a:rPr lang="en-US" dirty="0"/>
              <a:t>In case of tie, choose the one with highest degree</a:t>
            </a:r>
            <a:endParaRPr lang="en-US" b="1" dirty="0"/>
          </a:p>
          <a:p>
            <a:pPr marL="342900" indent="-342900">
              <a:buAutoNum type="arabicPeriod"/>
            </a:pPr>
            <a:endParaRPr lang="en-US" dirty="0"/>
          </a:p>
        </p:txBody>
      </p:sp>
      <p:sp>
        <p:nvSpPr>
          <p:cNvPr id="3" name="Oval 2">
            <a:extLst>
              <a:ext uri="{FF2B5EF4-FFF2-40B4-BE49-F238E27FC236}">
                <a16:creationId xmlns:a16="http://schemas.microsoft.com/office/drawing/2014/main" id="{BBA5EA16-409A-CE8D-38E6-5EF612C2A0AF}"/>
              </a:ext>
            </a:extLst>
          </p:cNvPr>
          <p:cNvSpPr/>
          <p:nvPr/>
        </p:nvSpPr>
        <p:spPr>
          <a:xfrm>
            <a:off x="6567340" y="3979146"/>
            <a:ext cx="542041" cy="542041"/>
          </a:xfrm>
          <a:prstGeom prst="ellipse">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A</a:t>
            </a:r>
          </a:p>
        </p:txBody>
      </p:sp>
      <p:sp>
        <p:nvSpPr>
          <p:cNvPr id="5" name="Oval 4">
            <a:extLst>
              <a:ext uri="{FF2B5EF4-FFF2-40B4-BE49-F238E27FC236}">
                <a16:creationId xmlns:a16="http://schemas.microsoft.com/office/drawing/2014/main" id="{FA27F39A-5FB9-1C6C-5AF9-6711A7F5C290}"/>
              </a:ext>
            </a:extLst>
          </p:cNvPr>
          <p:cNvSpPr/>
          <p:nvPr/>
        </p:nvSpPr>
        <p:spPr>
          <a:xfrm>
            <a:off x="7530445" y="2613830"/>
            <a:ext cx="542041" cy="542041"/>
          </a:xfrm>
          <a:prstGeom prst="ellipse">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B</a:t>
            </a:r>
          </a:p>
        </p:txBody>
      </p:sp>
      <p:sp>
        <p:nvSpPr>
          <p:cNvPr id="6" name="Oval 5">
            <a:extLst>
              <a:ext uri="{FF2B5EF4-FFF2-40B4-BE49-F238E27FC236}">
                <a16:creationId xmlns:a16="http://schemas.microsoft.com/office/drawing/2014/main" id="{F845BDFD-E96D-9D7E-9E89-639AF65C58DA}"/>
              </a:ext>
            </a:extLst>
          </p:cNvPr>
          <p:cNvSpPr/>
          <p:nvPr/>
        </p:nvSpPr>
        <p:spPr>
          <a:xfrm>
            <a:off x="8991600" y="3979145"/>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C</a:t>
            </a:r>
          </a:p>
        </p:txBody>
      </p:sp>
      <p:sp>
        <p:nvSpPr>
          <p:cNvPr id="7" name="Oval 6">
            <a:extLst>
              <a:ext uri="{FF2B5EF4-FFF2-40B4-BE49-F238E27FC236}">
                <a16:creationId xmlns:a16="http://schemas.microsoft.com/office/drawing/2014/main" id="{73916942-84F5-F46B-BA4C-7EAACEBC8844}"/>
              </a:ext>
            </a:extLst>
          </p:cNvPr>
          <p:cNvSpPr/>
          <p:nvPr/>
        </p:nvSpPr>
        <p:spPr>
          <a:xfrm>
            <a:off x="9877719" y="2613830"/>
            <a:ext cx="542041" cy="542041"/>
          </a:xfrm>
          <a:prstGeom prst="ellipse">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D</a:t>
            </a:r>
          </a:p>
        </p:txBody>
      </p:sp>
      <p:cxnSp>
        <p:nvCxnSpPr>
          <p:cNvPr id="8" name="Straight Connector 7">
            <a:extLst>
              <a:ext uri="{FF2B5EF4-FFF2-40B4-BE49-F238E27FC236}">
                <a16:creationId xmlns:a16="http://schemas.microsoft.com/office/drawing/2014/main" id="{D2A1A5BC-8318-2C1A-A8D3-80D623CEC08C}"/>
              </a:ext>
            </a:extLst>
          </p:cNvPr>
          <p:cNvCxnSpPr>
            <a:cxnSpLocks/>
            <a:stCxn id="5" idx="3"/>
            <a:endCxn id="3" idx="0"/>
          </p:cNvCxnSpPr>
          <p:nvPr/>
        </p:nvCxnSpPr>
        <p:spPr>
          <a:xfrm flipH="1">
            <a:off x="6838361" y="3076491"/>
            <a:ext cx="771464" cy="902655"/>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435E20A5-20C6-C146-0D1B-719BF0CF6949}"/>
              </a:ext>
            </a:extLst>
          </p:cNvPr>
          <p:cNvCxnSpPr>
            <a:cxnSpLocks/>
            <a:stCxn id="6" idx="1"/>
            <a:endCxn id="5" idx="5"/>
          </p:cNvCxnSpPr>
          <p:nvPr/>
        </p:nvCxnSpPr>
        <p:spPr>
          <a:xfrm flipH="1" flipV="1">
            <a:off x="7993106" y="3076491"/>
            <a:ext cx="1077874" cy="98203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CB1A28E6-48F1-4323-038F-3AA79C8B4E4C}"/>
              </a:ext>
            </a:extLst>
          </p:cNvPr>
          <p:cNvCxnSpPr>
            <a:cxnSpLocks/>
            <a:stCxn id="6" idx="7"/>
            <a:endCxn id="7" idx="4"/>
          </p:cNvCxnSpPr>
          <p:nvPr/>
        </p:nvCxnSpPr>
        <p:spPr>
          <a:xfrm flipV="1">
            <a:off x="9454261" y="3155871"/>
            <a:ext cx="694479" cy="902654"/>
          </a:xfrm>
          <a:prstGeom prst="line">
            <a:avLst/>
          </a:prstGeom>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5EBD4238-A958-624A-D658-B1FF86A58662}"/>
              </a:ext>
            </a:extLst>
          </p:cNvPr>
          <p:cNvSpPr txBox="1"/>
          <p:nvPr/>
        </p:nvSpPr>
        <p:spPr>
          <a:xfrm>
            <a:off x="7258639" y="5872899"/>
            <a:ext cx="2479250" cy="369332"/>
          </a:xfrm>
          <a:prstGeom prst="rect">
            <a:avLst/>
          </a:prstGeom>
          <a:noFill/>
        </p:spPr>
        <p:txBody>
          <a:bodyPr wrap="square" rtlCol="0">
            <a:spAutoFit/>
          </a:bodyPr>
          <a:lstStyle/>
          <a:p>
            <a:r>
              <a:rPr lang="en-US" dirty="0"/>
              <a:t>Distance-2 coloring</a:t>
            </a:r>
          </a:p>
        </p:txBody>
      </p:sp>
      <p:sp>
        <p:nvSpPr>
          <p:cNvPr id="14" name="TextBox 13">
            <a:extLst>
              <a:ext uri="{FF2B5EF4-FFF2-40B4-BE49-F238E27FC236}">
                <a16:creationId xmlns:a16="http://schemas.microsoft.com/office/drawing/2014/main" id="{5EC879B6-EA43-4418-4098-644C3E26363D}"/>
              </a:ext>
            </a:extLst>
          </p:cNvPr>
          <p:cNvSpPr txBox="1"/>
          <p:nvPr/>
        </p:nvSpPr>
        <p:spPr>
          <a:xfrm>
            <a:off x="6652574" y="4541674"/>
            <a:ext cx="456807" cy="369332"/>
          </a:xfrm>
          <a:prstGeom prst="rect">
            <a:avLst/>
          </a:prstGeom>
          <a:noFill/>
        </p:spPr>
        <p:txBody>
          <a:bodyPr wrap="square" rtlCol="0">
            <a:spAutoFit/>
          </a:bodyPr>
          <a:lstStyle/>
          <a:p>
            <a:r>
              <a:rPr lang="en-US" dirty="0"/>
              <a:t>[ ]</a:t>
            </a:r>
          </a:p>
        </p:txBody>
      </p:sp>
      <p:sp>
        <p:nvSpPr>
          <p:cNvPr id="15" name="TextBox 14">
            <a:extLst>
              <a:ext uri="{FF2B5EF4-FFF2-40B4-BE49-F238E27FC236}">
                <a16:creationId xmlns:a16="http://schemas.microsoft.com/office/drawing/2014/main" id="{35B36E5B-33D1-1134-69E0-459DF0F3F4D2}"/>
              </a:ext>
            </a:extLst>
          </p:cNvPr>
          <p:cNvSpPr txBox="1"/>
          <p:nvPr/>
        </p:nvSpPr>
        <p:spPr>
          <a:xfrm>
            <a:off x="9076834" y="4550626"/>
            <a:ext cx="456807" cy="369332"/>
          </a:xfrm>
          <a:prstGeom prst="rect">
            <a:avLst/>
          </a:prstGeom>
          <a:noFill/>
        </p:spPr>
        <p:txBody>
          <a:bodyPr wrap="square" rtlCol="0">
            <a:spAutoFit/>
          </a:bodyPr>
          <a:lstStyle/>
          <a:p>
            <a:r>
              <a:rPr lang="en-US" dirty="0"/>
              <a:t>[ ]</a:t>
            </a:r>
          </a:p>
        </p:txBody>
      </p:sp>
      <p:sp>
        <p:nvSpPr>
          <p:cNvPr id="16" name="TextBox 15">
            <a:extLst>
              <a:ext uri="{FF2B5EF4-FFF2-40B4-BE49-F238E27FC236}">
                <a16:creationId xmlns:a16="http://schemas.microsoft.com/office/drawing/2014/main" id="{26FB4644-CD03-EAC0-2FA0-BF52BDA719C9}"/>
              </a:ext>
            </a:extLst>
          </p:cNvPr>
          <p:cNvSpPr txBox="1"/>
          <p:nvPr/>
        </p:nvSpPr>
        <p:spPr>
          <a:xfrm>
            <a:off x="7573061" y="1799972"/>
            <a:ext cx="456807" cy="369332"/>
          </a:xfrm>
          <a:prstGeom prst="rect">
            <a:avLst/>
          </a:prstGeom>
          <a:noFill/>
        </p:spPr>
        <p:txBody>
          <a:bodyPr wrap="square" rtlCol="0">
            <a:spAutoFit/>
          </a:bodyPr>
          <a:lstStyle/>
          <a:p>
            <a:r>
              <a:rPr lang="en-US" dirty="0"/>
              <a:t>[ ]</a:t>
            </a:r>
          </a:p>
        </p:txBody>
      </p:sp>
      <p:sp>
        <p:nvSpPr>
          <p:cNvPr id="17" name="TextBox 16">
            <a:extLst>
              <a:ext uri="{FF2B5EF4-FFF2-40B4-BE49-F238E27FC236}">
                <a16:creationId xmlns:a16="http://schemas.microsoft.com/office/drawing/2014/main" id="{D3B6AA20-7C51-99BC-6B63-DF7640B110A6}"/>
              </a:ext>
            </a:extLst>
          </p:cNvPr>
          <p:cNvSpPr txBox="1"/>
          <p:nvPr/>
        </p:nvSpPr>
        <p:spPr>
          <a:xfrm>
            <a:off x="9962953" y="1772683"/>
            <a:ext cx="456807" cy="369332"/>
          </a:xfrm>
          <a:prstGeom prst="rect">
            <a:avLst/>
          </a:prstGeom>
          <a:noFill/>
        </p:spPr>
        <p:txBody>
          <a:bodyPr wrap="square" rtlCol="0">
            <a:spAutoFit/>
          </a:bodyPr>
          <a:lstStyle/>
          <a:p>
            <a:r>
              <a:rPr lang="en-US" dirty="0"/>
              <a:t>[ ]</a:t>
            </a:r>
          </a:p>
        </p:txBody>
      </p:sp>
      <p:sp>
        <p:nvSpPr>
          <p:cNvPr id="18" name="Title 1">
            <a:extLst>
              <a:ext uri="{FF2B5EF4-FFF2-40B4-BE49-F238E27FC236}">
                <a16:creationId xmlns:a16="http://schemas.microsoft.com/office/drawing/2014/main" id="{19AB802B-C2B7-F62E-253C-575C1AF34B83}"/>
              </a:ext>
            </a:extLst>
          </p:cNvPr>
          <p:cNvSpPr>
            <a:spLocks noGrp="1"/>
          </p:cNvSpPr>
          <p:nvPr>
            <p:ph type="title"/>
          </p:nvPr>
        </p:nvSpPr>
        <p:spPr>
          <a:xfrm>
            <a:off x="2233225" y="375345"/>
            <a:ext cx="7729728" cy="1188720"/>
          </a:xfrm>
        </p:spPr>
        <p:txBody>
          <a:bodyPr/>
          <a:lstStyle/>
          <a:p>
            <a:r>
              <a:rPr lang="en-US" dirty="0"/>
              <a:t>DSATUR (Degree of saturation)</a:t>
            </a:r>
          </a:p>
        </p:txBody>
      </p:sp>
      <p:sp>
        <p:nvSpPr>
          <p:cNvPr id="11" name="Slide Number Placeholder 10">
            <a:extLst>
              <a:ext uri="{FF2B5EF4-FFF2-40B4-BE49-F238E27FC236}">
                <a16:creationId xmlns:a16="http://schemas.microsoft.com/office/drawing/2014/main" id="{159CDACA-E355-2EE5-E6A2-A0EACB541B0C}"/>
              </a:ext>
            </a:extLst>
          </p:cNvPr>
          <p:cNvSpPr>
            <a:spLocks noGrp="1"/>
          </p:cNvSpPr>
          <p:nvPr>
            <p:ph type="sldNum" sz="quarter" idx="12"/>
          </p:nvPr>
        </p:nvSpPr>
        <p:spPr/>
        <p:txBody>
          <a:bodyPr/>
          <a:lstStyle/>
          <a:p>
            <a:fld id="{3DD08374-E544-47A5-94AF-CF56056772CB}" type="slidenum">
              <a:rPr lang="en-US" smtClean="0"/>
              <a:t>79</a:t>
            </a:fld>
            <a:endParaRPr lang="en-US"/>
          </a:p>
        </p:txBody>
      </p:sp>
    </p:spTree>
    <p:extLst>
      <p:ext uri="{BB962C8B-B14F-4D97-AF65-F5344CB8AC3E}">
        <p14:creationId xmlns:p14="http://schemas.microsoft.com/office/powerpoint/2010/main" val="318074025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CDEF84-8E1E-E9E8-AD63-578FAADAA0D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0ABB6E7-0582-2FCA-8CE5-8722D0B68C99}"/>
              </a:ext>
            </a:extLst>
          </p:cNvPr>
          <p:cNvSpPr txBox="1"/>
          <p:nvPr/>
        </p:nvSpPr>
        <p:spPr>
          <a:xfrm>
            <a:off x="1423448" y="2967335"/>
            <a:ext cx="3535051" cy="1477328"/>
          </a:xfrm>
          <a:prstGeom prst="rect">
            <a:avLst/>
          </a:prstGeom>
          <a:noFill/>
        </p:spPr>
        <p:txBody>
          <a:bodyPr wrap="square" rtlCol="0">
            <a:spAutoFit/>
          </a:bodyPr>
          <a:lstStyle/>
          <a:p>
            <a:pPr marL="342900" indent="-342900">
              <a:buAutoNum type="arabicPeriod"/>
            </a:pPr>
            <a:r>
              <a:rPr lang="en-US" dirty="0"/>
              <a:t>Choose the vertex with highest </a:t>
            </a:r>
            <a:r>
              <a:rPr lang="en-US" b="1" dirty="0"/>
              <a:t>saturation degree</a:t>
            </a:r>
          </a:p>
          <a:p>
            <a:pPr marL="800100" lvl="1" indent="-342900">
              <a:buFont typeface="Arial" panose="020B0604020202020204" pitchFamily="34" charset="0"/>
              <a:buChar char="•"/>
            </a:pPr>
            <a:r>
              <a:rPr lang="en-US" dirty="0"/>
              <a:t>In case of tie, choose the one with highest degree</a:t>
            </a:r>
            <a:endParaRPr lang="en-US" b="1" dirty="0"/>
          </a:p>
          <a:p>
            <a:pPr marL="342900" indent="-342900">
              <a:buAutoNum type="arabicPeriod"/>
            </a:pPr>
            <a:endParaRPr lang="en-US" dirty="0"/>
          </a:p>
        </p:txBody>
      </p:sp>
      <p:sp>
        <p:nvSpPr>
          <p:cNvPr id="3" name="Oval 2">
            <a:extLst>
              <a:ext uri="{FF2B5EF4-FFF2-40B4-BE49-F238E27FC236}">
                <a16:creationId xmlns:a16="http://schemas.microsoft.com/office/drawing/2014/main" id="{7FA7158B-6340-20A9-5F23-1053A7AF5B61}"/>
              </a:ext>
            </a:extLst>
          </p:cNvPr>
          <p:cNvSpPr/>
          <p:nvPr/>
        </p:nvSpPr>
        <p:spPr>
          <a:xfrm>
            <a:off x="6567340" y="3979146"/>
            <a:ext cx="542041" cy="542041"/>
          </a:xfrm>
          <a:prstGeom prst="ellipse">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A</a:t>
            </a:r>
          </a:p>
        </p:txBody>
      </p:sp>
      <p:sp>
        <p:nvSpPr>
          <p:cNvPr id="5" name="Oval 4">
            <a:extLst>
              <a:ext uri="{FF2B5EF4-FFF2-40B4-BE49-F238E27FC236}">
                <a16:creationId xmlns:a16="http://schemas.microsoft.com/office/drawing/2014/main" id="{B68BA72E-9DF8-9AF1-78D6-FDA5657EB521}"/>
              </a:ext>
            </a:extLst>
          </p:cNvPr>
          <p:cNvSpPr/>
          <p:nvPr/>
        </p:nvSpPr>
        <p:spPr>
          <a:xfrm>
            <a:off x="7530445" y="2613830"/>
            <a:ext cx="542041" cy="542041"/>
          </a:xfrm>
          <a:prstGeom prst="ellipse">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B</a:t>
            </a:r>
          </a:p>
        </p:txBody>
      </p:sp>
      <p:sp>
        <p:nvSpPr>
          <p:cNvPr id="6" name="Oval 5">
            <a:extLst>
              <a:ext uri="{FF2B5EF4-FFF2-40B4-BE49-F238E27FC236}">
                <a16:creationId xmlns:a16="http://schemas.microsoft.com/office/drawing/2014/main" id="{966253AC-F9E7-FBBE-878A-0660FC745518}"/>
              </a:ext>
            </a:extLst>
          </p:cNvPr>
          <p:cNvSpPr/>
          <p:nvPr/>
        </p:nvSpPr>
        <p:spPr>
          <a:xfrm>
            <a:off x="8991600" y="3979145"/>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C</a:t>
            </a:r>
          </a:p>
        </p:txBody>
      </p:sp>
      <p:sp>
        <p:nvSpPr>
          <p:cNvPr id="7" name="Oval 6">
            <a:extLst>
              <a:ext uri="{FF2B5EF4-FFF2-40B4-BE49-F238E27FC236}">
                <a16:creationId xmlns:a16="http://schemas.microsoft.com/office/drawing/2014/main" id="{64E7CCAB-A923-96AF-921B-201C45E9724D}"/>
              </a:ext>
            </a:extLst>
          </p:cNvPr>
          <p:cNvSpPr/>
          <p:nvPr/>
        </p:nvSpPr>
        <p:spPr>
          <a:xfrm>
            <a:off x="9877719" y="2613830"/>
            <a:ext cx="542041" cy="542041"/>
          </a:xfrm>
          <a:prstGeom prst="ellipse">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D</a:t>
            </a:r>
          </a:p>
        </p:txBody>
      </p:sp>
      <p:cxnSp>
        <p:nvCxnSpPr>
          <p:cNvPr id="8" name="Straight Connector 7">
            <a:extLst>
              <a:ext uri="{FF2B5EF4-FFF2-40B4-BE49-F238E27FC236}">
                <a16:creationId xmlns:a16="http://schemas.microsoft.com/office/drawing/2014/main" id="{39B3F122-B719-886D-AEF1-C50092225D4E}"/>
              </a:ext>
            </a:extLst>
          </p:cNvPr>
          <p:cNvCxnSpPr>
            <a:cxnSpLocks/>
            <a:stCxn id="5" idx="3"/>
            <a:endCxn id="3" idx="0"/>
          </p:cNvCxnSpPr>
          <p:nvPr/>
        </p:nvCxnSpPr>
        <p:spPr>
          <a:xfrm flipH="1">
            <a:off x="6838361" y="3076491"/>
            <a:ext cx="771464" cy="902655"/>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30C1B822-56B6-4DA7-4895-BE1FC82919D3}"/>
              </a:ext>
            </a:extLst>
          </p:cNvPr>
          <p:cNvCxnSpPr>
            <a:cxnSpLocks/>
            <a:stCxn id="6" idx="1"/>
            <a:endCxn id="5" idx="5"/>
          </p:cNvCxnSpPr>
          <p:nvPr/>
        </p:nvCxnSpPr>
        <p:spPr>
          <a:xfrm flipH="1" flipV="1">
            <a:off x="7993106" y="3076491"/>
            <a:ext cx="1077874" cy="98203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73C78FD-B075-9078-20E3-E138610AF162}"/>
              </a:ext>
            </a:extLst>
          </p:cNvPr>
          <p:cNvCxnSpPr>
            <a:cxnSpLocks/>
            <a:stCxn id="6" idx="7"/>
            <a:endCxn id="7" idx="4"/>
          </p:cNvCxnSpPr>
          <p:nvPr/>
        </p:nvCxnSpPr>
        <p:spPr>
          <a:xfrm flipV="1">
            <a:off x="9454261" y="3155871"/>
            <a:ext cx="694479" cy="902654"/>
          </a:xfrm>
          <a:prstGeom prst="line">
            <a:avLst/>
          </a:prstGeom>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81906F3E-41D8-F584-E465-94F3EC022913}"/>
              </a:ext>
            </a:extLst>
          </p:cNvPr>
          <p:cNvSpPr txBox="1"/>
          <p:nvPr/>
        </p:nvSpPr>
        <p:spPr>
          <a:xfrm>
            <a:off x="7258639" y="5872899"/>
            <a:ext cx="2479250" cy="369332"/>
          </a:xfrm>
          <a:prstGeom prst="rect">
            <a:avLst/>
          </a:prstGeom>
          <a:noFill/>
        </p:spPr>
        <p:txBody>
          <a:bodyPr wrap="square" rtlCol="0">
            <a:spAutoFit/>
          </a:bodyPr>
          <a:lstStyle/>
          <a:p>
            <a:r>
              <a:rPr lang="en-US" dirty="0"/>
              <a:t>Distance-2 coloring</a:t>
            </a:r>
          </a:p>
        </p:txBody>
      </p:sp>
      <p:sp>
        <p:nvSpPr>
          <p:cNvPr id="14" name="TextBox 13">
            <a:extLst>
              <a:ext uri="{FF2B5EF4-FFF2-40B4-BE49-F238E27FC236}">
                <a16:creationId xmlns:a16="http://schemas.microsoft.com/office/drawing/2014/main" id="{9E208A3D-526F-FFAC-5CA6-EFF4416AD5C0}"/>
              </a:ext>
            </a:extLst>
          </p:cNvPr>
          <p:cNvSpPr txBox="1"/>
          <p:nvPr/>
        </p:nvSpPr>
        <p:spPr>
          <a:xfrm>
            <a:off x="6652574" y="4541674"/>
            <a:ext cx="456807" cy="369332"/>
          </a:xfrm>
          <a:prstGeom prst="rect">
            <a:avLst/>
          </a:prstGeom>
          <a:noFill/>
        </p:spPr>
        <p:txBody>
          <a:bodyPr wrap="square" rtlCol="0">
            <a:spAutoFit/>
          </a:bodyPr>
          <a:lstStyle/>
          <a:p>
            <a:r>
              <a:rPr lang="en-US" dirty="0"/>
              <a:t>[ ]</a:t>
            </a:r>
          </a:p>
        </p:txBody>
      </p:sp>
      <p:sp>
        <p:nvSpPr>
          <p:cNvPr id="15" name="TextBox 14">
            <a:extLst>
              <a:ext uri="{FF2B5EF4-FFF2-40B4-BE49-F238E27FC236}">
                <a16:creationId xmlns:a16="http://schemas.microsoft.com/office/drawing/2014/main" id="{E5CB62F6-90EA-C4FA-0EF0-B85E1A53E5BA}"/>
              </a:ext>
            </a:extLst>
          </p:cNvPr>
          <p:cNvSpPr txBox="1"/>
          <p:nvPr/>
        </p:nvSpPr>
        <p:spPr>
          <a:xfrm>
            <a:off x="9076834" y="4550626"/>
            <a:ext cx="456807" cy="369332"/>
          </a:xfrm>
          <a:prstGeom prst="rect">
            <a:avLst/>
          </a:prstGeom>
          <a:noFill/>
        </p:spPr>
        <p:txBody>
          <a:bodyPr wrap="square" rtlCol="0">
            <a:spAutoFit/>
          </a:bodyPr>
          <a:lstStyle/>
          <a:p>
            <a:r>
              <a:rPr lang="en-US" dirty="0"/>
              <a:t>[ ]</a:t>
            </a:r>
          </a:p>
        </p:txBody>
      </p:sp>
      <p:sp>
        <p:nvSpPr>
          <p:cNvPr id="16" name="TextBox 15">
            <a:extLst>
              <a:ext uri="{FF2B5EF4-FFF2-40B4-BE49-F238E27FC236}">
                <a16:creationId xmlns:a16="http://schemas.microsoft.com/office/drawing/2014/main" id="{0810975B-45E6-CCAC-25AC-2DBE17C6F832}"/>
              </a:ext>
            </a:extLst>
          </p:cNvPr>
          <p:cNvSpPr txBox="1"/>
          <p:nvPr/>
        </p:nvSpPr>
        <p:spPr>
          <a:xfrm>
            <a:off x="7573061" y="1799972"/>
            <a:ext cx="456807" cy="369332"/>
          </a:xfrm>
          <a:prstGeom prst="rect">
            <a:avLst/>
          </a:prstGeom>
          <a:noFill/>
        </p:spPr>
        <p:txBody>
          <a:bodyPr wrap="square" rtlCol="0">
            <a:spAutoFit/>
          </a:bodyPr>
          <a:lstStyle/>
          <a:p>
            <a:r>
              <a:rPr lang="en-US" dirty="0"/>
              <a:t>[ ]</a:t>
            </a:r>
          </a:p>
        </p:txBody>
      </p:sp>
      <p:sp>
        <p:nvSpPr>
          <p:cNvPr id="17" name="TextBox 16">
            <a:extLst>
              <a:ext uri="{FF2B5EF4-FFF2-40B4-BE49-F238E27FC236}">
                <a16:creationId xmlns:a16="http://schemas.microsoft.com/office/drawing/2014/main" id="{E7ADE1BF-A15C-CFCA-47EA-B47BDA33A743}"/>
              </a:ext>
            </a:extLst>
          </p:cNvPr>
          <p:cNvSpPr txBox="1"/>
          <p:nvPr/>
        </p:nvSpPr>
        <p:spPr>
          <a:xfrm>
            <a:off x="9962953" y="1772683"/>
            <a:ext cx="456807" cy="369332"/>
          </a:xfrm>
          <a:prstGeom prst="rect">
            <a:avLst/>
          </a:prstGeom>
          <a:noFill/>
        </p:spPr>
        <p:txBody>
          <a:bodyPr wrap="square" rtlCol="0">
            <a:spAutoFit/>
          </a:bodyPr>
          <a:lstStyle/>
          <a:p>
            <a:r>
              <a:rPr lang="en-US" dirty="0"/>
              <a:t>[ ]</a:t>
            </a:r>
          </a:p>
        </p:txBody>
      </p:sp>
      <p:sp>
        <p:nvSpPr>
          <p:cNvPr id="12" name="TextBox 11">
            <a:extLst>
              <a:ext uri="{FF2B5EF4-FFF2-40B4-BE49-F238E27FC236}">
                <a16:creationId xmlns:a16="http://schemas.microsoft.com/office/drawing/2014/main" id="{5530FA10-1B97-FABC-D7B9-6CDBE6709F12}"/>
              </a:ext>
            </a:extLst>
          </p:cNvPr>
          <p:cNvSpPr txBox="1"/>
          <p:nvPr/>
        </p:nvSpPr>
        <p:spPr>
          <a:xfrm>
            <a:off x="8991600" y="4929988"/>
            <a:ext cx="1157140" cy="369332"/>
          </a:xfrm>
          <a:prstGeom prst="rect">
            <a:avLst/>
          </a:prstGeom>
          <a:noFill/>
        </p:spPr>
        <p:txBody>
          <a:bodyPr wrap="square" rtlCol="0">
            <a:spAutoFit/>
          </a:bodyPr>
          <a:lstStyle/>
          <a:p>
            <a:r>
              <a:rPr lang="en-US" dirty="0"/>
              <a:t>[A, B, D ]</a:t>
            </a:r>
          </a:p>
        </p:txBody>
      </p:sp>
      <p:sp>
        <p:nvSpPr>
          <p:cNvPr id="19" name="Title 1">
            <a:extLst>
              <a:ext uri="{FF2B5EF4-FFF2-40B4-BE49-F238E27FC236}">
                <a16:creationId xmlns:a16="http://schemas.microsoft.com/office/drawing/2014/main" id="{B8FB354A-40D3-7B1B-426D-B514C35D6B37}"/>
              </a:ext>
            </a:extLst>
          </p:cNvPr>
          <p:cNvSpPr>
            <a:spLocks noGrp="1"/>
          </p:cNvSpPr>
          <p:nvPr>
            <p:ph type="title"/>
          </p:nvPr>
        </p:nvSpPr>
        <p:spPr>
          <a:xfrm>
            <a:off x="2233225" y="384398"/>
            <a:ext cx="7729728" cy="1188720"/>
          </a:xfrm>
        </p:spPr>
        <p:txBody>
          <a:bodyPr/>
          <a:lstStyle/>
          <a:p>
            <a:r>
              <a:rPr lang="en-US" dirty="0"/>
              <a:t>DSATUR (Degree of saturation)</a:t>
            </a:r>
          </a:p>
        </p:txBody>
      </p:sp>
      <p:sp>
        <p:nvSpPr>
          <p:cNvPr id="11" name="Slide Number Placeholder 10">
            <a:extLst>
              <a:ext uri="{FF2B5EF4-FFF2-40B4-BE49-F238E27FC236}">
                <a16:creationId xmlns:a16="http://schemas.microsoft.com/office/drawing/2014/main" id="{8C4AB14C-CDD9-7C4C-2139-6DB65FDA3904}"/>
              </a:ext>
            </a:extLst>
          </p:cNvPr>
          <p:cNvSpPr>
            <a:spLocks noGrp="1"/>
          </p:cNvSpPr>
          <p:nvPr>
            <p:ph type="sldNum" sz="quarter" idx="12"/>
          </p:nvPr>
        </p:nvSpPr>
        <p:spPr/>
        <p:txBody>
          <a:bodyPr/>
          <a:lstStyle/>
          <a:p>
            <a:fld id="{3DD08374-E544-47A5-94AF-CF56056772CB}" type="slidenum">
              <a:rPr lang="en-US" smtClean="0"/>
              <a:t>80</a:t>
            </a:fld>
            <a:endParaRPr lang="en-US"/>
          </a:p>
        </p:txBody>
      </p:sp>
    </p:spTree>
    <p:extLst>
      <p:ext uri="{BB962C8B-B14F-4D97-AF65-F5344CB8AC3E}">
        <p14:creationId xmlns:p14="http://schemas.microsoft.com/office/powerpoint/2010/main" val="97576279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6BDE5C-3F09-B35F-B325-2880612B98A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72AF525-2FCE-3CE9-3BFE-D7B8E462B8E0}"/>
              </a:ext>
            </a:extLst>
          </p:cNvPr>
          <p:cNvSpPr txBox="1"/>
          <p:nvPr/>
        </p:nvSpPr>
        <p:spPr>
          <a:xfrm>
            <a:off x="1423448" y="2967335"/>
            <a:ext cx="3535051" cy="1477328"/>
          </a:xfrm>
          <a:prstGeom prst="rect">
            <a:avLst/>
          </a:prstGeom>
          <a:noFill/>
        </p:spPr>
        <p:txBody>
          <a:bodyPr wrap="square" rtlCol="0">
            <a:spAutoFit/>
          </a:bodyPr>
          <a:lstStyle/>
          <a:p>
            <a:pPr marL="342900" indent="-342900">
              <a:buAutoNum type="arabicPeriod"/>
            </a:pPr>
            <a:r>
              <a:rPr lang="en-US" dirty="0"/>
              <a:t>Choose the vertex with highest </a:t>
            </a:r>
            <a:r>
              <a:rPr lang="en-US" b="1" dirty="0"/>
              <a:t>saturation degree</a:t>
            </a:r>
          </a:p>
          <a:p>
            <a:pPr marL="800100" lvl="1" indent="-342900">
              <a:buFont typeface="Arial" panose="020B0604020202020204" pitchFamily="34" charset="0"/>
              <a:buChar char="•"/>
            </a:pPr>
            <a:r>
              <a:rPr lang="en-US" dirty="0"/>
              <a:t>In case of tie, choose the one with highest degree</a:t>
            </a:r>
            <a:endParaRPr lang="en-US" b="1" dirty="0"/>
          </a:p>
          <a:p>
            <a:pPr marL="342900" indent="-342900">
              <a:buAutoNum type="arabicPeriod"/>
            </a:pPr>
            <a:endParaRPr lang="en-US" dirty="0"/>
          </a:p>
        </p:txBody>
      </p:sp>
      <p:sp>
        <p:nvSpPr>
          <p:cNvPr id="3" name="Oval 2">
            <a:extLst>
              <a:ext uri="{FF2B5EF4-FFF2-40B4-BE49-F238E27FC236}">
                <a16:creationId xmlns:a16="http://schemas.microsoft.com/office/drawing/2014/main" id="{B0EDDA91-DD3F-5B9A-3FB5-3CE0F1E437CB}"/>
              </a:ext>
            </a:extLst>
          </p:cNvPr>
          <p:cNvSpPr/>
          <p:nvPr/>
        </p:nvSpPr>
        <p:spPr>
          <a:xfrm>
            <a:off x="6567340" y="3979146"/>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A</a:t>
            </a:r>
          </a:p>
        </p:txBody>
      </p:sp>
      <p:sp>
        <p:nvSpPr>
          <p:cNvPr id="5" name="Oval 4">
            <a:extLst>
              <a:ext uri="{FF2B5EF4-FFF2-40B4-BE49-F238E27FC236}">
                <a16:creationId xmlns:a16="http://schemas.microsoft.com/office/drawing/2014/main" id="{C9959082-1F51-00EB-52DE-EDEBA81F4AA5}"/>
              </a:ext>
            </a:extLst>
          </p:cNvPr>
          <p:cNvSpPr/>
          <p:nvPr/>
        </p:nvSpPr>
        <p:spPr>
          <a:xfrm>
            <a:off x="7530445" y="2613830"/>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B</a:t>
            </a:r>
          </a:p>
        </p:txBody>
      </p:sp>
      <p:sp>
        <p:nvSpPr>
          <p:cNvPr id="6" name="Oval 5">
            <a:extLst>
              <a:ext uri="{FF2B5EF4-FFF2-40B4-BE49-F238E27FC236}">
                <a16:creationId xmlns:a16="http://schemas.microsoft.com/office/drawing/2014/main" id="{338829F5-1022-A123-E870-B738F9FB1EA4}"/>
              </a:ext>
            </a:extLst>
          </p:cNvPr>
          <p:cNvSpPr/>
          <p:nvPr/>
        </p:nvSpPr>
        <p:spPr>
          <a:xfrm>
            <a:off x="8991600" y="3979145"/>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C</a:t>
            </a:r>
          </a:p>
        </p:txBody>
      </p:sp>
      <p:sp>
        <p:nvSpPr>
          <p:cNvPr id="7" name="Oval 6">
            <a:extLst>
              <a:ext uri="{FF2B5EF4-FFF2-40B4-BE49-F238E27FC236}">
                <a16:creationId xmlns:a16="http://schemas.microsoft.com/office/drawing/2014/main" id="{12268491-1BC1-FB51-F2E4-D1E2F120C22D}"/>
              </a:ext>
            </a:extLst>
          </p:cNvPr>
          <p:cNvSpPr/>
          <p:nvPr/>
        </p:nvSpPr>
        <p:spPr>
          <a:xfrm>
            <a:off x="9877719" y="2613830"/>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D</a:t>
            </a:r>
          </a:p>
        </p:txBody>
      </p:sp>
      <p:cxnSp>
        <p:nvCxnSpPr>
          <p:cNvPr id="8" name="Straight Connector 7">
            <a:extLst>
              <a:ext uri="{FF2B5EF4-FFF2-40B4-BE49-F238E27FC236}">
                <a16:creationId xmlns:a16="http://schemas.microsoft.com/office/drawing/2014/main" id="{DD1BA59E-F02F-21F4-92F6-CF2DBEA9F6B8}"/>
              </a:ext>
            </a:extLst>
          </p:cNvPr>
          <p:cNvCxnSpPr>
            <a:cxnSpLocks/>
            <a:stCxn id="5" idx="3"/>
            <a:endCxn id="3" idx="0"/>
          </p:cNvCxnSpPr>
          <p:nvPr/>
        </p:nvCxnSpPr>
        <p:spPr>
          <a:xfrm flipH="1">
            <a:off x="6838361" y="3076491"/>
            <a:ext cx="771464" cy="902655"/>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40232582-8023-FAFE-42D7-530A027BDC20}"/>
              </a:ext>
            </a:extLst>
          </p:cNvPr>
          <p:cNvCxnSpPr>
            <a:cxnSpLocks/>
            <a:stCxn id="6" idx="1"/>
            <a:endCxn id="5" idx="5"/>
          </p:cNvCxnSpPr>
          <p:nvPr/>
        </p:nvCxnSpPr>
        <p:spPr>
          <a:xfrm flipH="1" flipV="1">
            <a:off x="7993106" y="3076491"/>
            <a:ext cx="1077874" cy="98203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C980923-59B6-79D5-6490-3CED4090FEFB}"/>
              </a:ext>
            </a:extLst>
          </p:cNvPr>
          <p:cNvCxnSpPr>
            <a:cxnSpLocks/>
            <a:stCxn id="6" idx="7"/>
            <a:endCxn id="7" idx="4"/>
          </p:cNvCxnSpPr>
          <p:nvPr/>
        </p:nvCxnSpPr>
        <p:spPr>
          <a:xfrm flipV="1">
            <a:off x="9454261" y="3155871"/>
            <a:ext cx="694479" cy="902654"/>
          </a:xfrm>
          <a:prstGeom prst="line">
            <a:avLst/>
          </a:prstGeom>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CB8B26F9-A589-CD76-3F8A-0C43A56C3A3F}"/>
              </a:ext>
            </a:extLst>
          </p:cNvPr>
          <p:cNvSpPr txBox="1"/>
          <p:nvPr/>
        </p:nvSpPr>
        <p:spPr>
          <a:xfrm>
            <a:off x="7258639" y="5872899"/>
            <a:ext cx="2479250" cy="369332"/>
          </a:xfrm>
          <a:prstGeom prst="rect">
            <a:avLst/>
          </a:prstGeom>
          <a:noFill/>
        </p:spPr>
        <p:txBody>
          <a:bodyPr wrap="square" rtlCol="0">
            <a:spAutoFit/>
          </a:bodyPr>
          <a:lstStyle/>
          <a:p>
            <a:r>
              <a:rPr lang="en-US" dirty="0"/>
              <a:t>Distance-2 coloring</a:t>
            </a:r>
          </a:p>
        </p:txBody>
      </p:sp>
      <p:sp>
        <p:nvSpPr>
          <p:cNvPr id="14" name="TextBox 13">
            <a:extLst>
              <a:ext uri="{FF2B5EF4-FFF2-40B4-BE49-F238E27FC236}">
                <a16:creationId xmlns:a16="http://schemas.microsoft.com/office/drawing/2014/main" id="{51CD725C-BA87-6123-FC22-28DE797B0622}"/>
              </a:ext>
            </a:extLst>
          </p:cNvPr>
          <p:cNvSpPr txBox="1"/>
          <p:nvPr/>
        </p:nvSpPr>
        <p:spPr>
          <a:xfrm>
            <a:off x="6652574" y="4541674"/>
            <a:ext cx="456807" cy="369332"/>
          </a:xfrm>
          <a:prstGeom prst="rect">
            <a:avLst/>
          </a:prstGeom>
          <a:noFill/>
        </p:spPr>
        <p:txBody>
          <a:bodyPr wrap="square" rtlCol="0">
            <a:spAutoFit/>
          </a:bodyPr>
          <a:lstStyle/>
          <a:p>
            <a:r>
              <a:rPr lang="en-US" dirty="0"/>
              <a:t>[ ]</a:t>
            </a:r>
          </a:p>
        </p:txBody>
      </p:sp>
      <p:sp>
        <p:nvSpPr>
          <p:cNvPr id="15" name="TextBox 14">
            <a:extLst>
              <a:ext uri="{FF2B5EF4-FFF2-40B4-BE49-F238E27FC236}">
                <a16:creationId xmlns:a16="http://schemas.microsoft.com/office/drawing/2014/main" id="{4F8BDBC0-CC98-2ECC-C6E1-A0CC309C71E3}"/>
              </a:ext>
            </a:extLst>
          </p:cNvPr>
          <p:cNvSpPr txBox="1"/>
          <p:nvPr/>
        </p:nvSpPr>
        <p:spPr>
          <a:xfrm>
            <a:off x="9076834" y="4550626"/>
            <a:ext cx="456807" cy="369332"/>
          </a:xfrm>
          <a:prstGeom prst="rect">
            <a:avLst/>
          </a:prstGeom>
          <a:noFill/>
        </p:spPr>
        <p:txBody>
          <a:bodyPr wrap="square" rtlCol="0">
            <a:spAutoFit/>
          </a:bodyPr>
          <a:lstStyle/>
          <a:p>
            <a:r>
              <a:rPr lang="en-US" dirty="0"/>
              <a:t>[ ]</a:t>
            </a:r>
          </a:p>
        </p:txBody>
      </p:sp>
      <p:sp>
        <p:nvSpPr>
          <p:cNvPr id="16" name="TextBox 15">
            <a:extLst>
              <a:ext uri="{FF2B5EF4-FFF2-40B4-BE49-F238E27FC236}">
                <a16:creationId xmlns:a16="http://schemas.microsoft.com/office/drawing/2014/main" id="{D62D9310-E0BB-D20B-11ED-400067459F99}"/>
              </a:ext>
            </a:extLst>
          </p:cNvPr>
          <p:cNvSpPr txBox="1"/>
          <p:nvPr/>
        </p:nvSpPr>
        <p:spPr>
          <a:xfrm>
            <a:off x="7573061" y="1799972"/>
            <a:ext cx="456807" cy="369332"/>
          </a:xfrm>
          <a:prstGeom prst="rect">
            <a:avLst/>
          </a:prstGeom>
          <a:noFill/>
        </p:spPr>
        <p:txBody>
          <a:bodyPr wrap="square" rtlCol="0">
            <a:spAutoFit/>
          </a:bodyPr>
          <a:lstStyle/>
          <a:p>
            <a:r>
              <a:rPr lang="en-US" dirty="0"/>
              <a:t>[ ]</a:t>
            </a:r>
          </a:p>
        </p:txBody>
      </p:sp>
      <p:sp>
        <p:nvSpPr>
          <p:cNvPr id="17" name="TextBox 16">
            <a:extLst>
              <a:ext uri="{FF2B5EF4-FFF2-40B4-BE49-F238E27FC236}">
                <a16:creationId xmlns:a16="http://schemas.microsoft.com/office/drawing/2014/main" id="{7D53A82A-9FD8-BCC6-F397-E59E15306814}"/>
              </a:ext>
            </a:extLst>
          </p:cNvPr>
          <p:cNvSpPr txBox="1"/>
          <p:nvPr/>
        </p:nvSpPr>
        <p:spPr>
          <a:xfrm>
            <a:off x="9962953" y="1772683"/>
            <a:ext cx="456807" cy="369332"/>
          </a:xfrm>
          <a:prstGeom prst="rect">
            <a:avLst/>
          </a:prstGeom>
          <a:noFill/>
        </p:spPr>
        <p:txBody>
          <a:bodyPr wrap="square" rtlCol="0">
            <a:spAutoFit/>
          </a:bodyPr>
          <a:lstStyle/>
          <a:p>
            <a:r>
              <a:rPr lang="en-US" dirty="0"/>
              <a:t>[ ]</a:t>
            </a:r>
          </a:p>
        </p:txBody>
      </p:sp>
      <p:sp>
        <p:nvSpPr>
          <p:cNvPr id="11" name="TextBox 10">
            <a:extLst>
              <a:ext uri="{FF2B5EF4-FFF2-40B4-BE49-F238E27FC236}">
                <a16:creationId xmlns:a16="http://schemas.microsoft.com/office/drawing/2014/main" id="{42992865-60F0-4B58-1E7F-92AB399F1C12}"/>
              </a:ext>
            </a:extLst>
          </p:cNvPr>
          <p:cNvSpPr txBox="1"/>
          <p:nvPr/>
        </p:nvSpPr>
        <p:spPr>
          <a:xfrm>
            <a:off x="6495245" y="4931493"/>
            <a:ext cx="1077816" cy="369332"/>
          </a:xfrm>
          <a:prstGeom prst="rect">
            <a:avLst/>
          </a:prstGeom>
          <a:noFill/>
        </p:spPr>
        <p:txBody>
          <a:bodyPr wrap="square" rtlCol="0">
            <a:spAutoFit/>
          </a:bodyPr>
          <a:lstStyle/>
          <a:p>
            <a:r>
              <a:rPr lang="en-US" dirty="0"/>
              <a:t>[B, C ]</a:t>
            </a:r>
          </a:p>
        </p:txBody>
      </p:sp>
      <p:sp>
        <p:nvSpPr>
          <p:cNvPr id="12" name="TextBox 11">
            <a:extLst>
              <a:ext uri="{FF2B5EF4-FFF2-40B4-BE49-F238E27FC236}">
                <a16:creationId xmlns:a16="http://schemas.microsoft.com/office/drawing/2014/main" id="{2910A46A-593C-56FE-DEC2-067353DC0E05}"/>
              </a:ext>
            </a:extLst>
          </p:cNvPr>
          <p:cNvSpPr txBox="1"/>
          <p:nvPr/>
        </p:nvSpPr>
        <p:spPr>
          <a:xfrm>
            <a:off x="8991600" y="4929988"/>
            <a:ext cx="1157140" cy="369332"/>
          </a:xfrm>
          <a:prstGeom prst="rect">
            <a:avLst/>
          </a:prstGeom>
          <a:noFill/>
        </p:spPr>
        <p:txBody>
          <a:bodyPr wrap="square" rtlCol="0">
            <a:spAutoFit/>
          </a:bodyPr>
          <a:lstStyle/>
          <a:p>
            <a:r>
              <a:rPr lang="en-US" dirty="0"/>
              <a:t>[A, B, D ]</a:t>
            </a:r>
          </a:p>
        </p:txBody>
      </p:sp>
      <p:sp>
        <p:nvSpPr>
          <p:cNvPr id="18" name="TextBox 17">
            <a:extLst>
              <a:ext uri="{FF2B5EF4-FFF2-40B4-BE49-F238E27FC236}">
                <a16:creationId xmlns:a16="http://schemas.microsoft.com/office/drawing/2014/main" id="{E837C0D1-8C1F-277E-CB71-32D9333E5FC2}"/>
              </a:ext>
            </a:extLst>
          </p:cNvPr>
          <p:cNvSpPr txBox="1"/>
          <p:nvPr/>
        </p:nvSpPr>
        <p:spPr>
          <a:xfrm>
            <a:off x="9900107" y="2176043"/>
            <a:ext cx="841736" cy="369332"/>
          </a:xfrm>
          <a:prstGeom prst="rect">
            <a:avLst/>
          </a:prstGeom>
          <a:noFill/>
        </p:spPr>
        <p:txBody>
          <a:bodyPr wrap="square" rtlCol="0">
            <a:spAutoFit/>
          </a:bodyPr>
          <a:lstStyle/>
          <a:p>
            <a:r>
              <a:rPr lang="en-US" dirty="0"/>
              <a:t>[B, C ]</a:t>
            </a:r>
          </a:p>
        </p:txBody>
      </p:sp>
      <p:sp>
        <p:nvSpPr>
          <p:cNvPr id="19" name="TextBox 18">
            <a:extLst>
              <a:ext uri="{FF2B5EF4-FFF2-40B4-BE49-F238E27FC236}">
                <a16:creationId xmlns:a16="http://schemas.microsoft.com/office/drawing/2014/main" id="{DA8F100E-D3D2-682C-9AC4-CFFB4121027D}"/>
              </a:ext>
            </a:extLst>
          </p:cNvPr>
          <p:cNvSpPr txBox="1"/>
          <p:nvPr/>
        </p:nvSpPr>
        <p:spPr>
          <a:xfrm>
            <a:off x="7312827" y="2217357"/>
            <a:ext cx="1077874" cy="369332"/>
          </a:xfrm>
          <a:prstGeom prst="rect">
            <a:avLst/>
          </a:prstGeom>
          <a:noFill/>
        </p:spPr>
        <p:txBody>
          <a:bodyPr wrap="square" rtlCol="0">
            <a:spAutoFit/>
          </a:bodyPr>
          <a:lstStyle/>
          <a:p>
            <a:r>
              <a:rPr lang="en-US" dirty="0"/>
              <a:t>[A, C, D ]</a:t>
            </a:r>
          </a:p>
        </p:txBody>
      </p:sp>
      <p:sp>
        <p:nvSpPr>
          <p:cNvPr id="22" name="Title 1">
            <a:extLst>
              <a:ext uri="{FF2B5EF4-FFF2-40B4-BE49-F238E27FC236}">
                <a16:creationId xmlns:a16="http://schemas.microsoft.com/office/drawing/2014/main" id="{AB0C4FB4-E2D8-6C26-A6EF-1A193192842F}"/>
              </a:ext>
            </a:extLst>
          </p:cNvPr>
          <p:cNvSpPr>
            <a:spLocks noGrp="1"/>
          </p:cNvSpPr>
          <p:nvPr>
            <p:ph type="title"/>
          </p:nvPr>
        </p:nvSpPr>
        <p:spPr>
          <a:xfrm>
            <a:off x="2233225" y="375345"/>
            <a:ext cx="7729728" cy="1188720"/>
          </a:xfrm>
        </p:spPr>
        <p:txBody>
          <a:bodyPr/>
          <a:lstStyle/>
          <a:p>
            <a:r>
              <a:rPr lang="en-US" dirty="0"/>
              <a:t>DSATUR (Degree of saturation)</a:t>
            </a:r>
          </a:p>
        </p:txBody>
      </p:sp>
      <p:sp>
        <p:nvSpPr>
          <p:cNvPr id="20" name="Slide Number Placeholder 19">
            <a:extLst>
              <a:ext uri="{FF2B5EF4-FFF2-40B4-BE49-F238E27FC236}">
                <a16:creationId xmlns:a16="http://schemas.microsoft.com/office/drawing/2014/main" id="{8B72808B-512B-B194-6DFC-D4B92603829B}"/>
              </a:ext>
            </a:extLst>
          </p:cNvPr>
          <p:cNvSpPr>
            <a:spLocks noGrp="1"/>
          </p:cNvSpPr>
          <p:nvPr>
            <p:ph type="sldNum" sz="quarter" idx="12"/>
          </p:nvPr>
        </p:nvSpPr>
        <p:spPr/>
        <p:txBody>
          <a:bodyPr/>
          <a:lstStyle/>
          <a:p>
            <a:fld id="{3DD08374-E544-47A5-94AF-CF56056772CB}" type="slidenum">
              <a:rPr lang="en-US" smtClean="0"/>
              <a:t>81</a:t>
            </a:fld>
            <a:endParaRPr lang="en-US"/>
          </a:p>
        </p:txBody>
      </p:sp>
    </p:spTree>
    <p:extLst>
      <p:ext uri="{BB962C8B-B14F-4D97-AF65-F5344CB8AC3E}">
        <p14:creationId xmlns:p14="http://schemas.microsoft.com/office/powerpoint/2010/main" val="90045747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0350B5-E97F-8583-8022-403BC3E4004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C6A182D-EC79-3D5A-CEDF-2630F7FD906F}"/>
              </a:ext>
            </a:extLst>
          </p:cNvPr>
          <p:cNvSpPr txBox="1"/>
          <p:nvPr/>
        </p:nvSpPr>
        <p:spPr>
          <a:xfrm>
            <a:off x="1423448" y="2967335"/>
            <a:ext cx="3535051" cy="923330"/>
          </a:xfrm>
          <a:prstGeom prst="rect">
            <a:avLst/>
          </a:prstGeom>
          <a:noFill/>
        </p:spPr>
        <p:txBody>
          <a:bodyPr wrap="square" rtlCol="0">
            <a:spAutoFit/>
          </a:bodyPr>
          <a:lstStyle/>
          <a:p>
            <a:r>
              <a:rPr lang="en-US" dirty="0"/>
              <a:t>2. Assign the lowest available color (not used by its neighbors) to that vertex</a:t>
            </a:r>
          </a:p>
        </p:txBody>
      </p:sp>
      <p:sp>
        <p:nvSpPr>
          <p:cNvPr id="3" name="Oval 2">
            <a:extLst>
              <a:ext uri="{FF2B5EF4-FFF2-40B4-BE49-F238E27FC236}">
                <a16:creationId xmlns:a16="http://schemas.microsoft.com/office/drawing/2014/main" id="{D64F16D3-A4E5-BE4F-FD0F-C406C9AABE46}"/>
              </a:ext>
            </a:extLst>
          </p:cNvPr>
          <p:cNvSpPr/>
          <p:nvPr/>
        </p:nvSpPr>
        <p:spPr>
          <a:xfrm>
            <a:off x="6567340" y="3979146"/>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A</a:t>
            </a:r>
          </a:p>
        </p:txBody>
      </p:sp>
      <p:sp>
        <p:nvSpPr>
          <p:cNvPr id="5" name="Oval 4">
            <a:extLst>
              <a:ext uri="{FF2B5EF4-FFF2-40B4-BE49-F238E27FC236}">
                <a16:creationId xmlns:a16="http://schemas.microsoft.com/office/drawing/2014/main" id="{1FD53373-0A8C-4EF6-39C0-34911DB03C5A}"/>
              </a:ext>
            </a:extLst>
          </p:cNvPr>
          <p:cNvSpPr/>
          <p:nvPr/>
        </p:nvSpPr>
        <p:spPr>
          <a:xfrm>
            <a:off x="7530445" y="2613830"/>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B</a:t>
            </a:r>
          </a:p>
        </p:txBody>
      </p:sp>
      <p:sp>
        <p:nvSpPr>
          <p:cNvPr id="6" name="Oval 5">
            <a:extLst>
              <a:ext uri="{FF2B5EF4-FFF2-40B4-BE49-F238E27FC236}">
                <a16:creationId xmlns:a16="http://schemas.microsoft.com/office/drawing/2014/main" id="{2E7F90D8-EDF5-513F-1CC9-183FBB106FBA}"/>
              </a:ext>
            </a:extLst>
          </p:cNvPr>
          <p:cNvSpPr/>
          <p:nvPr/>
        </p:nvSpPr>
        <p:spPr>
          <a:xfrm>
            <a:off x="8991600" y="3979145"/>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C</a:t>
            </a:r>
          </a:p>
        </p:txBody>
      </p:sp>
      <p:sp>
        <p:nvSpPr>
          <p:cNvPr id="7" name="Oval 6">
            <a:extLst>
              <a:ext uri="{FF2B5EF4-FFF2-40B4-BE49-F238E27FC236}">
                <a16:creationId xmlns:a16="http://schemas.microsoft.com/office/drawing/2014/main" id="{33912DAA-6AB9-994B-3409-A0D75304BBCE}"/>
              </a:ext>
            </a:extLst>
          </p:cNvPr>
          <p:cNvSpPr/>
          <p:nvPr/>
        </p:nvSpPr>
        <p:spPr>
          <a:xfrm>
            <a:off x="9877719" y="2613830"/>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D</a:t>
            </a:r>
          </a:p>
        </p:txBody>
      </p:sp>
      <p:cxnSp>
        <p:nvCxnSpPr>
          <p:cNvPr id="8" name="Straight Connector 7">
            <a:extLst>
              <a:ext uri="{FF2B5EF4-FFF2-40B4-BE49-F238E27FC236}">
                <a16:creationId xmlns:a16="http://schemas.microsoft.com/office/drawing/2014/main" id="{CC3EFE9B-8FB1-2362-F9A0-8C7271026DF7}"/>
              </a:ext>
            </a:extLst>
          </p:cNvPr>
          <p:cNvCxnSpPr>
            <a:cxnSpLocks/>
            <a:stCxn id="5" idx="3"/>
            <a:endCxn id="3" idx="0"/>
          </p:cNvCxnSpPr>
          <p:nvPr/>
        </p:nvCxnSpPr>
        <p:spPr>
          <a:xfrm flipH="1">
            <a:off x="6838361" y="3076491"/>
            <a:ext cx="771464" cy="902655"/>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2704CCC7-7445-1AD6-3564-D319EE0B7780}"/>
              </a:ext>
            </a:extLst>
          </p:cNvPr>
          <p:cNvCxnSpPr>
            <a:cxnSpLocks/>
            <a:stCxn id="6" idx="1"/>
            <a:endCxn id="5" idx="5"/>
          </p:cNvCxnSpPr>
          <p:nvPr/>
        </p:nvCxnSpPr>
        <p:spPr>
          <a:xfrm flipH="1" flipV="1">
            <a:off x="7993106" y="3076491"/>
            <a:ext cx="1077874" cy="98203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1058EEFE-1BDE-4397-949C-7CE44B91C2FF}"/>
              </a:ext>
            </a:extLst>
          </p:cNvPr>
          <p:cNvCxnSpPr>
            <a:cxnSpLocks/>
            <a:stCxn id="6" idx="7"/>
            <a:endCxn id="7" idx="4"/>
          </p:cNvCxnSpPr>
          <p:nvPr/>
        </p:nvCxnSpPr>
        <p:spPr>
          <a:xfrm flipV="1">
            <a:off x="9454261" y="3155871"/>
            <a:ext cx="694479" cy="902654"/>
          </a:xfrm>
          <a:prstGeom prst="line">
            <a:avLst/>
          </a:prstGeom>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03B6E9B4-8C66-D5CF-CB0B-C02E02C963E1}"/>
              </a:ext>
            </a:extLst>
          </p:cNvPr>
          <p:cNvSpPr txBox="1"/>
          <p:nvPr/>
        </p:nvSpPr>
        <p:spPr>
          <a:xfrm>
            <a:off x="7258639" y="5872899"/>
            <a:ext cx="2479250" cy="369332"/>
          </a:xfrm>
          <a:prstGeom prst="rect">
            <a:avLst/>
          </a:prstGeom>
          <a:noFill/>
        </p:spPr>
        <p:txBody>
          <a:bodyPr wrap="square" rtlCol="0">
            <a:spAutoFit/>
          </a:bodyPr>
          <a:lstStyle/>
          <a:p>
            <a:r>
              <a:rPr lang="en-US" dirty="0"/>
              <a:t>Distance-2 coloring</a:t>
            </a:r>
          </a:p>
        </p:txBody>
      </p:sp>
      <p:sp>
        <p:nvSpPr>
          <p:cNvPr id="14" name="TextBox 13">
            <a:extLst>
              <a:ext uri="{FF2B5EF4-FFF2-40B4-BE49-F238E27FC236}">
                <a16:creationId xmlns:a16="http://schemas.microsoft.com/office/drawing/2014/main" id="{5CEFA479-0E02-8ED6-2C03-3E1856A5CDD5}"/>
              </a:ext>
            </a:extLst>
          </p:cNvPr>
          <p:cNvSpPr txBox="1"/>
          <p:nvPr/>
        </p:nvSpPr>
        <p:spPr>
          <a:xfrm>
            <a:off x="6652574" y="4541674"/>
            <a:ext cx="456807" cy="369332"/>
          </a:xfrm>
          <a:prstGeom prst="rect">
            <a:avLst/>
          </a:prstGeom>
          <a:noFill/>
        </p:spPr>
        <p:txBody>
          <a:bodyPr wrap="square" rtlCol="0">
            <a:spAutoFit/>
          </a:bodyPr>
          <a:lstStyle/>
          <a:p>
            <a:r>
              <a:rPr lang="en-US" dirty="0"/>
              <a:t>[ ]</a:t>
            </a:r>
          </a:p>
        </p:txBody>
      </p:sp>
      <p:sp>
        <p:nvSpPr>
          <p:cNvPr id="15" name="TextBox 14">
            <a:extLst>
              <a:ext uri="{FF2B5EF4-FFF2-40B4-BE49-F238E27FC236}">
                <a16:creationId xmlns:a16="http://schemas.microsoft.com/office/drawing/2014/main" id="{1C234975-42F5-43BE-511C-C90EDFB2F053}"/>
              </a:ext>
            </a:extLst>
          </p:cNvPr>
          <p:cNvSpPr txBox="1"/>
          <p:nvPr/>
        </p:nvSpPr>
        <p:spPr>
          <a:xfrm>
            <a:off x="9076834" y="4550626"/>
            <a:ext cx="456807" cy="369332"/>
          </a:xfrm>
          <a:prstGeom prst="rect">
            <a:avLst/>
          </a:prstGeom>
          <a:noFill/>
        </p:spPr>
        <p:txBody>
          <a:bodyPr wrap="square" rtlCol="0">
            <a:spAutoFit/>
          </a:bodyPr>
          <a:lstStyle/>
          <a:p>
            <a:r>
              <a:rPr lang="en-US" dirty="0"/>
              <a:t>[ ]</a:t>
            </a:r>
          </a:p>
        </p:txBody>
      </p:sp>
      <p:sp>
        <p:nvSpPr>
          <p:cNvPr id="16" name="TextBox 15">
            <a:extLst>
              <a:ext uri="{FF2B5EF4-FFF2-40B4-BE49-F238E27FC236}">
                <a16:creationId xmlns:a16="http://schemas.microsoft.com/office/drawing/2014/main" id="{0FAE5890-4D6A-9B4F-822B-EA4BFC441F00}"/>
              </a:ext>
            </a:extLst>
          </p:cNvPr>
          <p:cNvSpPr txBox="1"/>
          <p:nvPr/>
        </p:nvSpPr>
        <p:spPr>
          <a:xfrm>
            <a:off x="7573061" y="1799972"/>
            <a:ext cx="456807" cy="369332"/>
          </a:xfrm>
          <a:prstGeom prst="rect">
            <a:avLst/>
          </a:prstGeom>
          <a:noFill/>
        </p:spPr>
        <p:txBody>
          <a:bodyPr wrap="square" rtlCol="0">
            <a:spAutoFit/>
          </a:bodyPr>
          <a:lstStyle/>
          <a:p>
            <a:r>
              <a:rPr lang="en-US" dirty="0"/>
              <a:t>[ ]</a:t>
            </a:r>
          </a:p>
        </p:txBody>
      </p:sp>
      <p:sp>
        <p:nvSpPr>
          <p:cNvPr id="17" name="TextBox 16">
            <a:extLst>
              <a:ext uri="{FF2B5EF4-FFF2-40B4-BE49-F238E27FC236}">
                <a16:creationId xmlns:a16="http://schemas.microsoft.com/office/drawing/2014/main" id="{6B5E1E6B-761A-BFEA-FFBE-15738D7A5C80}"/>
              </a:ext>
            </a:extLst>
          </p:cNvPr>
          <p:cNvSpPr txBox="1"/>
          <p:nvPr/>
        </p:nvSpPr>
        <p:spPr>
          <a:xfrm>
            <a:off x="9962953" y="1772683"/>
            <a:ext cx="456807" cy="369332"/>
          </a:xfrm>
          <a:prstGeom prst="rect">
            <a:avLst/>
          </a:prstGeom>
          <a:noFill/>
        </p:spPr>
        <p:txBody>
          <a:bodyPr wrap="square" rtlCol="0">
            <a:spAutoFit/>
          </a:bodyPr>
          <a:lstStyle/>
          <a:p>
            <a:r>
              <a:rPr lang="en-US" dirty="0"/>
              <a:t>[ ]</a:t>
            </a:r>
          </a:p>
        </p:txBody>
      </p:sp>
      <p:sp>
        <p:nvSpPr>
          <p:cNvPr id="11" name="TextBox 10">
            <a:extLst>
              <a:ext uri="{FF2B5EF4-FFF2-40B4-BE49-F238E27FC236}">
                <a16:creationId xmlns:a16="http://schemas.microsoft.com/office/drawing/2014/main" id="{657798DC-2E48-E851-8471-5120E5F076A7}"/>
              </a:ext>
            </a:extLst>
          </p:cNvPr>
          <p:cNvSpPr txBox="1"/>
          <p:nvPr/>
        </p:nvSpPr>
        <p:spPr>
          <a:xfrm>
            <a:off x="6495245" y="4931493"/>
            <a:ext cx="964810" cy="369332"/>
          </a:xfrm>
          <a:prstGeom prst="rect">
            <a:avLst/>
          </a:prstGeom>
          <a:noFill/>
        </p:spPr>
        <p:txBody>
          <a:bodyPr wrap="square" rtlCol="0">
            <a:spAutoFit/>
          </a:bodyPr>
          <a:lstStyle/>
          <a:p>
            <a:r>
              <a:rPr lang="en-US" dirty="0"/>
              <a:t>[B, C ]</a:t>
            </a:r>
          </a:p>
        </p:txBody>
      </p:sp>
      <p:sp>
        <p:nvSpPr>
          <p:cNvPr id="12" name="TextBox 11">
            <a:extLst>
              <a:ext uri="{FF2B5EF4-FFF2-40B4-BE49-F238E27FC236}">
                <a16:creationId xmlns:a16="http://schemas.microsoft.com/office/drawing/2014/main" id="{3386255D-FA2A-7C03-76E8-F0542A48C4A2}"/>
              </a:ext>
            </a:extLst>
          </p:cNvPr>
          <p:cNvSpPr txBox="1"/>
          <p:nvPr/>
        </p:nvSpPr>
        <p:spPr>
          <a:xfrm>
            <a:off x="8991600" y="4929988"/>
            <a:ext cx="1157140" cy="369332"/>
          </a:xfrm>
          <a:prstGeom prst="rect">
            <a:avLst/>
          </a:prstGeom>
          <a:noFill/>
        </p:spPr>
        <p:txBody>
          <a:bodyPr wrap="square" rtlCol="0">
            <a:spAutoFit/>
          </a:bodyPr>
          <a:lstStyle/>
          <a:p>
            <a:r>
              <a:rPr lang="en-US" dirty="0"/>
              <a:t>[A, B, D ]</a:t>
            </a:r>
          </a:p>
        </p:txBody>
      </p:sp>
      <p:sp>
        <p:nvSpPr>
          <p:cNvPr id="18" name="TextBox 17">
            <a:extLst>
              <a:ext uri="{FF2B5EF4-FFF2-40B4-BE49-F238E27FC236}">
                <a16:creationId xmlns:a16="http://schemas.microsoft.com/office/drawing/2014/main" id="{1025FA95-39AA-BFBD-2C87-3A55FE4EF25F}"/>
              </a:ext>
            </a:extLst>
          </p:cNvPr>
          <p:cNvSpPr txBox="1"/>
          <p:nvPr/>
        </p:nvSpPr>
        <p:spPr>
          <a:xfrm>
            <a:off x="9900107" y="2176043"/>
            <a:ext cx="841736" cy="369332"/>
          </a:xfrm>
          <a:prstGeom prst="rect">
            <a:avLst/>
          </a:prstGeom>
          <a:noFill/>
        </p:spPr>
        <p:txBody>
          <a:bodyPr wrap="square" rtlCol="0">
            <a:spAutoFit/>
          </a:bodyPr>
          <a:lstStyle/>
          <a:p>
            <a:r>
              <a:rPr lang="en-US" dirty="0"/>
              <a:t>[B, C ]</a:t>
            </a:r>
          </a:p>
        </p:txBody>
      </p:sp>
      <p:sp>
        <p:nvSpPr>
          <p:cNvPr id="19" name="TextBox 18">
            <a:extLst>
              <a:ext uri="{FF2B5EF4-FFF2-40B4-BE49-F238E27FC236}">
                <a16:creationId xmlns:a16="http://schemas.microsoft.com/office/drawing/2014/main" id="{B584FA9E-6AD9-8E57-06C8-688DF8FBA1D2}"/>
              </a:ext>
            </a:extLst>
          </p:cNvPr>
          <p:cNvSpPr txBox="1"/>
          <p:nvPr/>
        </p:nvSpPr>
        <p:spPr>
          <a:xfrm>
            <a:off x="7312827" y="2217357"/>
            <a:ext cx="1077874" cy="369332"/>
          </a:xfrm>
          <a:prstGeom prst="rect">
            <a:avLst/>
          </a:prstGeom>
          <a:noFill/>
        </p:spPr>
        <p:txBody>
          <a:bodyPr wrap="square" rtlCol="0">
            <a:spAutoFit/>
          </a:bodyPr>
          <a:lstStyle/>
          <a:p>
            <a:r>
              <a:rPr lang="en-US" dirty="0"/>
              <a:t>[A, C, D ]</a:t>
            </a:r>
          </a:p>
        </p:txBody>
      </p:sp>
      <p:sp>
        <p:nvSpPr>
          <p:cNvPr id="22" name="Title 1">
            <a:extLst>
              <a:ext uri="{FF2B5EF4-FFF2-40B4-BE49-F238E27FC236}">
                <a16:creationId xmlns:a16="http://schemas.microsoft.com/office/drawing/2014/main" id="{DE535D02-8A05-BC22-E7F1-9C65CA733BDF}"/>
              </a:ext>
            </a:extLst>
          </p:cNvPr>
          <p:cNvSpPr>
            <a:spLocks noGrp="1"/>
          </p:cNvSpPr>
          <p:nvPr>
            <p:ph type="title"/>
          </p:nvPr>
        </p:nvSpPr>
        <p:spPr>
          <a:xfrm>
            <a:off x="2233225" y="375345"/>
            <a:ext cx="7729728" cy="1188720"/>
          </a:xfrm>
        </p:spPr>
        <p:txBody>
          <a:bodyPr/>
          <a:lstStyle/>
          <a:p>
            <a:r>
              <a:rPr lang="en-US" dirty="0"/>
              <a:t>DSATUR (Degree of saturation)</a:t>
            </a:r>
          </a:p>
        </p:txBody>
      </p:sp>
      <p:sp>
        <p:nvSpPr>
          <p:cNvPr id="20" name="Slide Number Placeholder 19">
            <a:extLst>
              <a:ext uri="{FF2B5EF4-FFF2-40B4-BE49-F238E27FC236}">
                <a16:creationId xmlns:a16="http://schemas.microsoft.com/office/drawing/2014/main" id="{E710D969-3A53-D2FD-6D92-F9ED3E8FE5B5}"/>
              </a:ext>
            </a:extLst>
          </p:cNvPr>
          <p:cNvSpPr>
            <a:spLocks noGrp="1"/>
          </p:cNvSpPr>
          <p:nvPr>
            <p:ph type="sldNum" sz="quarter" idx="12"/>
          </p:nvPr>
        </p:nvSpPr>
        <p:spPr/>
        <p:txBody>
          <a:bodyPr/>
          <a:lstStyle/>
          <a:p>
            <a:fld id="{3DD08374-E544-47A5-94AF-CF56056772CB}" type="slidenum">
              <a:rPr lang="en-US" smtClean="0"/>
              <a:t>82</a:t>
            </a:fld>
            <a:endParaRPr lang="en-US"/>
          </a:p>
        </p:txBody>
      </p:sp>
    </p:spTree>
    <p:extLst>
      <p:ext uri="{BB962C8B-B14F-4D97-AF65-F5344CB8AC3E}">
        <p14:creationId xmlns:p14="http://schemas.microsoft.com/office/powerpoint/2010/main" val="259282561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880227-1526-6404-D809-00EF18B4A5E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746A9E5-854A-4125-28B1-C00351868282}"/>
              </a:ext>
            </a:extLst>
          </p:cNvPr>
          <p:cNvSpPr txBox="1"/>
          <p:nvPr/>
        </p:nvSpPr>
        <p:spPr>
          <a:xfrm>
            <a:off x="1423448" y="2967335"/>
            <a:ext cx="3535051" cy="923330"/>
          </a:xfrm>
          <a:prstGeom prst="rect">
            <a:avLst/>
          </a:prstGeom>
          <a:noFill/>
        </p:spPr>
        <p:txBody>
          <a:bodyPr wrap="square" rtlCol="0">
            <a:spAutoFit/>
          </a:bodyPr>
          <a:lstStyle/>
          <a:p>
            <a:r>
              <a:rPr lang="en-US" dirty="0"/>
              <a:t>2. Assign the lowest available color (not used by its neighbors) to that vertex</a:t>
            </a:r>
          </a:p>
        </p:txBody>
      </p:sp>
      <p:sp>
        <p:nvSpPr>
          <p:cNvPr id="3" name="Oval 2">
            <a:extLst>
              <a:ext uri="{FF2B5EF4-FFF2-40B4-BE49-F238E27FC236}">
                <a16:creationId xmlns:a16="http://schemas.microsoft.com/office/drawing/2014/main" id="{04EE3FB4-A185-0E9A-4A66-854A3E35E022}"/>
              </a:ext>
            </a:extLst>
          </p:cNvPr>
          <p:cNvSpPr/>
          <p:nvPr/>
        </p:nvSpPr>
        <p:spPr>
          <a:xfrm>
            <a:off x="6567340" y="3979146"/>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A</a:t>
            </a:r>
          </a:p>
        </p:txBody>
      </p:sp>
      <p:sp>
        <p:nvSpPr>
          <p:cNvPr id="5" name="Oval 4">
            <a:extLst>
              <a:ext uri="{FF2B5EF4-FFF2-40B4-BE49-F238E27FC236}">
                <a16:creationId xmlns:a16="http://schemas.microsoft.com/office/drawing/2014/main" id="{017870D4-91E9-428D-4970-E33C37CD87F9}"/>
              </a:ext>
            </a:extLst>
          </p:cNvPr>
          <p:cNvSpPr/>
          <p:nvPr/>
        </p:nvSpPr>
        <p:spPr>
          <a:xfrm>
            <a:off x="7530445" y="2613830"/>
            <a:ext cx="542041" cy="542041"/>
          </a:xfrm>
          <a:prstGeom prst="ellipse">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B</a:t>
            </a:r>
          </a:p>
        </p:txBody>
      </p:sp>
      <p:sp>
        <p:nvSpPr>
          <p:cNvPr id="6" name="Oval 5">
            <a:extLst>
              <a:ext uri="{FF2B5EF4-FFF2-40B4-BE49-F238E27FC236}">
                <a16:creationId xmlns:a16="http://schemas.microsoft.com/office/drawing/2014/main" id="{AE382565-6CD6-739E-85BB-329CA4A5AE04}"/>
              </a:ext>
            </a:extLst>
          </p:cNvPr>
          <p:cNvSpPr/>
          <p:nvPr/>
        </p:nvSpPr>
        <p:spPr>
          <a:xfrm>
            <a:off x="8991600" y="3979145"/>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C</a:t>
            </a:r>
          </a:p>
        </p:txBody>
      </p:sp>
      <p:sp>
        <p:nvSpPr>
          <p:cNvPr id="7" name="Oval 6">
            <a:extLst>
              <a:ext uri="{FF2B5EF4-FFF2-40B4-BE49-F238E27FC236}">
                <a16:creationId xmlns:a16="http://schemas.microsoft.com/office/drawing/2014/main" id="{EC14E848-2B75-21E2-3017-1541D28B552C}"/>
              </a:ext>
            </a:extLst>
          </p:cNvPr>
          <p:cNvSpPr/>
          <p:nvPr/>
        </p:nvSpPr>
        <p:spPr>
          <a:xfrm>
            <a:off x="9877719" y="2613830"/>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D</a:t>
            </a:r>
          </a:p>
        </p:txBody>
      </p:sp>
      <p:cxnSp>
        <p:nvCxnSpPr>
          <p:cNvPr id="8" name="Straight Connector 7">
            <a:extLst>
              <a:ext uri="{FF2B5EF4-FFF2-40B4-BE49-F238E27FC236}">
                <a16:creationId xmlns:a16="http://schemas.microsoft.com/office/drawing/2014/main" id="{AF71A8C5-9CC3-E3C5-5ED9-A0E75FA365EE}"/>
              </a:ext>
            </a:extLst>
          </p:cNvPr>
          <p:cNvCxnSpPr>
            <a:cxnSpLocks/>
            <a:stCxn id="5" idx="3"/>
            <a:endCxn id="3" idx="0"/>
          </p:cNvCxnSpPr>
          <p:nvPr/>
        </p:nvCxnSpPr>
        <p:spPr>
          <a:xfrm flipH="1">
            <a:off x="6838361" y="3076491"/>
            <a:ext cx="771464" cy="902655"/>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40C6FD95-D808-4ACD-E1B6-6B026BB03B07}"/>
              </a:ext>
            </a:extLst>
          </p:cNvPr>
          <p:cNvCxnSpPr>
            <a:cxnSpLocks/>
            <a:stCxn id="6" idx="1"/>
            <a:endCxn id="5" idx="5"/>
          </p:cNvCxnSpPr>
          <p:nvPr/>
        </p:nvCxnSpPr>
        <p:spPr>
          <a:xfrm flipH="1" flipV="1">
            <a:off x="7993106" y="3076491"/>
            <a:ext cx="1077874" cy="98203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B394660D-B47D-81AD-5237-CDEA5EEFAC11}"/>
              </a:ext>
            </a:extLst>
          </p:cNvPr>
          <p:cNvCxnSpPr>
            <a:cxnSpLocks/>
            <a:stCxn id="6" idx="7"/>
            <a:endCxn id="7" idx="4"/>
          </p:cNvCxnSpPr>
          <p:nvPr/>
        </p:nvCxnSpPr>
        <p:spPr>
          <a:xfrm flipV="1">
            <a:off x="9454261" y="3155871"/>
            <a:ext cx="694479" cy="902654"/>
          </a:xfrm>
          <a:prstGeom prst="line">
            <a:avLst/>
          </a:prstGeom>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05BAA623-487B-B47B-10DF-366BE53B561D}"/>
              </a:ext>
            </a:extLst>
          </p:cNvPr>
          <p:cNvSpPr txBox="1"/>
          <p:nvPr/>
        </p:nvSpPr>
        <p:spPr>
          <a:xfrm>
            <a:off x="7258639" y="5872899"/>
            <a:ext cx="2479250" cy="369332"/>
          </a:xfrm>
          <a:prstGeom prst="rect">
            <a:avLst/>
          </a:prstGeom>
          <a:noFill/>
        </p:spPr>
        <p:txBody>
          <a:bodyPr wrap="square" rtlCol="0">
            <a:spAutoFit/>
          </a:bodyPr>
          <a:lstStyle/>
          <a:p>
            <a:r>
              <a:rPr lang="en-US" dirty="0"/>
              <a:t>Distance-2 coloring</a:t>
            </a:r>
          </a:p>
        </p:txBody>
      </p:sp>
      <p:sp>
        <p:nvSpPr>
          <p:cNvPr id="14" name="TextBox 13">
            <a:extLst>
              <a:ext uri="{FF2B5EF4-FFF2-40B4-BE49-F238E27FC236}">
                <a16:creationId xmlns:a16="http://schemas.microsoft.com/office/drawing/2014/main" id="{85712A89-B886-A71D-A030-19FC28E7B362}"/>
              </a:ext>
            </a:extLst>
          </p:cNvPr>
          <p:cNvSpPr txBox="1"/>
          <p:nvPr/>
        </p:nvSpPr>
        <p:spPr>
          <a:xfrm>
            <a:off x="6652574" y="4541674"/>
            <a:ext cx="456807" cy="369332"/>
          </a:xfrm>
          <a:prstGeom prst="rect">
            <a:avLst/>
          </a:prstGeom>
          <a:noFill/>
        </p:spPr>
        <p:txBody>
          <a:bodyPr wrap="square" rtlCol="0">
            <a:spAutoFit/>
          </a:bodyPr>
          <a:lstStyle/>
          <a:p>
            <a:r>
              <a:rPr lang="en-US" dirty="0"/>
              <a:t>[ ]</a:t>
            </a:r>
          </a:p>
        </p:txBody>
      </p:sp>
      <p:sp>
        <p:nvSpPr>
          <p:cNvPr id="15" name="TextBox 14">
            <a:extLst>
              <a:ext uri="{FF2B5EF4-FFF2-40B4-BE49-F238E27FC236}">
                <a16:creationId xmlns:a16="http://schemas.microsoft.com/office/drawing/2014/main" id="{47DFE80B-32DE-FE51-5B7A-36B3FC6FE57F}"/>
              </a:ext>
            </a:extLst>
          </p:cNvPr>
          <p:cNvSpPr txBox="1"/>
          <p:nvPr/>
        </p:nvSpPr>
        <p:spPr>
          <a:xfrm>
            <a:off x="9076834" y="4550626"/>
            <a:ext cx="456807" cy="369332"/>
          </a:xfrm>
          <a:prstGeom prst="rect">
            <a:avLst/>
          </a:prstGeom>
          <a:noFill/>
        </p:spPr>
        <p:txBody>
          <a:bodyPr wrap="square" rtlCol="0">
            <a:spAutoFit/>
          </a:bodyPr>
          <a:lstStyle/>
          <a:p>
            <a:r>
              <a:rPr lang="en-US" dirty="0"/>
              <a:t>[ ]</a:t>
            </a:r>
          </a:p>
        </p:txBody>
      </p:sp>
      <p:sp>
        <p:nvSpPr>
          <p:cNvPr id="16" name="TextBox 15">
            <a:extLst>
              <a:ext uri="{FF2B5EF4-FFF2-40B4-BE49-F238E27FC236}">
                <a16:creationId xmlns:a16="http://schemas.microsoft.com/office/drawing/2014/main" id="{179B516A-5D98-A8FC-12FB-EA3B16D65031}"/>
              </a:ext>
            </a:extLst>
          </p:cNvPr>
          <p:cNvSpPr txBox="1"/>
          <p:nvPr/>
        </p:nvSpPr>
        <p:spPr>
          <a:xfrm>
            <a:off x="7573061" y="1799972"/>
            <a:ext cx="456807" cy="369332"/>
          </a:xfrm>
          <a:prstGeom prst="rect">
            <a:avLst/>
          </a:prstGeom>
          <a:noFill/>
        </p:spPr>
        <p:txBody>
          <a:bodyPr wrap="square" rtlCol="0">
            <a:spAutoFit/>
          </a:bodyPr>
          <a:lstStyle/>
          <a:p>
            <a:r>
              <a:rPr lang="en-US" dirty="0"/>
              <a:t>[ ]</a:t>
            </a:r>
          </a:p>
        </p:txBody>
      </p:sp>
      <p:sp>
        <p:nvSpPr>
          <p:cNvPr id="17" name="TextBox 16">
            <a:extLst>
              <a:ext uri="{FF2B5EF4-FFF2-40B4-BE49-F238E27FC236}">
                <a16:creationId xmlns:a16="http://schemas.microsoft.com/office/drawing/2014/main" id="{12B8AAC0-8BFC-3E08-8CC6-A70DC6986B1D}"/>
              </a:ext>
            </a:extLst>
          </p:cNvPr>
          <p:cNvSpPr txBox="1"/>
          <p:nvPr/>
        </p:nvSpPr>
        <p:spPr>
          <a:xfrm>
            <a:off x="9962953" y="1772683"/>
            <a:ext cx="456807" cy="369332"/>
          </a:xfrm>
          <a:prstGeom prst="rect">
            <a:avLst/>
          </a:prstGeom>
          <a:noFill/>
        </p:spPr>
        <p:txBody>
          <a:bodyPr wrap="square" rtlCol="0">
            <a:spAutoFit/>
          </a:bodyPr>
          <a:lstStyle/>
          <a:p>
            <a:r>
              <a:rPr lang="en-US" dirty="0"/>
              <a:t>[ ]</a:t>
            </a:r>
          </a:p>
        </p:txBody>
      </p:sp>
      <p:sp>
        <p:nvSpPr>
          <p:cNvPr id="11" name="TextBox 10">
            <a:extLst>
              <a:ext uri="{FF2B5EF4-FFF2-40B4-BE49-F238E27FC236}">
                <a16:creationId xmlns:a16="http://schemas.microsoft.com/office/drawing/2014/main" id="{80B3D9C1-3007-797D-6292-65CF9BFC25BF}"/>
              </a:ext>
            </a:extLst>
          </p:cNvPr>
          <p:cNvSpPr txBox="1"/>
          <p:nvPr/>
        </p:nvSpPr>
        <p:spPr>
          <a:xfrm>
            <a:off x="6495244" y="4931493"/>
            <a:ext cx="1227361" cy="369332"/>
          </a:xfrm>
          <a:prstGeom prst="rect">
            <a:avLst/>
          </a:prstGeom>
          <a:noFill/>
        </p:spPr>
        <p:txBody>
          <a:bodyPr wrap="square" rtlCol="0">
            <a:spAutoFit/>
          </a:bodyPr>
          <a:lstStyle/>
          <a:p>
            <a:r>
              <a:rPr lang="en-US" dirty="0"/>
              <a:t>[B, C ]</a:t>
            </a:r>
          </a:p>
        </p:txBody>
      </p:sp>
      <p:sp>
        <p:nvSpPr>
          <p:cNvPr id="12" name="TextBox 11">
            <a:extLst>
              <a:ext uri="{FF2B5EF4-FFF2-40B4-BE49-F238E27FC236}">
                <a16:creationId xmlns:a16="http://schemas.microsoft.com/office/drawing/2014/main" id="{5FAE6A52-E4AA-4B5A-2B78-8CE590F8E79B}"/>
              </a:ext>
            </a:extLst>
          </p:cNvPr>
          <p:cNvSpPr txBox="1"/>
          <p:nvPr/>
        </p:nvSpPr>
        <p:spPr>
          <a:xfrm>
            <a:off x="8991600" y="4929988"/>
            <a:ext cx="1157140" cy="369332"/>
          </a:xfrm>
          <a:prstGeom prst="rect">
            <a:avLst/>
          </a:prstGeom>
          <a:noFill/>
        </p:spPr>
        <p:txBody>
          <a:bodyPr wrap="square" rtlCol="0">
            <a:spAutoFit/>
          </a:bodyPr>
          <a:lstStyle/>
          <a:p>
            <a:r>
              <a:rPr lang="en-US" dirty="0"/>
              <a:t>[A, B, D ]</a:t>
            </a:r>
          </a:p>
        </p:txBody>
      </p:sp>
      <p:sp>
        <p:nvSpPr>
          <p:cNvPr id="18" name="TextBox 17">
            <a:extLst>
              <a:ext uri="{FF2B5EF4-FFF2-40B4-BE49-F238E27FC236}">
                <a16:creationId xmlns:a16="http://schemas.microsoft.com/office/drawing/2014/main" id="{59D156A2-1D87-4C6A-24E2-B01D32C161C7}"/>
              </a:ext>
            </a:extLst>
          </p:cNvPr>
          <p:cNvSpPr txBox="1"/>
          <p:nvPr/>
        </p:nvSpPr>
        <p:spPr>
          <a:xfrm>
            <a:off x="9900107" y="2176043"/>
            <a:ext cx="841736" cy="369332"/>
          </a:xfrm>
          <a:prstGeom prst="rect">
            <a:avLst/>
          </a:prstGeom>
          <a:noFill/>
        </p:spPr>
        <p:txBody>
          <a:bodyPr wrap="square" rtlCol="0">
            <a:spAutoFit/>
          </a:bodyPr>
          <a:lstStyle/>
          <a:p>
            <a:r>
              <a:rPr lang="en-US" dirty="0"/>
              <a:t>[B, C ]</a:t>
            </a:r>
          </a:p>
        </p:txBody>
      </p:sp>
      <p:sp>
        <p:nvSpPr>
          <p:cNvPr id="19" name="TextBox 18">
            <a:extLst>
              <a:ext uri="{FF2B5EF4-FFF2-40B4-BE49-F238E27FC236}">
                <a16:creationId xmlns:a16="http://schemas.microsoft.com/office/drawing/2014/main" id="{9BEF5ADA-4BAC-207C-BB23-FDC5FB0FE8EF}"/>
              </a:ext>
            </a:extLst>
          </p:cNvPr>
          <p:cNvSpPr txBox="1"/>
          <p:nvPr/>
        </p:nvSpPr>
        <p:spPr>
          <a:xfrm>
            <a:off x="7312827" y="2217357"/>
            <a:ext cx="1077874" cy="369332"/>
          </a:xfrm>
          <a:prstGeom prst="rect">
            <a:avLst/>
          </a:prstGeom>
          <a:noFill/>
        </p:spPr>
        <p:txBody>
          <a:bodyPr wrap="square" rtlCol="0">
            <a:spAutoFit/>
          </a:bodyPr>
          <a:lstStyle/>
          <a:p>
            <a:r>
              <a:rPr lang="en-US" dirty="0"/>
              <a:t>[A, C, D ]</a:t>
            </a:r>
          </a:p>
        </p:txBody>
      </p:sp>
      <p:sp>
        <p:nvSpPr>
          <p:cNvPr id="22" name="Title 1">
            <a:extLst>
              <a:ext uri="{FF2B5EF4-FFF2-40B4-BE49-F238E27FC236}">
                <a16:creationId xmlns:a16="http://schemas.microsoft.com/office/drawing/2014/main" id="{22F0A7A6-1AE2-B44D-F2E3-4B7CA761E8CE}"/>
              </a:ext>
            </a:extLst>
          </p:cNvPr>
          <p:cNvSpPr>
            <a:spLocks noGrp="1"/>
          </p:cNvSpPr>
          <p:nvPr>
            <p:ph type="title"/>
          </p:nvPr>
        </p:nvSpPr>
        <p:spPr>
          <a:xfrm>
            <a:off x="2233225" y="375345"/>
            <a:ext cx="7729728" cy="1188720"/>
          </a:xfrm>
        </p:spPr>
        <p:txBody>
          <a:bodyPr/>
          <a:lstStyle/>
          <a:p>
            <a:r>
              <a:rPr lang="en-US" dirty="0"/>
              <a:t>DSATUR (Degree of saturation)</a:t>
            </a:r>
          </a:p>
        </p:txBody>
      </p:sp>
      <p:sp>
        <p:nvSpPr>
          <p:cNvPr id="20" name="Slide Number Placeholder 19">
            <a:extLst>
              <a:ext uri="{FF2B5EF4-FFF2-40B4-BE49-F238E27FC236}">
                <a16:creationId xmlns:a16="http://schemas.microsoft.com/office/drawing/2014/main" id="{E10E8055-5435-1B08-1015-97D36D4923C0}"/>
              </a:ext>
            </a:extLst>
          </p:cNvPr>
          <p:cNvSpPr>
            <a:spLocks noGrp="1"/>
          </p:cNvSpPr>
          <p:nvPr>
            <p:ph type="sldNum" sz="quarter" idx="12"/>
          </p:nvPr>
        </p:nvSpPr>
        <p:spPr/>
        <p:txBody>
          <a:bodyPr/>
          <a:lstStyle/>
          <a:p>
            <a:fld id="{3DD08374-E544-47A5-94AF-CF56056772CB}" type="slidenum">
              <a:rPr lang="en-US" smtClean="0"/>
              <a:t>83</a:t>
            </a:fld>
            <a:endParaRPr lang="en-US"/>
          </a:p>
        </p:txBody>
      </p:sp>
    </p:spTree>
    <p:extLst>
      <p:ext uri="{BB962C8B-B14F-4D97-AF65-F5344CB8AC3E}">
        <p14:creationId xmlns:p14="http://schemas.microsoft.com/office/powerpoint/2010/main" val="38142026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56FDB3-EBDF-3DED-3D4F-177188523EF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9D18777-864A-4B74-EE30-401400F91D79}"/>
              </a:ext>
            </a:extLst>
          </p:cNvPr>
          <p:cNvSpPr txBox="1"/>
          <p:nvPr/>
        </p:nvSpPr>
        <p:spPr>
          <a:xfrm>
            <a:off x="1423448" y="2967335"/>
            <a:ext cx="3535051" cy="646331"/>
          </a:xfrm>
          <a:prstGeom prst="rect">
            <a:avLst/>
          </a:prstGeom>
          <a:noFill/>
        </p:spPr>
        <p:txBody>
          <a:bodyPr wrap="square" rtlCol="0">
            <a:spAutoFit/>
          </a:bodyPr>
          <a:lstStyle/>
          <a:p>
            <a:r>
              <a:rPr lang="en-US" dirty="0"/>
              <a:t>3. Update the saturation degrees of its neighbors</a:t>
            </a:r>
          </a:p>
        </p:txBody>
      </p:sp>
      <p:sp>
        <p:nvSpPr>
          <p:cNvPr id="3" name="Oval 2">
            <a:extLst>
              <a:ext uri="{FF2B5EF4-FFF2-40B4-BE49-F238E27FC236}">
                <a16:creationId xmlns:a16="http://schemas.microsoft.com/office/drawing/2014/main" id="{171AC812-8835-0D39-33BD-3D0E52A77D47}"/>
              </a:ext>
            </a:extLst>
          </p:cNvPr>
          <p:cNvSpPr/>
          <p:nvPr/>
        </p:nvSpPr>
        <p:spPr>
          <a:xfrm>
            <a:off x="6567340" y="3979146"/>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A</a:t>
            </a:r>
          </a:p>
        </p:txBody>
      </p:sp>
      <p:sp>
        <p:nvSpPr>
          <p:cNvPr id="5" name="Oval 4">
            <a:extLst>
              <a:ext uri="{FF2B5EF4-FFF2-40B4-BE49-F238E27FC236}">
                <a16:creationId xmlns:a16="http://schemas.microsoft.com/office/drawing/2014/main" id="{E1F5980B-1C12-4FD5-C1B2-9C3AB707F48C}"/>
              </a:ext>
            </a:extLst>
          </p:cNvPr>
          <p:cNvSpPr/>
          <p:nvPr/>
        </p:nvSpPr>
        <p:spPr>
          <a:xfrm>
            <a:off x="7530445" y="2613830"/>
            <a:ext cx="542041" cy="542041"/>
          </a:xfrm>
          <a:prstGeom prst="ellipse">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B</a:t>
            </a:r>
          </a:p>
        </p:txBody>
      </p:sp>
      <p:sp>
        <p:nvSpPr>
          <p:cNvPr id="6" name="Oval 5">
            <a:extLst>
              <a:ext uri="{FF2B5EF4-FFF2-40B4-BE49-F238E27FC236}">
                <a16:creationId xmlns:a16="http://schemas.microsoft.com/office/drawing/2014/main" id="{71067CA1-620D-5F5D-EDAD-7A2AB53A1772}"/>
              </a:ext>
            </a:extLst>
          </p:cNvPr>
          <p:cNvSpPr/>
          <p:nvPr/>
        </p:nvSpPr>
        <p:spPr>
          <a:xfrm>
            <a:off x="8991600" y="3979145"/>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C</a:t>
            </a:r>
          </a:p>
        </p:txBody>
      </p:sp>
      <p:sp>
        <p:nvSpPr>
          <p:cNvPr id="7" name="Oval 6">
            <a:extLst>
              <a:ext uri="{FF2B5EF4-FFF2-40B4-BE49-F238E27FC236}">
                <a16:creationId xmlns:a16="http://schemas.microsoft.com/office/drawing/2014/main" id="{E5B6CD92-2F12-FFFC-A8D1-881B8A61CAC6}"/>
              </a:ext>
            </a:extLst>
          </p:cNvPr>
          <p:cNvSpPr/>
          <p:nvPr/>
        </p:nvSpPr>
        <p:spPr>
          <a:xfrm>
            <a:off x="9877719" y="2613830"/>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D</a:t>
            </a:r>
          </a:p>
        </p:txBody>
      </p:sp>
      <p:cxnSp>
        <p:nvCxnSpPr>
          <p:cNvPr id="8" name="Straight Connector 7">
            <a:extLst>
              <a:ext uri="{FF2B5EF4-FFF2-40B4-BE49-F238E27FC236}">
                <a16:creationId xmlns:a16="http://schemas.microsoft.com/office/drawing/2014/main" id="{518008B9-EBDE-7E26-E396-B84847E6E38D}"/>
              </a:ext>
            </a:extLst>
          </p:cNvPr>
          <p:cNvCxnSpPr>
            <a:cxnSpLocks/>
            <a:stCxn id="5" idx="3"/>
            <a:endCxn id="3" idx="0"/>
          </p:cNvCxnSpPr>
          <p:nvPr/>
        </p:nvCxnSpPr>
        <p:spPr>
          <a:xfrm flipH="1">
            <a:off x="6838361" y="3076491"/>
            <a:ext cx="771464" cy="902655"/>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6BD33A7B-B546-EC6F-D2FE-39282EEA3EE4}"/>
              </a:ext>
            </a:extLst>
          </p:cNvPr>
          <p:cNvCxnSpPr>
            <a:cxnSpLocks/>
            <a:stCxn id="6" idx="1"/>
            <a:endCxn id="5" idx="5"/>
          </p:cNvCxnSpPr>
          <p:nvPr/>
        </p:nvCxnSpPr>
        <p:spPr>
          <a:xfrm flipH="1" flipV="1">
            <a:off x="7993106" y="3076491"/>
            <a:ext cx="1077874" cy="98203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AA75F66-F23D-4FDB-D7B5-1121A28BF15F}"/>
              </a:ext>
            </a:extLst>
          </p:cNvPr>
          <p:cNvCxnSpPr>
            <a:cxnSpLocks/>
            <a:stCxn id="6" idx="7"/>
            <a:endCxn id="7" idx="4"/>
          </p:cNvCxnSpPr>
          <p:nvPr/>
        </p:nvCxnSpPr>
        <p:spPr>
          <a:xfrm flipV="1">
            <a:off x="9454261" y="3155871"/>
            <a:ext cx="694479" cy="902654"/>
          </a:xfrm>
          <a:prstGeom prst="line">
            <a:avLst/>
          </a:prstGeom>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36357F35-D28E-CCCE-F848-240E9A0867D4}"/>
              </a:ext>
            </a:extLst>
          </p:cNvPr>
          <p:cNvSpPr txBox="1"/>
          <p:nvPr/>
        </p:nvSpPr>
        <p:spPr>
          <a:xfrm>
            <a:off x="7258639" y="5872899"/>
            <a:ext cx="2479250" cy="369332"/>
          </a:xfrm>
          <a:prstGeom prst="rect">
            <a:avLst/>
          </a:prstGeom>
          <a:noFill/>
        </p:spPr>
        <p:txBody>
          <a:bodyPr wrap="square" rtlCol="0">
            <a:spAutoFit/>
          </a:bodyPr>
          <a:lstStyle/>
          <a:p>
            <a:r>
              <a:rPr lang="en-US" dirty="0"/>
              <a:t>Distance-2 coloring</a:t>
            </a:r>
          </a:p>
        </p:txBody>
      </p:sp>
      <p:sp>
        <p:nvSpPr>
          <p:cNvPr id="14" name="TextBox 13">
            <a:extLst>
              <a:ext uri="{FF2B5EF4-FFF2-40B4-BE49-F238E27FC236}">
                <a16:creationId xmlns:a16="http://schemas.microsoft.com/office/drawing/2014/main" id="{19E3C89C-EF5E-7A08-F847-51F8DB0DAEFB}"/>
              </a:ext>
            </a:extLst>
          </p:cNvPr>
          <p:cNvSpPr txBox="1"/>
          <p:nvPr/>
        </p:nvSpPr>
        <p:spPr>
          <a:xfrm>
            <a:off x="6652574" y="4541674"/>
            <a:ext cx="456807" cy="369332"/>
          </a:xfrm>
          <a:prstGeom prst="rect">
            <a:avLst/>
          </a:prstGeom>
          <a:noFill/>
        </p:spPr>
        <p:txBody>
          <a:bodyPr wrap="square" rtlCol="0">
            <a:spAutoFit/>
          </a:bodyPr>
          <a:lstStyle/>
          <a:p>
            <a:r>
              <a:rPr lang="en-US" dirty="0"/>
              <a:t>[ ]</a:t>
            </a:r>
          </a:p>
        </p:txBody>
      </p:sp>
      <p:sp>
        <p:nvSpPr>
          <p:cNvPr id="15" name="TextBox 14">
            <a:extLst>
              <a:ext uri="{FF2B5EF4-FFF2-40B4-BE49-F238E27FC236}">
                <a16:creationId xmlns:a16="http://schemas.microsoft.com/office/drawing/2014/main" id="{35B1E12A-2A30-B553-DC54-BFAC36A0288E}"/>
              </a:ext>
            </a:extLst>
          </p:cNvPr>
          <p:cNvSpPr txBox="1"/>
          <p:nvPr/>
        </p:nvSpPr>
        <p:spPr>
          <a:xfrm>
            <a:off x="9076834" y="4550626"/>
            <a:ext cx="456807" cy="369332"/>
          </a:xfrm>
          <a:prstGeom prst="rect">
            <a:avLst/>
          </a:prstGeom>
          <a:noFill/>
        </p:spPr>
        <p:txBody>
          <a:bodyPr wrap="square" rtlCol="0">
            <a:spAutoFit/>
          </a:bodyPr>
          <a:lstStyle/>
          <a:p>
            <a:r>
              <a:rPr lang="en-US" dirty="0"/>
              <a:t>[ ]</a:t>
            </a:r>
          </a:p>
        </p:txBody>
      </p:sp>
      <p:sp>
        <p:nvSpPr>
          <p:cNvPr id="16" name="TextBox 15">
            <a:extLst>
              <a:ext uri="{FF2B5EF4-FFF2-40B4-BE49-F238E27FC236}">
                <a16:creationId xmlns:a16="http://schemas.microsoft.com/office/drawing/2014/main" id="{CF124BB1-4C90-C627-46D9-E911C726BE30}"/>
              </a:ext>
            </a:extLst>
          </p:cNvPr>
          <p:cNvSpPr txBox="1"/>
          <p:nvPr/>
        </p:nvSpPr>
        <p:spPr>
          <a:xfrm>
            <a:off x="7573061" y="1799972"/>
            <a:ext cx="456807" cy="369332"/>
          </a:xfrm>
          <a:prstGeom prst="rect">
            <a:avLst/>
          </a:prstGeom>
          <a:noFill/>
        </p:spPr>
        <p:txBody>
          <a:bodyPr wrap="square" rtlCol="0">
            <a:spAutoFit/>
          </a:bodyPr>
          <a:lstStyle/>
          <a:p>
            <a:r>
              <a:rPr lang="en-US" dirty="0"/>
              <a:t>[ ]</a:t>
            </a:r>
          </a:p>
        </p:txBody>
      </p:sp>
      <p:sp>
        <p:nvSpPr>
          <p:cNvPr id="17" name="TextBox 16">
            <a:extLst>
              <a:ext uri="{FF2B5EF4-FFF2-40B4-BE49-F238E27FC236}">
                <a16:creationId xmlns:a16="http://schemas.microsoft.com/office/drawing/2014/main" id="{D03642BD-B7C7-F749-7AC1-8BEA37F482D6}"/>
              </a:ext>
            </a:extLst>
          </p:cNvPr>
          <p:cNvSpPr txBox="1"/>
          <p:nvPr/>
        </p:nvSpPr>
        <p:spPr>
          <a:xfrm>
            <a:off x="9962953" y="1772683"/>
            <a:ext cx="456807" cy="369332"/>
          </a:xfrm>
          <a:prstGeom prst="rect">
            <a:avLst/>
          </a:prstGeom>
          <a:noFill/>
        </p:spPr>
        <p:txBody>
          <a:bodyPr wrap="square" rtlCol="0">
            <a:spAutoFit/>
          </a:bodyPr>
          <a:lstStyle/>
          <a:p>
            <a:r>
              <a:rPr lang="en-US" dirty="0"/>
              <a:t>[ ]</a:t>
            </a:r>
          </a:p>
        </p:txBody>
      </p:sp>
      <p:sp>
        <p:nvSpPr>
          <p:cNvPr id="11" name="TextBox 10">
            <a:extLst>
              <a:ext uri="{FF2B5EF4-FFF2-40B4-BE49-F238E27FC236}">
                <a16:creationId xmlns:a16="http://schemas.microsoft.com/office/drawing/2014/main" id="{44D1E0FB-674F-F1EA-1B29-1F91457B3FBA}"/>
              </a:ext>
            </a:extLst>
          </p:cNvPr>
          <p:cNvSpPr txBox="1"/>
          <p:nvPr/>
        </p:nvSpPr>
        <p:spPr>
          <a:xfrm>
            <a:off x="6495244" y="4931493"/>
            <a:ext cx="1354109" cy="369332"/>
          </a:xfrm>
          <a:prstGeom prst="rect">
            <a:avLst/>
          </a:prstGeom>
          <a:noFill/>
        </p:spPr>
        <p:txBody>
          <a:bodyPr wrap="square" rtlCol="0">
            <a:spAutoFit/>
          </a:bodyPr>
          <a:lstStyle/>
          <a:p>
            <a:r>
              <a:rPr lang="en-US" dirty="0"/>
              <a:t>[B, C ]</a:t>
            </a:r>
          </a:p>
        </p:txBody>
      </p:sp>
      <p:sp>
        <p:nvSpPr>
          <p:cNvPr id="12" name="TextBox 11">
            <a:extLst>
              <a:ext uri="{FF2B5EF4-FFF2-40B4-BE49-F238E27FC236}">
                <a16:creationId xmlns:a16="http://schemas.microsoft.com/office/drawing/2014/main" id="{BE848232-AE77-C115-0198-EAD9E3875D83}"/>
              </a:ext>
            </a:extLst>
          </p:cNvPr>
          <p:cNvSpPr txBox="1"/>
          <p:nvPr/>
        </p:nvSpPr>
        <p:spPr>
          <a:xfrm>
            <a:off x="8991600" y="4929988"/>
            <a:ext cx="1157140" cy="369332"/>
          </a:xfrm>
          <a:prstGeom prst="rect">
            <a:avLst/>
          </a:prstGeom>
          <a:noFill/>
        </p:spPr>
        <p:txBody>
          <a:bodyPr wrap="square" rtlCol="0">
            <a:spAutoFit/>
          </a:bodyPr>
          <a:lstStyle/>
          <a:p>
            <a:r>
              <a:rPr lang="en-US" dirty="0"/>
              <a:t>[A, B, D ]</a:t>
            </a:r>
          </a:p>
        </p:txBody>
      </p:sp>
      <p:sp>
        <p:nvSpPr>
          <p:cNvPr id="18" name="TextBox 17">
            <a:extLst>
              <a:ext uri="{FF2B5EF4-FFF2-40B4-BE49-F238E27FC236}">
                <a16:creationId xmlns:a16="http://schemas.microsoft.com/office/drawing/2014/main" id="{4B5479EF-25D3-607A-5E82-852E888EEDB1}"/>
              </a:ext>
            </a:extLst>
          </p:cNvPr>
          <p:cNvSpPr txBox="1"/>
          <p:nvPr/>
        </p:nvSpPr>
        <p:spPr>
          <a:xfrm>
            <a:off x="9900107" y="2176043"/>
            <a:ext cx="841736" cy="369332"/>
          </a:xfrm>
          <a:prstGeom prst="rect">
            <a:avLst/>
          </a:prstGeom>
          <a:noFill/>
        </p:spPr>
        <p:txBody>
          <a:bodyPr wrap="square" rtlCol="0">
            <a:spAutoFit/>
          </a:bodyPr>
          <a:lstStyle/>
          <a:p>
            <a:r>
              <a:rPr lang="en-US" dirty="0"/>
              <a:t>[B, C ]</a:t>
            </a:r>
          </a:p>
        </p:txBody>
      </p:sp>
      <p:sp>
        <p:nvSpPr>
          <p:cNvPr id="19" name="TextBox 18">
            <a:extLst>
              <a:ext uri="{FF2B5EF4-FFF2-40B4-BE49-F238E27FC236}">
                <a16:creationId xmlns:a16="http://schemas.microsoft.com/office/drawing/2014/main" id="{CAB9A587-9791-709C-9C97-F3DDEBC32512}"/>
              </a:ext>
            </a:extLst>
          </p:cNvPr>
          <p:cNvSpPr txBox="1"/>
          <p:nvPr/>
        </p:nvSpPr>
        <p:spPr>
          <a:xfrm>
            <a:off x="7312827" y="2217357"/>
            <a:ext cx="1077874" cy="369332"/>
          </a:xfrm>
          <a:prstGeom prst="rect">
            <a:avLst/>
          </a:prstGeom>
          <a:noFill/>
        </p:spPr>
        <p:txBody>
          <a:bodyPr wrap="square" rtlCol="0">
            <a:spAutoFit/>
          </a:bodyPr>
          <a:lstStyle/>
          <a:p>
            <a:r>
              <a:rPr lang="en-US" dirty="0"/>
              <a:t>[A, C, D ]</a:t>
            </a:r>
          </a:p>
        </p:txBody>
      </p:sp>
      <p:sp>
        <p:nvSpPr>
          <p:cNvPr id="22" name="Title 1">
            <a:extLst>
              <a:ext uri="{FF2B5EF4-FFF2-40B4-BE49-F238E27FC236}">
                <a16:creationId xmlns:a16="http://schemas.microsoft.com/office/drawing/2014/main" id="{BEE0F672-FE45-5D45-5371-11343628822A}"/>
              </a:ext>
            </a:extLst>
          </p:cNvPr>
          <p:cNvSpPr>
            <a:spLocks noGrp="1"/>
          </p:cNvSpPr>
          <p:nvPr>
            <p:ph type="title"/>
          </p:nvPr>
        </p:nvSpPr>
        <p:spPr>
          <a:xfrm>
            <a:off x="2233225" y="375345"/>
            <a:ext cx="7729728" cy="1188720"/>
          </a:xfrm>
        </p:spPr>
        <p:txBody>
          <a:bodyPr/>
          <a:lstStyle/>
          <a:p>
            <a:r>
              <a:rPr lang="en-US" dirty="0"/>
              <a:t>DSATUR (Degree of saturation)</a:t>
            </a:r>
          </a:p>
        </p:txBody>
      </p:sp>
      <p:sp>
        <p:nvSpPr>
          <p:cNvPr id="20" name="Slide Number Placeholder 19">
            <a:extLst>
              <a:ext uri="{FF2B5EF4-FFF2-40B4-BE49-F238E27FC236}">
                <a16:creationId xmlns:a16="http://schemas.microsoft.com/office/drawing/2014/main" id="{3C6461C5-265E-1B4E-6A31-E447B49457E0}"/>
              </a:ext>
            </a:extLst>
          </p:cNvPr>
          <p:cNvSpPr>
            <a:spLocks noGrp="1"/>
          </p:cNvSpPr>
          <p:nvPr>
            <p:ph type="sldNum" sz="quarter" idx="12"/>
          </p:nvPr>
        </p:nvSpPr>
        <p:spPr/>
        <p:txBody>
          <a:bodyPr/>
          <a:lstStyle/>
          <a:p>
            <a:fld id="{3DD08374-E544-47A5-94AF-CF56056772CB}" type="slidenum">
              <a:rPr lang="en-US" smtClean="0"/>
              <a:t>84</a:t>
            </a:fld>
            <a:endParaRPr lang="en-US"/>
          </a:p>
        </p:txBody>
      </p:sp>
    </p:spTree>
    <p:extLst>
      <p:ext uri="{BB962C8B-B14F-4D97-AF65-F5344CB8AC3E}">
        <p14:creationId xmlns:p14="http://schemas.microsoft.com/office/powerpoint/2010/main" val="131162916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C0356B-2F87-FC9F-B502-024E3358284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1570C99-0DA7-2BA1-A115-29DF7FD1AD2C}"/>
              </a:ext>
            </a:extLst>
          </p:cNvPr>
          <p:cNvSpPr txBox="1"/>
          <p:nvPr/>
        </p:nvSpPr>
        <p:spPr>
          <a:xfrm>
            <a:off x="1423448" y="2967335"/>
            <a:ext cx="3535051" cy="646331"/>
          </a:xfrm>
          <a:prstGeom prst="rect">
            <a:avLst/>
          </a:prstGeom>
          <a:noFill/>
        </p:spPr>
        <p:txBody>
          <a:bodyPr wrap="square" rtlCol="0">
            <a:spAutoFit/>
          </a:bodyPr>
          <a:lstStyle/>
          <a:p>
            <a:r>
              <a:rPr lang="en-US" dirty="0"/>
              <a:t>3. Update the saturation degrees of its neighbors</a:t>
            </a:r>
          </a:p>
        </p:txBody>
      </p:sp>
      <p:sp>
        <p:nvSpPr>
          <p:cNvPr id="3" name="Oval 2">
            <a:extLst>
              <a:ext uri="{FF2B5EF4-FFF2-40B4-BE49-F238E27FC236}">
                <a16:creationId xmlns:a16="http://schemas.microsoft.com/office/drawing/2014/main" id="{154F49FD-CAA3-D373-C07B-E427A9B23AC5}"/>
              </a:ext>
            </a:extLst>
          </p:cNvPr>
          <p:cNvSpPr/>
          <p:nvPr/>
        </p:nvSpPr>
        <p:spPr>
          <a:xfrm>
            <a:off x="6567340" y="3979146"/>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A</a:t>
            </a:r>
          </a:p>
        </p:txBody>
      </p:sp>
      <p:sp>
        <p:nvSpPr>
          <p:cNvPr id="5" name="Oval 4">
            <a:extLst>
              <a:ext uri="{FF2B5EF4-FFF2-40B4-BE49-F238E27FC236}">
                <a16:creationId xmlns:a16="http://schemas.microsoft.com/office/drawing/2014/main" id="{C7E4EA2B-B617-2BA1-E277-FFC331EF9F63}"/>
              </a:ext>
            </a:extLst>
          </p:cNvPr>
          <p:cNvSpPr/>
          <p:nvPr/>
        </p:nvSpPr>
        <p:spPr>
          <a:xfrm>
            <a:off x="7530445" y="2613830"/>
            <a:ext cx="542041" cy="542041"/>
          </a:xfrm>
          <a:prstGeom prst="ellipse">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B</a:t>
            </a:r>
          </a:p>
        </p:txBody>
      </p:sp>
      <p:sp>
        <p:nvSpPr>
          <p:cNvPr id="6" name="Oval 5">
            <a:extLst>
              <a:ext uri="{FF2B5EF4-FFF2-40B4-BE49-F238E27FC236}">
                <a16:creationId xmlns:a16="http://schemas.microsoft.com/office/drawing/2014/main" id="{15345931-2C5A-FFF0-31B0-E70CC1780535}"/>
              </a:ext>
            </a:extLst>
          </p:cNvPr>
          <p:cNvSpPr/>
          <p:nvPr/>
        </p:nvSpPr>
        <p:spPr>
          <a:xfrm>
            <a:off x="8991600" y="3979145"/>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C</a:t>
            </a:r>
          </a:p>
        </p:txBody>
      </p:sp>
      <p:sp>
        <p:nvSpPr>
          <p:cNvPr id="7" name="Oval 6">
            <a:extLst>
              <a:ext uri="{FF2B5EF4-FFF2-40B4-BE49-F238E27FC236}">
                <a16:creationId xmlns:a16="http://schemas.microsoft.com/office/drawing/2014/main" id="{43E8424C-7ABD-6645-C167-CC39CBF36995}"/>
              </a:ext>
            </a:extLst>
          </p:cNvPr>
          <p:cNvSpPr/>
          <p:nvPr/>
        </p:nvSpPr>
        <p:spPr>
          <a:xfrm>
            <a:off x="9877719" y="2613830"/>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D</a:t>
            </a:r>
          </a:p>
        </p:txBody>
      </p:sp>
      <p:cxnSp>
        <p:nvCxnSpPr>
          <p:cNvPr id="8" name="Straight Connector 7">
            <a:extLst>
              <a:ext uri="{FF2B5EF4-FFF2-40B4-BE49-F238E27FC236}">
                <a16:creationId xmlns:a16="http://schemas.microsoft.com/office/drawing/2014/main" id="{8FAE31FD-0CB3-3F80-B693-C9EA290B08D4}"/>
              </a:ext>
            </a:extLst>
          </p:cNvPr>
          <p:cNvCxnSpPr>
            <a:cxnSpLocks/>
            <a:stCxn id="5" idx="3"/>
            <a:endCxn id="3" idx="0"/>
          </p:cNvCxnSpPr>
          <p:nvPr/>
        </p:nvCxnSpPr>
        <p:spPr>
          <a:xfrm flipH="1">
            <a:off x="6838361" y="3076491"/>
            <a:ext cx="771464" cy="902655"/>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7DD7A13-F683-C1B3-30BE-2184301AE21C}"/>
              </a:ext>
            </a:extLst>
          </p:cNvPr>
          <p:cNvCxnSpPr>
            <a:cxnSpLocks/>
            <a:stCxn id="6" idx="1"/>
            <a:endCxn id="5" idx="5"/>
          </p:cNvCxnSpPr>
          <p:nvPr/>
        </p:nvCxnSpPr>
        <p:spPr>
          <a:xfrm flipH="1" flipV="1">
            <a:off x="7993106" y="3076491"/>
            <a:ext cx="1077874" cy="98203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615C42F7-F3A5-8EAA-308F-5185CDDD2A44}"/>
              </a:ext>
            </a:extLst>
          </p:cNvPr>
          <p:cNvCxnSpPr>
            <a:cxnSpLocks/>
            <a:stCxn id="6" idx="7"/>
            <a:endCxn id="7" idx="4"/>
          </p:cNvCxnSpPr>
          <p:nvPr/>
        </p:nvCxnSpPr>
        <p:spPr>
          <a:xfrm flipV="1">
            <a:off x="9454261" y="3155871"/>
            <a:ext cx="694479" cy="902654"/>
          </a:xfrm>
          <a:prstGeom prst="line">
            <a:avLst/>
          </a:prstGeom>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650A22A3-8A1E-C5F0-42D7-E82600B789DF}"/>
              </a:ext>
            </a:extLst>
          </p:cNvPr>
          <p:cNvSpPr txBox="1"/>
          <p:nvPr/>
        </p:nvSpPr>
        <p:spPr>
          <a:xfrm>
            <a:off x="7258639" y="5872899"/>
            <a:ext cx="2479250" cy="369332"/>
          </a:xfrm>
          <a:prstGeom prst="rect">
            <a:avLst/>
          </a:prstGeom>
          <a:noFill/>
        </p:spPr>
        <p:txBody>
          <a:bodyPr wrap="square" rtlCol="0">
            <a:spAutoFit/>
          </a:bodyPr>
          <a:lstStyle/>
          <a:p>
            <a:r>
              <a:rPr lang="en-US" dirty="0"/>
              <a:t>Distance-2 coloring</a:t>
            </a:r>
          </a:p>
        </p:txBody>
      </p:sp>
      <p:sp>
        <p:nvSpPr>
          <p:cNvPr id="14" name="TextBox 13">
            <a:extLst>
              <a:ext uri="{FF2B5EF4-FFF2-40B4-BE49-F238E27FC236}">
                <a16:creationId xmlns:a16="http://schemas.microsoft.com/office/drawing/2014/main" id="{4BF21657-5B23-A8F4-33ED-560098511D7D}"/>
              </a:ext>
            </a:extLst>
          </p:cNvPr>
          <p:cNvSpPr txBox="1"/>
          <p:nvPr/>
        </p:nvSpPr>
        <p:spPr>
          <a:xfrm>
            <a:off x="6652574" y="4541674"/>
            <a:ext cx="614135" cy="369332"/>
          </a:xfrm>
          <a:prstGeom prst="rect">
            <a:avLst/>
          </a:prstGeom>
          <a:noFill/>
        </p:spPr>
        <p:txBody>
          <a:bodyPr wrap="square" rtlCol="0">
            <a:spAutoFit/>
          </a:bodyPr>
          <a:lstStyle/>
          <a:p>
            <a:r>
              <a:rPr lang="en-US" dirty="0"/>
              <a:t>[</a:t>
            </a:r>
            <a:r>
              <a:rPr lang="en-US" dirty="0">
                <a:solidFill>
                  <a:schemeClr val="accent1">
                    <a:lumMod val="60000"/>
                    <a:lumOff val="40000"/>
                  </a:schemeClr>
                </a:solidFill>
              </a:rPr>
              <a:t>■</a:t>
            </a:r>
            <a:r>
              <a:rPr lang="en-US" dirty="0"/>
              <a:t>]</a:t>
            </a:r>
          </a:p>
        </p:txBody>
      </p:sp>
      <p:sp>
        <p:nvSpPr>
          <p:cNvPr id="15" name="TextBox 14">
            <a:extLst>
              <a:ext uri="{FF2B5EF4-FFF2-40B4-BE49-F238E27FC236}">
                <a16:creationId xmlns:a16="http://schemas.microsoft.com/office/drawing/2014/main" id="{4DD0290F-1B7A-E2F4-9454-C8738C75E41C}"/>
              </a:ext>
            </a:extLst>
          </p:cNvPr>
          <p:cNvSpPr txBox="1"/>
          <p:nvPr/>
        </p:nvSpPr>
        <p:spPr>
          <a:xfrm>
            <a:off x="9076834" y="4550626"/>
            <a:ext cx="542041" cy="369332"/>
          </a:xfrm>
          <a:prstGeom prst="rect">
            <a:avLst/>
          </a:prstGeom>
          <a:noFill/>
        </p:spPr>
        <p:txBody>
          <a:bodyPr wrap="square" rtlCol="0">
            <a:spAutoFit/>
          </a:bodyPr>
          <a:lstStyle/>
          <a:p>
            <a:r>
              <a:rPr lang="en-US" dirty="0"/>
              <a:t>[</a:t>
            </a:r>
            <a:r>
              <a:rPr lang="en-US" dirty="0">
                <a:solidFill>
                  <a:schemeClr val="accent1">
                    <a:lumMod val="60000"/>
                    <a:lumOff val="40000"/>
                  </a:schemeClr>
                </a:solidFill>
              </a:rPr>
              <a:t>■</a:t>
            </a:r>
            <a:r>
              <a:rPr lang="en-US" dirty="0"/>
              <a:t>]</a:t>
            </a:r>
          </a:p>
        </p:txBody>
      </p:sp>
      <p:sp>
        <p:nvSpPr>
          <p:cNvPr id="16" name="TextBox 15">
            <a:extLst>
              <a:ext uri="{FF2B5EF4-FFF2-40B4-BE49-F238E27FC236}">
                <a16:creationId xmlns:a16="http://schemas.microsoft.com/office/drawing/2014/main" id="{4F9AEA36-BCC7-892F-FA8D-BA27BDB14DEE}"/>
              </a:ext>
            </a:extLst>
          </p:cNvPr>
          <p:cNvSpPr txBox="1"/>
          <p:nvPr/>
        </p:nvSpPr>
        <p:spPr>
          <a:xfrm>
            <a:off x="7573061" y="1799972"/>
            <a:ext cx="547934" cy="369332"/>
          </a:xfrm>
          <a:prstGeom prst="rect">
            <a:avLst/>
          </a:prstGeom>
          <a:noFill/>
        </p:spPr>
        <p:txBody>
          <a:bodyPr wrap="square" rtlCol="0">
            <a:spAutoFit/>
          </a:bodyPr>
          <a:lstStyle/>
          <a:p>
            <a:r>
              <a:rPr lang="en-US" dirty="0"/>
              <a:t>[</a:t>
            </a:r>
            <a:r>
              <a:rPr lang="en-US" dirty="0">
                <a:solidFill>
                  <a:schemeClr val="accent1">
                    <a:lumMod val="60000"/>
                    <a:lumOff val="40000"/>
                  </a:schemeClr>
                </a:solidFill>
              </a:rPr>
              <a:t> </a:t>
            </a:r>
            <a:r>
              <a:rPr lang="en-US" dirty="0"/>
              <a:t>]</a:t>
            </a:r>
          </a:p>
        </p:txBody>
      </p:sp>
      <p:sp>
        <p:nvSpPr>
          <p:cNvPr id="17" name="TextBox 16">
            <a:extLst>
              <a:ext uri="{FF2B5EF4-FFF2-40B4-BE49-F238E27FC236}">
                <a16:creationId xmlns:a16="http://schemas.microsoft.com/office/drawing/2014/main" id="{2C5A3F1E-D19C-269F-5C41-544C23039C8D}"/>
              </a:ext>
            </a:extLst>
          </p:cNvPr>
          <p:cNvSpPr txBox="1"/>
          <p:nvPr/>
        </p:nvSpPr>
        <p:spPr>
          <a:xfrm>
            <a:off x="9962953" y="1772683"/>
            <a:ext cx="547934" cy="369332"/>
          </a:xfrm>
          <a:prstGeom prst="rect">
            <a:avLst/>
          </a:prstGeom>
          <a:noFill/>
        </p:spPr>
        <p:txBody>
          <a:bodyPr wrap="square" rtlCol="0">
            <a:spAutoFit/>
          </a:bodyPr>
          <a:lstStyle/>
          <a:p>
            <a:r>
              <a:rPr lang="en-US" dirty="0"/>
              <a:t>[</a:t>
            </a:r>
            <a:r>
              <a:rPr lang="en-US" dirty="0">
                <a:solidFill>
                  <a:schemeClr val="accent1">
                    <a:lumMod val="60000"/>
                    <a:lumOff val="40000"/>
                  </a:schemeClr>
                </a:solidFill>
              </a:rPr>
              <a:t>■</a:t>
            </a:r>
            <a:r>
              <a:rPr lang="en-US" dirty="0"/>
              <a:t>]</a:t>
            </a:r>
          </a:p>
        </p:txBody>
      </p:sp>
      <p:sp>
        <p:nvSpPr>
          <p:cNvPr id="11" name="TextBox 10">
            <a:extLst>
              <a:ext uri="{FF2B5EF4-FFF2-40B4-BE49-F238E27FC236}">
                <a16:creationId xmlns:a16="http://schemas.microsoft.com/office/drawing/2014/main" id="{41E493CE-A96F-274A-38D9-5CB0B8897A59}"/>
              </a:ext>
            </a:extLst>
          </p:cNvPr>
          <p:cNvSpPr txBox="1"/>
          <p:nvPr/>
        </p:nvSpPr>
        <p:spPr>
          <a:xfrm>
            <a:off x="6495244" y="4931493"/>
            <a:ext cx="1497861" cy="369332"/>
          </a:xfrm>
          <a:prstGeom prst="rect">
            <a:avLst/>
          </a:prstGeom>
          <a:noFill/>
        </p:spPr>
        <p:txBody>
          <a:bodyPr wrap="square" rtlCol="0">
            <a:spAutoFit/>
          </a:bodyPr>
          <a:lstStyle/>
          <a:p>
            <a:r>
              <a:rPr lang="en-US" dirty="0"/>
              <a:t>[B, C ]</a:t>
            </a:r>
          </a:p>
        </p:txBody>
      </p:sp>
      <p:sp>
        <p:nvSpPr>
          <p:cNvPr id="12" name="TextBox 11">
            <a:extLst>
              <a:ext uri="{FF2B5EF4-FFF2-40B4-BE49-F238E27FC236}">
                <a16:creationId xmlns:a16="http://schemas.microsoft.com/office/drawing/2014/main" id="{20B38079-9F9A-9BE2-24CD-338EA5820F23}"/>
              </a:ext>
            </a:extLst>
          </p:cNvPr>
          <p:cNvSpPr txBox="1"/>
          <p:nvPr/>
        </p:nvSpPr>
        <p:spPr>
          <a:xfrm>
            <a:off x="8991600" y="4929988"/>
            <a:ext cx="1157140" cy="369332"/>
          </a:xfrm>
          <a:prstGeom prst="rect">
            <a:avLst/>
          </a:prstGeom>
          <a:noFill/>
        </p:spPr>
        <p:txBody>
          <a:bodyPr wrap="square" rtlCol="0">
            <a:spAutoFit/>
          </a:bodyPr>
          <a:lstStyle/>
          <a:p>
            <a:r>
              <a:rPr lang="en-US" dirty="0"/>
              <a:t>[A, B, D ]</a:t>
            </a:r>
          </a:p>
        </p:txBody>
      </p:sp>
      <p:sp>
        <p:nvSpPr>
          <p:cNvPr id="18" name="TextBox 17">
            <a:extLst>
              <a:ext uri="{FF2B5EF4-FFF2-40B4-BE49-F238E27FC236}">
                <a16:creationId xmlns:a16="http://schemas.microsoft.com/office/drawing/2014/main" id="{EC08BB22-DF6B-E3C2-3F3D-0BA59E2B5BFA}"/>
              </a:ext>
            </a:extLst>
          </p:cNvPr>
          <p:cNvSpPr txBox="1"/>
          <p:nvPr/>
        </p:nvSpPr>
        <p:spPr>
          <a:xfrm>
            <a:off x="9900107" y="2176043"/>
            <a:ext cx="841736" cy="369332"/>
          </a:xfrm>
          <a:prstGeom prst="rect">
            <a:avLst/>
          </a:prstGeom>
          <a:noFill/>
        </p:spPr>
        <p:txBody>
          <a:bodyPr wrap="square" rtlCol="0">
            <a:spAutoFit/>
          </a:bodyPr>
          <a:lstStyle/>
          <a:p>
            <a:r>
              <a:rPr lang="en-US" dirty="0"/>
              <a:t>[B, C ]</a:t>
            </a:r>
          </a:p>
        </p:txBody>
      </p:sp>
      <p:sp>
        <p:nvSpPr>
          <p:cNvPr id="19" name="TextBox 18">
            <a:extLst>
              <a:ext uri="{FF2B5EF4-FFF2-40B4-BE49-F238E27FC236}">
                <a16:creationId xmlns:a16="http://schemas.microsoft.com/office/drawing/2014/main" id="{FB5153AB-C427-3885-1030-327DB2A83647}"/>
              </a:ext>
            </a:extLst>
          </p:cNvPr>
          <p:cNvSpPr txBox="1"/>
          <p:nvPr/>
        </p:nvSpPr>
        <p:spPr>
          <a:xfrm>
            <a:off x="7312827" y="2217357"/>
            <a:ext cx="1077874" cy="369332"/>
          </a:xfrm>
          <a:prstGeom prst="rect">
            <a:avLst/>
          </a:prstGeom>
          <a:noFill/>
        </p:spPr>
        <p:txBody>
          <a:bodyPr wrap="square" rtlCol="0">
            <a:spAutoFit/>
          </a:bodyPr>
          <a:lstStyle/>
          <a:p>
            <a:r>
              <a:rPr lang="en-US" dirty="0"/>
              <a:t>[A, C, D ]</a:t>
            </a:r>
          </a:p>
        </p:txBody>
      </p:sp>
      <p:sp>
        <p:nvSpPr>
          <p:cNvPr id="20" name="Slide Number Placeholder 19">
            <a:extLst>
              <a:ext uri="{FF2B5EF4-FFF2-40B4-BE49-F238E27FC236}">
                <a16:creationId xmlns:a16="http://schemas.microsoft.com/office/drawing/2014/main" id="{7AD3AAC3-73CD-6D12-28AF-540E9328E674}"/>
              </a:ext>
            </a:extLst>
          </p:cNvPr>
          <p:cNvSpPr>
            <a:spLocks noGrp="1"/>
          </p:cNvSpPr>
          <p:nvPr>
            <p:ph type="sldNum" sz="quarter" idx="12"/>
          </p:nvPr>
        </p:nvSpPr>
        <p:spPr/>
        <p:txBody>
          <a:bodyPr/>
          <a:lstStyle/>
          <a:p>
            <a:fld id="{3DD08374-E544-47A5-94AF-CF56056772CB}" type="slidenum">
              <a:rPr lang="en-US" smtClean="0"/>
              <a:t>85</a:t>
            </a:fld>
            <a:endParaRPr lang="en-US"/>
          </a:p>
        </p:txBody>
      </p:sp>
    </p:spTree>
    <p:extLst>
      <p:ext uri="{BB962C8B-B14F-4D97-AF65-F5344CB8AC3E}">
        <p14:creationId xmlns:p14="http://schemas.microsoft.com/office/powerpoint/2010/main" val="275400799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530FC5-AEB1-C6F0-12DA-B8F9547F7F4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0360422-0A32-3F72-ABF3-A6A1DB0B5150}"/>
              </a:ext>
            </a:extLst>
          </p:cNvPr>
          <p:cNvSpPr txBox="1"/>
          <p:nvPr/>
        </p:nvSpPr>
        <p:spPr>
          <a:xfrm>
            <a:off x="1255548" y="2436998"/>
            <a:ext cx="3535051" cy="3139321"/>
          </a:xfrm>
          <a:prstGeom prst="rect">
            <a:avLst/>
          </a:prstGeom>
          <a:noFill/>
        </p:spPr>
        <p:txBody>
          <a:bodyPr wrap="square" rtlCol="0">
            <a:spAutoFit/>
          </a:bodyPr>
          <a:lstStyle/>
          <a:p>
            <a:pPr marL="342900" indent="-342900">
              <a:buAutoNum type="arabicPeriod"/>
            </a:pPr>
            <a:r>
              <a:rPr lang="en-US" dirty="0"/>
              <a:t>Choose the vertex with highest </a:t>
            </a:r>
            <a:r>
              <a:rPr lang="en-US" b="1" dirty="0"/>
              <a:t>saturation degree</a:t>
            </a:r>
          </a:p>
          <a:p>
            <a:pPr marL="800100" lvl="1" indent="-342900">
              <a:buFont typeface="Arial" panose="020B0604020202020204" pitchFamily="34" charset="0"/>
              <a:buChar char="•"/>
            </a:pPr>
            <a:r>
              <a:rPr lang="en-US" dirty="0"/>
              <a:t>In case of tie, choose the one with highest degree</a:t>
            </a:r>
          </a:p>
          <a:p>
            <a:pPr lvl="1"/>
            <a:endParaRPr lang="en-US" dirty="0"/>
          </a:p>
          <a:p>
            <a:r>
              <a:rPr lang="en-US" dirty="0"/>
              <a:t>2. Assign the lowest available color (not used by its neighbors) to that vertex</a:t>
            </a:r>
          </a:p>
          <a:p>
            <a:endParaRPr lang="en-US" dirty="0"/>
          </a:p>
          <a:p>
            <a:r>
              <a:rPr lang="en-US" dirty="0"/>
              <a:t>3. Update the saturation degrees of its neighbors</a:t>
            </a:r>
          </a:p>
        </p:txBody>
      </p:sp>
      <p:sp>
        <p:nvSpPr>
          <p:cNvPr id="3" name="Oval 2">
            <a:extLst>
              <a:ext uri="{FF2B5EF4-FFF2-40B4-BE49-F238E27FC236}">
                <a16:creationId xmlns:a16="http://schemas.microsoft.com/office/drawing/2014/main" id="{B7C84F83-3EAA-5E6E-617B-4587133B81F3}"/>
              </a:ext>
            </a:extLst>
          </p:cNvPr>
          <p:cNvSpPr/>
          <p:nvPr/>
        </p:nvSpPr>
        <p:spPr>
          <a:xfrm>
            <a:off x="6567340" y="3979146"/>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A</a:t>
            </a:r>
          </a:p>
        </p:txBody>
      </p:sp>
      <p:sp>
        <p:nvSpPr>
          <p:cNvPr id="5" name="Oval 4">
            <a:extLst>
              <a:ext uri="{FF2B5EF4-FFF2-40B4-BE49-F238E27FC236}">
                <a16:creationId xmlns:a16="http://schemas.microsoft.com/office/drawing/2014/main" id="{0A48FDAE-503A-72F9-5AD8-C711D922BC23}"/>
              </a:ext>
            </a:extLst>
          </p:cNvPr>
          <p:cNvSpPr/>
          <p:nvPr/>
        </p:nvSpPr>
        <p:spPr>
          <a:xfrm>
            <a:off x="7530445" y="2613830"/>
            <a:ext cx="542041" cy="542041"/>
          </a:xfrm>
          <a:prstGeom prst="ellipse">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B</a:t>
            </a:r>
          </a:p>
        </p:txBody>
      </p:sp>
      <p:sp>
        <p:nvSpPr>
          <p:cNvPr id="6" name="Oval 5">
            <a:extLst>
              <a:ext uri="{FF2B5EF4-FFF2-40B4-BE49-F238E27FC236}">
                <a16:creationId xmlns:a16="http://schemas.microsoft.com/office/drawing/2014/main" id="{4C63AB22-375D-4D5F-2799-B744008E92B9}"/>
              </a:ext>
            </a:extLst>
          </p:cNvPr>
          <p:cNvSpPr/>
          <p:nvPr/>
        </p:nvSpPr>
        <p:spPr>
          <a:xfrm>
            <a:off x="8991600" y="3979145"/>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C</a:t>
            </a:r>
          </a:p>
        </p:txBody>
      </p:sp>
      <p:sp>
        <p:nvSpPr>
          <p:cNvPr id="7" name="Oval 6">
            <a:extLst>
              <a:ext uri="{FF2B5EF4-FFF2-40B4-BE49-F238E27FC236}">
                <a16:creationId xmlns:a16="http://schemas.microsoft.com/office/drawing/2014/main" id="{480EF245-1234-0671-42DB-FC1EA46D1C81}"/>
              </a:ext>
            </a:extLst>
          </p:cNvPr>
          <p:cNvSpPr/>
          <p:nvPr/>
        </p:nvSpPr>
        <p:spPr>
          <a:xfrm>
            <a:off x="9877719" y="2613830"/>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D</a:t>
            </a:r>
          </a:p>
        </p:txBody>
      </p:sp>
      <p:cxnSp>
        <p:nvCxnSpPr>
          <p:cNvPr id="8" name="Straight Connector 7">
            <a:extLst>
              <a:ext uri="{FF2B5EF4-FFF2-40B4-BE49-F238E27FC236}">
                <a16:creationId xmlns:a16="http://schemas.microsoft.com/office/drawing/2014/main" id="{0B7E7626-A77F-6D82-2A7B-CB8555F70F05}"/>
              </a:ext>
            </a:extLst>
          </p:cNvPr>
          <p:cNvCxnSpPr>
            <a:cxnSpLocks/>
            <a:stCxn id="5" idx="3"/>
            <a:endCxn id="3" idx="0"/>
          </p:cNvCxnSpPr>
          <p:nvPr/>
        </p:nvCxnSpPr>
        <p:spPr>
          <a:xfrm flipH="1">
            <a:off x="6838361" y="3076491"/>
            <a:ext cx="771464" cy="902655"/>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D08F4F4-6348-2E3F-44DB-1144294AC483}"/>
              </a:ext>
            </a:extLst>
          </p:cNvPr>
          <p:cNvCxnSpPr>
            <a:cxnSpLocks/>
            <a:stCxn id="6" idx="1"/>
            <a:endCxn id="5" idx="5"/>
          </p:cNvCxnSpPr>
          <p:nvPr/>
        </p:nvCxnSpPr>
        <p:spPr>
          <a:xfrm flipH="1" flipV="1">
            <a:off x="7993106" y="3076491"/>
            <a:ext cx="1077874" cy="98203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F8810FA6-037D-242F-DCAA-6B7F38EC3F92}"/>
              </a:ext>
            </a:extLst>
          </p:cNvPr>
          <p:cNvCxnSpPr>
            <a:cxnSpLocks/>
            <a:stCxn id="6" idx="7"/>
            <a:endCxn id="7" idx="4"/>
          </p:cNvCxnSpPr>
          <p:nvPr/>
        </p:nvCxnSpPr>
        <p:spPr>
          <a:xfrm flipV="1">
            <a:off x="9454261" y="3155871"/>
            <a:ext cx="694479" cy="902654"/>
          </a:xfrm>
          <a:prstGeom prst="line">
            <a:avLst/>
          </a:prstGeom>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26DB785C-A6E5-E2AD-0226-43895EFEA49E}"/>
              </a:ext>
            </a:extLst>
          </p:cNvPr>
          <p:cNvSpPr txBox="1"/>
          <p:nvPr/>
        </p:nvSpPr>
        <p:spPr>
          <a:xfrm>
            <a:off x="7258639" y="5872899"/>
            <a:ext cx="2479250" cy="369332"/>
          </a:xfrm>
          <a:prstGeom prst="rect">
            <a:avLst/>
          </a:prstGeom>
          <a:noFill/>
        </p:spPr>
        <p:txBody>
          <a:bodyPr wrap="square" rtlCol="0">
            <a:spAutoFit/>
          </a:bodyPr>
          <a:lstStyle/>
          <a:p>
            <a:r>
              <a:rPr lang="en-US" dirty="0"/>
              <a:t>Distance-2 coloring</a:t>
            </a:r>
          </a:p>
        </p:txBody>
      </p:sp>
      <p:sp>
        <p:nvSpPr>
          <p:cNvPr id="14" name="TextBox 13">
            <a:extLst>
              <a:ext uri="{FF2B5EF4-FFF2-40B4-BE49-F238E27FC236}">
                <a16:creationId xmlns:a16="http://schemas.microsoft.com/office/drawing/2014/main" id="{83C3912E-A082-EBED-3A55-359073719625}"/>
              </a:ext>
            </a:extLst>
          </p:cNvPr>
          <p:cNvSpPr txBox="1"/>
          <p:nvPr/>
        </p:nvSpPr>
        <p:spPr>
          <a:xfrm>
            <a:off x="6652574" y="4541674"/>
            <a:ext cx="614135" cy="369332"/>
          </a:xfrm>
          <a:prstGeom prst="rect">
            <a:avLst/>
          </a:prstGeom>
          <a:noFill/>
        </p:spPr>
        <p:txBody>
          <a:bodyPr wrap="square" rtlCol="0">
            <a:spAutoFit/>
          </a:bodyPr>
          <a:lstStyle/>
          <a:p>
            <a:r>
              <a:rPr lang="en-US" dirty="0"/>
              <a:t>[</a:t>
            </a:r>
            <a:r>
              <a:rPr lang="en-US" dirty="0">
                <a:solidFill>
                  <a:schemeClr val="accent1">
                    <a:lumMod val="60000"/>
                    <a:lumOff val="40000"/>
                  </a:schemeClr>
                </a:solidFill>
              </a:rPr>
              <a:t>■</a:t>
            </a:r>
            <a:r>
              <a:rPr lang="en-US" dirty="0"/>
              <a:t>]</a:t>
            </a:r>
          </a:p>
        </p:txBody>
      </p:sp>
      <p:sp>
        <p:nvSpPr>
          <p:cNvPr id="15" name="TextBox 14">
            <a:extLst>
              <a:ext uri="{FF2B5EF4-FFF2-40B4-BE49-F238E27FC236}">
                <a16:creationId xmlns:a16="http://schemas.microsoft.com/office/drawing/2014/main" id="{9E584B2A-0214-BC09-FA6D-69A18CFDE11C}"/>
              </a:ext>
            </a:extLst>
          </p:cNvPr>
          <p:cNvSpPr txBox="1"/>
          <p:nvPr/>
        </p:nvSpPr>
        <p:spPr>
          <a:xfrm>
            <a:off x="9076834" y="4550626"/>
            <a:ext cx="542041" cy="369332"/>
          </a:xfrm>
          <a:prstGeom prst="rect">
            <a:avLst/>
          </a:prstGeom>
          <a:noFill/>
        </p:spPr>
        <p:txBody>
          <a:bodyPr wrap="square" rtlCol="0">
            <a:spAutoFit/>
          </a:bodyPr>
          <a:lstStyle/>
          <a:p>
            <a:r>
              <a:rPr lang="en-US" dirty="0"/>
              <a:t>[</a:t>
            </a:r>
            <a:r>
              <a:rPr lang="en-US" dirty="0">
                <a:solidFill>
                  <a:schemeClr val="accent1">
                    <a:lumMod val="60000"/>
                    <a:lumOff val="40000"/>
                  </a:schemeClr>
                </a:solidFill>
              </a:rPr>
              <a:t>■</a:t>
            </a:r>
            <a:r>
              <a:rPr lang="en-US" dirty="0"/>
              <a:t>]</a:t>
            </a:r>
          </a:p>
        </p:txBody>
      </p:sp>
      <p:sp>
        <p:nvSpPr>
          <p:cNvPr id="16" name="TextBox 15">
            <a:extLst>
              <a:ext uri="{FF2B5EF4-FFF2-40B4-BE49-F238E27FC236}">
                <a16:creationId xmlns:a16="http://schemas.microsoft.com/office/drawing/2014/main" id="{B3FE32C1-BE19-F4EF-0D78-C8CD15A00605}"/>
              </a:ext>
            </a:extLst>
          </p:cNvPr>
          <p:cNvSpPr txBox="1"/>
          <p:nvPr/>
        </p:nvSpPr>
        <p:spPr>
          <a:xfrm>
            <a:off x="7573061" y="1799972"/>
            <a:ext cx="547934" cy="369332"/>
          </a:xfrm>
          <a:prstGeom prst="rect">
            <a:avLst/>
          </a:prstGeom>
          <a:noFill/>
        </p:spPr>
        <p:txBody>
          <a:bodyPr wrap="square" rtlCol="0">
            <a:spAutoFit/>
          </a:bodyPr>
          <a:lstStyle/>
          <a:p>
            <a:r>
              <a:rPr lang="en-US" dirty="0"/>
              <a:t>[</a:t>
            </a:r>
            <a:r>
              <a:rPr lang="en-US" dirty="0">
                <a:solidFill>
                  <a:schemeClr val="accent1">
                    <a:lumMod val="60000"/>
                    <a:lumOff val="40000"/>
                  </a:schemeClr>
                </a:solidFill>
              </a:rPr>
              <a:t> </a:t>
            </a:r>
            <a:r>
              <a:rPr lang="en-US" dirty="0"/>
              <a:t>]</a:t>
            </a:r>
          </a:p>
        </p:txBody>
      </p:sp>
      <p:sp>
        <p:nvSpPr>
          <p:cNvPr id="17" name="TextBox 16">
            <a:extLst>
              <a:ext uri="{FF2B5EF4-FFF2-40B4-BE49-F238E27FC236}">
                <a16:creationId xmlns:a16="http://schemas.microsoft.com/office/drawing/2014/main" id="{E93E8DD3-8FF3-4F3F-7A6C-9D158C01F28D}"/>
              </a:ext>
            </a:extLst>
          </p:cNvPr>
          <p:cNvSpPr txBox="1"/>
          <p:nvPr/>
        </p:nvSpPr>
        <p:spPr>
          <a:xfrm>
            <a:off x="9962953" y="1772683"/>
            <a:ext cx="547934" cy="369332"/>
          </a:xfrm>
          <a:prstGeom prst="rect">
            <a:avLst/>
          </a:prstGeom>
          <a:noFill/>
        </p:spPr>
        <p:txBody>
          <a:bodyPr wrap="square" rtlCol="0">
            <a:spAutoFit/>
          </a:bodyPr>
          <a:lstStyle/>
          <a:p>
            <a:r>
              <a:rPr lang="en-US" dirty="0"/>
              <a:t>[</a:t>
            </a:r>
            <a:r>
              <a:rPr lang="en-US" dirty="0">
                <a:solidFill>
                  <a:schemeClr val="accent1">
                    <a:lumMod val="60000"/>
                    <a:lumOff val="40000"/>
                  </a:schemeClr>
                </a:solidFill>
              </a:rPr>
              <a:t>■</a:t>
            </a:r>
            <a:r>
              <a:rPr lang="en-US" dirty="0"/>
              <a:t>]</a:t>
            </a:r>
          </a:p>
        </p:txBody>
      </p:sp>
      <p:sp>
        <p:nvSpPr>
          <p:cNvPr id="11" name="TextBox 10">
            <a:extLst>
              <a:ext uri="{FF2B5EF4-FFF2-40B4-BE49-F238E27FC236}">
                <a16:creationId xmlns:a16="http://schemas.microsoft.com/office/drawing/2014/main" id="{30586F08-6EEC-8D53-B352-123B4E8EC382}"/>
              </a:ext>
            </a:extLst>
          </p:cNvPr>
          <p:cNvSpPr txBox="1"/>
          <p:nvPr/>
        </p:nvSpPr>
        <p:spPr>
          <a:xfrm>
            <a:off x="6495245" y="4931493"/>
            <a:ext cx="1157140" cy="369332"/>
          </a:xfrm>
          <a:prstGeom prst="rect">
            <a:avLst/>
          </a:prstGeom>
          <a:noFill/>
        </p:spPr>
        <p:txBody>
          <a:bodyPr wrap="square" rtlCol="0">
            <a:spAutoFit/>
          </a:bodyPr>
          <a:lstStyle/>
          <a:p>
            <a:r>
              <a:rPr lang="en-US" dirty="0"/>
              <a:t>[B, C ]</a:t>
            </a:r>
          </a:p>
        </p:txBody>
      </p:sp>
      <p:sp>
        <p:nvSpPr>
          <p:cNvPr id="12" name="TextBox 11">
            <a:extLst>
              <a:ext uri="{FF2B5EF4-FFF2-40B4-BE49-F238E27FC236}">
                <a16:creationId xmlns:a16="http://schemas.microsoft.com/office/drawing/2014/main" id="{8E4833FF-CEC9-E044-0E21-84ED4C81DCAD}"/>
              </a:ext>
            </a:extLst>
          </p:cNvPr>
          <p:cNvSpPr txBox="1"/>
          <p:nvPr/>
        </p:nvSpPr>
        <p:spPr>
          <a:xfrm>
            <a:off x="8991600" y="4929988"/>
            <a:ext cx="1157140" cy="369332"/>
          </a:xfrm>
          <a:prstGeom prst="rect">
            <a:avLst/>
          </a:prstGeom>
          <a:noFill/>
        </p:spPr>
        <p:txBody>
          <a:bodyPr wrap="square" rtlCol="0">
            <a:spAutoFit/>
          </a:bodyPr>
          <a:lstStyle/>
          <a:p>
            <a:r>
              <a:rPr lang="en-US" dirty="0"/>
              <a:t>[A, B, D ]</a:t>
            </a:r>
          </a:p>
        </p:txBody>
      </p:sp>
      <p:sp>
        <p:nvSpPr>
          <p:cNvPr id="18" name="TextBox 17">
            <a:extLst>
              <a:ext uri="{FF2B5EF4-FFF2-40B4-BE49-F238E27FC236}">
                <a16:creationId xmlns:a16="http://schemas.microsoft.com/office/drawing/2014/main" id="{233DBA03-A1F7-D536-A115-341D5DA317DA}"/>
              </a:ext>
            </a:extLst>
          </p:cNvPr>
          <p:cNvSpPr txBox="1"/>
          <p:nvPr/>
        </p:nvSpPr>
        <p:spPr>
          <a:xfrm>
            <a:off x="9900107" y="2176043"/>
            <a:ext cx="841736" cy="369332"/>
          </a:xfrm>
          <a:prstGeom prst="rect">
            <a:avLst/>
          </a:prstGeom>
          <a:noFill/>
        </p:spPr>
        <p:txBody>
          <a:bodyPr wrap="square" rtlCol="0">
            <a:spAutoFit/>
          </a:bodyPr>
          <a:lstStyle/>
          <a:p>
            <a:r>
              <a:rPr lang="en-US" dirty="0"/>
              <a:t>[B, C ]</a:t>
            </a:r>
          </a:p>
        </p:txBody>
      </p:sp>
      <p:sp>
        <p:nvSpPr>
          <p:cNvPr id="19" name="TextBox 18">
            <a:extLst>
              <a:ext uri="{FF2B5EF4-FFF2-40B4-BE49-F238E27FC236}">
                <a16:creationId xmlns:a16="http://schemas.microsoft.com/office/drawing/2014/main" id="{0EA7B55E-B1D2-533E-60D2-2EE47F256D5A}"/>
              </a:ext>
            </a:extLst>
          </p:cNvPr>
          <p:cNvSpPr txBox="1"/>
          <p:nvPr/>
        </p:nvSpPr>
        <p:spPr>
          <a:xfrm>
            <a:off x="7312827" y="2217357"/>
            <a:ext cx="1077874" cy="369332"/>
          </a:xfrm>
          <a:prstGeom prst="rect">
            <a:avLst/>
          </a:prstGeom>
          <a:noFill/>
        </p:spPr>
        <p:txBody>
          <a:bodyPr wrap="square" rtlCol="0">
            <a:spAutoFit/>
          </a:bodyPr>
          <a:lstStyle/>
          <a:p>
            <a:r>
              <a:rPr lang="en-US" dirty="0"/>
              <a:t>[A, C, D ]</a:t>
            </a:r>
          </a:p>
        </p:txBody>
      </p:sp>
      <p:sp>
        <p:nvSpPr>
          <p:cNvPr id="22" name="Title 1">
            <a:extLst>
              <a:ext uri="{FF2B5EF4-FFF2-40B4-BE49-F238E27FC236}">
                <a16:creationId xmlns:a16="http://schemas.microsoft.com/office/drawing/2014/main" id="{C1F16B48-3ABA-76D7-3ACF-7CB4E8D9F674}"/>
              </a:ext>
            </a:extLst>
          </p:cNvPr>
          <p:cNvSpPr>
            <a:spLocks noGrp="1"/>
          </p:cNvSpPr>
          <p:nvPr>
            <p:ph type="title"/>
          </p:nvPr>
        </p:nvSpPr>
        <p:spPr>
          <a:xfrm>
            <a:off x="2233225" y="375345"/>
            <a:ext cx="7729728" cy="1188720"/>
          </a:xfrm>
        </p:spPr>
        <p:txBody>
          <a:bodyPr/>
          <a:lstStyle/>
          <a:p>
            <a:r>
              <a:rPr lang="en-US" dirty="0"/>
              <a:t>DSATUR (Degree of saturation)</a:t>
            </a:r>
          </a:p>
        </p:txBody>
      </p:sp>
      <p:sp>
        <p:nvSpPr>
          <p:cNvPr id="20" name="Slide Number Placeholder 19">
            <a:extLst>
              <a:ext uri="{FF2B5EF4-FFF2-40B4-BE49-F238E27FC236}">
                <a16:creationId xmlns:a16="http://schemas.microsoft.com/office/drawing/2014/main" id="{057278DE-2663-539E-320A-7F9E60DFC314}"/>
              </a:ext>
            </a:extLst>
          </p:cNvPr>
          <p:cNvSpPr>
            <a:spLocks noGrp="1"/>
          </p:cNvSpPr>
          <p:nvPr>
            <p:ph type="sldNum" sz="quarter" idx="12"/>
          </p:nvPr>
        </p:nvSpPr>
        <p:spPr/>
        <p:txBody>
          <a:bodyPr/>
          <a:lstStyle/>
          <a:p>
            <a:fld id="{3DD08374-E544-47A5-94AF-CF56056772CB}" type="slidenum">
              <a:rPr lang="en-US" smtClean="0"/>
              <a:t>86</a:t>
            </a:fld>
            <a:endParaRPr lang="en-US"/>
          </a:p>
        </p:txBody>
      </p:sp>
    </p:spTree>
    <p:extLst>
      <p:ext uri="{BB962C8B-B14F-4D97-AF65-F5344CB8AC3E}">
        <p14:creationId xmlns:p14="http://schemas.microsoft.com/office/powerpoint/2010/main" val="196068403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92B803-B16B-AA81-F38C-EF296742010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960421A-B1A9-3023-47D0-645C87482B8E}"/>
              </a:ext>
            </a:extLst>
          </p:cNvPr>
          <p:cNvSpPr txBox="1"/>
          <p:nvPr/>
        </p:nvSpPr>
        <p:spPr>
          <a:xfrm>
            <a:off x="1255548" y="2436998"/>
            <a:ext cx="3535051" cy="3139321"/>
          </a:xfrm>
          <a:prstGeom prst="rect">
            <a:avLst/>
          </a:prstGeom>
          <a:noFill/>
        </p:spPr>
        <p:txBody>
          <a:bodyPr wrap="square" rtlCol="0">
            <a:spAutoFit/>
          </a:bodyPr>
          <a:lstStyle/>
          <a:p>
            <a:pPr marL="342900" indent="-342900">
              <a:buAutoNum type="arabicPeriod"/>
            </a:pPr>
            <a:r>
              <a:rPr lang="en-US" dirty="0"/>
              <a:t>Choose the vertex with highest </a:t>
            </a:r>
            <a:r>
              <a:rPr lang="en-US" b="1" dirty="0"/>
              <a:t>saturation degree</a:t>
            </a:r>
          </a:p>
          <a:p>
            <a:pPr marL="800100" lvl="1" indent="-342900">
              <a:buFont typeface="Arial" panose="020B0604020202020204" pitchFamily="34" charset="0"/>
              <a:buChar char="•"/>
            </a:pPr>
            <a:r>
              <a:rPr lang="en-US" dirty="0"/>
              <a:t>In case of tie, choose the one with highest degree</a:t>
            </a:r>
          </a:p>
          <a:p>
            <a:pPr lvl="1"/>
            <a:endParaRPr lang="en-US" dirty="0"/>
          </a:p>
          <a:p>
            <a:r>
              <a:rPr lang="en-US" dirty="0"/>
              <a:t>2. Assign the lowest available color (not used by its neighbors) to that vertex</a:t>
            </a:r>
          </a:p>
          <a:p>
            <a:endParaRPr lang="en-US" dirty="0"/>
          </a:p>
          <a:p>
            <a:r>
              <a:rPr lang="en-US" dirty="0"/>
              <a:t>3. Update the saturation degrees of its neighbors</a:t>
            </a:r>
          </a:p>
        </p:txBody>
      </p:sp>
      <p:sp>
        <p:nvSpPr>
          <p:cNvPr id="3" name="Oval 2">
            <a:extLst>
              <a:ext uri="{FF2B5EF4-FFF2-40B4-BE49-F238E27FC236}">
                <a16:creationId xmlns:a16="http://schemas.microsoft.com/office/drawing/2014/main" id="{8E70CC37-0C32-6D33-042F-997D881179AB}"/>
              </a:ext>
            </a:extLst>
          </p:cNvPr>
          <p:cNvSpPr/>
          <p:nvPr/>
        </p:nvSpPr>
        <p:spPr>
          <a:xfrm>
            <a:off x="6567340" y="3979146"/>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A</a:t>
            </a:r>
          </a:p>
        </p:txBody>
      </p:sp>
      <p:sp>
        <p:nvSpPr>
          <p:cNvPr id="5" name="Oval 4">
            <a:extLst>
              <a:ext uri="{FF2B5EF4-FFF2-40B4-BE49-F238E27FC236}">
                <a16:creationId xmlns:a16="http://schemas.microsoft.com/office/drawing/2014/main" id="{C72701F6-0F25-3E2E-8CE9-1E76E90E3801}"/>
              </a:ext>
            </a:extLst>
          </p:cNvPr>
          <p:cNvSpPr/>
          <p:nvPr/>
        </p:nvSpPr>
        <p:spPr>
          <a:xfrm>
            <a:off x="7530445" y="2613830"/>
            <a:ext cx="542041" cy="542041"/>
          </a:xfrm>
          <a:prstGeom prst="ellipse">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B</a:t>
            </a:r>
          </a:p>
        </p:txBody>
      </p:sp>
      <p:sp>
        <p:nvSpPr>
          <p:cNvPr id="6" name="Oval 5">
            <a:extLst>
              <a:ext uri="{FF2B5EF4-FFF2-40B4-BE49-F238E27FC236}">
                <a16:creationId xmlns:a16="http://schemas.microsoft.com/office/drawing/2014/main" id="{5EAB758C-0E7E-D44B-BF05-6D4D981F7750}"/>
              </a:ext>
            </a:extLst>
          </p:cNvPr>
          <p:cNvSpPr/>
          <p:nvPr/>
        </p:nvSpPr>
        <p:spPr>
          <a:xfrm>
            <a:off x="8991600" y="3979145"/>
            <a:ext cx="542041" cy="542041"/>
          </a:xfrm>
          <a:prstGeom prst="ellipse">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C</a:t>
            </a:r>
          </a:p>
        </p:txBody>
      </p:sp>
      <p:sp>
        <p:nvSpPr>
          <p:cNvPr id="7" name="Oval 6">
            <a:extLst>
              <a:ext uri="{FF2B5EF4-FFF2-40B4-BE49-F238E27FC236}">
                <a16:creationId xmlns:a16="http://schemas.microsoft.com/office/drawing/2014/main" id="{5E1B30A8-EDE9-2872-531D-E2A9169FE77D}"/>
              </a:ext>
            </a:extLst>
          </p:cNvPr>
          <p:cNvSpPr/>
          <p:nvPr/>
        </p:nvSpPr>
        <p:spPr>
          <a:xfrm>
            <a:off x="9877719" y="2613830"/>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D</a:t>
            </a:r>
          </a:p>
        </p:txBody>
      </p:sp>
      <p:cxnSp>
        <p:nvCxnSpPr>
          <p:cNvPr id="8" name="Straight Connector 7">
            <a:extLst>
              <a:ext uri="{FF2B5EF4-FFF2-40B4-BE49-F238E27FC236}">
                <a16:creationId xmlns:a16="http://schemas.microsoft.com/office/drawing/2014/main" id="{CA53F5F2-4637-C64A-2D04-CDA59678181A}"/>
              </a:ext>
            </a:extLst>
          </p:cNvPr>
          <p:cNvCxnSpPr>
            <a:cxnSpLocks/>
            <a:stCxn id="5" idx="3"/>
            <a:endCxn id="3" idx="0"/>
          </p:cNvCxnSpPr>
          <p:nvPr/>
        </p:nvCxnSpPr>
        <p:spPr>
          <a:xfrm flipH="1">
            <a:off x="6838361" y="3076491"/>
            <a:ext cx="771464" cy="902655"/>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D40C039-F4E3-35CF-DCDC-5C206064008A}"/>
              </a:ext>
            </a:extLst>
          </p:cNvPr>
          <p:cNvCxnSpPr>
            <a:cxnSpLocks/>
            <a:stCxn id="6" idx="1"/>
            <a:endCxn id="5" idx="5"/>
          </p:cNvCxnSpPr>
          <p:nvPr/>
        </p:nvCxnSpPr>
        <p:spPr>
          <a:xfrm flipH="1" flipV="1">
            <a:off x="7993106" y="3076491"/>
            <a:ext cx="1077874" cy="98203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710CE2D-3FEF-893C-6FCB-EC9665291FA8}"/>
              </a:ext>
            </a:extLst>
          </p:cNvPr>
          <p:cNvCxnSpPr>
            <a:cxnSpLocks/>
            <a:stCxn id="6" idx="7"/>
            <a:endCxn id="7" idx="4"/>
          </p:cNvCxnSpPr>
          <p:nvPr/>
        </p:nvCxnSpPr>
        <p:spPr>
          <a:xfrm flipV="1">
            <a:off x="9454261" y="3155871"/>
            <a:ext cx="694479" cy="902654"/>
          </a:xfrm>
          <a:prstGeom prst="line">
            <a:avLst/>
          </a:prstGeom>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A9539770-CF67-097C-FE3F-F0D4D7F638D6}"/>
              </a:ext>
            </a:extLst>
          </p:cNvPr>
          <p:cNvSpPr txBox="1"/>
          <p:nvPr/>
        </p:nvSpPr>
        <p:spPr>
          <a:xfrm>
            <a:off x="7258639" y="5872899"/>
            <a:ext cx="2479250" cy="369332"/>
          </a:xfrm>
          <a:prstGeom prst="rect">
            <a:avLst/>
          </a:prstGeom>
          <a:noFill/>
        </p:spPr>
        <p:txBody>
          <a:bodyPr wrap="square" rtlCol="0">
            <a:spAutoFit/>
          </a:bodyPr>
          <a:lstStyle/>
          <a:p>
            <a:r>
              <a:rPr lang="en-US" dirty="0"/>
              <a:t>Distance-2 coloring</a:t>
            </a:r>
          </a:p>
        </p:txBody>
      </p:sp>
      <p:sp>
        <p:nvSpPr>
          <p:cNvPr id="14" name="TextBox 13">
            <a:extLst>
              <a:ext uri="{FF2B5EF4-FFF2-40B4-BE49-F238E27FC236}">
                <a16:creationId xmlns:a16="http://schemas.microsoft.com/office/drawing/2014/main" id="{3075323B-09CD-C546-4D5D-5CCA9833A073}"/>
              </a:ext>
            </a:extLst>
          </p:cNvPr>
          <p:cNvSpPr txBox="1"/>
          <p:nvPr/>
        </p:nvSpPr>
        <p:spPr>
          <a:xfrm>
            <a:off x="6652574" y="4541674"/>
            <a:ext cx="614135" cy="369332"/>
          </a:xfrm>
          <a:prstGeom prst="rect">
            <a:avLst/>
          </a:prstGeom>
          <a:noFill/>
        </p:spPr>
        <p:txBody>
          <a:bodyPr wrap="square" rtlCol="0">
            <a:spAutoFit/>
          </a:bodyPr>
          <a:lstStyle/>
          <a:p>
            <a:r>
              <a:rPr lang="en-US" dirty="0"/>
              <a:t>[</a:t>
            </a:r>
            <a:r>
              <a:rPr lang="en-US" dirty="0">
                <a:solidFill>
                  <a:schemeClr val="accent1">
                    <a:lumMod val="60000"/>
                    <a:lumOff val="40000"/>
                  </a:schemeClr>
                </a:solidFill>
              </a:rPr>
              <a:t>■</a:t>
            </a:r>
            <a:r>
              <a:rPr lang="en-US" dirty="0"/>
              <a:t>]</a:t>
            </a:r>
          </a:p>
        </p:txBody>
      </p:sp>
      <p:sp>
        <p:nvSpPr>
          <p:cNvPr id="15" name="TextBox 14">
            <a:extLst>
              <a:ext uri="{FF2B5EF4-FFF2-40B4-BE49-F238E27FC236}">
                <a16:creationId xmlns:a16="http://schemas.microsoft.com/office/drawing/2014/main" id="{576603D6-C776-B2BD-4AAE-827409AAA387}"/>
              </a:ext>
            </a:extLst>
          </p:cNvPr>
          <p:cNvSpPr txBox="1"/>
          <p:nvPr/>
        </p:nvSpPr>
        <p:spPr>
          <a:xfrm>
            <a:off x="9076834" y="4550626"/>
            <a:ext cx="542041" cy="369332"/>
          </a:xfrm>
          <a:prstGeom prst="rect">
            <a:avLst/>
          </a:prstGeom>
          <a:noFill/>
        </p:spPr>
        <p:txBody>
          <a:bodyPr wrap="square" rtlCol="0">
            <a:spAutoFit/>
          </a:bodyPr>
          <a:lstStyle/>
          <a:p>
            <a:r>
              <a:rPr lang="en-US" dirty="0"/>
              <a:t>[</a:t>
            </a:r>
            <a:r>
              <a:rPr lang="en-US" dirty="0">
                <a:solidFill>
                  <a:schemeClr val="accent1">
                    <a:lumMod val="60000"/>
                    <a:lumOff val="40000"/>
                  </a:schemeClr>
                </a:solidFill>
              </a:rPr>
              <a:t>■</a:t>
            </a:r>
            <a:r>
              <a:rPr lang="en-US" dirty="0"/>
              <a:t>]</a:t>
            </a:r>
          </a:p>
        </p:txBody>
      </p:sp>
      <p:sp>
        <p:nvSpPr>
          <p:cNvPr id="16" name="TextBox 15">
            <a:extLst>
              <a:ext uri="{FF2B5EF4-FFF2-40B4-BE49-F238E27FC236}">
                <a16:creationId xmlns:a16="http://schemas.microsoft.com/office/drawing/2014/main" id="{04A248DA-50E7-2806-1DF2-35113D0A060A}"/>
              </a:ext>
            </a:extLst>
          </p:cNvPr>
          <p:cNvSpPr txBox="1"/>
          <p:nvPr/>
        </p:nvSpPr>
        <p:spPr>
          <a:xfrm>
            <a:off x="7573061" y="1799972"/>
            <a:ext cx="547934" cy="369332"/>
          </a:xfrm>
          <a:prstGeom prst="rect">
            <a:avLst/>
          </a:prstGeom>
          <a:noFill/>
        </p:spPr>
        <p:txBody>
          <a:bodyPr wrap="square" rtlCol="0">
            <a:spAutoFit/>
          </a:bodyPr>
          <a:lstStyle/>
          <a:p>
            <a:r>
              <a:rPr lang="en-US" dirty="0"/>
              <a:t>[</a:t>
            </a:r>
            <a:r>
              <a:rPr lang="en-US" dirty="0">
                <a:solidFill>
                  <a:schemeClr val="accent1">
                    <a:lumMod val="60000"/>
                    <a:lumOff val="40000"/>
                  </a:schemeClr>
                </a:solidFill>
              </a:rPr>
              <a:t> </a:t>
            </a:r>
            <a:r>
              <a:rPr lang="en-US" dirty="0"/>
              <a:t>]</a:t>
            </a:r>
          </a:p>
        </p:txBody>
      </p:sp>
      <p:sp>
        <p:nvSpPr>
          <p:cNvPr id="17" name="TextBox 16">
            <a:extLst>
              <a:ext uri="{FF2B5EF4-FFF2-40B4-BE49-F238E27FC236}">
                <a16:creationId xmlns:a16="http://schemas.microsoft.com/office/drawing/2014/main" id="{4715FDE3-9C7A-63B1-542A-3E87FC56F5EC}"/>
              </a:ext>
            </a:extLst>
          </p:cNvPr>
          <p:cNvSpPr txBox="1"/>
          <p:nvPr/>
        </p:nvSpPr>
        <p:spPr>
          <a:xfrm>
            <a:off x="9962953" y="1772683"/>
            <a:ext cx="547934" cy="369332"/>
          </a:xfrm>
          <a:prstGeom prst="rect">
            <a:avLst/>
          </a:prstGeom>
          <a:noFill/>
        </p:spPr>
        <p:txBody>
          <a:bodyPr wrap="square" rtlCol="0">
            <a:spAutoFit/>
          </a:bodyPr>
          <a:lstStyle/>
          <a:p>
            <a:r>
              <a:rPr lang="en-US" dirty="0"/>
              <a:t>[</a:t>
            </a:r>
            <a:r>
              <a:rPr lang="en-US" dirty="0">
                <a:solidFill>
                  <a:schemeClr val="accent1">
                    <a:lumMod val="60000"/>
                    <a:lumOff val="40000"/>
                  </a:schemeClr>
                </a:solidFill>
              </a:rPr>
              <a:t>■</a:t>
            </a:r>
            <a:r>
              <a:rPr lang="en-US" dirty="0"/>
              <a:t>]</a:t>
            </a:r>
          </a:p>
        </p:txBody>
      </p:sp>
      <p:sp>
        <p:nvSpPr>
          <p:cNvPr id="11" name="TextBox 10">
            <a:extLst>
              <a:ext uri="{FF2B5EF4-FFF2-40B4-BE49-F238E27FC236}">
                <a16:creationId xmlns:a16="http://schemas.microsoft.com/office/drawing/2014/main" id="{A8590419-107E-545B-174E-5C7A608E4DFD}"/>
              </a:ext>
            </a:extLst>
          </p:cNvPr>
          <p:cNvSpPr txBox="1"/>
          <p:nvPr/>
        </p:nvSpPr>
        <p:spPr>
          <a:xfrm>
            <a:off x="6495244" y="4931493"/>
            <a:ext cx="1254521" cy="369332"/>
          </a:xfrm>
          <a:prstGeom prst="rect">
            <a:avLst/>
          </a:prstGeom>
          <a:noFill/>
        </p:spPr>
        <p:txBody>
          <a:bodyPr wrap="square" rtlCol="0">
            <a:spAutoFit/>
          </a:bodyPr>
          <a:lstStyle/>
          <a:p>
            <a:r>
              <a:rPr lang="en-US" dirty="0"/>
              <a:t>[B, C ]</a:t>
            </a:r>
          </a:p>
        </p:txBody>
      </p:sp>
      <p:sp>
        <p:nvSpPr>
          <p:cNvPr id="12" name="TextBox 11">
            <a:extLst>
              <a:ext uri="{FF2B5EF4-FFF2-40B4-BE49-F238E27FC236}">
                <a16:creationId xmlns:a16="http://schemas.microsoft.com/office/drawing/2014/main" id="{F8BB3582-82C9-7995-9879-21A7613AA283}"/>
              </a:ext>
            </a:extLst>
          </p:cNvPr>
          <p:cNvSpPr txBox="1"/>
          <p:nvPr/>
        </p:nvSpPr>
        <p:spPr>
          <a:xfrm>
            <a:off x="8991600" y="4929988"/>
            <a:ext cx="1157140" cy="369332"/>
          </a:xfrm>
          <a:prstGeom prst="rect">
            <a:avLst/>
          </a:prstGeom>
          <a:noFill/>
        </p:spPr>
        <p:txBody>
          <a:bodyPr wrap="square" rtlCol="0">
            <a:spAutoFit/>
          </a:bodyPr>
          <a:lstStyle/>
          <a:p>
            <a:r>
              <a:rPr lang="en-US" dirty="0"/>
              <a:t>[A, B, D ]</a:t>
            </a:r>
          </a:p>
        </p:txBody>
      </p:sp>
      <p:sp>
        <p:nvSpPr>
          <p:cNvPr id="18" name="TextBox 17">
            <a:extLst>
              <a:ext uri="{FF2B5EF4-FFF2-40B4-BE49-F238E27FC236}">
                <a16:creationId xmlns:a16="http://schemas.microsoft.com/office/drawing/2014/main" id="{26FD6D25-90E3-62D4-7955-B3B36C890818}"/>
              </a:ext>
            </a:extLst>
          </p:cNvPr>
          <p:cNvSpPr txBox="1"/>
          <p:nvPr/>
        </p:nvSpPr>
        <p:spPr>
          <a:xfrm>
            <a:off x="9900107" y="2176043"/>
            <a:ext cx="841736" cy="369332"/>
          </a:xfrm>
          <a:prstGeom prst="rect">
            <a:avLst/>
          </a:prstGeom>
          <a:noFill/>
        </p:spPr>
        <p:txBody>
          <a:bodyPr wrap="square" rtlCol="0">
            <a:spAutoFit/>
          </a:bodyPr>
          <a:lstStyle/>
          <a:p>
            <a:r>
              <a:rPr lang="en-US" dirty="0"/>
              <a:t>[B, C ]</a:t>
            </a:r>
          </a:p>
        </p:txBody>
      </p:sp>
      <p:sp>
        <p:nvSpPr>
          <p:cNvPr id="19" name="TextBox 18">
            <a:extLst>
              <a:ext uri="{FF2B5EF4-FFF2-40B4-BE49-F238E27FC236}">
                <a16:creationId xmlns:a16="http://schemas.microsoft.com/office/drawing/2014/main" id="{CD1FBF54-20F0-F754-BABB-6C4500579210}"/>
              </a:ext>
            </a:extLst>
          </p:cNvPr>
          <p:cNvSpPr txBox="1"/>
          <p:nvPr/>
        </p:nvSpPr>
        <p:spPr>
          <a:xfrm>
            <a:off x="7312827" y="2217357"/>
            <a:ext cx="1077874" cy="369332"/>
          </a:xfrm>
          <a:prstGeom prst="rect">
            <a:avLst/>
          </a:prstGeom>
          <a:noFill/>
        </p:spPr>
        <p:txBody>
          <a:bodyPr wrap="square" rtlCol="0">
            <a:spAutoFit/>
          </a:bodyPr>
          <a:lstStyle/>
          <a:p>
            <a:r>
              <a:rPr lang="en-US" dirty="0"/>
              <a:t>[A, C, D ]</a:t>
            </a:r>
          </a:p>
        </p:txBody>
      </p:sp>
      <p:sp>
        <p:nvSpPr>
          <p:cNvPr id="22" name="Title 1">
            <a:extLst>
              <a:ext uri="{FF2B5EF4-FFF2-40B4-BE49-F238E27FC236}">
                <a16:creationId xmlns:a16="http://schemas.microsoft.com/office/drawing/2014/main" id="{D40F87AF-7261-D19A-E742-89FFF06C14D7}"/>
              </a:ext>
            </a:extLst>
          </p:cNvPr>
          <p:cNvSpPr>
            <a:spLocks noGrp="1"/>
          </p:cNvSpPr>
          <p:nvPr>
            <p:ph type="title"/>
          </p:nvPr>
        </p:nvSpPr>
        <p:spPr>
          <a:xfrm>
            <a:off x="2233225" y="375345"/>
            <a:ext cx="7729728" cy="1188720"/>
          </a:xfrm>
        </p:spPr>
        <p:txBody>
          <a:bodyPr/>
          <a:lstStyle/>
          <a:p>
            <a:r>
              <a:rPr lang="en-US" dirty="0"/>
              <a:t>DSATUR (Degree of saturation)</a:t>
            </a:r>
          </a:p>
        </p:txBody>
      </p:sp>
      <p:sp>
        <p:nvSpPr>
          <p:cNvPr id="20" name="Slide Number Placeholder 19">
            <a:extLst>
              <a:ext uri="{FF2B5EF4-FFF2-40B4-BE49-F238E27FC236}">
                <a16:creationId xmlns:a16="http://schemas.microsoft.com/office/drawing/2014/main" id="{2B4C635B-D566-0E06-9C48-503677AC1C69}"/>
              </a:ext>
            </a:extLst>
          </p:cNvPr>
          <p:cNvSpPr>
            <a:spLocks noGrp="1"/>
          </p:cNvSpPr>
          <p:nvPr>
            <p:ph type="sldNum" sz="quarter" idx="12"/>
          </p:nvPr>
        </p:nvSpPr>
        <p:spPr/>
        <p:txBody>
          <a:bodyPr/>
          <a:lstStyle/>
          <a:p>
            <a:fld id="{3DD08374-E544-47A5-94AF-CF56056772CB}" type="slidenum">
              <a:rPr lang="en-US" smtClean="0"/>
              <a:t>87</a:t>
            </a:fld>
            <a:endParaRPr lang="en-US"/>
          </a:p>
        </p:txBody>
      </p:sp>
    </p:spTree>
    <p:extLst>
      <p:ext uri="{BB962C8B-B14F-4D97-AF65-F5344CB8AC3E}">
        <p14:creationId xmlns:p14="http://schemas.microsoft.com/office/powerpoint/2010/main" val="75015462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F4A394-BA75-A72E-B028-67437D793C1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D85BEB7-63F9-AB1E-D150-7476AB87B723}"/>
              </a:ext>
            </a:extLst>
          </p:cNvPr>
          <p:cNvSpPr txBox="1"/>
          <p:nvPr/>
        </p:nvSpPr>
        <p:spPr>
          <a:xfrm>
            <a:off x="1255548" y="2436998"/>
            <a:ext cx="3535051" cy="3139321"/>
          </a:xfrm>
          <a:prstGeom prst="rect">
            <a:avLst/>
          </a:prstGeom>
          <a:noFill/>
        </p:spPr>
        <p:txBody>
          <a:bodyPr wrap="square" rtlCol="0">
            <a:spAutoFit/>
          </a:bodyPr>
          <a:lstStyle/>
          <a:p>
            <a:pPr marL="342900" indent="-342900">
              <a:buAutoNum type="arabicPeriod"/>
            </a:pPr>
            <a:r>
              <a:rPr lang="en-US" dirty="0"/>
              <a:t>Choose the vertex with highest </a:t>
            </a:r>
            <a:r>
              <a:rPr lang="en-US" b="1" dirty="0"/>
              <a:t>saturation degree</a:t>
            </a:r>
          </a:p>
          <a:p>
            <a:pPr marL="800100" lvl="1" indent="-342900">
              <a:buFont typeface="Arial" panose="020B0604020202020204" pitchFamily="34" charset="0"/>
              <a:buChar char="•"/>
            </a:pPr>
            <a:r>
              <a:rPr lang="en-US" dirty="0"/>
              <a:t>In case of tie, choose the one with highest degree</a:t>
            </a:r>
          </a:p>
          <a:p>
            <a:pPr lvl="1"/>
            <a:endParaRPr lang="en-US" dirty="0"/>
          </a:p>
          <a:p>
            <a:r>
              <a:rPr lang="en-US" dirty="0"/>
              <a:t>2. Assign the lowest available color (not used by its neighbors) to that vertex</a:t>
            </a:r>
          </a:p>
          <a:p>
            <a:endParaRPr lang="en-US" dirty="0"/>
          </a:p>
          <a:p>
            <a:r>
              <a:rPr lang="en-US" dirty="0"/>
              <a:t>3. Update the saturation degrees of its neighbors</a:t>
            </a:r>
          </a:p>
        </p:txBody>
      </p:sp>
      <p:sp>
        <p:nvSpPr>
          <p:cNvPr id="3" name="Oval 2">
            <a:extLst>
              <a:ext uri="{FF2B5EF4-FFF2-40B4-BE49-F238E27FC236}">
                <a16:creationId xmlns:a16="http://schemas.microsoft.com/office/drawing/2014/main" id="{65FFC6B5-BC24-5884-8136-B5F54290CB2A}"/>
              </a:ext>
            </a:extLst>
          </p:cNvPr>
          <p:cNvSpPr/>
          <p:nvPr/>
        </p:nvSpPr>
        <p:spPr>
          <a:xfrm>
            <a:off x="6567340" y="3979146"/>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A</a:t>
            </a:r>
          </a:p>
        </p:txBody>
      </p:sp>
      <p:sp>
        <p:nvSpPr>
          <p:cNvPr id="5" name="Oval 4">
            <a:extLst>
              <a:ext uri="{FF2B5EF4-FFF2-40B4-BE49-F238E27FC236}">
                <a16:creationId xmlns:a16="http://schemas.microsoft.com/office/drawing/2014/main" id="{DE61E50F-47D3-EA45-5C41-B718BD79CF25}"/>
              </a:ext>
            </a:extLst>
          </p:cNvPr>
          <p:cNvSpPr/>
          <p:nvPr/>
        </p:nvSpPr>
        <p:spPr>
          <a:xfrm>
            <a:off x="7530445" y="2613830"/>
            <a:ext cx="542041" cy="542041"/>
          </a:xfrm>
          <a:prstGeom prst="ellipse">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B</a:t>
            </a:r>
          </a:p>
        </p:txBody>
      </p:sp>
      <p:sp>
        <p:nvSpPr>
          <p:cNvPr id="6" name="Oval 5">
            <a:extLst>
              <a:ext uri="{FF2B5EF4-FFF2-40B4-BE49-F238E27FC236}">
                <a16:creationId xmlns:a16="http://schemas.microsoft.com/office/drawing/2014/main" id="{8C32C6AB-DC67-48C2-DB4A-383D4E47F375}"/>
              </a:ext>
            </a:extLst>
          </p:cNvPr>
          <p:cNvSpPr/>
          <p:nvPr/>
        </p:nvSpPr>
        <p:spPr>
          <a:xfrm>
            <a:off x="8991600" y="3979145"/>
            <a:ext cx="542041" cy="542041"/>
          </a:xfrm>
          <a:prstGeom prst="ellipse">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C</a:t>
            </a:r>
          </a:p>
        </p:txBody>
      </p:sp>
      <p:sp>
        <p:nvSpPr>
          <p:cNvPr id="7" name="Oval 6">
            <a:extLst>
              <a:ext uri="{FF2B5EF4-FFF2-40B4-BE49-F238E27FC236}">
                <a16:creationId xmlns:a16="http://schemas.microsoft.com/office/drawing/2014/main" id="{3F858146-0930-302E-4096-36D53D8F2A84}"/>
              </a:ext>
            </a:extLst>
          </p:cNvPr>
          <p:cNvSpPr/>
          <p:nvPr/>
        </p:nvSpPr>
        <p:spPr>
          <a:xfrm>
            <a:off x="9877719" y="2613830"/>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D</a:t>
            </a:r>
          </a:p>
        </p:txBody>
      </p:sp>
      <p:cxnSp>
        <p:nvCxnSpPr>
          <p:cNvPr id="8" name="Straight Connector 7">
            <a:extLst>
              <a:ext uri="{FF2B5EF4-FFF2-40B4-BE49-F238E27FC236}">
                <a16:creationId xmlns:a16="http://schemas.microsoft.com/office/drawing/2014/main" id="{B2294264-C5A0-C75F-DD9B-9CFDDAAD0829}"/>
              </a:ext>
            </a:extLst>
          </p:cNvPr>
          <p:cNvCxnSpPr>
            <a:cxnSpLocks/>
            <a:stCxn id="5" idx="3"/>
            <a:endCxn id="3" idx="0"/>
          </p:cNvCxnSpPr>
          <p:nvPr/>
        </p:nvCxnSpPr>
        <p:spPr>
          <a:xfrm flipH="1">
            <a:off x="6838361" y="3076491"/>
            <a:ext cx="771464" cy="902655"/>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90A8365A-0AFE-F6DA-CA68-153D444456A0}"/>
              </a:ext>
            </a:extLst>
          </p:cNvPr>
          <p:cNvCxnSpPr>
            <a:cxnSpLocks/>
            <a:stCxn id="6" idx="1"/>
            <a:endCxn id="5" idx="5"/>
          </p:cNvCxnSpPr>
          <p:nvPr/>
        </p:nvCxnSpPr>
        <p:spPr>
          <a:xfrm flipH="1" flipV="1">
            <a:off x="7993106" y="3076491"/>
            <a:ext cx="1077874" cy="98203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26AFFB41-32F1-76F0-55F3-EE18E553A369}"/>
              </a:ext>
            </a:extLst>
          </p:cNvPr>
          <p:cNvCxnSpPr>
            <a:cxnSpLocks/>
            <a:stCxn id="6" idx="7"/>
            <a:endCxn id="7" idx="4"/>
          </p:cNvCxnSpPr>
          <p:nvPr/>
        </p:nvCxnSpPr>
        <p:spPr>
          <a:xfrm flipV="1">
            <a:off x="9454261" y="3155871"/>
            <a:ext cx="694479" cy="902654"/>
          </a:xfrm>
          <a:prstGeom prst="line">
            <a:avLst/>
          </a:prstGeom>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F0BA1253-DF68-0A81-F82A-0EA8E7EE70E1}"/>
              </a:ext>
            </a:extLst>
          </p:cNvPr>
          <p:cNvSpPr txBox="1"/>
          <p:nvPr/>
        </p:nvSpPr>
        <p:spPr>
          <a:xfrm>
            <a:off x="7258639" y="5872899"/>
            <a:ext cx="2479250" cy="369332"/>
          </a:xfrm>
          <a:prstGeom prst="rect">
            <a:avLst/>
          </a:prstGeom>
          <a:noFill/>
        </p:spPr>
        <p:txBody>
          <a:bodyPr wrap="square" rtlCol="0">
            <a:spAutoFit/>
          </a:bodyPr>
          <a:lstStyle/>
          <a:p>
            <a:r>
              <a:rPr lang="en-US" dirty="0"/>
              <a:t>Distance-2 coloring</a:t>
            </a:r>
          </a:p>
        </p:txBody>
      </p:sp>
      <p:sp>
        <p:nvSpPr>
          <p:cNvPr id="14" name="TextBox 13">
            <a:extLst>
              <a:ext uri="{FF2B5EF4-FFF2-40B4-BE49-F238E27FC236}">
                <a16:creationId xmlns:a16="http://schemas.microsoft.com/office/drawing/2014/main" id="{965CA639-3942-D06E-6469-8553B65DA2C1}"/>
              </a:ext>
            </a:extLst>
          </p:cNvPr>
          <p:cNvSpPr txBox="1"/>
          <p:nvPr/>
        </p:nvSpPr>
        <p:spPr>
          <a:xfrm>
            <a:off x="6495245" y="4610611"/>
            <a:ext cx="771464" cy="369332"/>
          </a:xfrm>
          <a:prstGeom prst="rect">
            <a:avLst/>
          </a:prstGeom>
          <a:noFill/>
        </p:spPr>
        <p:txBody>
          <a:bodyPr wrap="square" rtlCol="0">
            <a:spAutoFit/>
          </a:bodyPr>
          <a:lstStyle/>
          <a:p>
            <a:r>
              <a:rPr lang="en-US" dirty="0"/>
              <a:t>[</a:t>
            </a:r>
            <a:r>
              <a:rPr lang="en-US" dirty="0">
                <a:solidFill>
                  <a:schemeClr val="accent1">
                    <a:lumMod val="60000"/>
                    <a:lumOff val="40000"/>
                  </a:schemeClr>
                </a:solidFill>
              </a:rPr>
              <a:t>■</a:t>
            </a:r>
            <a:r>
              <a:rPr lang="en-US" dirty="0"/>
              <a:t> </a:t>
            </a:r>
            <a:r>
              <a:rPr lang="en-US" dirty="0">
                <a:solidFill>
                  <a:srgbClr val="FFC000"/>
                </a:solidFill>
              </a:rPr>
              <a:t>■</a:t>
            </a:r>
            <a:r>
              <a:rPr lang="en-US" dirty="0"/>
              <a:t>]</a:t>
            </a:r>
          </a:p>
        </p:txBody>
      </p:sp>
      <p:sp>
        <p:nvSpPr>
          <p:cNvPr id="15" name="TextBox 14">
            <a:extLst>
              <a:ext uri="{FF2B5EF4-FFF2-40B4-BE49-F238E27FC236}">
                <a16:creationId xmlns:a16="http://schemas.microsoft.com/office/drawing/2014/main" id="{465E14F1-BA26-7718-7F16-19ECD039B61D}"/>
              </a:ext>
            </a:extLst>
          </p:cNvPr>
          <p:cNvSpPr txBox="1"/>
          <p:nvPr/>
        </p:nvSpPr>
        <p:spPr>
          <a:xfrm>
            <a:off x="9076834" y="4550626"/>
            <a:ext cx="542041" cy="369332"/>
          </a:xfrm>
          <a:prstGeom prst="rect">
            <a:avLst/>
          </a:prstGeom>
          <a:noFill/>
        </p:spPr>
        <p:txBody>
          <a:bodyPr wrap="square" rtlCol="0">
            <a:spAutoFit/>
          </a:bodyPr>
          <a:lstStyle/>
          <a:p>
            <a:r>
              <a:rPr lang="en-US" dirty="0"/>
              <a:t>[</a:t>
            </a:r>
            <a:r>
              <a:rPr lang="en-US" dirty="0">
                <a:solidFill>
                  <a:schemeClr val="accent1">
                    <a:lumMod val="60000"/>
                    <a:lumOff val="40000"/>
                  </a:schemeClr>
                </a:solidFill>
              </a:rPr>
              <a:t>■</a:t>
            </a:r>
            <a:r>
              <a:rPr lang="en-US" dirty="0"/>
              <a:t>]</a:t>
            </a:r>
          </a:p>
        </p:txBody>
      </p:sp>
      <p:sp>
        <p:nvSpPr>
          <p:cNvPr id="16" name="TextBox 15">
            <a:extLst>
              <a:ext uri="{FF2B5EF4-FFF2-40B4-BE49-F238E27FC236}">
                <a16:creationId xmlns:a16="http://schemas.microsoft.com/office/drawing/2014/main" id="{EEB8E7AD-49BE-75C1-9E76-3B4DE02E5CD9}"/>
              </a:ext>
            </a:extLst>
          </p:cNvPr>
          <p:cNvSpPr txBox="1"/>
          <p:nvPr/>
        </p:nvSpPr>
        <p:spPr>
          <a:xfrm>
            <a:off x="7573061" y="1799972"/>
            <a:ext cx="547934" cy="369332"/>
          </a:xfrm>
          <a:prstGeom prst="rect">
            <a:avLst/>
          </a:prstGeom>
          <a:noFill/>
        </p:spPr>
        <p:txBody>
          <a:bodyPr wrap="square" rtlCol="0">
            <a:spAutoFit/>
          </a:bodyPr>
          <a:lstStyle/>
          <a:p>
            <a:r>
              <a:rPr lang="en-US" dirty="0"/>
              <a:t>[</a:t>
            </a:r>
            <a:r>
              <a:rPr lang="en-US" dirty="0">
                <a:solidFill>
                  <a:schemeClr val="accent1">
                    <a:lumMod val="60000"/>
                    <a:lumOff val="40000"/>
                  </a:schemeClr>
                </a:solidFill>
              </a:rPr>
              <a:t> </a:t>
            </a:r>
            <a:r>
              <a:rPr lang="en-US" dirty="0"/>
              <a:t>]</a:t>
            </a:r>
          </a:p>
        </p:txBody>
      </p:sp>
      <p:sp>
        <p:nvSpPr>
          <p:cNvPr id="17" name="TextBox 16">
            <a:extLst>
              <a:ext uri="{FF2B5EF4-FFF2-40B4-BE49-F238E27FC236}">
                <a16:creationId xmlns:a16="http://schemas.microsoft.com/office/drawing/2014/main" id="{F3B9C694-DC94-162E-E459-C87FD62ABD53}"/>
              </a:ext>
            </a:extLst>
          </p:cNvPr>
          <p:cNvSpPr txBox="1"/>
          <p:nvPr/>
        </p:nvSpPr>
        <p:spPr>
          <a:xfrm>
            <a:off x="9877719" y="1772683"/>
            <a:ext cx="864124" cy="369332"/>
          </a:xfrm>
          <a:prstGeom prst="rect">
            <a:avLst/>
          </a:prstGeom>
          <a:noFill/>
        </p:spPr>
        <p:txBody>
          <a:bodyPr wrap="square" rtlCol="0">
            <a:spAutoFit/>
          </a:bodyPr>
          <a:lstStyle/>
          <a:p>
            <a:r>
              <a:rPr lang="en-US" dirty="0"/>
              <a:t>[</a:t>
            </a:r>
            <a:r>
              <a:rPr lang="en-US" dirty="0">
                <a:solidFill>
                  <a:schemeClr val="accent1">
                    <a:lumMod val="60000"/>
                    <a:lumOff val="40000"/>
                  </a:schemeClr>
                </a:solidFill>
              </a:rPr>
              <a:t>■</a:t>
            </a:r>
            <a:r>
              <a:rPr lang="en-US" dirty="0">
                <a:solidFill>
                  <a:srgbClr val="FFC000"/>
                </a:solidFill>
              </a:rPr>
              <a:t> ■</a:t>
            </a:r>
            <a:r>
              <a:rPr lang="en-US" dirty="0"/>
              <a:t>]</a:t>
            </a:r>
          </a:p>
        </p:txBody>
      </p:sp>
      <p:sp>
        <p:nvSpPr>
          <p:cNvPr id="11" name="TextBox 10">
            <a:extLst>
              <a:ext uri="{FF2B5EF4-FFF2-40B4-BE49-F238E27FC236}">
                <a16:creationId xmlns:a16="http://schemas.microsoft.com/office/drawing/2014/main" id="{5EC561C6-DB74-94C1-AC00-043C53E8A01E}"/>
              </a:ext>
            </a:extLst>
          </p:cNvPr>
          <p:cNvSpPr txBox="1"/>
          <p:nvPr/>
        </p:nvSpPr>
        <p:spPr>
          <a:xfrm>
            <a:off x="6495244" y="4940546"/>
            <a:ext cx="1577241" cy="369332"/>
          </a:xfrm>
          <a:prstGeom prst="rect">
            <a:avLst/>
          </a:prstGeom>
          <a:noFill/>
        </p:spPr>
        <p:txBody>
          <a:bodyPr wrap="square" rtlCol="0">
            <a:spAutoFit/>
          </a:bodyPr>
          <a:lstStyle/>
          <a:p>
            <a:r>
              <a:rPr lang="en-US" dirty="0"/>
              <a:t>[B, C ]</a:t>
            </a:r>
          </a:p>
        </p:txBody>
      </p:sp>
      <p:sp>
        <p:nvSpPr>
          <p:cNvPr id="12" name="TextBox 11">
            <a:extLst>
              <a:ext uri="{FF2B5EF4-FFF2-40B4-BE49-F238E27FC236}">
                <a16:creationId xmlns:a16="http://schemas.microsoft.com/office/drawing/2014/main" id="{8E674349-969E-89FF-E7F3-5BC2CB66BE88}"/>
              </a:ext>
            </a:extLst>
          </p:cNvPr>
          <p:cNvSpPr txBox="1"/>
          <p:nvPr/>
        </p:nvSpPr>
        <p:spPr>
          <a:xfrm>
            <a:off x="8991600" y="4929988"/>
            <a:ext cx="1157140" cy="369332"/>
          </a:xfrm>
          <a:prstGeom prst="rect">
            <a:avLst/>
          </a:prstGeom>
          <a:noFill/>
        </p:spPr>
        <p:txBody>
          <a:bodyPr wrap="square" rtlCol="0">
            <a:spAutoFit/>
          </a:bodyPr>
          <a:lstStyle/>
          <a:p>
            <a:r>
              <a:rPr lang="en-US" dirty="0"/>
              <a:t>[A, B, D ]</a:t>
            </a:r>
          </a:p>
        </p:txBody>
      </p:sp>
      <p:sp>
        <p:nvSpPr>
          <p:cNvPr id="18" name="TextBox 17">
            <a:extLst>
              <a:ext uri="{FF2B5EF4-FFF2-40B4-BE49-F238E27FC236}">
                <a16:creationId xmlns:a16="http://schemas.microsoft.com/office/drawing/2014/main" id="{DE1117DD-A90F-BEF0-3B8C-B82A7B8C5007}"/>
              </a:ext>
            </a:extLst>
          </p:cNvPr>
          <p:cNvSpPr txBox="1"/>
          <p:nvPr/>
        </p:nvSpPr>
        <p:spPr>
          <a:xfrm>
            <a:off x="9900107" y="2176043"/>
            <a:ext cx="841736" cy="369332"/>
          </a:xfrm>
          <a:prstGeom prst="rect">
            <a:avLst/>
          </a:prstGeom>
          <a:noFill/>
        </p:spPr>
        <p:txBody>
          <a:bodyPr wrap="square" rtlCol="0">
            <a:spAutoFit/>
          </a:bodyPr>
          <a:lstStyle/>
          <a:p>
            <a:r>
              <a:rPr lang="en-US" dirty="0"/>
              <a:t>[B, C ]</a:t>
            </a:r>
          </a:p>
        </p:txBody>
      </p:sp>
      <p:sp>
        <p:nvSpPr>
          <p:cNvPr id="19" name="TextBox 18">
            <a:extLst>
              <a:ext uri="{FF2B5EF4-FFF2-40B4-BE49-F238E27FC236}">
                <a16:creationId xmlns:a16="http://schemas.microsoft.com/office/drawing/2014/main" id="{7DDF8D39-7B51-1A91-6DF0-C5856561142D}"/>
              </a:ext>
            </a:extLst>
          </p:cNvPr>
          <p:cNvSpPr txBox="1"/>
          <p:nvPr/>
        </p:nvSpPr>
        <p:spPr>
          <a:xfrm>
            <a:off x="7312827" y="2217357"/>
            <a:ext cx="1077874" cy="369332"/>
          </a:xfrm>
          <a:prstGeom prst="rect">
            <a:avLst/>
          </a:prstGeom>
          <a:noFill/>
        </p:spPr>
        <p:txBody>
          <a:bodyPr wrap="square" rtlCol="0">
            <a:spAutoFit/>
          </a:bodyPr>
          <a:lstStyle/>
          <a:p>
            <a:r>
              <a:rPr lang="en-US" dirty="0"/>
              <a:t>[A, C, D ]</a:t>
            </a:r>
          </a:p>
        </p:txBody>
      </p:sp>
      <p:sp>
        <p:nvSpPr>
          <p:cNvPr id="22" name="Title 1">
            <a:extLst>
              <a:ext uri="{FF2B5EF4-FFF2-40B4-BE49-F238E27FC236}">
                <a16:creationId xmlns:a16="http://schemas.microsoft.com/office/drawing/2014/main" id="{1DCA86E5-5F60-5728-DF0E-4E0C523732D9}"/>
              </a:ext>
            </a:extLst>
          </p:cNvPr>
          <p:cNvSpPr>
            <a:spLocks noGrp="1"/>
          </p:cNvSpPr>
          <p:nvPr>
            <p:ph type="title"/>
          </p:nvPr>
        </p:nvSpPr>
        <p:spPr>
          <a:xfrm>
            <a:off x="2233225" y="375345"/>
            <a:ext cx="7729728" cy="1188720"/>
          </a:xfrm>
        </p:spPr>
        <p:txBody>
          <a:bodyPr/>
          <a:lstStyle/>
          <a:p>
            <a:r>
              <a:rPr lang="en-US" dirty="0"/>
              <a:t>DSATUR (Degree of saturation)</a:t>
            </a:r>
          </a:p>
        </p:txBody>
      </p:sp>
      <p:sp>
        <p:nvSpPr>
          <p:cNvPr id="20" name="Slide Number Placeholder 19">
            <a:extLst>
              <a:ext uri="{FF2B5EF4-FFF2-40B4-BE49-F238E27FC236}">
                <a16:creationId xmlns:a16="http://schemas.microsoft.com/office/drawing/2014/main" id="{830766B5-B0C2-73E0-7C72-D969075B3622}"/>
              </a:ext>
            </a:extLst>
          </p:cNvPr>
          <p:cNvSpPr>
            <a:spLocks noGrp="1"/>
          </p:cNvSpPr>
          <p:nvPr>
            <p:ph type="sldNum" sz="quarter" idx="12"/>
          </p:nvPr>
        </p:nvSpPr>
        <p:spPr/>
        <p:txBody>
          <a:bodyPr/>
          <a:lstStyle/>
          <a:p>
            <a:fld id="{3DD08374-E544-47A5-94AF-CF56056772CB}" type="slidenum">
              <a:rPr lang="en-US" smtClean="0"/>
              <a:t>88</a:t>
            </a:fld>
            <a:endParaRPr lang="en-US"/>
          </a:p>
        </p:txBody>
      </p:sp>
    </p:spTree>
    <p:extLst>
      <p:ext uri="{BB962C8B-B14F-4D97-AF65-F5344CB8AC3E}">
        <p14:creationId xmlns:p14="http://schemas.microsoft.com/office/powerpoint/2010/main" val="210741378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C5D115-7C02-6F30-6766-89F0EE717BE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708DBC5-3D40-767E-142B-E64870E27062}"/>
              </a:ext>
            </a:extLst>
          </p:cNvPr>
          <p:cNvSpPr txBox="1"/>
          <p:nvPr/>
        </p:nvSpPr>
        <p:spPr>
          <a:xfrm>
            <a:off x="1255548" y="2436998"/>
            <a:ext cx="3535051" cy="3139321"/>
          </a:xfrm>
          <a:prstGeom prst="rect">
            <a:avLst/>
          </a:prstGeom>
          <a:noFill/>
        </p:spPr>
        <p:txBody>
          <a:bodyPr wrap="square" rtlCol="0">
            <a:spAutoFit/>
          </a:bodyPr>
          <a:lstStyle/>
          <a:p>
            <a:pPr marL="342900" indent="-342900">
              <a:buAutoNum type="arabicPeriod"/>
            </a:pPr>
            <a:r>
              <a:rPr lang="en-US" dirty="0"/>
              <a:t>Choose the vertex with highest </a:t>
            </a:r>
            <a:r>
              <a:rPr lang="en-US" b="1" dirty="0"/>
              <a:t>saturation degree</a:t>
            </a:r>
          </a:p>
          <a:p>
            <a:pPr marL="800100" lvl="1" indent="-342900">
              <a:buFont typeface="Arial" panose="020B0604020202020204" pitchFamily="34" charset="0"/>
              <a:buChar char="•"/>
            </a:pPr>
            <a:r>
              <a:rPr lang="en-US" dirty="0"/>
              <a:t>In case of tie, choose the one with highest degree</a:t>
            </a:r>
          </a:p>
          <a:p>
            <a:pPr lvl="1"/>
            <a:endParaRPr lang="en-US" dirty="0"/>
          </a:p>
          <a:p>
            <a:r>
              <a:rPr lang="en-US" dirty="0"/>
              <a:t>2. Assign the lowest available color (not used by its neighbors) to that vertex</a:t>
            </a:r>
          </a:p>
          <a:p>
            <a:endParaRPr lang="en-US" dirty="0"/>
          </a:p>
          <a:p>
            <a:r>
              <a:rPr lang="en-US" dirty="0"/>
              <a:t>3. Update the saturation degrees of its neighbors</a:t>
            </a:r>
          </a:p>
        </p:txBody>
      </p:sp>
      <p:sp>
        <p:nvSpPr>
          <p:cNvPr id="3" name="Oval 2">
            <a:extLst>
              <a:ext uri="{FF2B5EF4-FFF2-40B4-BE49-F238E27FC236}">
                <a16:creationId xmlns:a16="http://schemas.microsoft.com/office/drawing/2014/main" id="{527D2B92-5144-A4EA-6F87-51D105A4B8AB}"/>
              </a:ext>
            </a:extLst>
          </p:cNvPr>
          <p:cNvSpPr/>
          <p:nvPr/>
        </p:nvSpPr>
        <p:spPr>
          <a:xfrm>
            <a:off x="6567340" y="3979146"/>
            <a:ext cx="542041" cy="542041"/>
          </a:xfrm>
          <a:prstGeom prst="ellipse">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A</a:t>
            </a:r>
          </a:p>
        </p:txBody>
      </p:sp>
      <p:sp>
        <p:nvSpPr>
          <p:cNvPr id="5" name="Oval 4">
            <a:extLst>
              <a:ext uri="{FF2B5EF4-FFF2-40B4-BE49-F238E27FC236}">
                <a16:creationId xmlns:a16="http://schemas.microsoft.com/office/drawing/2014/main" id="{79D6AC8F-49FD-DBBB-D02B-0D027C31CAAF}"/>
              </a:ext>
            </a:extLst>
          </p:cNvPr>
          <p:cNvSpPr/>
          <p:nvPr/>
        </p:nvSpPr>
        <p:spPr>
          <a:xfrm>
            <a:off x="7530445" y="2613830"/>
            <a:ext cx="542041" cy="542041"/>
          </a:xfrm>
          <a:prstGeom prst="ellipse">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B</a:t>
            </a:r>
          </a:p>
        </p:txBody>
      </p:sp>
      <p:sp>
        <p:nvSpPr>
          <p:cNvPr id="6" name="Oval 5">
            <a:extLst>
              <a:ext uri="{FF2B5EF4-FFF2-40B4-BE49-F238E27FC236}">
                <a16:creationId xmlns:a16="http://schemas.microsoft.com/office/drawing/2014/main" id="{E0A65E76-5922-849D-DC0B-281216F31EE9}"/>
              </a:ext>
            </a:extLst>
          </p:cNvPr>
          <p:cNvSpPr/>
          <p:nvPr/>
        </p:nvSpPr>
        <p:spPr>
          <a:xfrm>
            <a:off x="8991600" y="3979145"/>
            <a:ext cx="542041" cy="542041"/>
          </a:xfrm>
          <a:prstGeom prst="ellipse">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C</a:t>
            </a:r>
          </a:p>
        </p:txBody>
      </p:sp>
      <p:sp>
        <p:nvSpPr>
          <p:cNvPr id="7" name="Oval 6">
            <a:extLst>
              <a:ext uri="{FF2B5EF4-FFF2-40B4-BE49-F238E27FC236}">
                <a16:creationId xmlns:a16="http://schemas.microsoft.com/office/drawing/2014/main" id="{F3EA59AA-1432-C434-6B36-033F9E869643}"/>
              </a:ext>
            </a:extLst>
          </p:cNvPr>
          <p:cNvSpPr/>
          <p:nvPr/>
        </p:nvSpPr>
        <p:spPr>
          <a:xfrm>
            <a:off x="9877719" y="2613830"/>
            <a:ext cx="542041" cy="54204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D</a:t>
            </a:r>
          </a:p>
        </p:txBody>
      </p:sp>
      <p:cxnSp>
        <p:nvCxnSpPr>
          <p:cNvPr id="8" name="Straight Connector 7">
            <a:extLst>
              <a:ext uri="{FF2B5EF4-FFF2-40B4-BE49-F238E27FC236}">
                <a16:creationId xmlns:a16="http://schemas.microsoft.com/office/drawing/2014/main" id="{CCDFBCFC-C0BC-15FA-831C-2CEDC58CD7C8}"/>
              </a:ext>
            </a:extLst>
          </p:cNvPr>
          <p:cNvCxnSpPr>
            <a:cxnSpLocks/>
            <a:stCxn id="5" idx="3"/>
            <a:endCxn id="3" idx="0"/>
          </p:cNvCxnSpPr>
          <p:nvPr/>
        </p:nvCxnSpPr>
        <p:spPr>
          <a:xfrm flipH="1">
            <a:off x="6838361" y="3076491"/>
            <a:ext cx="771464" cy="902655"/>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57E22A4-20AC-2B05-DA80-33B55B205ED8}"/>
              </a:ext>
            </a:extLst>
          </p:cNvPr>
          <p:cNvCxnSpPr>
            <a:cxnSpLocks/>
            <a:stCxn id="6" idx="1"/>
            <a:endCxn id="5" idx="5"/>
          </p:cNvCxnSpPr>
          <p:nvPr/>
        </p:nvCxnSpPr>
        <p:spPr>
          <a:xfrm flipH="1" flipV="1">
            <a:off x="7993106" y="3076491"/>
            <a:ext cx="1077874" cy="98203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0331AF3-D5C2-51BF-CD4C-967F715D3875}"/>
              </a:ext>
            </a:extLst>
          </p:cNvPr>
          <p:cNvCxnSpPr>
            <a:cxnSpLocks/>
            <a:stCxn id="6" idx="7"/>
            <a:endCxn id="7" idx="4"/>
          </p:cNvCxnSpPr>
          <p:nvPr/>
        </p:nvCxnSpPr>
        <p:spPr>
          <a:xfrm flipV="1">
            <a:off x="9454261" y="3155871"/>
            <a:ext cx="694479" cy="902654"/>
          </a:xfrm>
          <a:prstGeom prst="line">
            <a:avLst/>
          </a:prstGeom>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544C451-4D09-AAFD-741C-94731D7C0ED5}"/>
              </a:ext>
            </a:extLst>
          </p:cNvPr>
          <p:cNvSpPr txBox="1"/>
          <p:nvPr/>
        </p:nvSpPr>
        <p:spPr>
          <a:xfrm>
            <a:off x="7258639" y="5872899"/>
            <a:ext cx="2479250" cy="369332"/>
          </a:xfrm>
          <a:prstGeom prst="rect">
            <a:avLst/>
          </a:prstGeom>
          <a:noFill/>
        </p:spPr>
        <p:txBody>
          <a:bodyPr wrap="square" rtlCol="0">
            <a:spAutoFit/>
          </a:bodyPr>
          <a:lstStyle/>
          <a:p>
            <a:r>
              <a:rPr lang="en-US" dirty="0"/>
              <a:t>Distance-2 coloring</a:t>
            </a:r>
          </a:p>
        </p:txBody>
      </p:sp>
      <p:sp>
        <p:nvSpPr>
          <p:cNvPr id="14" name="TextBox 13">
            <a:extLst>
              <a:ext uri="{FF2B5EF4-FFF2-40B4-BE49-F238E27FC236}">
                <a16:creationId xmlns:a16="http://schemas.microsoft.com/office/drawing/2014/main" id="{412CC47A-1F1D-4D26-1800-16043BAC5112}"/>
              </a:ext>
            </a:extLst>
          </p:cNvPr>
          <p:cNvSpPr txBox="1"/>
          <p:nvPr/>
        </p:nvSpPr>
        <p:spPr>
          <a:xfrm>
            <a:off x="6495245" y="4610611"/>
            <a:ext cx="771464" cy="369332"/>
          </a:xfrm>
          <a:prstGeom prst="rect">
            <a:avLst/>
          </a:prstGeom>
          <a:noFill/>
        </p:spPr>
        <p:txBody>
          <a:bodyPr wrap="square" rtlCol="0">
            <a:spAutoFit/>
          </a:bodyPr>
          <a:lstStyle/>
          <a:p>
            <a:r>
              <a:rPr lang="en-US" dirty="0"/>
              <a:t>[</a:t>
            </a:r>
            <a:r>
              <a:rPr lang="en-US" dirty="0">
                <a:solidFill>
                  <a:schemeClr val="accent1">
                    <a:lumMod val="60000"/>
                    <a:lumOff val="40000"/>
                  </a:schemeClr>
                </a:solidFill>
              </a:rPr>
              <a:t>■</a:t>
            </a:r>
            <a:r>
              <a:rPr lang="en-US" dirty="0"/>
              <a:t> </a:t>
            </a:r>
            <a:r>
              <a:rPr lang="en-US" dirty="0">
                <a:solidFill>
                  <a:srgbClr val="FFC000"/>
                </a:solidFill>
              </a:rPr>
              <a:t>■</a:t>
            </a:r>
            <a:r>
              <a:rPr lang="en-US" dirty="0"/>
              <a:t>]</a:t>
            </a:r>
          </a:p>
        </p:txBody>
      </p:sp>
      <p:sp>
        <p:nvSpPr>
          <p:cNvPr id="15" name="TextBox 14">
            <a:extLst>
              <a:ext uri="{FF2B5EF4-FFF2-40B4-BE49-F238E27FC236}">
                <a16:creationId xmlns:a16="http://schemas.microsoft.com/office/drawing/2014/main" id="{26D82EE1-ED9B-4799-0AA0-79AB59A046F9}"/>
              </a:ext>
            </a:extLst>
          </p:cNvPr>
          <p:cNvSpPr txBox="1"/>
          <p:nvPr/>
        </p:nvSpPr>
        <p:spPr>
          <a:xfrm>
            <a:off x="9076834" y="4550626"/>
            <a:ext cx="542041" cy="369332"/>
          </a:xfrm>
          <a:prstGeom prst="rect">
            <a:avLst/>
          </a:prstGeom>
          <a:noFill/>
        </p:spPr>
        <p:txBody>
          <a:bodyPr wrap="square" rtlCol="0">
            <a:spAutoFit/>
          </a:bodyPr>
          <a:lstStyle/>
          <a:p>
            <a:r>
              <a:rPr lang="en-US" dirty="0"/>
              <a:t>[</a:t>
            </a:r>
            <a:r>
              <a:rPr lang="en-US" dirty="0">
                <a:solidFill>
                  <a:schemeClr val="accent1">
                    <a:lumMod val="60000"/>
                    <a:lumOff val="40000"/>
                  </a:schemeClr>
                </a:solidFill>
              </a:rPr>
              <a:t>■</a:t>
            </a:r>
            <a:r>
              <a:rPr lang="en-US" dirty="0"/>
              <a:t>]</a:t>
            </a:r>
          </a:p>
        </p:txBody>
      </p:sp>
      <p:sp>
        <p:nvSpPr>
          <p:cNvPr id="16" name="TextBox 15">
            <a:extLst>
              <a:ext uri="{FF2B5EF4-FFF2-40B4-BE49-F238E27FC236}">
                <a16:creationId xmlns:a16="http://schemas.microsoft.com/office/drawing/2014/main" id="{1A0DA4F1-05AD-40EA-1F82-72A678787EDC}"/>
              </a:ext>
            </a:extLst>
          </p:cNvPr>
          <p:cNvSpPr txBox="1"/>
          <p:nvPr/>
        </p:nvSpPr>
        <p:spPr>
          <a:xfrm>
            <a:off x="7573061" y="1799972"/>
            <a:ext cx="547934" cy="369332"/>
          </a:xfrm>
          <a:prstGeom prst="rect">
            <a:avLst/>
          </a:prstGeom>
          <a:noFill/>
        </p:spPr>
        <p:txBody>
          <a:bodyPr wrap="square" rtlCol="0">
            <a:spAutoFit/>
          </a:bodyPr>
          <a:lstStyle/>
          <a:p>
            <a:r>
              <a:rPr lang="en-US" dirty="0"/>
              <a:t>[</a:t>
            </a:r>
            <a:r>
              <a:rPr lang="en-US" dirty="0">
                <a:solidFill>
                  <a:schemeClr val="accent1">
                    <a:lumMod val="60000"/>
                    <a:lumOff val="40000"/>
                  </a:schemeClr>
                </a:solidFill>
              </a:rPr>
              <a:t> </a:t>
            </a:r>
            <a:r>
              <a:rPr lang="en-US" dirty="0"/>
              <a:t>]</a:t>
            </a:r>
          </a:p>
        </p:txBody>
      </p:sp>
      <p:sp>
        <p:nvSpPr>
          <p:cNvPr id="17" name="TextBox 16">
            <a:extLst>
              <a:ext uri="{FF2B5EF4-FFF2-40B4-BE49-F238E27FC236}">
                <a16:creationId xmlns:a16="http://schemas.microsoft.com/office/drawing/2014/main" id="{8AF85888-D34E-69D1-8B99-93FB9B4072A9}"/>
              </a:ext>
            </a:extLst>
          </p:cNvPr>
          <p:cNvSpPr txBox="1"/>
          <p:nvPr/>
        </p:nvSpPr>
        <p:spPr>
          <a:xfrm>
            <a:off x="9877719" y="1772683"/>
            <a:ext cx="864124" cy="369332"/>
          </a:xfrm>
          <a:prstGeom prst="rect">
            <a:avLst/>
          </a:prstGeom>
          <a:noFill/>
        </p:spPr>
        <p:txBody>
          <a:bodyPr wrap="square" rtlCol="0">
            <a:spAutoFit/>
          </a:bodyPr>
          <a:lstStyle/>
          <a:p>
            <a:r>
              <a:rPr lang="en-US" dirty="0"/>
              <a:t>[</a:t>
            </a:r>
            <a:r>
              <a:rPr lang="en-US" dirty="0">
                <a:solidFill>
                  <a:schemeClr val="accent1">
                    <a:lumMod val="60000"/>
                    <a:lumOff val="40000"/>
                  </a:schemeClr>
                </a:solidFill>
              </a:rPr>
              <a:t>■</a:t>
            </a:r>
            <a:r>
              <a:rPr lang="en-US" dirty="0">
                <a:solidFill>
                  <a:srgbClr val="FFC000"/>
                </a:solidFill>
              </a:rPr>
              <a:t> ■</a:t>
            </a:r>
            <a:r>
              <a:rPr lang="en-US" dirty="0"/>
              <a:t>]</a:t>
            </a:r>
          </a:p>
        </p:txBody>
      </p:sp>
      <p:sp>
        <p:nvSpPr>
          <p:cNvPr id="11" name="TextBox 10">
            <a:extLst>
              <a:ext uri="{FF2B5EF4-FFF2-40B4-BE49-F238E27FC236}">
                <a16:creationId xmlns:a16="http://schemas.microsoft.com/office/drawing/2014/main" id="{66ADBD5C-C222-5D7E-F99F-96FC56DF0B39}"/>
              </a:ext>
            </a:extLst>
          </p:cNvPr>
          <p:cNvSpPr txBox="1"/>
          <p:nvPr/>
        </p:nvSpPr>
        <p:spPr>
          <a:xfrm>
            <a:off x="6495245" y="4931493"/>
            <a:ext cx="1114580" cy="369332"/>
          </a:xfrm>
          <a:prstGeom prst="rect">
            <a:avLst/>
          </a:prstGeom>
          <a:noFill/>
        </p:spPr>
        <p:txBody>
          <a:bodyPr wrap="square" rtlCol="0">
            <a:spAutoFit/>
          </a:bodyPr>
          <a:lstStyle/>
          <a:p>
            <a:r>
              <a:rPr lang="en-US" dirty="0"/>
              <a:t>[B, C ]</a:t>
            </a:r>
          </a:p>
        </p:txBody>
      </p:sp>
      <p:sp>
        <p:nvSpPr>
          <p:cNvPr id="12" name="TextBox 11">
            <a:extLst>
              <a:ext uri="{FF2B5EF4-FFF2-40B4-BE49-F238E27FC236}">
                <a16:creationId xmlns:a16="http://schemas.microsoft.com/office/drawing/2014/main" id="{EE98426E-2F3C-BD4F-1CA5-DEBB97EB85B9}"/>
              </a:ext>
            </a:extLst>
          </p:cNvPr>
          <p:cNvSpPr txBox="1"/>
          <p:nvPr/>
        </p:nvSpPr>
        <p:spPr>
          <a:xfrm>
            <a:off x="8991600" y="4929988"/>
            <a:ext cx="1157140" cy="369332"/>
          </a:xfrm>
          <a:prstGeom prst="rect">
            <a:avLst/>
          </a:prstGeom>
          <a:noFill/>
        </p:spPr>
        <p:txBody>
          <a:bodyPr wrap="square" rtlCol="0">
            <a:spAutoFit/>
          </a:bodyPr>
          <a:lstStyle/>
          <a:p>
            <a:r>
              <a:rPr lang="en-US" dirty="0"/>
              <a:t>[A, B, D ]</a:t>
            </a:r>
          </a:p>
        </p:txBody>
      </p:sp>
      <p:sp>
        <p:nvSpPr>
          <p:cNvPr id="18" name="TextBox 17">
            <a:extLst>
              <a:ext uri="{FF2B5EF4-FFF2-40B4-BE49-F238E27FC236}">
                <a16:creationId xmlns:a16="http://schemas.microsoft.com/office/drawing/2014/main" id="{4FAEB7B1-6360-2C09-4FE4-2DDC526BE3F2}"/>
              </a:ext>
            </a:extLst>
          </p:cNvPr>
          <p:cNvSpPr txBox="1"/>
          <p:nvPr/>
        </p:nvSpPr>
        <p:spPr>
          <a:xfrm>
            <a:off x="9900107" y="2176043"/>
            <a:ext cx="841736" cy="369332"/>
          </a:xfrm>
          <a:prstGeom prst="rect">
            <a:avLst/>
          </a:prstGeom>
          <a:noFill/>
        </p:spPr>
        <p:txBody>
          <a:bodyPr wrap="square" rtlCol="0">
            <a:spAutoFit/>
          </a:bodyPr>
          <a:lstStyle/>
          <a:p>
            <a:r>
              <a:rPr lang="en-US" dirty="0"/>
              <a:t>[B, C ]</a:t>
            </a:r>
          </a:p>
        </p:txBody>
      </p:sp>
      <p:sp>
        <p:nvSpPr>
          <p:cNvPr id="19" name="TextBox 18">
            <a:extLst>
              <a:ext uri="{FF2B5EF4-FFF2-40B4-BE49-F238E27FC236}">
                <a16:creationId xmlns:a16="http://schemas.microsoft.com/office/drawing/2014/main" id="{47569D78-9FFB-A580-2427-AA807D889CF0}"/>
              </a:ext>
            </a:extLst>
          </p:cNvPr>
          <p:cNvSpPr txBox="1"/>
          <p:nvPr/>
        </p:nvSpPr>
        <p:spPr>
          <a:xfrm>
            <a:off x="7312827" y="2217357"/>
            <a:ext cx="1077874" cy="369332"/>
          </a:xfrm>
          <a:prstGeom prst="rect">
            <a:avLst/>
          </a:prstGeom>
          <a:noFill/>
        </p:spPr>
        <p:txBody>
          <a:bodyPr wrap="square" rtlCol="0">
            <a:spAutoFit/>
          </a:bodyPr>
          <a:lstStyle/>
          <a:p>
            <a:r>
              <a:rPr lang="en-US" dirty="0"/>
              <a:t>[A, C, D ]</a:t>
            </a:r>
          </a:p>
        </p:txBody>
      </p:sp>
      <p:sp>
        <p:nvSpPr>
          <p:cNvPr id="22" name="Title 1">
            <a:extLst>
              <a:ext uri="{FF2B5EF4-FFF2-40B4-BE49-F238E27FC236}">
                <a16:creationId xmlns:a16="http://schemas.microsoft.com/office/drawing/2014/main" id="{CD079B97-A339-6BCF-87FE-01A4880206ED}"/>
              </a:ext>
            </a:extLst>
          </p:cNvPr>
          <p:cNvSpPr>
            <a:spLocks noGrp="1"/>
          </p:cNvSpPr>
          <p:nvPr>
            <p:ph type="title"/>
          </p:nvPr>
        </p:nvSpPr>
        <p:spPr>
          <a:xfrm>
            <a:off x="2233225" y="375345"/>
            <a:ext cx="7729728" cy="1188720"/>
          </a:xfrm>
        </p:spPr>
        <p:txBody>
          <a:bodyPr/>
          <a:lstStyle/>
          <a:p>
            <a:r>
              <a:rPr lang="en-US" dirty="0"/>
              <a:t>DSATUR (Degree of saturation)</a:t>
            </a:r>
          </a:p>
        </p:txBody>
      </p:sp>
      <p:sp>
        <p:nvSpPr>
          <p:cNvPr id="20" name="Slide Number Placeholder 19">
            <a:extLst>
              <a:ext uri="{FF2B5EF4-FFF2-40B4-BE49-F238E27FC236}">
                <a16:creationId xmlns:a16="http://schemas.microsoft.com/office/drawing/2014/main" id="{3EA67EE4-D162-0179-DCA3-4617CAD65AF2}"/>
              </a:ext>
            </a:extLst>
          </p:cNvPr>
          <p:cNvSpPr>
            <a:spLocks noGrp="1"/>
          </p:cNvSpPr>
          <p:nvPr>
            <p:ph type="sldNum" sz="quarter" idx="12"/>
          </p:nvPr>
        </p:nvSpPr>
        <p:spPr/>
        <p:txBody>
          <a:bodyPr/>
          <a:lstStyle/>
          <a:p>
            <a:fld id="{3DD08374-E544-47A5-94AF-CF56056772CB}" type="slidenum">
              <a:rPr lang="en-US" smtClean="0"/>
              <a:t>89</a:t>
            </a:fld>
            <a:endParaRPr lang="en-US"/>
          </a:p>
        </p:txBody>
      </p:sp>
    </p:spTree>
    <p:extLst>
      <p:ext uri="{BB962C8B-B14F-4D97-AF65-F5344CB8AC3E}">
        <p14:creationId xmlns:p14="http://schemas.microsoft.com/office/powerpoint/2010/main" val="94189981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B1C1B-288F-948A-CCA7-20A10690D67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87FEDB0-0E6C-3BB5-B8EA-12E1B766A979}"/>
              </a:ext>
            </a:extLst>
          </p:cNvPr>
          <p:cNvSpPr txBox="1"/>
          <p:nvPr/>
        </p:nvSpPr>
        <p:spPr>
          <a:xfrm>
            <a:off x="1255548" y="2436998"/>
            <a:ext cx="3535051" cy="3139321"/>
          </a:xfrm>
          <a:prstGeom prst="rect">
            <a:avLst/>
          </a:prstGeom>
          <a:noFill/>
        </p:spPr>
        <p:txBody>
          <a:bodyPr wrap="square" rtlCol="0">
            <a:spAutoFit/>
          </a:bodyPr>
          <a:lstStyle/>
          <a:p>
            <a:pPr marL="342900" indent="-342900">
              <a:buAutoNum type="arabicPeriod"/>
            </a:pPr>
            <a:r>
              <a:rPr lang="en-US" dirty="0"/>
              <a:t>Choose the vertex with highest </a:t>
            </a:r>
            <a:r>
              <a:rPr lang="en-US" b="1" dirty="0"/>
              <a:t>saturation degree</a:t>
            </a:r>
          </a:p>
          <a:p>
            <a:pPr marL="800100" lvl="1" indent="-342900">
              <a:buFont typeface="Arial" panose="020B0604020202020204" pitchFamily="34" charset="0"/>
              <a:buChar char="•"/>
            </a:pPr>
            <a:r>
              <a:rPr lang="en-US" dirty="0"/>
              <a:t>In case of tie, choose the one with highest degree</a:t>
            </a:r>
          </a:p>
          <a:p>
            <a:pPr lvl="1"/>
            <a:endParaRPr lang="en-US" dirty="0"/>
          </a:p>
          <a:p>
            <a:r>
              <a:rPr lang="en-US" dirty="0"/>
              <a:t>2. Assign the lowest available color (not used by its neighbors) to that vertex</a:t>
            </a:r>
          </a:p>
          <a:p>
            <a:endParaRPr lang="en-US" dirty="0"/>
          </a:p>
          <a:p>
            <a:r>
              <a:rPr lang="en-US" dirty="0"/>
              <a:t>3. Update the saturation degrees of its neighbors</a:t>
            </a:r>
          </a:p>
        </p:txBody>
      </p:sp>
      <p:sp>
        <p:nvSpPr>
          <p:cNvPr id="3" name="Oval 2">
            <a:extLst>
              <a:ext uri="{FF2B5EF4-FFF2-40B4-BE49-F238E27FC236}">
                <a16:creationId xmlns:a16="http://schemas.microsoft.com/office/drawing/2014/main" id="{810CAC82-CC8E-3418-5F6F-3081426CAB37}"/>
              </a:ext>
            </a:extLst>
          </p:cNvPr>
          <p:cNvSpPr/>
          <p:nvPr/>
        </p:nvSpPr>
        <p:spPr>
          <a:xfrm>
            <a:off x="6567340" y="3979146"/>
            <a:ext cx="542041" cy="542041"/>
          </a:xfrm>
          <a:prstGeom prst="ellipse">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A</a:t>
            </a:r>
          </a:p>
        </p:txBody>
      </p:sp>
      <p:sp>
        <p:nvSpPr>
          <p:cNvPr id="5" name="Oval 4">
            <a:extLst>
              <a:ext uri="{FF2B5EF4-FFF2-40B4-BE49-F238E27FC236}">
                <a16:creationId xmlns:a16="http://schemas.microsoft.com/office/drawing/2014/main" id="{6602F05C-D409-2DED-D2CE-735F17B8F3C5}"/>
              </a:ext>
            </a:extLst>
          </p:cNvPr>
          <p:cNvSpPr/>
          <p:nvPr/>
        </p:nvSpPr>
        <p:spPr>
          <a:xfrm>
            <a:off x="7530445" y="2613830"/>
            <a:ext cx="542041" cy="542041"/>
          </a:xfrm>
          <a:prstGeom prst="ellipse">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B</a:t>
            </a:r>
          </a:p>
        </p:txBody>
      </p:sp>
      <p:sp>
        <p:nvSpPr>
          <p:cNvPr id="6" name="Oval 5">
            <a:extLst>
              <a:ext uri="{FF2B5EF4-FFF2-40B4-BE49-F238E27FC236}">
                <a16:creationId xmlns:a16="http://schemas.microsoft.com/office/drawing/2014/main" id="{C7D48219-6CE1-23DE-7EE4-039704A5492E}"/>
              </a:ext>
            </a:extLst>
          </p:cNvPr>
          <p:cNvSpPr/>
          <p:nvPr/>
        </p:nvSpPr>
        <p:spPr>
          <a:xfrm>
            <a:off x="8991600" y="3979145"/>
            <a:ext cx="542041" cy="542041"/>
          </a:xfrm>
          <a:prstGeom prst="ellipse">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C</a:t>
            </a:r>
          </a:p>
        </p:txBody>
      </p:sp>
      <p:sp>
        <p:nvSpPr>
          <p:cNvPr id="7" name="Oval 6">
            <a:extLst>
              <a:ext uri="{FF2B5EF4-FFF2-40B4-BE49-F238E27FC236}">
                <a16:creationId xmlns:a16="http://schemas.microsoft.com/office/drawing/2014/main" id="{C28B5172-71E9-E949-7D1C-9A7D842A3A2B}"/>
              </a:ext>
            </a:extLst>
          </p:cNvPr>
          <p:cNvSpPr/>
          <p:nvPr/>
        </p:nvSpPr>
        <p:spPr>
          <a:xfrm>
            <a:off x="9877719" y="2613830"/>
            <a:ext cx="542041" cy="542041"/>
          </a:xfrm>
          <a:prstGeom prst="ellipse">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D</a:t>
            </a:r>
          </a:p>
        </p:txBody>
      </p:sp>
      <p:cxnSp>
        <p:nvCxnSpPr>
          <p:cNvPr id="8" name="Straight Connector 7">
            <a:extLst>
              <a:ext uri="{FF2B5EF4-FFF2-40B4-BE49-F238E27FC236}">
                <a16:creationId xmlns:a16="http://schemas.microsoft.com/office/drawing/2014/main" id="{534CFAD0-3275-5838-BE34-C7E31D8505C0}"/>
              </a:ext>
            </a:extLst>
          </p:cNvPr>
          <p:cNvCxnSpPr>
            <a:cxnSpLocks/>
            <a:stCxn id="5" idx="3"/>
            <a:endCxn id="3" idx="0"/>
          </p:cNvCxnSpPr>
          <p:nvPr/>
        </p:nvCxnSpPr>
        <p:spPr>
          <a:xfrm flipH="1">
            <a:off x="6838361" y="3076491"/>
            <a:ext cx="771464" cy="902655"/>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EF53DD5C-943C-01D6-27C6-8587F9AFF7B8}"/>
              </a:ext>
            </a:extLst>
          </p:cNvPr>
          <p:cNvCxnSpPr>
            <a:cxnSpLocks/>
            <a:stCxn id="6" idx="1"/>
            <a:endCxn id="5" idx="5"/>
          </p:cNvCxnSpPr>
          <p:nvPr/>
        </p:nvCxnSpPr>
        <p:spPr>
          <a:xfrm flipH="1" flipV="1">
            <a:off x="7993106" y="3076491"/>
            <a:ext cx="1077874" cy="98203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252A4C07-D64D-6A8C-BA21-926FC29CD610}"/>
              </a:ext>
            </a:extLst>
          </p:cNvPr>
          <p:cNvCxnSpPr>
            <a:cxnSpLocks/>
            <a:stCxn id="6" idx="7"/>
            <a:endCxn id="7" idx="4"/>
          </p:cNvCxnSpPr>
          <p:nvPr/>
        </p:nvCxnSpPr>
        <p:spPr>
          <a:xfrm flipV="1">
            <a:off x="9454261" y="3155871"/>
            <a:ext cx="694479" cy="902654"/>
          </a:xfrm>
          <a:prstGeom prst="line">
            <a:avLst/>
          </a:prstGeom>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61368003-2F30-663A-5DAE-2248B5C3F482}"/>
              </a:ext>
            </a:extLst>
          </p:cNvPr>
          <p:cNvSpPr txBox="1"/>
          <p:nvPr/>
        </p:nvSpPr>
        <p:spPr>
          <a:xfrm>
            <a:off x="7258639" y="5872899"/>
            <a:ext cx="2479250" cy="369332"/>
          </a:xfrm>
          <a:prstGeom prst="rect">
            <a:avLst/>
          </a:prstGeom>
          <a:noFill/>
        </p:spPr>
        <p:txBody>
          <a:bodyPr wrap="square" rtlCol="0">
            <a:spAutoFit/>
          </a:bodyPr>
          <a:lstStyle/>
          <a:p>
            <a:r>
              <a:rPr lang="en-US" dirty="0"/>
              <a:t>Distance-2 coloring</a:t>
            </a:r>
          </a:p>
        </p:txBody>
      </p:sp>
      <p:sp>
        <p:nvSpPr>
          <p:cNvPr id="14" name="TextBox 13">
            <a:extLst>
              <a:ext uri="{FF2B5EF4-FFF2-40B4-BE49-F238E27FC236}">
                <a16:creationId xmlns:a16="http://schemas.microsoft.com/office/drawing/2014/main" id="{3F248C39-2C21-CB6A-E470-FAA79278B8C0}"/>
              </a:ext>
            </a:extLst>
          </p:cNvPr>
          <p:cNvSpPr txBox="1"/>
          <p:nvPr/>
        </p:nvSpPr>
        <p:spPr>
          <a:xfrm>
            <a:off x="6495245" y="4610611"/>
            <a:ext cx="771464" cy="369332"/>
          </a:xfrm>
          <a:prstGeom prst="rect">
            <a:avLst/>
          </a:prstGeom>
          <a:noFill/>
        </p:spPr>
        <p:txBody>
          <a:bodyPr wrap="square" rtlCol="0">
            <a:spAutoFit/>
          </a:bodyPr>
          <a:lstStyle/>
          <a:p>
            <a:r>
              <a:rPr lang="en-US" dirty="0"/>
              <a:t>[</a:t>
            </a:r>
            <a:r>
              <a:rPr lang="en-US" dirty="0">
                <a:solidFill>
                  <a:schemeClr val="accent1">
                    <a:lumMod val="60000"/>
                    <a:lumOff val="40000"/>
                  </a:schemeClr>
                </a:solidFill>
              </a:rPr>
              <a:t>■</a:t>
            </a:r>
            <a:r>
              <a:rPr lang="en-US" dirty="0"/>
              <a:t> </a:t>
            </a:r>
            <a:r>
              <a:rPr lang="en-US" dirty="0">
                <a:solidFill>
                  <a:srgbClr val="FFC000"/>
                </a:solidFill>
              </a:rPr>
              <a:t>■</a:t>
            </a:r>
            <a:r>
              <a:rPr lang="en-US" dirty="0"/>
              <a:t>]</a:t>
            </a:r>
          </a:p>
        </p:txBody>
      </p:sp>
      <p:sp>
        <p:nvSpPr>
          <p:cNvPr id="15" name="TextBox 14">
            <a:extLst>
              <a:ext uri="{FF2B5EF4-FFF2-40B4-BE49-F238E27FC236}">
                <a16:creationId xmlns:a16="http://schemas.microsoft.com/office/drawing/2014/main" id="{7BD06396-B9FF-4CBB-2863-A42282207D89}"/>
              </a:ext>
            </a:extLst>
          </p:cNvPr>
          <p:cNvSpPr txBox="1"/>
          <p:nvPr/>
        </p:nvSpPr>
        <p:spPr>
          <a:xfrm>
            <a:off x="9076834" y="4550626"/>
            <a:ext cx="542041" cy="369332"/>
          </a:xfrm>
          <a:prstGeom prst="rect">
            <a:avLst/>
          </a:prstGeom>
          <a:noFill/>
        </p:spPr>
        <p:txBody>
          <a:bodyPr wrap="square" rtlCol="0">
            <a:spAutoFit/>
          </a:bodyPr>
          <a:lstStyle/>
          <a:p>
            <a:r>
              <a:rPr lang="en-US" dirty="0"/>
              <a:t>[</a:t>
            </a:r>
            <a:r>
              <a:rPr lang="en-US" dirty="0">
                <a:solidFill>
                  <a:schemeClr val="accent1">
                    <a:lumMod val="60000"/>
                    <a:lumOff val="40000"/>
                  </a:schemeClr>
                </a:solidFill>
              </a:rPr>
              <a:t>■</a:t>
            </a:r>
            <a:r>
              <a:rPr lang="en-US" dirty="0"/>
              <a:t>]</a:t>
            </a:r>
          </a:p>
        </p:txBody>
      </p:sp>
      <p:sp>
        <p:nvSpPr>
          <p:cNvPr id="16" name="TextBox 15">
            <a:extLst>
              <a:ext uri="{FF2B5EF4-FFF2-40B4-BE49-F238E27FC236}">
                <a16:creationId xmlns:a16="http://schemas.microsoft.com/office/drawing/2014/main" id="{DF8AD9FF-8390-E813-BA31-96E6B0215B7D}"/>
              </a:ext>
            </a:extLst>
          </p:cNvPr>
          <p:cNvSpPr txBox="1"/>
          <p:nvPr/>
        </p:nvSpPr>
        <p:spPr>
          <a:xfrm>
            <a:off x="7573061" y="1799972"/>
            <a:ext cx="547934" cy="369332"/>
          </a:xfrm>
          <a:prstGeom prst="rect">
            <a:avLst/>
          </a:prstGeom>
          <a:noFill/>
        </p:spPr>
        <p:txBody>
          <a:bodyPr wrap="square" rtlCol="0">
            <a:spAutoFit/>
          </a:bodyPr>
          <a:lstStyle/>
          <a:p>
            <a:r>
              <a:rPr lang="en-US" dirty="0"/>
              <a:t>[</a:t>
            </a:r>
            <a:r>
              <a:rPr lang="en-US" dirty="0">
                <a:solidFill>
                  <a:schemeClr val="accent1">
                    <a:lumMod val="60000"/>
                    <a:lumOff val="40000"/>
                  </a:schemeClr>
                </a:solidFill>
              </a:rPr>
              <a:t> </a:t>
            </a:r>
            <a:r>
              <a:rPr lang="en-US" dirty="0"/>
              <a:t>]</a:t>
            </a:r>
          </a:p>
        </p:txBody>
      </p:sp>
      <p:sp>
        <p:nvSpPr>
          <p:cNvPr id="17" name="TextBox 16">
            <a:extLst>
              <a:ext uri="{FF2B5EF4-FFF2-40B4-BE49-F238E27FC236}">
                <a16:creationId xmlns:a16="http://schemas.microsoft.com/office/drawing/2014/main" id="{550B45B3-9945-4595-AC81-932867918FB9}"/>
              </a:ext>
            </a:extLst>
          </p:cNvPr>
          <p:cNvSpPr txBox="1"/>
          <p:nvPr/>
        </p:nvSpPr>
        <p:spPr>
          <a:xfrm>
            <a:off x="9877719" y="1772683"/>
            <a:ext cx="864124" cy="369332"/>
          </a:xfrm>
          <a:prstGeom prst="rect">
            <a:avLst/>
          </a:prstGeom>
          <a:noFill/>
        </p:spPr>
        <p:txBody>
          <a:bodyPr wrap="square" rtlCol="0">
            <a:spAutoFit/>
          </a:bodyPr>
          <a:lstStyle/>
          <a:p>
            <a:r>
              <a:rPr lang="en-US" dirty="0"/>
              <a:t>[</a:t>
            </a:r>
            <a:r>
              <a:rPr lang="en-US" dirty="0">
                <a:solidFill>
                  <a:schemeClr val="accent1">
                    <a:lumMod val="60000"/>
                    <a:lumOff val="40000"/>
                  </a:schemeClr>
                </a:solidFill>
              </a:rPr>
              <a:t>■</a:t>
            </a:r>
            <a:r>
              <a:rPr lang="en-US" dirty="0">
                <a:solidFill>
                  <a:srgbClr val="FFC000"/>
                </a:solidFill>
              </a:rPr>
              <a:t> ■</a:t>
            </a:r>
            <a:r>
              <a:rPr lang="en-US" dirty="0"/>
              <a:t>]</a:t>
            </a:r>
          </a:p>
        </p:txBody>
      </p:sp>
      <p:sp>
        <p:nvSpPr>
          <p:cNvPr id="11" name="TextBox 10">
            <a:extLst>
              <a:ext uri="{FF2B5EF4-FFF2-40B4-BE49-F238E27FC236}">
                <a16:creationId xmlns:a16="http://schemas.microsoft.com/office/drawing/2014/main" id="{574E6302-46A1-BF36-4C58-2E7C995256F2}"/>
              </a:ext>
            </a:extLst>
          </p:cNvPr>
          <p:cNvSpPr txBox="1"/>
          <p:nvPr/>
        </p:nvSpPr>
        <p:spPr>
          <a:xfrm>
            <a:off x="6495245" y="4931493"/>
            <a:ext cx="1035200" cy="369332"/>
          </a:xfrm>
          <a:prstGeom prst="rect">
            <a:avLst/>
          </a:prstGeom>
          <a:noFill/>
        </p:spPr>
        <p:txBody>
          <a:bodyPr wrap="square" rtlCol="0">
            <a:spAutoFit/>
          </a:bodyPr>
          <a:lstStyle/>
          <a:p>
            <a:r>
              <a:rPr lang="en-US" dirty="0"/>
              <a:t>[B, C ]</a:t>
            </a:r>
          </a:p>
        </p:txBody>
      </p:sp>
      <p:sp>
        <p:nvSpPr>
          <p:cNvPr id="12" name="TextBox 11">
            <a:extLst>
              <a:ext uri="{FF2B5EF4-FFF2-40B4-BE49-F238E27FC236}">
                <a16:creationId xmlns:a16="http://schemas.microsoft.com/office/drawing/2014/main" id="{E12EBC8C-2436-1B5A-1587-6823C00159F5}"/>
              </a:ext>
            </a:extLst>
          </p:cNvPr>
          <p:cNvSpPr txBox="1"/>
          <p:nvPr/>
        </p:nvSpPr>
        <p:spPr>
          <a:xfrm>
            <a:off x="8991600" y="4929988"/>
            <a:ext cx="1157140" cy="369332"/>
          </a:xfrm>
          <a:prstGeom prst="rect">
            <a:avLst/>
          </a:prstGeom>
          <a:noFill/>
        </p:spPr>
        <p:txBody>
          <a:bodyPr wrap="square" rtlCol="0">
            <a:spAutoFit/>
          </a:bodyPr>
          <a:lstStyle/>
          <a:p>
            <a:r>
              <a:rPr lang="en-US" dirty="0"/>
              <a:t>[A, B, D ]</a:t>
            </a:r>
          </a:p>
        </p:txBody>
      </p:sp>
      <p:sp>
        <p:nvSpPr>
          <p:cNvPr id="18" name="TextBox 17">
            <a:extLst>
              <a:ext uri="{FF2B5EF4-FFF2-40B4-BE49-F238E27FC236}">
                <a16:creationId xmlns:a16="http://schemas.microsoft.com/office/drawing/2014/main" id="{70C88126-AEB5-8292-1E97-516321FBEF2B}"/>
              </a:ext>
            </a:extLst>
          </p:cNvPr>
          <p:cNvSpPr txBox="1"/>
          <p:nvPr/>
        </p:nvSpPr>
        <p:spPr>
          <a:xfrm>
            <a:off x="9900107" y="2176043"/>
            <a:ext cx="841736" cy="369332"/>
          </a:xfrm>
          <a:prstGeom prst="rect">
            <a:avLst/>
          </a:prstGeom>
          <a:noFill/>
        </p:spPr>
        <p:txBody>
          <a:bodyPr wrap="square" rtlCol="0">
            <a:spAutoFit/>
          </a:bodyPr>
          <a:lstStyle/>
          <a:p>
            <a:r>
              <a:rPr lang="en-US" dirty="0"/>
              <a:t>[B, C ]</a:t>
            </a:r>
          </a:p>
        </p:txBody>
      </p:sp>
      <p:sp>
        <p:nvSpPr>
          <p:cNvPr id="19" name="TextBox 18">
            <a:extLst>
              <a:ext uri="{FF2B5EF4-FFF2-40B4-BE49-F238E27FC236}">
                <a16:creationId xmlns:a16="http://schemas.microsoft.com/office/drawing/2014/main" id="{9C1A6CF1-7A67-2765-E5B9-BC43DC298B1E}"/>
              </a:ext>
            </a:extLst>
          </p:cNvPr>
          <p:cNvSpPr txBox="1"/>
          <p:nvPr/>
        </p:nvSpPr>
        <p:spPr>
          <a:xfrm>
            <a:off x="7312827" y="2217357"/>
            <a:ext cx="1077874" cy="369332"/>
          </a:xfrm>
          <a:prstGeom prst="rect">
            <a:avLst/>
          </a:prstGeom>
          <a:noFill/>
        </p:spPr>
        <p:txBody>
          <a:bodyPr wrap="square" rtlCol="0">
            <a:spAutoFit/>
          </a:bodyPr>
          <a:lstStyle/>
          <a:p>
            <a:r>
              <a:rPr lang="en-US" dirty="0"/>
              <a:t>[A, C, D ]</a:t>
            </a:r>
          </a:p>
        </p:txBody>
      </p:sp>
      <p:sp>
        <p:nvSpPr>
          <p:cNvPr id="22" name="Title 1">
            <a:extLst>
              <a:ext uri="{FF2B5EF4-FFF2-40B4-BE49-F238E27FC236}">
                <a16:creationId xmlns:a16="http://schemas.microsoft.com/office/drawing/2014/main" id="{CBD0C089-16BE-FB7C-E476-9EE637B611C4}"/>
              </a:ext>
            </a:extLst>
          </p:cNvPr>
          <p:cNvSpPr>
            <a:spLocks noGrp="1"/>
          </p:cNvSpPr>
          <p:nvPr>
            <p:ph type="title"/>
          </p:nvPr>
        </p:nvSpPr>
        <p:spPr>
          <a:xfrm>
            <a:off x="2233225" y="357239"/>
            <a:ext cx="7729728" cy="1188720"/>
          </a:xfrm>
        </p:spPr>
        <p:txBody>
          <a:bodyPr/>
          <a:lstStyle/>
          <a:p>
            <a:r>
              <a:rPr lang="en-US" dirty="0"/>
              <a:t>DSATUR (Degree of saturation)</a:t>
            </a:r>
          </a:p>
        </p:txBody>
      </p:sp>
      <p:sp>
        <p:nvSpPr>
          <p:cNvPr id="20" name="Slide Number Placeholder 19">
            <a:extLst>
              <a:ext uri="{FF2B5EF4-FFF2-40B4-BE49-F238E27FC236}">
                <a16:creationId xmlns:a16="http://schemas.microsoft.com/office/drawing/2014/main" id="{3FD6D660-76BF-6CC4-AA6B-EE6F60D8959C}"/>
              </a:ext>
            </a:extLst>
          </p:cNvPr>
          <p:cNvSpPr>
            <a:spLocks noGrp="1"/>
          </p:cNvSpPr>
          <p:nvPr>
            <p:ph type="sldNum" sz="quarter" idx="12"/>
          </p:nvPr>
        </p:nvSpPr>
        <p:spPr/>
        <p:txBody>
          <a:bodyPr/>
          <a:lstStyle/>
          <a:p>
            <a:fld id="{3DD08374-E544-47A5-94AF-CF56056772CB}" type="slidenum">
              <a:rPr lang="en-US" smtClean="0"/>
              <a:t>90</a:t>
            </a:fld>
            <a:endParaRPr lang="en-US"/>
          </a:p>
        </p:txBody>
      </p:sp>
    </p:spTree>
    <p:extLst>
      <p:ext uri="{BB962C8B-B14F-4D97-AF65-F5344CB8AC3E}">
        <p14:creationId xmlns:p14="http://schemas.microsoft.com/office/powerpoint/2010/main" val="363190222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4446439-5D3B-3594-E5D2-55559DC35920}"/>
              </a:ext>
            </a:extLst>
          </p:cNvPr>
          <p:cNvSpPr txBox="1"/>
          <p:nvPr/>
        </p:nvSpPr>
        <p:spPr>
          <a:xfrm>
            <a:off x="942680" y="857839"/>
            <a:ext cx="10558021" cy="1477328"/>
          </a:xfrm>
          <a:prstGeom prst="rect">
            <a:avLst/>
          </a:prstGeom>
          <a:noFill/>
        </p:spPr>
        <p:txBody>
          <a:bodyPr wrap="square" rtlCol="0">
            <a:spAutoFit/>
          </a:bodyPr>
          <a:lstStyle/>
          <a:p>
            <a:r>
              <a:rPr lang="en-US" dirty="0"/>
              <a:t>Real world applications:</a:t>
            </a:r>
          </a:p>
          <a:p>
            <a:pPr marL="285750" indent="-285750">
              <a:buFont typeface="Arial" panose="020B0604020202020204" pitchFamily="34" charset="0"/>
              <a:buChar char="•"/>
            </a:pPr>
            <a:r>
              <a:rPr lang="en-US" b="1" dirty="0"/>
              <a:t>Telecommunications &amp; Networking</a:t>
            </a:r>
            <a:r>
              <a:rPr lang="en-US" dirty="0"/>
              <a:t>: Frequency assignment in wireless network</a:t>
            </a:r>
          </a:p>
          <a:p>
            <a:pPr marL="285750" indent="-285750">
              <a:buFont typeface="Arial" panose="020B0604020202020204" pitchFamily="34" charset="0"/>
              <a:buChar char="•"/>
            </a:pPr>
            <a:r>
              <a:rPr lang="en-US" b="1" dirty="0"/>
              <a:t>Circuit Design</a:t>
            </a:r>
            <a:r>
              <a:rPr lang="en-US" dirty="0"/>
              <a:t>: Avoiding interference in VLSI design</a:t>
            </a:r>
          </a:p>
          <a:p>
            <a:pPr marL="285750" indent="-285750">
              <a:buFont typeface="Arial" panose="020B0604020202020204" pitchFamily="34" charset="0"/>
              <a:buChar char="•"/>
            </a:pPr>
            <a:r>
              <a:rPr lang="en-US" b="1" dirty="0"/>
              <a:t>Scheduling</a:t>
            </a:r>
            <a:r>
              <a:rPr lang="en-US" dirty="0"/>
              <a:t>: Task, exam, or traffic light scheduling</a:t>
            </a:r>
          </a:p>
          <a:p>
            <a:pPr marL="285750" indent="-285750">
              <a:buFont typeface="Arial" panose="020B0604020202020204" pitchFamily="34" charset="0"/>
              <a:buChar char="•"/>
            </a:pPr>
            <a:r>
              <a:rPr lang="en-US" b="1" dirty="0"/>
              <a:t>Resource Allocation</a:t>
            </a:r>
            <a:r>
              <a:rPr lang="en-US" dirty="0"/>
              <a:t>: Memory bank allocation, processor scheduling</a:t>
            </a:r>
          </a:p>
        </p:txBody>
      </p:sp>
      <p:sp>
        <p:nvSpPr>
          <p:cNvPr id="3" name="Slide Number Placeholder 2">
            <a:extLst>
              <a:ext uri="{FF2B5EF4-FFF2-40B4-BE49-F238E27FC236}">
                <a16:creationId xmlns:a16="http://schemas.microsoft.com/office/drawing/2014/main" id="{84022863-21B5-A443-37C8-599C33E656C9}"/>
              </a:ext>
            </a:extLst>
          </p:cNvPr>
          <p:cNvSpPr>
            <a:spLocks noGrp="1"/>
          </p:cNvSpPr>
          <p:nvPr>
            <p:ph type="sldNum" sz="quarter" idx="12"/>
          </p:nvPr>
        </p:nvSpPr>
        <p:spPr/>
        <p:txBody>
          <a:bodyPr/>
          <a:lstStyle/>
          <a:p>
            <a:fld id="{3DD08374-E544-47A5-94AF-CF56056772CB}" type="slidenum">
              <a:rPr lang="en-US" smtClean="0"/>
              <a:t>91</a:t>
            </a:fld>
            <a:endParaRPr lang="en-US"/>
          </a:p>
        </p:txBody>
      </p:sp>
    </p:spTree>
    <p:extLst>
      <p:ext uri="{BB962C8B-B14F-4D97-AF65-F5344CB8AC3E}">
        <p14:creationId xmlns:p14="http://schemas.microsoft.com/office/powerpoint/2010/main" val="202896684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92719-D5D9-FEC2-B9D6-942BD02028E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45A4A65-E8B8-40CF-7ABD-97EA8FA97521}"/>
              </a:ext>
            </a:extLst>
          </p:cNvPr>
          <p:cNvSpPr>
            <a:spLocks noGrp="1"/>
          </p:cNvSpPr>
          <p:nvPr>
            <p:ph type="ctrTitle"/>
          </p:nvPr>
        </p:nvSpPr>
        <p:spPr/>
        <p:txBody>
          <a:bodyPr anchor="ctr"/>
          <a:lstStyle/>
          <a:p>
            <a:r>
              <a:rPr lang="en-US" dirty="0"/>
              <a:t>Md. Rifat Rahman </a:t>
            </a:r>
            <a:br>
              <a:rPr lang="en-US" dirty="0"/>
            </a:br>
            <a:r>
              <a:rPr lang="en-US" dirty="0"/>
              <a:t>1905094</a:t>
            </a:r>
          </a:p>
        </p:txBody>
      </p:sp>
    </p:spTree>
    <p:extLst>
      <p:ext uri="{BB962C8B-B14F-4D97-AF65-F5344CB8AC3E}">
        <p14:creationId xmlns:p14="http://schemas.microsoft.com/office/powerpoint/2010/main" val="133816713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448C6C-2164-FC2E-96CC-680523C8EAD7}"/>
              </a:ext>
            </a:extLst>
          </p:cNvPr>
          <p:cNvSpPr txBox="1"/>
          <p:nvPr/>
        </p:nvSpPr>
        <p:spPr>
          <a:xfrm>
            <a:off x="669303" y="631596"/>
            <a:ext cx="8983744" cy="646331"/>
          </a:xfrm>
          <a:prstGeom prst="rect">
            <a:avLst/>
          </a:prstGeom>
          <a:noFill/>
        </p:spPr>
        <p:txBody>
          <a:bodyPr wrap="square" rtlCol="0">
            <a:spAutoFit/>
          </a:bodyPr>
          <a:lstStyle/>
          <a:p>
            <a:r>
              <a:rPr lang="en-US" sz="3600" b="1" dirty="0"/>
              <a:t>Total Coloring</a:t>
            </a:r>
          </a:p>
        </p:txBody>
      </p:sp>
      <p:sp>
        <p:nvSpPr>
          <p:cNvPr id="7" name="TextBox 6">
            <a:extLst>
              <a:ext uri="{FF2B5EF4-FFF2-40B4-BE49-F238E27FC236}">
                <a16:creationId xmlns:a16="http://schemas.microsoft.com/office/drawing/2014/main" id="{CD51E5D5-4D53-0E59-87F3-D65D868832E7}"/>
              </a:ext>
            </a:extLst>
          </p:cNvPr>
          <p:cNvSpPr txBox="1"/>
          <p:nvPr/>
        </p:nvSpPr>
        <p:spPr>
          <a:xfrm>
            <a:off x="1470581" y="1508289"/>
            <a:ext cx="9426805" cy="1754326"/>
          </a:xfrm>
          <a:prstGeom prst="rect">
            <a:avLst/>
          </a:prstGeom>
          <a:noFill/>
        </p:spPr>
        <p:txBody>
          <a:bodyPr wrap="square" rtlCol="0">
            <a:spAutoFit/>
          </a:bodyPr>
          <a:lstStyle/>
          <a:p>
            <a:r>
              <a:rPr lang="en-US" dirty="0"/>
              <a:t>Total coloring is a variant of graph coloring where both edges and vertices have to be colored. The constraints are as follows:</a:t>
            </a:r>
          </a:p>
          <a:p>
            <a:endParaRPr lang="en-US" dirty="0"/>
          </a:p>
          <a:p>
            <a:r>
              <a:rPr lang="en-US" dirty="0"/>
              <a:t>	1. No two vertices connected by an edge can have the same color.</a:t>
            </a:r>
          </a:p>
          <a:p>
            <a:r>
              <a:rPr lang="en-US" dirty="0"/>
              <a:t>	2. All the edges sharing a same endpoint must be colored differently.</a:t>
            </a:r>
          </a:p>
          <a:p>
            <a:r>
              <a:rPr lang="en-US" dirty="0"/>
              <a:t>	3. The two vertices and their connecting edge must be colored differently</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43608BBA-724D-355D-7501-014F604821B7}"/>
                  </a:ext>
                </a:extLst>
              </p:cNvPr>
              <p:cNvSpPr txBox="1"/>
              <p:nvPr/>
            </p:nvSpPr>
            <p:spPr>
              <a:xfrm>
                <a:off x="1538140" y="3848328"/>
                <a:ext cx="9115720" cy="1477328"/>
              </a:xfrm>
              <a:prstGeom prst="rect">
                <a:avLst/>
              </a:prstGeom>
              <a:noFill/>
            </p:spPr>
            <p:txBody>
              <a:bodyPr wrap="square" rtlCol="0">
                <a:spAutoFit/>
              </a:bodyPr>
              <a:lstStyle/>
              <a:p>
                <a:r>
                  <a:rPr lang="en-US" dirty="0"/>
                  <a:t>A trivial lower bound of the total coloring is ,</a:t>
                </a:r>
              </a:p>
              <a:p>
                <a:endParaRPr lang="en-US" dirty="0">
                  <a:solidFill>
                    <a:srgbClr val="836967"/>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p>
                        <m:sSupPr>
                          <m:ctrlPr>
                            <a:rPr lang="en-US" i="1" dirty="0" smtClean="0">
                              <a:solidFill>
                                <a:srgbClr val="836967"/>
                              </a:solidFill>
                              <a:latin typeface="Cambria Math" panose="02040503050406030204" pitchFamily="18" charset="0"/>
                            </a:rPr>
                          </m:ctrlPr>
                        </m:sSupPr>
                        <m:e>
                          <m:r>
                            <a:rPr lang="en-US" i="1" dirty="0">
                              <a:latin typeface="Cambria Math" panose="02040503050406030204" pitchFamily="18" charset="0"/>
                            </a:rPr>
                            <m:t>𝜒</m:t>
                          </m:r>
                        </m:e>
                        <m:sup>
                          <m:r>
                            <a:rPr lang="en-US" i="0" dirty="0">
                              <a:latin typeface="Cambria Math" panose="02040503050406030204" pitchFamily="18" charset="0"/>
                            </a:rPr>
                            <m:t>′′</m:t>
                          </m:r>
                        </m:sup>
                      </m:sSup>
                      <m:d>
                        <m:dPr>
                          <m:ctrlPr>
                            <a:rPr lang="en-US" i="1" dirty="0">
                              <a:solidFill>
                                <a:srgbClr val="836967"/>
                              </a:solidFill>
                              <a:latin typeface="Cambria Math" panose="02040503050406030204" pitchFamily="18" charset="0"/>
                            </a:rPr>
                          </m:ctrlPr>
                        </m:dPr>
                        <m:e>
                          <m:r>
                            <a:rPr lang="en-US" i="1" dirty="0">
                              <a:latin typeface="Cambria Math" panose="02040503050406030204" pitchFamily="18" charset="0"/>
                            </a:rPr>
                            <m:t>𝐺</m:t>
                          </m:r>
                        </m:e>
                      </m:d>
                      <m:r>
                        <a:rPr lang="en-US" i="0" dirty="0">
                          <a:latin typeface="Cambria Math" panose="02040503050406030204" pitchFamily="18" charset="0"/>
                        </a:rPr>
                        <m:t>≥</m:t>
                      </m:r>
                      <m:r>
                        <m:rPr>
                          <m:sty m:val="p"/>
                        </m:rPr>
                        <a:rPr lang="en-US" i="0" dirty="0">
                          <a:latin typeface="Cambria Math" panose="02040503050406030204" pitchFamily="18" charset="0"/>
                        </a:rPr>
                        <m:t>Δ</m:t>
                      </m:r>
                      <m:d>
                        <m:dPr>
                          <m:ctrlPr>
                            <a:rPr lang="en-US" i="1" dirty="0">
                              <a:solidFill>
                                <a:srgbClr val="836967"/>
                              </a:solidFill>
                              <a:latin typeface="Cambria Math" panose="02040503050406030204" pitchFamily="18" charset="0"/>
                            </a:rPr>
                          </m:ctrlPr>
                        </m:dPr>
                        <m:e>
                          <m:r>
                            <a:rPr lang="en-US" i="1" dirty="0">
                              <a:latin typeface="Cambria Math" panose="02040503050406030204" pitchFamily="18" charset="0"/>
                            </a:rPr>
                            <m:t>𝐺</m:t>
                          </m:r>
                        </m:e>
                      </m:d>
                      <m:r>
                        <a:rPr lang="en-US" i="0" dirty="0">
                          <a:latin typeface="Cambria Math" panose="02040503050406030204" pitchFamily="18" charset="0"/>
                        </a:rPr>
                        <m:t>+1</m:t>
                      </m:r>
                    </m:oMath>
                  </m:oMathPara>
                </a14:m>
                <a:endParaRPr lang="en-US" dirty="0"/>
              </a:p>
              <a:p>
                <a:r>
                  <a:rPr lang="en-US" dirty="0"/>
                  <a:t>Where </a:t>
                </a:r>
                <a14:m>
                  <m:oMath xmlns:m="http://schemas.openxmlformats.org/officeDocument/2006/math">
                    <m:sSup>
                      <m:sSupPr>
                        <m:ctrlPr>
                          <a:rPr lang="en-US" i="1" dirty="0" smtClean="0">
                            <a:solidFill>
                              <a:srgbClr val="836967"/>
                            </a:solidFill>
                            <a:latin typeface="Cambria Math" panose="02040503050406030204" pitchFamily="18" charset="0"/>
                          </a:rPr>
                        </m:ctrlPr>
                      </m:sSupPr>
                      <m:e>
                        <m:r>
                          <a:rPr lang="en-US" i="1" dirty="0">
                            <a:latin typeface="Cambria Math" panose="02040503050406030204" pitchFamily="18" charset="0"/>
                          </a:rPr>
                          <m:t>𝜒</m:t>
                        </m:r>
                      </m:e>
                      <m:sup>
                        <m:r>
                          <a:rPr lang="en-US" i="0" dirty="0">
                            <a:latin typeface="Cambria Math" panose="02040503050406030204" pitchFamily="18" charset="0"/>
                          </a:rPr>
                          <m:t>′′</m:t>
                        </m:r>
                      </m:sup>
                    </m:sSup>
                    <m:d>
                      <m:dPr>
                        <m:ctrlPr>
                          <a:rPr lang="en-US" i="1" dirty="0">
                            <a:solidFill>
                              <a:srgbClr val="836967"/>
                            </a:solidFill>
                            <a:latin typeface="Cambria Math" panose="02040503050406030204" pitchFamily="18" charset="0"/>
                          </a:rPr>
                        </m:ctrlPr>
                      </m:dPr>
                      <m:e>
                        <m:r>
                          <a:rPr lang="en-US" i="1" dirty="0">
                            <a:latin typeface="Cambria Math" panose="02040503050406030204" pitchFamily="18" charset="0"/>
                          </a:rPr>
                          <m:t>𝐺</m:t>
                        </m:r>
                      </m:e>
                    </m:d>
                  </m:oMath>
                </a14:m>
                <a:r>
                  <a:rPr lang="en-US" dirty="0"/>
                  <a:t> is the number of colors for total coloring and </a:t>
                </a:r>
                <a14:m>
                  <m:oMath xmlns:m="http://schemas.openxmlformats.org/officeDocument/2006/math">
                    <m:r>
                      <m:rPr>
                        <m:sty m:val="p"/>
                      </m:rPr>
                      <a:rPr lang="en-US" dirty="0">
                        <a:latin typeface="Cambria Math" panose="02040503050406030204" pitchFamily="18" charset="0"/>
                      </a:rPr>
                      <m:t>Δ</m:t>
                    </m:r>
                    <m:d>
                      <m:dPr>
                        <m:ctrlPr>
                          <a:rPr lang="en-US" i="1" dirty="0">
                            <a:solidFill>
                              <a:srgbClr val="836967"/>
                            </a:solidFill>
                            <a:latin typeface="Cambria Math" panose="02040503050406030204" pitchFamily="18" charset="0"/>
                          </a:rPr>
                        </m:ctrlPr>
                      </m:dPr>
                      <m:e>
                        <m:r>
                          <a:rPr lang="en-US" i="1" dirty="0">
                            <a:latin typeface="Cambria Math" panose="02040503050406030204" pitchFamily="18" charset="0"/>
                          </a:rPr>
                          <m:t>𝐺</m:t>
                        </m:r>
                      </m:e>
                    </m:d>
                  </m:oMath>
                </a14:m>
                <a:r>
                  <a:rPr lang="en-US" dirty="0"/>
                  <a:t> represents the maximum degree of graph </a:t>
                </a:r>
                <a:r>
                  <a:rPr lang="en-US" b="1" i="1" dirty="0"/>
                  <a:t>G. </a:t>
                </a:r>
              </a:p>
            </p:txBody>
          </p:sp>
        </mc:Choice>
        <mc:Fallback xmlns="">
          <p:sp>
            <p:nvSpPr>
              <p:cNvPr id="10" name="TextBox 9">
                <a:extLst>
                  <a:ext uri="{FF2B5EF4-FFF2-40B4-BE49-F238E27FC236}">
                    <a16:creationId xmlns:a16="http://schemas.microsoft.com/office/drawing/2014/main" id="{43608BBA-724D-355D-7501-014F604821B7}"/>
                  </a:ext>
                </a:extLst>
              </p:cNvPr>
              <p:cNvSpPr txBox="1">
                <a:spLocks noRot="1" noChangeAspect="1" noMove="1" noResize="1" noEditPoints="1" noAdjustHandles="1" noChangeArrowheads="1" noChangeShapeType="1" noTextEdit="1"/>
              </p:cNvSpPr>
              <p:nvPr/>
            </p:nvSpPr>
            <p:spPr>
              <a:xfrm>
                <a:off x="1538140" y="3848328"/>
                <a:ext cx="9115720" cy="1477328"/>
              </a:xfrm>
              <a:prstGeom prst="rect">
                <a:avLst/>
              </a:prstGeom>
              <a:blipFill>
                <a:blip r:embed="rId2"/>
                <a:stretch>
                  <a:fillRect l="-535" t="-2058" b="-5350"/>
                </a:stretch>
              </a:blipFill>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BC4E1125-D742-BBC0-2ED8-A5845367F8F5}"/>
              </a:ext>
            </a:extLst>
          </p:cNvPr>
          <p:cNvSpPr>
            <a:spLocks noGrp="1"/>
          </p:cNvSpPr>
          <p:nvPr>
            <p:ph type="sldNum" sz="quarter" idx="4"/>
          </p:nvPr>
        </p:nvSpPr>
        <p:spPr/>
        <p:txBody>
          <a:bodyPr/>
          <a:lstStyle/>
          <a:p>
            <a:fld id="{58FB4751-880F-D840-AAA9-3A15815CC996}" type="slidenum">
              <a:rPr lang="en-US" smtClean="0"/>
              <a:pPr/>
              <a:t>93</a:t>
            </a:fld>
            <a:endParaRPr lang="en-US" dirty="0"/>
          </a:p>
        </p:txBody>
      </p:sp>
    </p:spTree>
    <p:extLst>
      <p:ext uri="{BB962C8B-B14F-4D97-AF65-F5344CB8AC3E}">
        <p14:creationId xmlns:p14="http://schemas.microsoft.com/office/powerpoint/2010/main" val="284405268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85A638F8-FFCA-52EC-BCD4-8355704AF744}"/>
                  </a:ext>
                </a:extLst>
              </p:cNvPr>
              <p:cNvSpPr txBox="1"/>
              <p:nvPr/>
            </p:nvSpPr>
            <p:spPr>
              <a:xfrm>
                <a:off x="1055802" y="820132"/>
                <a:ext cx="9775596" cy="1754326"/>
              </a:xfrm>
              <a:prstGeom prst="rect">
                <a:avLst/>
              </a:prstGeom>
              <a:noFill/>
            </p:spPr>
            <p:txBody>
              <a:bodyPr wrap="square" rtlCol="0">
                <a:spAutoFit/>
              </a:bodyPr>
              <a:lstStyle/>
              <a:p>
                <a:r>
                  <a:rPr lang="en-US" dirty="0"/>
                  <a:t>Interestingly, Behzad and </a:t>
                </a:r>
                <a:r>
                  <a:rPr lang="en-US" dirty="0" err="1"/>
                  <a:t>vizing</a:t>
                </a:r>
                <a:r>
                  <a:rPr lang="en-US" dirty="0"/>
                  <a:t> gave a conjecture of total coloring which goes as follows,</a:t>
                </a:r>
              </a:p>
              <a:p>
                <a:r>
                  <a:rPr lang="en-US" dirty="0"/>
                  <a:t>	</a:t>
                </a:r>
              </a:p>
              <a:p>
                <a:r>
                  <a:rPr lang="en-US" dirty="0"/>
                  <a:t>	</a:t>
                </a:r>
                <a14:m>
                  <m:oMath xmlns:m="http://schemas.openxmlformats.org/officeDocument/2006/math">
                    <m:sSup>
                      <m:sSupPr>
                        <m:ctrlPr>
                          <a:rPr lang="en-US" i="1" dirty="0" smtClean="0">
                            <a:solidFill>
                              <a:srgbClr val="836967"/>
                            </a:solidFill>
                            <a:latin typeface="Cambria Math" panose="02040503050406030204" pitchFamily="18" charset="0"/>
                          </a:rPr>
                        </m:ctrlPr>
                      </m:sSupPr>
                      <m:e>
                        <m:r>
                          <a:rPr lang="en-US" i="1" dirty="0">
                            <a:latin typeface="Cambria Math" panose="02040503050406030204" pitchFamily="18" charset="0"/>
                          </a:rPr>
                          <m:t>𝜒</m:t>
                        </m:r>
                      </m:e>
                      <m:sup>
                        <m:r>
                          <a:rPr lang="en-US" i="0" dirty="0">
                            <a:latin typeface="Cambria Math" panose="02040503050406030204" pitchFamily="18" charset="0"/>
                          </a:rPr>
                          <m:t>′′</m:t>
                        </m:r>
                      </m:sup>
                    </m:sSup>
                    <m:d>
                      <m:dPr>
                        <m:ctrlPr>
                          <a:rPr lang="en-US" i="1" dirty="0">
                            <a:solidFill>
                              <a:srgbClr val="836967"/>
                            </a:solidFill>
                            <a:latin typeface="Cambria Math" panose="02040503050406030204" pitchFamily="18" charset="0"/>
                          </a:rPr>
                        </m:ctrlPr>
                      </m:dPr>
                      <m:e>
                        <m:r>
                          <a:rPr lang="en-US" i="1" dirty="0">
                            <a:latin typeface="Cambria Math" panose="02040503050406030204" pitchFamily="18" charset="0"/>
                          </a:rPr>
                          <m:t>𝐺</m:t>
                        </m:r>
                      </m:e>
                    </m:d>
                    <m:r>
                      <a:rPr lang="en-US" i="0" dirty="0">
                        <a:latin typeface="Cambria Math" panose="02040503050406030204" pitchFamily="18" charset="0"/>
                      </a:rPr>
                      <m:t>≤</m:t>
                    </m:r>
                    <m:r>
                      <m:rPr>
                        <m:sty m:val="p"/>
                      </m:rPr>
                      <a:rPr lang="en-US" i="0" dirty="0">
                        <a:latin typeface="Cambria Math" panose="02040503050406030204" pitchFamily="18" charset="0"/>
                      </a:rPr>
                      <m:t>Δ</m:t>
                    </m:r>
                    <m:d>
                      <m:dPr>
                        <m:ctrlPr>
                          <a:rPr lang="en-US" i="1" dirty="0">
                            <a:solidFill>
                              <a:srgbClr val="836967"/>
                            </a:solidFill>
                            <a:latin typeface="Cambria Math" panose="02040503050406030204" pitchFamily="18" charset="0"/>
                          </a:rPr>
                        </m:ctrlPr>
                      </m:dPr>
                      <m:e>
                        <m:r>
                          <a:rPr lang="en-US" i="1" dirty="0">
                            <a:latin typeface="Cambria Math" panose="02040503050406030204" pitchFamily="18" charset="0"/>
                          </a:rPr>
                          <m:t>𝐺</m:t>
                        </m:r>
                      </m:e>
                    </m:d>
                    <m:r>
                      <a:rPr lang="en-US" i="0" dirty="0">
                        <a:latin typeface="Cambria Math" panose="02040503050406030204" pitchFamily="18" charset="0"/>
                      </a:rPr>
                      <m:t>+2</m:t>
                    </m:r>
                  </m:oMath>
                </a14:m>
                <a:endParaRPr lang="en-US" dirty="0"/>
              </a:p>
              <a:p>
                <a:endParaRPr lang="en-US" dirty="0"/>
              </a:p>
              <a:p>
                <a:r>
                  <a:rPr lang="en-US" dirty="0"/>
                  <a:t>No graph hasn’t been found yet that needs more than </a:t>
                </a:r>
                <a14:m>
                  <m:oMath xmlns:m="http://schemas.openxmlformats.org/officeDocument/2006/math">
                    <m:r>
                      <m:rPr>
                        <m:sty m:val="p"/>
                      </m:rPr>
                      <a:rPr lang="en-US" i="0" dirty="0" smtClean="0">
                        <a:latin typeface="Cambria Math" panose="02040503050406030204" pitchFamily="18" charset="0"/>
                      </a:rPr>
                      <m:t>Δ</m:t>
                    </m:r>
                    <m:d>
                      <m:dPr>
                        <m:ctrlPr>
                          <a:rPr lang="en-US" i="1" dirty="0">
                            <a:solidFill>
                              <a:srgbClr val="836967"/>
                            </a:solidFill>
                            <a:latin typeface="Cambria Math" panose="02040503050406030204" pitchFamily="18" charset="0"/>
                          </a:rPr>
                        </m:ctrlPr>
                      </m:dPr>
                      <m:e>
                        <m:r>
                          <a:rPr lang="en-US" i="1" dirty="0">
                            <a:latin typeface="Cambria Math" panose="02040503050406030204" pitchFamily="18" charset="0"/>
                          </a:rPr>
                          <m:t>𝐺</m:t>
                        </m:r>
                      </m:e>
                    </m:d>
                    <m:r>
                      <a:rPr lang="en-US" i="0" dirty="0">
                        <a:latin typeface="Cambria Math" panose="02040503050406030204" pitchFamily="18" charset="0"/>
                      </a:rPr>
                      <m:t>+2</m:t>
                    </m:r>
                    <m:r>
                      <a:rPr lang="en-US" i="1" dirty="0" smtClean="0">
                        <a:latin typeface="Cambria Math" panose="02040503050406030204" pitchFamily="18" charset="0"/>
                      </a:rPr>
                      <m:t> </m:t>
                    </m:r>
                  </m:oMath>
                </a14:m>
                <a:r>
                  <a:rPr lang="en-US" dirty="0"/>
                  <a:t>colors for total coloring.</a:t>
                </a:r>
              </a:p>
              <a:p>
                <a:endParaRPr lang="en-US" dirty="0"/>
              </a:p>
            </p:txBody>
          </p:sp>
        </mc:Choice>
        <mc:Fallback xmlns="">
          <p:sp>
            <p:nvSpPr>
              <p:cNvPr id="11" name="TextBox 10">
                <a:extLst>
                  <a:ext uri="{FF2B5EF4-FFF2-40B4-BE49-F238E27FC236}">
                    <a16:creationId xmlns:a16="http://schemas.microsoft.com/office/drawing/2014/main" id="{85A638F8-FFCA-52EC-BCD4-8355704AF744}"/>
                  </a:ext>
                </a:extLst>
              </p:cNvPr>
              <p:cNvSpPr txBox="1">
                <a:spLocks noRot="1" noChangeAspect="1" noMove="1" noResize="1" noEditPoints="1" noAdjustHandles="1" noChangeArrowheads="1" noChangeShapeType="1" noTextEdit="1"/>
              </p:cNvSpPr>
              <p:nvPr/>
            </p:nvSpPr>
            <p:spPr>
              <a:xfrm>
                <a:off x="1055802" y="820132"/>
                <a:ext cx="9775596" cy="1754326"/>
              </a:xfrm>
              <a:prstGeom prst="rect">
                <a:avLst/>
              </a:prstGeom>
              <a:blipFill>
                <a:blip r:embed="rId2"/>
                <a:stretch>
                  <a:fillRect l="-499" t="-2091"/>
                </a:stretch>
              </a:blipFill>
            </p:spPr>
            <p:txBody>
              <a:bodyPr/>
              <a:lstStyle/>
              <a:p>
                <a:r>
                  <a:rPr lang="en-US">
                    <a:noFill/>
                  </a:rPr>
                  <a:t> </a:t>
                </a:r>
              </a:p>
            </p:txBody>
          </p:sp>
        </mc:Fallback>
      </mc:AlternateContent>
      <p:sp>
        <p:nvSpPr>
          <p:cNvPr id="13" name="TextBox 12">
            <a:extLst>
              <a:ext uri="{FF2B5EF4-FFF2-40B4-BE49-F238E27FC236}">
                <a16:creationId xmlns:a16="http://schemas.microsoft.com/office/drawing/2014/main" id="{3439ABE2-0C2C-7801-8E11-07BA965E4553}"/>
              </a:ext>
            </a:extLst>
          </p:cNvPr>
          <p:cNvSpPr txBox="1"/>
          <p:nvPr/>
        </p:nvSpPr>
        <p:spPr>
          <a:xfrm>
            <a:off x="1159497" y="2865748"/>
            <a:ext cx="8757501" cy="523220"/>
          </a:xfrm>
          <a:prstGeom prst="rect">
            <a:avLst/>
          </a:prstGeom>
          <a:noFill/>
        </p:spPr>
        <p:txBody>
          <a:bodyPr wrap="square" rtlCol="0">
            <a:spAutoFit/>
          </a:bodyPr>
          <a:lstStyle/>
          <a:p>
            <a:r>
              <a:rPr lang="en-US" sz="2800" b="1" dirty="0"/>
              <a:t>Reduction</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697C4DD2-5CC7-B74A-6A21-75CB51E34E0B}"/>
                  </a:ext>
                </a:extLst>
              </p:cNvPr>
              <p:cNvSpPr txBox="1"/>
              <p:nvPr/>
            </p:nvSpPr>
            <p:spPr>
              <a:xfrm>
                <a:off x="1951348" y="3733014"/>
                <a:ext cx="7833675" cy="1200329"/>
              </a:xfrm>
              <a:prstGeom prst="rect">
                <a:avLst/>
              </a:prstGeom>
              <a:noFill/>
            </p:spPr>
            <p:txBody>
              <a:bodyPr wrap="square" rtlCol="0">
                <a:spAutoFit/>
              </a:bodyPr>
              <a:lstStyle/>
              <a:p>
                <a:r>
                  <a:rPr lang="en-US" dirty="0"/>
                  <a:t>Now we are going to give a reduction of total coloring to normal graph coloring. Which is:</a:t>
                </a:r>
              </a:p>
              <a:p>
                <a:r>
                  <a:rPr lang="en-US" dirty="0"/>
                  <a:t>	</a:t>
                </a:r>
              </a:p>
              <a:p>
                <a:r>
                  <a:rPr lang="en-US" dirty="0"/>
                  <a:t>	</a:t>
                </a:r>
                <a14:m>
                  <m:oMath xmlns:m="http://schemas.openxmlformats.org/officeDocument/2006/math">
                    <m:r>
                      <m:rPr>
                        <m:sty m:val="p"/>
                      </m:rPr>
                      <a:rPr lang="en-US" b="0" i="0" dirty="0" smtClean="0">
                        <a:latin typeface="Cambria Math" panose="02040503050406030204" pitchFamily="18" charset="0"/>
                      </a:rPr>
                      <m:t>Total</m:t>
                    </m:r>
                    <m:r>
                      <a:rPr lang="en-US" b="0" i="0" dirty="0" smtClean="0">
                        <a:latin typeface="Cambria Math" panose="02040503050406030204" pitchFamily="18" charset="0"/>
                      </a:rPr>
                      <m:t> </m:t>
                    </m:r>
                    <m:r>
                      <m:rPr>
                        <m:sty m:val="p"/>
                      </m:rPr>
                      <a:rPr lang="en-US" b="0" i="0" dirty="0" smtClean="0">
                        <a:latin typeface="Cambria Math" panose="02040503050406030204" pitchFamily="18" charset="0"/>
                      </a:rPr>
                      <m:t>Coloring</m:t>
                    </m:r>
                    <m:r>
                      <a:rPr lang="en-US" b="0" i="0" dirty="0" smtClean="0">
                        <a:latin typeface="Cambria Math" panose="02040503050406030204" pitchFamily="18" charset="0"/>
                      </a:rPr>
                      <m:t> ≤</m:t>
                    </m:r>
                    <m:r>
                      <m:rPr>
                        <m:sty m:val="p"/>
                      </m:rPr>
                      <a:rPr lang="en-US" b="0" i="0" dirty="0" smtClean="0">
                        <a:latin typeface="Cambria Math" panose="02040503050406030204" pitchFamily="18" charset="0"/>
                      </a:rPr>
                      <m:t>Graph</m:t>
                    </m:r>
                    <m:r>
                      <a:rPr lang="en-US" b="0" i="0" dirty="0" smtClean="0">
                        <a:latin typeface="Cambria Math" panose="02040503050406030204" pitchFamily="18" charset="0"/>
                      </a:rPr>
                      <m:t> </m:t>
                    </m:r>
                    <m:r>
                      <m:rPr>
                        <m:sty m:val="p"/>
                      </m:rPr>
                      <a:rPr lang="en-US" b="0" i="0" dirty="0" smtClean="0">
                        <a:latin typeface="Cambria Math" panose="02040503050406030204" pitchFamily="18" charset="0"/>
                      </a:rPr>
                      <m:t>Coloring</m:t>
                    </m:r>
                  </m:oMath>
                </a14:m>
                <a:endParaRPr lang="en-US" dirty="0"/>
              </a:p>
            </p:txBody>
          </p:sp>
        </mc:Choice>
        <mc:Fallback xmlns="">
          <p:sp>
            <p:nvSpPr>
              <p:cNvPr id="14" name="TextBox 13">
                <a:extLst>
                  <a:ext uri="{FF2B5EF4-FFF2-40B4-BE49-F238E27FC236}">
                    <a16:creationId xmlns:a16="http://schemas.microsoft.com/office/drawing/2014/main" id="{697C4DD2-5CC7-B74A-6A21-75CB51E34E0B}"/>
                  </a:ext>
                </a:extLst>
              </p:cNvPr>
              <p:cNvSpPr txBox="1">
                <a:spLocks noRot="1" noChangeAspect="1" noMove="1" noResize="1" noEditPoints="1" noAdjustHandles="1" noChangeArrowheads="1" noChangeShapeType="1" noTextEdit="1"/>
              </p:cNvSpPr>
              <p:nvPr/>
            </p:nvSpPr>
            <p:spPr>
              <a:xfrm>
                <a:off x="1951348" y="3733014"/>
                <a:ext cx="7833675" cy="1200329"/>
              </a:xfrm>
              <a:prstGeom prst="rect">
                <a:avLst/>
              </a:prstGeom>
              <a:blipFill>
                <a:blip r:embed="rId3"/>
                <a:stretch>
                  <a:fillRect l="-623" t="-2538" b="-4061"/>
                </a:stretch>
              </a:blipFill>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3CBAFBBF-4E0B-A3AC-5745-EF5FE6920EBA}"/>
              </a:ext>
            </a:extLst>
          </p:cNvPr>
          <p:cNvSpPr>
            <a:spLocks noGrp="1"/>
          </p:cNvSpPr>
          <p:nvPr>
            <p:ph type="sldNum" sz="quarter" idx="4"/>
          </p:nvPr>
        </p:nvSpPr>
        <p:spPr/>
        <p:txBody>
          <a:bodyPr/>
          <a:lstStyle/>
          <a:p>
            <a:fld id="{58FB4751-880F-D840-AAA9-3A15815CC996}" type="slidenum">
              <a:rPr lang="en-US" smtClean="0"/>
              <a:pPr/>
              <a:t>94</a:t>
            </a:fld>
            <a:endParaRPr lang="en-US" dirty="0"/>
          </a:p>
        </p:txBody>
      </p:sp>
    </p:spTree>
    <p:extLst>
      <p:ext uri="{BB962C8B-B14F-4D97-AF65-F5344CB8AC3E}">
        <p14:creationId xmlns:p14="http://schemas.microsoft.com/office/powerpoint/2010/main" val="1254250130"/>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B1C7AD3-C68C-EE8A-3E40-7C81BEA340E6}"/>
              </a:ext>
            </a:extLst>
          </p:cNvPr>
          <p:cNvSpPr txBox="1"/>
          <p:nvPr/>
        </p:nvSpPr>
        <p:spPr>
          <a:xfrm>
            <a:off x="1168924" y="754144"/>
            <a:ext cx="2029786" cy="523220"/>
          </a:xfrm>
          <a:prstGeom prst="rect">
            <a:avLst/>
          </a:prstGeom>
          <a:noFill/>
        </p:spPr>
        <p:txBody>
          <a:bodyPr wrap="none" rtlCol="0">
            <a:spAutoFit/>
          </a:bodyPr>
          <a:lstStyle/>
          <a:p>
            <a:r>
              <a:rPr lang="en-US" sz="2800" b="1" dirty="0"/>
              <a:t>Construction</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5C8A6568-D105-EE13-ACE2-1BD631B51CAB}"/>
                  </a:ext>
                </a:extLst>
              </p:cNvPr>
              <p:cNvSpPr txBox="1"/>
              <p:nvPr/>
            </p:nvSpPr>
            <p:spPr>
              <a:xfrm>
                <a:off x="1366887" y="1442301"/>
                <a:ext cx="6391373" cy="1200329"/>
              </a:xfrm>
              <a:prstGeom prst="rect">
                <a:avLst/>
              </a:prstGeom>
              <a:noFill/>
            </p:spPr>
            <p:txBody>
              <a:bodyPr wrap="square" rtlCol="0">
                <a:spAutoFit/>
              </a:bodyPr>
              <a:lstStyle/>
              <a:p>
                <a:r>
                  <a:rPr lang="en-US" dirty="0"/>
                  <a:t>Suppose, we are given a graph that needs a total coloring. We are going to construct a new graph</a:t>
                </a:r>
                <a14:m>
                  <m:oMath xmlns:m="http://schemas.openxmlformats.org/officeDocument/2006/math">
                    <m:r>
                      <a:rPr lang="en-US" b="0" i="0" dirty="0" smtClean="0">
                        <a:solidFill>
                          <a:srgbClr val="836967"/>
                        </a:solidFill>
                        <a:latin typeface="Cambria Math" panose="02040503050406030204" pitchFamily="18" charset="0"/>
                      </a:rPr>
                      <m:t> </m:t>
                    </m:r>
                    <m:sSup>
                      <m:sSupPr>
                        <m:ctrlPr>
                          <a:rPr lang="en-US" i="1" dirty="0" smtClean="0">
                            <a:solidFill>
                              <a:srgbClr val="836967"/>
                            </a:solidFill>
                            <a:latin typeface="Cambria Math" panose="02040503050406030204" pitchFamily="18" charset="0"/>
                          </a:rPr>
                        </m:ctrlPr>
                      </m:sSupPr>
                      <m:e>
                        <m:r>
                          <a:rPr lang="en-US" i="1" dirty="0">
                            <a:latin typeface="Cambria Math" panose="02040503050406030204" pitchFamily="18" charset="0"/>
                          </a:rPr>
                          <m:t>𝐺</m:t>
                        </m:r>
                      </m:e>
                      <m:sup>
                        <m:r>
                          <a:rPr lang="en-US" i="0" dirty="0">
                            <a:latin typeface="Cambria Math" panose="02040503050406030204" pitchFamily="18" charset="0"/>
                          </a:rPr>
                          <m:t>′</m:t>
                        </m:r>
                      </m:sup>
                    </m:sSup>
                    <m:r>
                      <a:rPr lang="en-US" b="0" i="1" dirty="0" smtClean="0">
                        <a:latin typeface="Cambria Math" panose="02040503050406030204" pitchFamily="18" charset="0"/>
                      </a:rPr>
                      <m:t> </m:t>
                    </m:r>
                  </m:oMath>
                </a14:m>
                <a:r>
                  <a:rPr lang="en-US" dirty="0"/>
                  <a:t> , where the vertices in the new graph </a:t>
                </a:r>
                <a14:m>
                  <m:oMath xmlns:m="http://schemas.openxmlformats.org/officeDocument/2006/math">
                    <m:r>
                      <a:rPr lang="en-US" i="1" dirty="0" smtClean="0">
                        <a:latin typeface="Cambria Math" panose="02040503050406030204" pitchFamily="18" charset="0"/>
                      </a:rPr>
                      <m:t>𝑉</m:t>
                    </m:r>
                    <m:d>
                      <m:dPr>
                        <m:ctrlPr>
                          <a:rPr lang="en-US" i="1" dirty="0">
                            <a:solidFill>
                              <a:srgbClr val="836967"/>
                            </a:solidFill>
                            <a:latin typeface="Cambria Math" panose="02040503050406030204" pitchFamily="18" charset="0"/>
                          </a:rPr>
                        </m:ctrlPr>
                      </m:dPr>
                      <m:e>
                        <m:sSup>
                          <m:sSupPr>
                            <m:ctrlPr>
                              <a:rPr lang="en-US" i="1" dirty="0">
                                <a:solidFill>
                                  <a:srgbClr val="836967"/>
                                </a:solidFill>
                                <a:latin typeface="Cambria Math" panose="02040503050406030204" pitchFamily="18" charset="0"/>
                              </a:rPr>
                            </m:ctrlPr>
                          </m:sSupPr>
                          <m:e>
                            <m:r>
                              <a:rPr lang="en-US" i="1" dirty="0">
                                <a:latin typeface="Cambria Math" panose="02040503050406030204" pitchFamily="18" charset="0"/>
                              </a:rPr>
                              <m:t>𝐺</m:t>
                            </m:r>
                          </m:e>
                          <m:sup>
                            <m:r>
                              <a:rPr lang="en-US" i="0" dirty="0">
                                <a:latin typeface="Cambria Math" panose="02040503050406030204" pitchFamily="18" charset="0"/>
                              </a:rPr>
                              <m:t>′</m:t>
                            </m:r>
                          </m:sup>
                        </m:sSup>
                      </m:e>
                    </m:d>
                    <m:r>
                      <a:rPr lang="en-US" i="0" dirty="0">
                        <a:latin typeface="Cambria Math" panose="02040503050406030204" pitchFamily="18" charset="0"/>
                      </a:rPr>
                      <m:t>=</m:t>
                    </m:r>
                    <m:r>
                      <a:rPr lang="en-US" i="1" dirty="0">
                        <a:latin typeface="Cambria Math" panose="02040503050406030204" pitchFamily="18" charset="0"/>
                      </a:rPr>
                      <m:t>𝑉</m:t>
                    </m:r>
                    <m:d>
                      <m:dPr>
                        <m:ctrlPr>
                          <a:rPr lang="en-US" i="1" dirty="0">
                            <a:solidFill>
                              <a:srgbClr val="836967"/>
                            </a:solidFill>
                            <a:latin typeface="Cambria Math" panose="02040503050406030204" pitchFamily="18" charset="0"/>
                          </a:rPr>
                        </m:ctrlPr>
                      </m:dPr>
                      <m:e>
                        <m:r>
                          <a:rPr lang="en-US" i="1" dirty="0">
                            <a:latin typeface="Cambria Math" panose="02040503050406030204" pitchFamily="18" charset="0"/>
                          </a:rPr>
                          <m:t>𝐺</m:t>
                        </m:r>
                      </m:e>
                    </m:d>
                    <m:r>
                      <a:rPr lang="en-US" i="0" dirty="0">
                        <a:latin typeface="Cambria Math" panose="02040503050406030204" pitchFamily="18" charset="0"/>
                      </a:rPr>
                      <m:t>∪</m:t>
                    </m:r>
                    <m:r>
                      <a:rPr lang="en-US" i="1" dirty="0">
                        <a:latin typeface="Cambria Math" panose="02040503050406030204" pitchFamily="18" charset="0"/>
                      </a:rPr>
                      <m:t>𝐸</m:t>
                    </m:r>
                    <m:d>
                      <m:dPr>
                        <m:ctrlPr>
                          <a:rPr lang="en-US" i="1" dirty="0">
                            <a:solidFill>
                              <a:srgbClr val="836967"/>
                            </a:solidFill>
                            <a:latin typeface="Cambria Math" panose="02040503050406030204" pitchFamily="18" charset="0"/>
                          </a:rPr>
                        </m:ctrlPr>
                      </m:dPr>
                      <m:e>
                        <m:r>
                          <a:rPr lang="en-US" i="1" dirty="0">
                            <a:latin typeface="Cambria Math" panose="02040503050406030204" pitchFamily="18" charset="0"/>
                          </a:rPr>
                          <m:t>𝐺</m:t>
                        </m:r>
                      </m:e>
                    </m:d>
                  </m:oMath>
                </a14:m>
                <a:r>
                  <a:rPr lang="en-US" dirty="0"/>
                  <a:t> , meaning that each vertex and edge in the original graph should correspond to a vertex in </a:t>
                </a:r>
                <a14:m>
                  <m:oMath xmlns:m="http://schemas.openxmlformats.org/officeDocument/2006/math">
                    <m:sSup>
                      <m:sSupPr>
                        <m:ctrlPr>
                          <a:rPr lang="en-US" i="1" dirty="0">
                            <a:solidFill>
                              <a:srgbClr val="836967"/>
                            </a:solidFill>
                            <a:latin typeface="Cambria Math" panose="02040503050406030204" pitchFamily="18" charset="0"/>
                          </a:rPr>
                        </m:ctrlPr>
                      </m:sSupPr>
                      <m:e>
                        <m:r>
                          <a:rPr lang="en-US" i="1" dirty="0">
                            <a:latin typeface="Cambria Math" panose="02040503050406030204" pitchFamily="18" charset="0"/>
                          </a:rPr>
                          <m:t>𝐺</m:t>
                        </m:r>
                      </m:e>
                      <m:sup>
                        <m:r>
                          <a:rPr lang="en-US" dirty="0">
                            <a:latin typeface="Cambria Math" panose="02040503050406030204" pitchFamily="18" charset="0"/>
                          </a:rPr>
                          <m:t>′</m:t>
                        </m:r>
                      </m:sup>
                    </m:sSup>
                  </m:oMath>
                </a14:m>
                <a:r>
                  <a:rPr lang="en-US" dirty="0"/>
                  <a:t>. </a:t>
                </a:r>
              </a:p>
            </p:txBody>
          </p:sp>
        </mc:Choice>
        <mc:Fallback xmlns="">
          <p:sp>
            <p:nvSpPr>
              <p:cNvPr id="3" name="TextBox 2">
                <a:extLst>
                  <a:ext uri="{FF2B5EF4-FFF2-40B4-BE49-F238E27FC236}">
                    <a16:creationId xmlns:a16="http://schemas.microsoft.com/office/drawing/2014/main" id="{5C8A6568-D105-EE13-ACE2-1BD631B51CAB}"/>
                  </a:ext>
                </a:extLst>
              </p:cNvPr>
              <p:cNvSpPr txBox="1">
                <a:spLocks noRot="1" noChangeAspect="1" noMove="1" noResize="1" noEditPoints="1" noAdjustHandles="1" noChangeArrowheads="1" noChangeShapeType="1" noTextEdit="1"/>
              </p:cNvSpPr>
              <p:nvPr/>
            </p:nvSpPr>
            <p:spPr>
              <a:xfrm>
                <a:off x="1366887" y="1442301"/>
                <a:ext cx="6391373" cy="1200329"/>
              </a:xfrm>
              <a:prstGeom prst="rect">
                <a:avLst/>
              </a:prstGeom>
              <a:blipFill>
                <a:blip r:embed="rId2"/>
                <a:stretch>
                  <a:fillRect l="-763" t="-3046" r="-667" b="-710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F7AB500E-5715-D7A4-010C-4101D105D79D}"/>
                  </a:ext>
                </a:extLst>
              </p:cNvPr>
              <p:cNvSpPr txBox="1"/>
              <p:nvPr/>
            </p:nvSpPr>
            <p:spPr>
              <a:xfrm>
                <a:off x="1545996" y="3044858"/>
                <a:ext cx="6759018" cy="1754326"/>
              </a:xfrm>
              <a:prstGeom prst="rect">
                <a:avLst/>
              </a:prstGeom>
              <a:noFill/>
            </p:spPr>
            <p:txBody>
              <a:bodyPr wrap="square" rtlCol="0">
                <a:spAutoFit/>
              </a:bodyPr>
              <a:lstStyle/>
              <a:p>
                <a:r>
                  <a:rPr lang="en-US" dirty="0"/>
                  <a:t>We make an edge in new graph </a:t>
                </a:r>
                <a14:m>
                  <m:oMath xmlns:m="http://schemas.openxmlformats.org/officeDocument/2006/math">
                    <m:sSup>
                      <m:sSupPr>
                        <m:ctrlPr>
                          <a:rPr lang="en-US" i="1" dirty="0" smtClean="0">
                            <a:solidFill>
                              <a:srgbClr val="836967"/>
                            </a:solidFill>
                            <a:latin typeface="Cambria Math" panose="02040503050406030204" pitchFamily="18" charset="0"/>
                          </a:rPr>
                        </m:ctrlPr>
                      </m:sSupPr>
                      <m:e>
                        <m:r>
                          <a:rPr lang="en-US" i="1" dirty="0">
                            <a:latin typeface="Cambria Math" panose="02040503050406030204" pitchFamily="18" charset="0"/>
                          </a:rPr>
                          <m:t>𝐺</m:t>
                        </m:r>
                      </m:e>
                      <m:sup>
                        <m:r>
                          <a:rPr lang="en-US" i="0" dirty="0">
                            <a:latin typeface="Cambria Math" panose="02040503050406030204" pitchFamily="18" charset="0"/>
                          </a:rPr>
                          <m:t>′</m:t>
                        </m:r>
                      </m:sup>
                    </m:sSup>
                  </m:oMath>
                </a14:m>
                <a:r>
                  <a:rPr lang="en-US" dirty="0"/>
                  <a:t>, if the endpoints in original graph,</a:t>
                </a:r>
              </a:p>
              <a:p>
                <a:endParaRPr lang="en-US" dirty="0"/>
              </a:p>
              <a:p>
                <a:r>
                  <a:rPr lang="en-US" dirty="0"/>
                  <a:t>      1. represent two adjacent vertices.</a:t>
                </a:r>
              </a:p>
              <a:p>
                <a:r>
                  <a:rPr lang="en-US" dirty="0"/>
                  <a:t>      2. represent two incident edges.</a:t>
                </a:r>
              </a:p>
              <a:p>
                <a:r>
                  <a:rPr lang="en-US" dirty="0"/>
                  <a:t>      3. represent an edge and a vertex where the vertex is one of the            endpoints of the edge.</a:t>
                </a:r>
              </a:p>
            </p:txBody>
          </p:sp>
        </mc:Choice>
        <mc:Fallback xmlns="">
          <p:sp>
            <p:nvSpPr>
              <p:cNvPr id="5" name="TextBox 4">
                <a:extLst>
                  <a:ext uri="{FF2B5EF4-FFF2-40B4-BE49-F238E27FC236}">
                    <a16:creationId xmlns:a16="http://schemas.microsoft.com/office/drawing/2014/main" id="{F7AB500E-5715-D7A4-010C-4101D105D79D}"/>
                  </a:ext>
                </a:extLst>
              </p:cNvPr>
              <p:cNvSpPr txBox="1">
                <a:spLocks noRot="1" noChangeAspect="1" noMove="1" noResize="1" noEditPoints="1" noAdjustHandles="1" noChangeArrowheads="1" noChangeShapeType="1" noTextEdit="1"/>
              </p:cNvSpPr>
              <p:nvPr/>
            </p:nvSpPr>
            <p:spPr>
              <a:xfrm>
                <a:off x="1545996" y="3044858"/>
                <a:ext cx="6759018" cy="1754326"/>
              </a:xfrm>
              <a:prstGeom prst="rect">
                <a:avLst/>
              </a:prstGeom>
              <a:blipFill>
                <a:blip r:embed="rId3"/>
                <a:stretch>
                  <a:fillRect l="-812" t="-1736" r="-8935" b="-4514"/>
                </a:stretch>
              </a:blipFill>
            </p:spPr>
            <p:txBody>
              <a:bodyPr/>
              <a:lstStyle/>
              <a:p>
                <a:r>
                  <a:rPr lang="en-US">
                    <a:noFill/>
                  </a:rPr>
                  <a:t> </a:t>
                </a:r>
              </a:p>
            </p:txBody>
          </p:sp>
        </mc:Fallback>
      </mc:AlternateContent>
      <p:sp>
        <p:nvSpPr>
          <p:cNvPr id="6" name="Slide Number Placeholder 5">
            <a:extLst>
              <a:ext uri="{FF2B5EF4-FFF2-40B4-BE49-F238E27FC236}">
                <a16:creationId xmlns:a16="http://schemas.microsoft.com/office/drawing/2014/main" id="{2A657F31-56E2-12C9-CC52-1922AD1C78EC}"/>
              </a:ext>
            </a:extLst>
          </p:cNvPr>
          <p:cNvSpPr>
            <a:spLocks noGrp="1"/>
          </p:cNvSpPr>
          <p:nvPr>
            <p:ph type="sldNum" sz="quarter" idx="4"/>
          </p:nvPr>
        </p:nvSpPr>
        <p:spPr/>
        <p:txBody>
          <a:bodyPr/>
          <a:lstStyle/>
          <a:p>
            <a:fld id="{58FB4751-880F-D840-AAA9-3A15815CC996}" type="slidenum">
              <a:rPr lang="en-US" smtClean="0"/>
              <a:pPr/>
              <a:t>95</a:t>
            </a:fld>
            <a:endParaRPr lang="en-US" dirty="0"/>
          </a:p>
        </p:txBody>
      </p:sp>
    </p:spTree>
    <p:extLst>
      <p:ext uri="{BB962C8B-B14F-4D97-AF65-F5344CB8AC3E}">
        <p14:creationId xmlns:p14="http://schemas.microsoft.com/office/powerpoint/2010/main" val="413209395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AD2C836-009B-28A4-F914-89D69A23D2D1}"/>
              </a:ext>
            </a:extLst>
          </p:cNvPr>
          <p:cNvSpPr txBox="1"/>
          <p:nvPr/>
        </p:nvSpPr>
        <p:spPr>
          <a:xfrm>
            <a:off x="659876" y="433633"/>
            <a:ext cx="2243580" cy="523220"/>
          </a:xfrm>
          <a:prstGeom prst="rect">
            <a:avLst/>
          </a:prstGeom>
          <a:noFill/>
        </p:spPr>
        <p:txBody>
          <a:bodyPr wrap="square" rtlCol="0">
            <a:spAutoFit/>
          </a:bodyPr>
          <a:lstStyle/>
          <a:p>
            <a:r>
              <a:rPr lang="en-US" sz="2800" b="1" dirty="0"/>
              <a:t>Claim</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EB914FDF-467B-44E9-9BE1-A54A08D63B9D}"/>
                  </a:ext>
                </a:extLst>
              </p:cNvPr>
              <p:cNvSpPr txBox="1"/>
              <p:nvPr/>
            </p:nvSpPr>
            <p:spPr>
              <a:xfrm>
                <a:off x="867266" y="1112363"/>
                <a:ext cx="9181707" cy="369332"/>
              </a:xfrm>
              <a:prstGeom prst="rect">
                <a:avLst/>
              </a:prstGeom>
              <a:noFill/>
            </p:spPr>
            <p:txBody>
              <a:bodyPr wrap="square" rtlCol="0">
                <a:spAutoFit/>
              </a:bodyPr>
              <a:lstStyle/>
              <a:p>
                <a:r>
                  <a:rPr lang="en-US" dirty="0"/>
                  <a:t>  </a:t>
                </a:r>
                <a14:m>
                  <m:oMath xmlns:m="http://schemas.openxmlformats.org/officeDocument/2006/math">
                    <m:sSup>
                      <m:sSupPr>
                        <m:ctrlPr>
                          <a:rPr lang="en-US" i="1" dirty="0" smtClean="0">
                            <a:solidFill>
                              <a:srgbClr val="836967"/>
                            </a:solidFill>
                            <a:latin typeface="Cambria Math" panose="02040503050406030204" pitchFamily="18" charset="0"/>
                          </a:rPr>
                        </m:ctrlPr>
                      </m:sSupPr>
                      <m:e>
                        <m:r>
                          <a:rPr lang="en-US" i="1" dirty="0">
                            <a:latin typeface="Cambria Math" panose="02040503050406030204" pitchFamily="18" charset="0"/>
                          </a:rPr>
                          <m:t>𝐺</m:t>
                        </m:r>
                      </m:e>
                      <m:sup>
                        <m:r>
                          <a:rPr lang="en-US" b="0" i="0" dirty="0" smtClean="0">
                            <a:latin typeface="Cambria Math" panose="02040503050406030204" pitchFamily="18" charset="0"/>
                          </a:rPr>
                          <m:t> </m:t>
                        </m:r>
                      </m:sup>
                    </m:sSup>
                  </m:oMath>
                </a14:m>
                <a:r>
                  <a:rPr lang="en-US" dirty="0"/>
                  <a:t> has a total coloring if and only if </a:t>
                </a:r>
                <a14:m>
                  <m:oMath xmlns:m="http://schemas.openxmlformats.org/officeDocument/2006/math">
                    <m:sSup>
                      <m:sSupPr>
                        <m:ctrlPr>
                          <a:rPr lang="en-US" i="1" dirty="0">
                            <a:solidFill>
                              <a:srgbClr val="836967"/>
                            </a:solidFill>
                            <a:latin typeface="Cambria Math" panose="02040503050406030204" pitchFamily="18" charset="0"/>
                          </a:rPr>
                        </m:ctrlPr>
                      </m:sSupPr>
                      <m:e>
                        <m:r>
                          <a:rPr lang="en-US" i="1" dirty="0">
                            <a:latin typeface="Cambria Math" panose="02040503050406030204" pitchFamily="18" charset="0"/>
                          </a:rPr>
                          <m:t>𝐺</m:t>
                        </m:r>
                      </m:e>
                      <m:sup>
                        <m:r>
                          <a:rPr lang="en-US" dirty="0">
                            <a:latin typeface="Cambria Math" panose="02040503050406030204" pitchFamily="18" charset="0"/>
                          </a:rPr>
                          <m:t>′</m:t>
                        </m:r>
                      </m:sup>
                    </m:sSup>
                  </m:oMath>
                </a14:m>
                <a:r>
                  <a:rPr lang="en-US" dirty="0"/>
                  <a:t> has a graph coloring.</a:t>
                </a:r>
              </a:p>
            </p:txBody>
          </p:sp>
        </mc:Choice>
        <mc:Fallback xmlns="">
          <p:sp>
            <p:nvSpPr>
              <p:cNvPr id="3" name="TextBox 2">
                <a:extLst>
                  <a:ext uri="{FF2B5EF4-FFF2-40B4-BE49-F238E27FC236}">
                    <a16:creationId xmlns:a16="http://schemas.microsoft.com/office/drawing/2014/main" id="{EB914FDF-467B-44E9-9BE1-A54A08D63B9D}"/>
                  </a:ext>
                </a:extLst>
              </p:cNvPr>
              <p:cNvSpPr txBox="1">
                <a:spLocks noRot="1" noChangeAspect="1" noMove="1" noResize="1" noEditPoints="1" noAdjustHandles="1" noChangeArrowheads="1" noChangeShapeType="1" noTextEdit="1"/>
              </p:cNvSpPr>
              <p:nvPr/>
            </p:nvSpPr>
            <p:spPr>
              <a:xfrm>
                <a:off x="867266" y="1112363"/>
                <a:ext cx="9181707" cy="369332"/>
              </a:xfrm>
              <a:prstGeom prst="rect">
                <a:avLst/>
              </a:prstGeom>
              <a:blipFill>
                <a:blip r:embed="rId2"/>
                <a:stretch>
                  <a:fillRect t="-8197"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5591CE6-4F30-47B1-E2A0-D528063F8F69}"/>
                  </a:ext>
                </a:extLst>
              </p:cNvPr>
              <p:cNvSpPr txBox="1"/>
              <p:nvPr/>
            </p:nvSpPr>
            <p:spPr>
              <a:xfrm>
                <a:off x="1159497" y="1742585"/>
                <a:ext cx="7022969" cy="677108"/>
              </a:xfrm>
              <a:prstGeom prst="rect">
                <a:avLst/>
              </a:prstGeom>
              <a:noFill/>
            </p:spPr>
            <p:txBody>
              <a:bodyPr wrap="square" rtlCol="0">
                <a:spAutoFit/>
              </a:bodyPr>
              <a:lstStyle/>
              <a:p>
                <a:r>
                  <a:rPr lang="en-US" sz="2000" b="1" dirty="0"/>
                  <a:t>Necessity</a:t>
                </a:r>
                <a:r>
                  <a:rPr lang="en-US" dirty="0"/>
                  <a:t>:</a:t>
                </a:r>
              </a:p>
              <a:p>
                <a:r>
                  <a:rPr lang="en-US" dirty="0"/>
                  <a:t>      </a:t>
                </a:r>
                <a14:m>
                  <m:oMath xmlns:m="http://schemas.openxmlformats.org/officeDocument/2006/math">
                    <m:sSup>
                      <m:sSupPr>
                        <m:ctrlPr>
                          <a:rPr lang="en-US" i="1" dirty="0" smtClean="0">
                            <a:solidFill>
                              <a:srgbClr val="836967"/>
                            </a:solidFill>
                            <a:latin typeface="Cambria Math" panose="02040503050406030204" pitchFamily="18" charset="0"/>
                          </a:rPr>
                        </m:ctrlPr>
                      </m:sSupPr>
                      <m:e>
                        <m:r>
                          <a:rPr lang="en-US" i="1" dirty="0">
                            <a:latin typeface="Cambria Math" panose="02040503050406030204" pitchFamily="18" charset="0"/>
                          </a:rPr>
                          <m:t>𝐺</m:t>
                        </m:r>
                      </m:e>
                      <m:sup>
                        <m:r>
                          <a:rPr lang="en-US" b="0" i="0" dirty="0" smtClean="0">
                            <a:latin typeface="Cambria Math" panose="02040503050406030204" pitchFamily="18" charset="0"/>
                          </a:rPr>
                          <m:t> </m:t>
                        </m:r>
                      </m:sup>
                    </m:sSup>
                  </m:oMath>
                </a14:m>
                <a:r>
                  <a:rPr lang="en-US" dirty="0"/>
                  <a:t>has a total coloring.</a:t>
                </a:r>
              </a:p>
            </p:txBody>
          </p:sp>
        </mc:Choice>
        <mc:Fallback xmlns="">
          <p:sp>
            <p:nvSpPr>
              <p:cNvPr id="5" name="TextBox 4">
                <a:extLst>
                  <a:ext uri="{FF2B5EF4-FFF2-40B4-BE49-F238E27FC236}">
                    <a16:creationId xmlns:a16="http://schemas.microsoft.com/office/drawing/2014/main" id="{85591CE6-4F30-47B1-E2A0-D528063F8F69}"/>
                  </a:ext>
                </a:extLst>
              </p:cNvPr>
              <p:cNvSpPr txBox="1">
                <a:spLocks noRot="1" noChangeAspect="1" noMove="1" noResize="1" noEditPoints="1" noAdjustHandles="1" noChangeArrowheads="1" noChangeShapeType="1" noTextEdit="1"/>
              </p:cNvSpPr>
              <p:nvPr/>
            </p:nvSpPr>
            <p:spPr>
              <a:xfrm>
                <a:off x="1159497" y="1742585"/>
                <a:ext cx="7022969" cy="677108"/>
              </a:xfrm>
              <a:prstGeom prst="rect">
                <a:avLst/>
              </a:prstGeom>
              <a:blipFill>
                <a:blip r:embed="rId3"/>
                <a:stretch>
                  <a:fillRect l="-868" t="-5405" b="-1351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6018BEC-0135-B02C-0CEE-B2CB69863E6B}"/>
                  </a:ext>
                </a:extLst>
              </p:cNvPr>
              <p:cNvSpPr txBox="1"/>
              <p:nvPr/>
            </p:nvSpPr>
            <p:spPr>
              <a:xfrm>
                <a:off x="1498862" y="2398483"/>
                <a:ext cx="5580668" cy="2585323"/>
              </a:xfrm>
              <a:prstGeom prst="rect">
                <a:avLst/>
              </a:prstGeom>
              <a:noFill/>
            </p:spPr>
            <p:txBody>
              <a:bodyPr wrap="square" rtlCol="0">
                <a:spAutoFit/>
              </a:bodyPr>
              <a:lstStyle/>
              <a:p>
                <a:r>
                  <a:rPr lang="en-US" dirty="0"/>
                  <a:t>If </a:t>
                </a:r>
                <a14:m>
                  <m:oMath xmlns:m="http://schemas.openxmlformats.org/officeDocument/2006/math">
                    <m:sSup>
                      <m:sSupPr>
                        <m:ctrlPr>
                          <a:rPr lang="en-US" i="1" dirty="0" smtClean="0">
                            <a:solidFill>
                              <a:srgbClr val="836967"/>
                            </a:solidFill>
                            <a:latin typeface="Cambria Math" panose="02040503050406030204" pitchFamily="18" charset="0"/>
                          </a:rPr>
                        </m:ctrlPr>
                      </m:sSupPr>
                      <m:e>
                        <m:r>
                          <a:rPr lang="en-US" i="1" dirty="0">
                            <a:latin typeface="Cambria Math" panose="02040503050406030204" pitchFamily="18" charset="0"/>
                          </a:rPr>
                          <m:t>𝐺</m:t>
                        </m:r>
                      </m:e>
                      <m:sup>
                        <m:r>
                          <a:rPr lang="en-US" b="0" i="0" dirty="0" smtClean="0">
                            <a:latin typeface="Cambria Math" panose="02040503050406030204" pitchFamily="18" charset="0"/>
                          </a:rPr>
                          <m:t> </m:t>
                        </m:r>
                      </m:sup>
                    </m:sSup>
                    <m:r>
                      <a:rPr lang="en-US" b="0" i="1" dirty="0" smtClean="0">
                        <a:latin typeface="Cambria Math" panose="02040503050406030204" pitchFamily="18" charset="0"/>
                      </a:rPr>
                      <m:t> </m:t>
                    </m:r>
                  </m:oMath>
                </a14:m>
                <a:r>
                  <a:rPr lang="en-US" dirty="0"/>
                  <a:t>has a total coloring, then adjacent vertices, incident edges and incident vertices must have different color. As per the construction, we made an edge for all those cases.</a:t>
                </a:r>
              </a:p>
              <a:p>
                <a:endParaRPr lang="en-US" dirty="0"/>
              </a:p>
              <a:p>
                <a:r>
                  <a:rPr lang="en-US" dirty="0"/>
                  <a:t>If </a:t>
                </a:r>
                <a14:m>
                  <m:oMath xmlns:m="http://schemas.openxmlformats.org/officeDocument/2006/math">
                    <m:sSup>
                      <m:sSupPr>
                        <m:ctrlPr>
                          <a:rPr lang="en-US" i="1" dirty="0">
                            <a:solidFill>
                              <a:srgbClr val="836967"/>
                            </a:solidFill>
                            <a:latin typeface="Cambria Math" panose="02040503050406030204" pitchFamily="18" charset="0"/>
                          </a:rPr>
                        </m:ctrlPr>
                      </m:sSupPr>
                      <m:e>
                        <m:r>
                          <a:rPr lang="en-US" i="1" dirty="0">
                            <a:latin typeface="Cambria Math" panose="02040503050406030204" pitchFamily="18" charset="0"/>
                          </a:rPr>
                          <m:t>𝐺</m:t>
                        </m:r>
                      </m:e>
                      <m:sup>
                        <m:r>
                          <a:rPr lang="en-US" dirty="0">
                            <a:latin typeface="Cambria Math" panose="02040503050406030204" pitchFamily="18" charset="0"/>
                          </a:rPr>
                          <m:t>′</m:t>
                        </m:r>
                      </m:sup>
                    </m:sSup>
                  </m:oMath>
                </a14:m>
                <a:r>
                  <a:rPr lang="en-US" dirty="0"/>
                  <a:t> doesn’t have a graph coloring then their must be two adjacent vertices having the same color. That means in the original graph we can’t get a total coloring, a contradiction!</a:t>
                </a:r>
              </a:p>
              <a:p>
                <a:endParaRPr lang="en-US" dirty="0"/>
              </a:p>
              <a:p>
                <a:r>
                  <a:rPr lang="en-US" dirty="0"/>
                  <a:t>Thus, </a:t>
                </a:r>
                <a14:m>
                  <m:oMath xmlns:m="http://schemas.openxmlformats.org/officeDocument/2006/math">
                    <m:sSup>
                      <m:sSupPr>
                        <m:ctrlPr>
                          <a:rPr lang="en-US" i="1" dirty="0" smtClean="0">
                            <a:solidFill>
                              <a:srgbClr val="836967"/>
                            </a:solidFill>
                            <a:latin typeface="Cambria Math" panose="02040503050406030204" pitchFamily="18" charset="0"/>
                          </a:rPr>
                        </m:ctrlPr>
                      </m:sSupPr>
                      <m:e>
                        <m:r>
                          <a:rPr lang="en-US" i="1" dirty="0">
                            <a:latin typeface="Cambria Math" panose="02040503050406030204" pitchFamily="18" charset="0"/>
                          </a:rPr>
                          <m:t>𝐺</m:t>
                        </m:r>
                      </m:e>
                      <m:sup>
                        <m:r>
                          <a:rPr lang="en-US" i="0" dirty="0">
                            <a:latin typeface="Cambria Math" panose="02040503050406030204" pitchFamily="18" charset="0"/>
                          </a:rPr>
                          <m:t>′</m:t>
                        </m:r>
                      </m:sup>
                    </m:sSup>
                  </m:oMath>
                </a14:m>
                <a:r>
                  <a:rPr lang="en-US" dirty="0"/>
                  <a:t> has a graph coloring. </a:t>
                </a:r>
              </a:p>
            </p:txBody>
          </p:sp>
        </mc:Choice>
        <mc:Fallback xmlns="">
          <p:sp>
            <p:nvSpPr>
              <p:cNvPr id="7" name="TextBox 6">
                <a:extLst>
                  <a:ext uri="{FF2B5EF4-FFF2-40B4-BE49-F238E27FC236}">
                    <a16:creationId xmlns:a16="http://schemas.microsoft.com/office/drawing/2014/main" id="{16018BEC-0135-B02C-0CEE-B2CB69863E6B}"/>
                  </a:ext>
                </a:extLst>
              </p:cNvPr>
              <p:cNvSpPr txBox="1">
                <a:spLocks noRot="1" noChangeAspect="1" noMove="1" noResize="1" noEditPoints="1" noAdjustHandles="1" noChangeArrowheads="1" noChangeShapeType="1" noTextEdit="1"/>
              </p:cNvSpPr>
              <p:nvPr/>
            </p:nvSpPr>
            <p:spPr>
              <a:xfrm>
                <a:off x="1498862" y="2398483"/>
                <a:ext cx="5580668" cy="2585323"/>
              </a:xfrm>
              <a:prstGeom prst="rect">
                <a:avLst/>
              </a:prstGeom>
              <a:blipFill>
                <a:blip r:embed="rId4"/>
                <a:stretch>
                  <a:fillRect l="-984" t="-1176" r="-1639" b="-13176"/>
                </a:stretch>
              </a:blipFill>
            </p:spPr>
            <p:txBody>
              <a:bodyPr/>
              <a:lstStyle/>
              <a:p>
                <a:r>
                  <a:rPr lang="en-US">
                    <a:noFill/>
                  </a:rPr>
                  <a:t> </a:t>
                </a:r>
              </a:p>
            </p:txBody>
          </p:sp>
        </mc:Fallback>
      </mc:AlternateContent>
      <p:sp>
        <p:nvSpPr>
          <p:cNvPr id="6" name="Slide Number Placeholder 5">
            <a:extLst>
              <a:ext uri="{FF2B5EF4-FFF2-40B4-BE49-F238E27FC236}">
                <a16:creationId xmlns:a16="http://schemas.microsoft.com/office/drawing/2014/main" id="{17718552-6712-17EF-488C-E3BD9D084A64}"/>
              </a:ext>
            </a:extLst>
          </p:cNvPr>
          <p:cNvSpPr>
            <a:spLocks noGrp="1"/>
          </p:cNvSpPr>
          <p:nvPr>
            <p:ph type="sldNum" sz="quarter" idx="4"/>
          </p:nvPr>
        </p:nvSpPr>
        <p:spPr/>
        <p:txBody>
          <a:bodyPr/>
          <a:lstStyle/>
          <a:p>
            <a:fld id="{58FB4751-880F-D840-AAA9-3A15815CC996}" type="slidenum">
              <a:rPr lang="en-US" smtClean="0"/>
              <a:pPr/>
              <a:t>96</a:t>
            </a:fld>
            <a:endParaRPr lang="en-US" dirty="0"/>
          </a:p>
        </p:txBody>
      </p:sp>
    </p:spTree>
    <p:extLst>
      <p:ext uri="{BB962C8B-B14F-4D97-AF65-F5344CB8AC3E}">
        <p14:creationId xmlns:p14="http://schemas.microsoft.com/office/powerpoint/2010/main" val="125113199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0989DAD5-86AC-4FA9-6204-2B4A62171FC1}"/>
              </a:ext>
            </a:extLst>
          </p:cNvPr>
          <p:cNvSpPr txBox="1"/>
          <p:nvPr/>
        </p:nvSpPr>
        <p:spPr>
          <a:xfrm>
            <a:off x="1234911" y="1027522"/>
            <a:ext cx="4779390" cy="400110"/>
          </a:xfrm>
          <a:prstGeom prst="rect">
            <a:avLst/>
          </a:prstGeom>
          <a:noFill/>
        </p:spPr>
        <p:txBody>
          <a:bodyPr wrap="square" rtlCol="0">
            <a:spAutoFit/>
          </a:bodyPr>
          <a:lstStyle/>
          <a:p>
            <a:r>
              <a:rPr lang="en-US" sz="2000" b="1" dirty="0"/>
              <a:t>Sufficiency</a:t>
            </a:r>
            <a:r>
              <a:rPr lang="en-US" dirty="0"/>
              <a:t>:  </a:t>
            </a: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1808811C-331F-5E4A-1AC1-FC1C781B774B}"/>
                  </a:ext>
                </a:extLst>
              </p:cNvPr>
              <p:cNvSpPr txBox="1"/>
              <p:nvPr/>
            </p:nvSpPr>
            <p:spPr>
              <a:xfrm>
                <a:off x="1593130" y="1564849"/>
                <a:ext cx="5505254" cy="2585323"/>
              </a:xfrm>
              <a:prstGeom prst="rect">
                <a:avLst/>
              </a:prstGeom>
              <a:noFill/>
            </p:spPr>
            <p:txBody>
              <a:bodyPr wrap="square" rtlCol="0">
                <a:spAutoFit/>
              </a:bodyPr>
              <a:lstStyle/>
              <a:p>
                <a14:m>
                  <m:oMath xmlns:m="http://schemas.openxmlformats.org/officeDocument/2006/math">
                    <m:sSup>
                      <m:sSupPr>
                        <m:ctrlPr>
                          <a:rPr lang="en-US" i="1" dirty="0" smtClean="0">
                            <a:solidFill>
                              <a:srgbClr val="836967"/>
                            </a:solidFill>
                            <a:latin typeface="Cambria Math" panose="02040503050406030204" pitchFamily="18" charset="0"/>
                          </a:rPr>
                        </m:ctrlPr>
                      </m:sSupPr>
                      <m:e>
                        <m:r>
                          <a:rPr lang="en-US" i="1" dirty="0">
                            <a:latin typeface="Cambria Math" panose="02040503050406030204" pitchFamily="18" charset="0"/>
                          </a:rPr>
                          <m:t>𝐺</m:t>
                        </m:r>
                      </m:e>
                      <m:sup>
                        <m:r>
                          <a:rPr lang="en-US" dirty="0">
                            <a:latin typeface="Cambria Math" panose="02040503050406030204" pitchFamily="18" charset="0"/>
                          </a:rPr>
                          <m:t>′</m:t>
                        </m:r>
                      </m:sup>
                    </m:sSup>
                  </m:oMath>
                </a14:m>
                <a:r>
                  <a:rPr lang="en-US" dirty="0"/>
                  <a:t> has a graph coloring.</a:t>
                </a:r>
              </a:p>
              <a:p>
                <a:endParaRPr lang="en-US" dirty="0"/>
              </a:p>
              <a:p>
                <a:r>
                  <a:rPr lang="en-US" dirty="0"/>
                  <a:t>Let’s say </a:t>
                </a:r>
                <a14:m>
                  <m:oMath xmlns:m="http://schemas.openxmlformats.org/officeDocument/2006/math">
                    <m:sSup>
                      <m:sSupPr>
                        <m:ctrlPr>
                          <a:rPr lang="en-US" i="1" dirty="0" smtClean="0">
                            <a:solidFill>
                              <a:srgbClr val="836967"/>
                            </a:solidFill>
                            <a:latin typeface="Cambria Math" panose="02040503050406030204" pitchFamily="18" charset="0"/>
                          </a:rPr>
                        </m:ctrlPr>
                      </m:sSupPr>
                      <m:e>
                        <m:r>
                          <a:rPr lang="en-US" i="1" dirty="0">
                            <a:latin typeface="Cambria Math" panose="02040503050406030204" pitchFamily="18" charset="0"/>
                          </a:rPr>
                          <m:t>𝐺</m:t>
                        </m:r>
                      </m:e>
                      <m:sup>
                        <m:r>
                          <a:rPr lang="en-US" b="0" i="1" dirty="0" smtClean="0">
                            <a:latin typeface="Cambria Math" panose="02040503050406030204" pitchFamily="18" charset="0"/>
                          </a:rPr>
                          <m:t> </m:t>
                        </m:r>
                      </m:sup>
                    </m:sSup>
                  </m:oMath>
                </a14:m>
                <a:r>
                  <a:rPr lang="en-US" dirty="0"/>
                  <a:t>doesn’t have a total coloring. That means there must be a conflict between incident edges or incident vertex and edge or adjacent  vertices. But for all those cases we constructed an edge in </a:t>
                </a:r>
                <a14:m>
                  <m:oMath xmlns:m="http://schemas.openxmlformats.org/officeDocument/2006/math">
                    <m:sSup>
                      <m:sSupPr>
                        <m:ctrlPr>
                          <a:rPr lang="en-US" i="1" dirty="0">
                            <a:solidFill>
                              <a:srgbClr val="836967"/>
                            </a:solidFill>
                            <a:latin typeface="Cambria Math" panose="02040503050406030204" pitchFamily="18" charset="0"/>
                          </a:rPr>
                        </m:ctrlPr>
                      </m:sSupPr>
                      <m:e>
                        <m:r>
                          <a:rPr lang="en-US" i="1" dirty="0">
                            <a:latin typeface="Cambria Math" panose="02040503050406030204" pitchFamily="18" charset="0"/>
                          </a:rPr>
                          <m:t>𝐺</m:t>
                        </m:r>
                      </m:e>
                      <m:sup>
                        <m:r>
                          <a:rPr lang="en-US" dirty="0">
                            <a:latin typeface="Cambria Math" panose="02040503050406030204" pitchFamily="18" charset="0"/>
                          </a:rPr>
                          <m:t>′</m:t>
                        </m:r>
                      </m:sup>
                    </m:sSup>
                  </m:oMath>
                </a14:m>
                <a:r>
                  <a:rPr lang="en-US" dirty="0"/>
                  <a:t>. Then </a:t>
                </a:r>
                <a14:m>
                  <m:oMath xmlns:m="http://schemas.openxmlformats.org/officeDocument/2006/math">
                    <m:sSup>
                      <m:sSupPr>
                        <m:ctrlPr>
                          <a:rPr lang="en-US" i="1" dirty="0">
                            <a:solidFill>
                              <a:srgbClr val="836967"/>
                            </a:solidFill>
                            <a:latin typeface="Cambria Math" panose="02040503050406030204" pitchFamily="18" charset="0"/>
                          </a:rPr>
                        </m:ctrlPr>
                      </m:sSupPr>
                      <m:e>
                        <m:r>
                          <a:rPr lang="en-US" i="1" dirty="0">
                            <a:latin typeface="Cambria Math" panose="02040503050406030204" pitchFamily="18" charset="0"/>
                          </a:rPr>
                          <m:t>𝐺</m:t>
                        </m:r>
                      </m:e>
                      <m:sup>
                        <m:r>
                          <a:rPr lang="en-US" dirty="0">
                            <a:latin typeface="Cambria Math" panose="02040503050406030204" pitchFamily="18" charset="0"/>
                          </a:rPr>
                          <m:t>′</m:t>
                        </m:r>
                      </m:sup>
                    </m:sSup>
                  </m:oMath>
                </a14:m>
                <a:r>
                  <a:rPr lang="en-US" dirty="0"/>
                  <a:t> also wouldn’t have graph coloring, a contradiction!</a:t>
                </a:r>
              </a:p>
              <a:p>
                <a:endParaRPr lang="en-US" dirty="0"/>
              </a:p>
              <a:p>
                <a14:m>
                  <m:oMath xmlns:m="http://schemas.openxmlformats.org/officeDocument/2006/math">
                    <m:sSup>
                      <m:sSupPr>
                        <m:ctrlPr>
                          <a:rPr lang="en-US" i="1" dirty="0" smtClean="0">
                            <a:solidFill>
                              <a:srgbClr val="836967"/>
                            </a:solidFill>
                            <a:latin typeface="Cambria Math" panose="02040503050406030204" pitchFamily="18" charset="0"/>
                          </a:rPr>
                        </m:ctrlPr>
                      </m:sSupPr>
                      <m:e>
                        <m:r>
                          <a:rPr lang="en-US" i="1" dirty="0">
                            <a:latin typeface="Cambria Math" panose="02040503050406030204" pitchFamily="18" charset="0"/>
                          </a:rPr>
                          <m:t>𝐺</m:t>
                        </m:r>
                      </m:e>
                      <m:sup>
                        <m:r>
                          <a:rPr lang="en-US" b="0" i="0" dirty="0" smtClean="0">
                            <a:latin typeface="Cambria Math" panose="02040503050406030204" pitchFamily="18" charset="0"/>
                          </a:rPr>
                          <m:t> </m:t>
                        </m:r>
                      </m:sup>
                    </m:sSup>
                  </m:oMath>
                </a14:m>
                <a:r>
                  <a:rPr lang="en-US" dirty="0"/>
                  <a:t>has a total coloring.</a:t>
                </a:r>
              </a:p>
            </p:txBody>
          </p:sp>
        </mc:Choice>
        <mc:Fallback xmlns="">
          <p:sp>
            <p:nvSpPr>
              <p:cNvPr id="11" name="TextBox 10">
                <a:extLst>
                  <a:ext uri="{FF2B5EF4-FFF2-40B4-BE49-F238E27FC236}">
                    <a16:creationId xmlns:a16="http://schemas.microsoft.com/office/drawing/2014/main" id="{1808811C-331F-5E4A-1AC1-FC1C781B774B}"/>
                  </a:ext>
                </a:extLst>
              </p:cNvPr>
              <p:cNvSpPr txBox="1">
                <a:spLocks noRot="1" noChangeAspect="1" noMove="1" noResize="1" noEditPoints="1" noAdjustHandles="1" noChangeArrowheads="1" noChangeShapeType="1" noTextEdit="1"/>
              </p:cNvSpPr>
              <p:nvPr/>
            </p:nvSpPr>
            <p:spPr>
              <a:xfrm>
                <a:off x="1593130" y="1564849"/>
                <a:ext cx="5505254" cy="2585323"/>
              </a:xfrm>
              <a:prstGeom prst="rect">
                <a:avLst/>
              </a:prstGeom>
              <a:blipFill>
                <a:blip r:embed="rId3"/>
                <a:stretch>
                  <a:fillRect l="-886" t="-1415" r="-664" b="-2830"/>
                </a:stretch>
              </a:blipFill>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39ACD641-962F-569F-536D-0D1E410A80BC}"/>
              </a:ext>
            </a:extLst>
          </p:cNvPr>
          <p:cNvSpPr>
            <a:spLocks noGrp="1"/>
          </p:cNvSpPr>
          <p:nvPr>
            <p:ph type="sldNum" sz="quarter" idx="4"/>
          </p:nvPr>
        </p:nvSpPr>
        <p:spPr/>
        <p:txBody>
          <a:bodyPr/>
          <a:lstStyle/>
          <a:p>
            <a:fld id="{58FB4751-880F-D840-AAA9-3A15815CC996}" type="slidenum">
              <a:rPr lang="en-US" smtClean="0"/>
              <a:pPr/>
              <a:t>97</a:t>
            </a:fld>
            <a:endParaRPr lang="en-US" dirty="0"/>
          </a:p>
        </p:txBody>
      </p:sp>
    </p:spTree>
    <p:extLst>
      <p:ext uri="{BB962C8B-B14F-4D97-AF65-F5344CB8AC3E}">
        <p14:creationId xmlns:p14="http://schemas.microsoft.com/office/powerpoint/2010/main" val="69823023"/>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C93CD53-DC19-7A4E-A349-0495DADD0829}"/>
              </a:ext>
            </a:extLst>
          </p:cNvPr>
          <p:cNvSpPr txBox="1"/>
          <p:nvPr/>
        </p:nvSpPr>
        <p:spPr>
          <a:xfrm>
            <a:off x="669303" y="593889"/>
            <a:ext cx="10388338" cy="2462213"/>
          </a:xfrm>
          <a:prstGeom prst="rect">
            <a:avLst/>
          </a:prstGeom>
          <a:noFill/>
        </p:spPr>
        <p:txBody>
          <a:bodyPr wrap="square" rtlCol="0">
            <a:spAutoFit/>
          </a:bodyPr>
          <a:lstStyle/>
          <a:p>
            <a:r>
              <a:rPr lang="en-US" sz="2800" b="1" dirty="0"/>
              <a:t>Heuristic Algorithm:</a:t>
            </a:r>
          </a:p>
          <a:p>
            <a:endParaRPr lang="en-US" dirty="0"/>
          </a:p>
          <a:p>
            <a:r>
              <a:rPr lang="en-US" dirty="0"/>
              <a:t>A genetic algorithm has been proposed to find the Total Chromatic Number (Number of colors needed for total coloring)</a:t>
            </a:r>
          </a:p>
          <a:p>
            <a:endParaRPr lang="en-US" dirty="0"/>
          </a:p>
          <a:p>
            <a:endParaRPr lang="en-US" dirty="0"/>
          </a:p>
          <a:p>
            <a:r>
              <a:rPr lang="en-US" dirty="0"/>
              <a:t>1. </a:t>
            </a:r>
            <a:r>
              <a:rPr lang="en-US" b="1" dirty="0"/>
              <a:t>Encoding</a:t>
            </a:r>
            <a:r>
              <a:rPr lang="en-US" dirty="0"/>
              <a:t> : At first , we need to modify our graph for the purpose of our algorithm. A new vertex is added between each of adjacent vertices.</a:t>
            </a:r>
          </a:p>
        </p:txBody>
      </p:sp>
      <p:pic>
        <p:nvPicPr>
          <p:cNvPr id="5" name="Picture 4">
            <a:extLst>
              <a:ext uri="{FF2B5EF4-FFF2-40B4-BE49-F238E27FC236}">
                <a16:creationId xmlns:a16="http://schemas.microsoft.com/office/drawing/2014/main" id="{4E1F74DA-2056-73E9-DD3F-69BCDE0AD3C0}"/>
              </a:ext>
            </a:extLst>
          </p:cNvPr>
          <p:cNvPicPr>
            <a:picLocks noChangeAspect="1"/>
          </p:cNvPicPr>
          <p:nvPr/>
        </p:nvPicPr>
        <p:blipFill>
          <a:blip r:embed="rId2"/>
          <a:stretch>
            <a:fillRect/>
          </a:stretch>
        </p:blipFill>
        <p:spPr>
          <a:xfrm>
            <a:off x="2050054" y="3602192"/>
            <a:ext cx="5433531" cy="1501270"/>
          </a:xfrm>
          <a:prstGeom prst="rect">
            <a:avLst/>
          </a:prstGeom>
        </p:spPr>
      </p:pic>
      <p:sp>
        <p:nvSpPr>
          <p:cNvPr id="3" name="Slide Number Placeholder 2">
            <a:extLst>
              <a:ext uri="{FF2B5EF4-FFF2-40B4-BE49-F238E27FC236}">
                <a16:creationId xmlns:a16="http://schemas.microsoft.com/office/drawing/2014/main" id="{FCEB67FA-C946-173F-1EC9-235C036F0EEF}"/>
              </a:ext>
            </a:extLst>
          </p:cNvPr>
          <p:cNvSpPr>
            <a:spLocks noGrp="1"/>
          </p:cNvSpPr>
          <p:nvPr>
            <p:ph type="sldNum" sz="quarter" idx="4"/>
          </p:nvPr>
        </p:nvSpPr>
        <p:spPr/>
        <p:txBody>
          <a:bodyPr/>
          <a:lstStyle/>
          <a:p>
            <a:fld id="{58FB4751-880F-D840-AAA9-3A15815CC996}" type="slidenum">
              <a:rPr lang="en-US" smtClean="0"/>
              <a:pPr/>
              <a:t>98</a:t>
            </a:fld>
            <a:endParaRPr lang="en-US" dirty="0"/>
          </a:p>
        </p:txBody>
      </p:sp>
    </p:spTree>
    <p:extLst>
      <p:ext uri="{BB962C8B-B14F-4D97-AF65-F5344CB8AC3E}">
        <p14:creationId xmlns:p14="http://schemas.microsoft.com/office/powerpoint/2010/main" val="1943705538"/>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D1AE67FE-E19C-37E8-E0F0-C957F018662D}"/>
              </a:ext>
            </a:extLst>
          </p:cNvPr>
          <p:cNvSpPr txBox="1"/>
          <p:nvPr/>
        </p:nvSpPr>
        <p:spPr>
          <a:xfrm>
            <a:off x="735291" y="688157"/>
            <a:ext cx="10048973" cy="5355312"/>
          </a:xfrm>
          <a:prstGeom prst="rect">
            <a:avLst/>
          </a:prstGeom>
          <a:noFill/>
        </p:spPr>
        <p:txBody>
          <a:bodyPr wrap="square" rtlCol="0">
            <a:spAutoFit/>
          </a:bodyPr>
          <a:lstStyle/>
          <a:p>
            <a:r>
              <a:rPr lang="en-US" dirty="0"/>
              <a:t>2. </a:t>
            </a:r>
            <a:r>
              <a:rPr lang="en-US" b="1" dirty="0"/>
              <a:t>Fitness Function: </a:t>
            </a:r>
          </a:p>
          <a:p>
            <a:endParaRPr lang="en-US" b="1" dirty="0"/>
          </a:p>
          <a:p>
            <a:r>
              <a:rPr lang="en-US" dirty="0"/>
              <a:t>Fitness function gives a value that indicates the number of colors needed for total coloring . It is a greedy algorithm that is run to find a TCN (Total chromatic number).</a:t>
            </a:r>
          </a:p>
          <a:p>
            <a:endParaRPr lang="en-US" dirty="0"/>
          </a:p>
          <a:p>
            <a:r>
              <a:rPr lang="en-US" dirty="0"/>
              <a:t>Step 1: </a:t>
            </a:r>
          </a:p>
          <a:p>
            <a:r>
              <a:rPr lang="en-US" dirty="0"/>
              <a:t>	Initially, we have k = 0  and </a:t>
            </a:r>
            <a:r>
              <a:rPr lang="en-US" dirty="0" err="1"/>
              <a:t>color_number</a:t>
            </a:r>
            <a:r>
              <a:rPr lang="en-US" dirty="0"/>
              <a:t> = 0. k value represents how many nodes we have colored until now . </a:t>
            </a:r>
            <a:r>
              <a:rPr lang="en-US" dirty="0" err="1"/>
              <a:t>color_number</a:t>
            </a:r>
            <a:r>
              <a:rPr lang="en-US" dirty="0"/>
              <a:t> represents how many colors have been used.</a:t>
            </a:r>
          </a:p>
          <a:p>
            <a:endParaRPr lang="en-US" dirty="0"/>
          </a:p>
          <a:p>
            <a:r>
              <a:rPr lang="en-US" dirty="0"/>
              <a:t>Step 2:</a:t>
            </a:r>
          </a:p>
          <a:p>
            <a:r>
              <a:rPr lang="en-US" dirty="0"/>
              <a:t>	 Check whether k+1 </a:t>
            </a:r>
            <a:r>
              <a:rPr lang="en-US" dirty="0" err="1"/>
              <a:t>th</a:t>
            </a:r>
            <a:r>
              <a:rPr lang="en-US" dirty="0"/>
              <a:t> vertex has been colored or not. If not, then find the minimum value j between 1 to n (n is the number of vertices in new graph) such that j is not present in the adjacent vertices or the adjacent of adjacent vertices. Then color the k+1 </a:t>
            </a:r>
            <a:r>
              <a:rPr lang="en-US" dirty="0" err="1"/>
              <a:t>th</a:t>
            </a:r>
            <a:r>
              <a:rPr lang="en-US" dirty="0"/>
              <a:t> vertex with color j. </a:t>
            </a:r>
          </a:p>
          <a:p>
            <a:r>
              <a:rPr lang="en-US" dirty="0"/>
              <a:t>If j &gt; </a:t>
            </a:r>
            <a:r>
              <a:rPr lang="en-US" dirty="0" err="1"/>
              <a:t>color_number</a:t>
            </a:r>
            <a:r>
              <a:rPr lang="en-US" dirty="0"/>
              <a:t> then assign j to </a:t>
            </a:r>
            <a:r>
              <a:rPr lang="en-US" dirty="0" err="1"/>
              <a:t>color_number</a:t>
            </a:r>
            <a:r>
              <a:rPr lang="en-US" dirty="0"/>
              <a:t>.</a:t>
            </a:r>
          </a:p>
          <a:p>
            <a:endParaRPr lang="en-US" dirty="0"/>
          </a:p>
          <a:p>
            <a:r>
              <a:rPr lang="en-US" dirty="0"/>
              <a:t>Step 3: Increment k by 1.</a:t>
            </a:r>
          </a:p>
          <a:p>
            <a:endParaRPr lang="en-US" dirty="0"/>
          </a:p>
          <a:p>
            <a:r>
              <a:rPr lang="en-US" dirty="0"/>
              <a:t>Step 4: If k is not equal to n then run step 2 and 3 again. Else return </a:t>
            </a:r>
            <a:r>
              <a:rPr lang="en-US" dirty="0" err="1"/>
              <a:t>color_number</a:t>
            </a:r>
            <a:r>
              <a:rPr lang="en-US" dirty="0"/>
              <a:t> as the fitness value.</a:t>
            </a:r>
          </a:p>
          <a:p>
            <a:endParaRPr lang="en-US" dirty="0"/>
          </a:p>
        </p:txBody>
      </p:sp>
      <p:sp>
        <p:nvSpPr>
          <p:cNvPr id="3" name="Slide Number Placeholder 2">
            <a:extLst>
              <a:ext uri="{FF2B5EF4-FFF2-40B4-BE49-F238E27FC236}">
                <a16:creationId xmlns:a16="http://schemas.microsoft.com/office/drawing/2014/main" id="{684903F1-42BE-1927-E96C-9350D8957DBF}"/>
              </a:ext>
            </a:extLst>
          </p:cNvPr>
          <p:cNvSpPr>
            <a:spLocks noGrp="1"/>
          </p:cNvSpPr>
          <p:nvPr>
            <p:ph type="sldNum" sz="quarter" idx="4"/>
          </p:nvPr>
        </p:nvSpPr>
        <p:spPr/>
        <p:txBody>
          <a:bodyPr/>
          <a:lstStyle/>
          <a:p>
            <a:fld id="{58FB4751-880F-D840-AAA9-3A15815CC996}" type="slidenum">
              <a:rPr lang="en-US" smtClean="0"/>
              <a:pPr/>
              <a:t>99</a:t>
            </a:fld>
            <a:endParaRPr lang="en-US" dirty="0"/>
          </a:p>
        </p:txBody>
      </p:sp>
    </p:spTree>
    <p:extLst>
      <p:ext uri="{BB962C8B-B14F-4D97-AF65-F5344CB8AC3E}">
        <p14:creationId xmlns:p14="http://schemas.microsoft.com/office/powerpoint/2010/main" val="4230106960"/>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CB18F2F2-8D8D-70D8-8510-1A2779F668D2}"/>
              </a:ext>
            </a:extLst>
          </p:cNvPr>
          <p:cNvSpPr txBox="1"/>
          <p:nvPr/>
        </p:nvSpPr>
        <p:spPr>
          <a:xfrm>
            <a:off x="480767" y="537328"/>
            <a:ext cx="9822730" cy="4524315"/>
          </a:xfrm>
          <a:prstGeom prst="rect">
            <a:avLst/>
          </a:prstGeom>
          <a:noFill/>
        </p:spPr>
        <p:txBody>
          <a:bodyPr wrap="square" rtlCol="0">
            <a:spAutoFit/>
          </a:bodyPr>
          <a:lstStyle/>
          <a:p>
            <a:r>
              <a:rPr lang="en-US" dirty="0"/>
              <a:t>3. </a:t>
            </a:r>
            <a:r>
              <a:rPr lang="en-US" b="1" dirty="0"/>
              <a:t>Selection</a:t>
            </a:r>
            <a:r>
              <a:rPr lang="en-US" dirty="0"/>
              <a:t>:</a:t>
            </a:r>
          </a:p>
          <a:p>
            <a:r>
              <a:rPr lang="en-US" dirty="0"/>
              <a:t>	We give higher probability to the color assignment with lowest value. And lesser probability to higher TCN.</a:t>
            </a:r>
          </a:p>
          <a:p>
            <a:endParaRPr lang="en-US" dirty="0"/>
          </a:p>
          <a:p>
            <a:r>
              <a:rPr lang="en-US" dirty="0"/>
              <a:t>4.</a:t>
            </a:r>
            <a:r>
              <a:rPr lang="en-US" b="1" dirty="0"/>
              <a:t>Crossover</a:t>
            </a:r>
            <a:r>
              <a:rPr lang="en-US" dirty="0"/>
              <a:t>:</a:t>
            </a:r>
          </a:p>
          <a:p>
            <a:r>
              <a:rPr lang="en-US" dirty="0"/>
              <a:t>	We pick two parent probabilistically. Then crossover is done between those to get a new assignment. Here we use LOX crossover. This goes as follows:</a:t>
            </a:r>
          </a:p>
          <a:p>
            <a:r>
              <a:rPr lang="en-US" dirty="0"/>
              <a:t>	</a:t>
            </a:r>
          </a:p>
          <a:p>
            <a:r>
              <a:rPr lang="en-US" dirty="0"/>
              <a:t>	Step 1: Two random points are chosen between 1 to n , point1  and point 2 such that point1 &lt; point2.</a:t>
            </a:r>
          </a:p>
          <a:p>
            <a:r>
              <a:rPr lang="en-US" dirty="0"/>
              <a:t>	Step 2: The vertices from point1 to point2 from Parent2 is copied directly to Child1.</a:t>
            </a:r>
          </a:p>
          <a:p>
            <a:endParaRPr lang="en-US" dirty="0"/>
          </a:p>
          <a:p>
            <a:r>
              <a:rPr lang="en-US" dirty="0"/>
              <a:t>	Step 3: The remaining vertices from Parent2 is rearranged in the available positions of Child1 following their order in Parent1.</a:t>
            </a:r>
          </a:p>
          <a:p>
            <a:r>
              <a:rPr lang="en-US" dirty="0"/>
              <a:t>	</a:t>
            </a:r>
          </a:p>
          <a:p>
            <a:r>
              <a:rPr lang="en-US" dirty="0"/>
              <a:t>	Step 4: The similar is done with Parent1 and Child2. </a:t>
            </a:r>
          </a:p>
        </p:txBody>
      </p:sp>
      <p:pic>
        <p:nvPicPr>
          <p:cNvPr id="13" name="Picture 12">
            <a:extLst>
              <a:ext uri="{FF2B5EF4-FFF2-40B4-BE49-F238E27FC236}">
                <a16:creationId xmlns:a16="http://schemas.microsoft.com/office/drawing/2014/main" id="{15DE7C9C-B6C0-295C-904A-4116E122F849}"/>
              </a:ext>
            </a:extLst>
          </p:cNvPr>
          <p:cNvPicPr>
            <a:picLocks noChangeAspect="1"/>
          </p:cNvPicPr>
          <p:nvPr/>
        </p:nvPicPr>
        <p:blipFill>
          <a:blip r:embed="rId3"/>
          <a:stretch>
            <a:fillRect/>
          </a:stretch>
        </p:blipFill>
        <p:spPr>
          <a:xfrm>
            <a:off x="7153402" y="4465694"/>
            <a:ext cx="2956816" cy="2225233"/>
          </a:xfrm>
          <a:prstGeom prst="rect">
            <a:avLst/>
          </a:prstGeom>
        </p:spPr>
      </p:pic>
      <p:sp>
        <p:nvSpPr>
          <p:cNvPr id="2" name="Slide Number Placeholder 1">
            <a:extLst>
              <a:ext uri="{FF2B5EF4-FFF2-40B4-BE49-F238E27FC236}">
                <a16:creationId xmlns:a16="http://schemas.microsoft.com/office/drawing/2014/main" id="{7CC8A80A-0F95-AD36-F84B-B0BFB5020027}"/>
              </a:ext>
            </a:extLst>
          </p:cNvPr>
          <p:cNvSpPr>
            <a:spLocks noGrp="1"/>
          </p:cNvSpPr>
          <p:nvPr>
            <p:ph type="sldNum" sz="quarter" idx="4"/>
          </p:nvPr>
        </p:nvSpPr>
        <p:spPr/>
        <p:txBody>
          <a:bodyPr/>
          <a:lstStyle/>
          <a:p>
            <a:fld id="{58FB4751-880F-D840-AAA9-3A15815CC996}" type="slidenum">
              <a:rPr lang="en-US" smtClean="0"/>
              <a:pPr/>
              <a:t>100</a:t>
            </a:fld>
            <a:endParaRPr lang="en-US" dirty="0"/>
          </a:p>
        </p:txBody>
      </p:sp>
    </p:spTree>
    <p:extLst>
      <p:ext uri="{BB962C8B-B14F-4D97-AF65-F5344CB8AC3E}">
        <p14:creationId xmlns:p14="http://schemas.microsoft.com/office/powerpoint/2010/main" val="3748348926"/>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89E3BB-BFE5-0095-CB9A-9137D518405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993C058-AA8E-A001-B0BD-B26E74C67661}"/>
              </a:ext>
            </a:extLst>
          </p:cNvPr>
          <p:cNvSpPr txBox="1"/>
          <p:nvPr/>
        </p:nvSpPr>
        <p:spPr>
          <a:xfrm>
            <a:off x="565608" y="584462"/>
            <a:ext cx="8427563" cy="2308324"/>
          </a:xfrm>
          <a:prstGeom prst="rect">
            <a:avLst/>
          </a:prstGeom>
          <a:noFill/>
        </p:spPr>
        <p:txBody>
          <a:bodyPr wrap="square" rtlCol="0">
            <a:spAutoFit/>
          </a:bodyPr>
          <a:lstStyle/>
          <a:p>
            <a:r>
              <a:rPr lang="en-US" dirty="0"/>
              <a:t>5. </a:t>
            </a:r>
            <a:r>
              <a:rPr lang="en-US" b="1" dirty="0"/>
              <a:t>Mutation</a:t>
            </a:r>
            <a:r>
              <a:rPr lang="en-US" dirty="0"/>
              <a:t>: </a:t>
            </a:r>
          </a:p>
          <a:p>
            <a:endParaRPr lang="en-US" dirty="0"/>
          </a:p>
          <a:p>
            <a:r>
              <a:rPr lang="en-US" dirty="0"/>
              <a:t>	Mutation is applied to the population with a certain probability to avoid local convergence. </a:t>
            </a:r>
          </a:p>
          <a:p>
            <a:endParaRPr lang="en-US" dirty="0"/>
          </a:p>
          <a:p>
            <a:r>
              <a:rPr lang="en-US" dirty="0"/>
              <a:t>	Step 1: Choose two random points P1 , P2  from a randomly selected coloring.</a:t>
            </a:r>
          </a:p>
          <a:p>
            <a:endParaRPr lang="en-US" dirty="0"/>
          </a:p>
          <a:p>
            <a:r>
              <a:rPr lang="en-US" dirty="0"/>
              <a:t>	Step 2: Exchange the vertices of position P1 and P2.</a:t>
            </a:r>
          </a:p>
        </p:txBody>
      </p:sp>
      <p:pic>
        <p:nvPicPr>
          <p:cNvPr id="4" name="Picture 3">
            <a:extLst>
              <a:ext uri="{FF2B5EF4-FFF2-40B4-BE49-F238E27FC236}">
                <a16:creationId xmlns:a16="http://schemas.microsoft.com/office/drawing/2014/main" id="{038F155D-9D08-6BA6-5572-399B82EDDDBB}"/>
              </a:ext>
            </a:extLst>
          </p:cNvPr>
          <p:cNvPicPr>
            <a:picLocks noChangeAspect="1"/>
          </p:cNvPicPr>
          <p:nvPr/>
        </p:nvPicPr>
        <p:blipFill>
          <a:blip r:embed="rId3"/>
          <a:stretch>
            <a:fillRect/>
          </a:stretch>
        </p:blipFill>
        <p:spPr>
          <a:xfrm>
            <a:off x="2745180" y="3231036"/>
            <a:ext cx="4068417" cy="2308323"/>
          </a:xfrm>
          <a:prstGeom prst="rect">
            <a:avLst/>
          </a:prstGeom>
        </p:spPr>
      </p:pic>
      <p:sp>
        <p:nvSpPr>
          <p:cNvPr id="3" name="Slide Number Placeholder 2">
            <a:extLst>
              <a:ext uri="{FF2B5EF4-FFF2-40B4-BE49-F238E27FC236}">
                <a16:creationId xmlns:a16="http://schemas.microsoft.com/office/drawing/2014/main" id="{4ED2E1F1-4939-8AD7-09BA-861E59BD7E72}"/>
              </a:ext>
            </a:extLst>
          </p:cNvPr>
          <p:cNvSpPr>
            <a:spLocks noGrp="1"/>
          </p:cNvSpPr>
          <p:nvPr>
            <p:ph type="sldNum" sz="quarter" idx="4"/>
          </p:nvPr>
        </p:nvSpPr>
        <p:spPr/>
        <p:txBody>
          <a:bodyPr/>
          <a:lstStyle/>
          <a:p>
            <a:fld id="{58FB4751-880F-D840-AAA9-3A15815CC996}" type="slidenum">
              <a:rPr lang="en-US" smtClean="0"/>
              <a:pPr/>
              <a:t>101</a:t>
            </a:fld>
            <a:endParaRPr lang="en-US" dirty="0"/>
          </a:p>
        </p:txBody>
      </p:sp>
    </p:spTree>
    <p:extLst>
      <p:ext uri="{BB962C8B-B14F-4D97-AF65-F5344CB8AC3E}">
        <p14:creationId xmlns:p14="http://schemas.microsoft.com/office/powerpoint/2010/main" val="353935065"/>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D6C832-BC3A-5587-6FE7-7D02F8786A3C}"/>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E63A9393-41CA-A105-056C-6D172E94A279}"/>
              </a:ext>
            </a:extLst>
          </p:cNvPr>
          <p:cNvSpPr>
            <a:spLocks noGrp="1"/>
          </p:cNvSpPr>
          <p:nvPr>
            <p:ph type="sldNum" sz="quarter" idx="4"/>
          </p:nvPr>
        </p:nvSpPr>
        <p:spPr>
          <a:xfrm>
            <a:off x="11206480" y="5879804"/>
            <a:ext cx="808736" cy="895899"/>
          </a:xfrm>
        </p:spPr>
        <p:txBody>
          <a:bodyPr/>
          <a:lstStyle/>
          <a:p>
            <a:fld id="{58FB4751-880F-D840-AAA9-3A15815CC996}" type="slidenum">
              <a:rPr lang="en-US" smtClean="0"/>
              <a:pPr/>
              <a:t>102</a:t>
            </a:fld>
            <a:endParaRPr lang="en-US" dirty="0"/>
          </a:p>
        </p:txBody>
      </p:sp>
      <p:sp>
        <p:nvSpPr>
          <p:cNvPr id="6" name="TextBox 5">
            <a:extLst>
              <a:ext uri="{FF2B5EF4-FFF2-40B4-BE49-F238E27FC236}">
                <a16:creationId xmlns:a16="http://schemas.microsoft.com/office/drawing/2014/main" id="{5EDFC692-5D0D-C5B4-F9DD-27B5FDD22536}"/>
              </a:ext>
            </a:extLst>
          </p:cNvPr>
          <p:cNvSpPr txBox="1"/>
          <p:nvPr/>
        </p:nvSpPr>
        <p:spPr>
          <a:xfrm>
            <a:off x="734152" y="1043845"/>
            <a:ext cx="9766170" cy="2462213"/>
          </a:xfrm>
          <a:prstGeom prst="rect">
            <a:avLst/>
          </a:prstGeom>
          <a:noFill/>
        </p:spPr>
        <p:txBody>
          <a:bodyPr wrap="square" rtlCol="0">
            <a:spAutoFit/>
          </a:bodyPr>
          <a:lstStyle/>
          <a:p>
            <a:r>
              <a:rPr lang="en-US" sz="2800" b="1" dirty="0"/>
              <a:t>Experiment : </a:t>
            </a:r>
          </a:p>
          <a:p>
            <a:endParaRPr lang="en-US" b="1" u="sng" dirty="0"/>
          </a:p>
          <a:p>
            <a:r>
              <a:rPr lang="en-US" dirty="0">
                <a:latin typeface="Gill Sans MT" panose="020B0502020104020203" pitchFamily="34" charset="0"/>
              </a:rPr>
              <a:t>We wish to implement the Genetic Algorithms for total coloring. Our target is to measure the performance for different types of graph class. For example: path graph, complete graph , circuit graph etc.</a:t>
            </a:r>
          </a:p>
          <a:p>
            <a:endParaRPr lang="en-US" dirty="0"/>
          </a:p>
          <a:p>
            <a:endParaRPr lang="en-US" dirty="0"/>
          </a:p>
          <a:p>
            <a:endParaRPr lang="en-US" b="1" u="sng" dirty="0"/>
          </a:p>
        </p:txBody>
      </p:sp>
    </p:spTree>
    <p:extLst>
      <p:ext uri="{BB962C8B-B14F-4D97-AF65-F5344CB8AC3E}">
        <p14:creationId xmlns:p14="http://schemas.microsoft.com/office/powerpoint/2010/main" val="2972168961"/>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A7127DC8-1C05-236F-66A1-6FC22CB3230D}"/>
              </a:ext>
            </a:extLst>
          </p:cNvPr>
          <p:cNvSpPr>
            <a:spLocks noGrp="1"/>
          </p:cNvSpPr>
          <p:nvPr>
            <p:ph sz="quarter" idx="12"/>
          </p:nvPr>
        </p:nvSpPr>
        <p:spPr>
          <a:xfrm>
            <a:off x="1255534" y="1014843"/>
            <a:ext cx="6537960" cy="3904488"/>
          </a:xfrm>
        </p:spPr>
        <p:txBody>
          <a:bodyPr/>
          <a:lstStyle/>
          <a:p>
            <a:r>
              <a:rPr lang="en-US" sz="2800" dirty="0"/>
              <a:t>Real life example</a:t>
            </a:r>
          </a:p>
          <a:p>
            <a:pPr marL="342900" indent="-342900">
              <a:buFont typeface="Arial" panose="020B0604020202020204" pitchFamily="34" charset="0"/>
              <a:buChar char="•"/>
            </a:pPr>
            <a:r>
              <a:rPr lang="en-US" sz="2800" dirty="0"/>
              <a:t>Scheduling</a:t>
            </a:r>
          </a:p>
          <a:p>
            <a:pPr marL="342900" indent="-342900">
              <a:buFont typeface="Arial" panose="020B0604020202020204" pitchFamily="34" charset="0"/>
              <a:buChar char="•"/>
            </a:pPr>
            <a:r>
              <a:rPr lang="en-US" sz="2800" dirty="0"/>
              <a:t>Partitioning</a:t>
            </a:r>
          </a:p>
          <a:p>
            <a:pPr marL="342900" indent="-342900">
              <a:buFont typeface="Arial" panose="020B0604020202020204" pitchFamily="34" charset="0"/>
              <a:buChar char="•"/>
            </a:pPr>
            <a:r>
              <a:rPr lang="en-US" sz="2800" dirty="0"/>
              <a:t>Networking</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endParaRPr lang="en-US" dirty="0"/>
          </a:p>
          <a:p>
            <a:endParaRPr lang="en-US" dirty="0"/>
          </a:p>
          <a:p>
            <a:endParaRPr lang="en-US" dirty="0"/>
          </a:p>
        </p:txBody>
      </p:sp>
      <p:sp>
        <p:nvSpPr>
          <p:cNvPr id="2" name="Slide Number Placeholder 1">
            <a:extLst>
              <a:ext uri="{FF2B5EF4-FFF2-40B4-BE49-F238E27FC236}">
                <a16:creationId xmlns:a16="http://schemas.microsoft.com/office/drawing/2014/main" id="{98769A99-3218-B500-DAE6-830FBBCCFB25}"/>
              </a:ext>
            </a:extLst>
          </p:cNvPr>
          <p:cNvSpPr>
            <a:spLocks noGrp="1"/>
          </p:cNvSpPr>
          <p:nvPr>
            <p:ph type="sldNum" sz="quarter" idx="4"/>
          </p:nvPr>
        </p:nvSpPr>
        <p:spPr/>
        <p:txBody>
          <a:bodyPr/>
          <a:lstStyle/>
          <a:p>
            <a:fld id="{58FB4751-880F-D840-AAA9-3A15815CC996}" type="slidenum">
              <a:rPr lang="en-US" smtClean="0"/>
              <a:pPr/>
              <a:t>103</a:t>
            </a:fld>
            <a:endParaRPr lang="en-US" dirty="0"/>
          </a:p>
        </p:txBody>
      </p:sp>
    </p:spTree>
    <p:extLst>
      <p:ext uri="{BB962C8B-B14F-4D97-AF65-F5344CB8AC3E}">
        <p14:creationId xmlns:p14="http://schemas.microsoft.com/office/powerpoint/2010/main" val="2165524145"/>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17BF0C-2801-8CDF-8F18-563967BA30CA}"/>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3D4E6B06-A60F-331F-8D56-1A474B78972D}"/>
              </a:ext>
            </a:extLst>
          </p:cNvPr>
          <p:cNvSpPr txBox="1"/>
          <p:nvPr/>
        </p:nvSpPr>
        <p:spPr>
          <a:xfrm>
            <a:off x="537327" y="320511"/>
            <a:ext cx="10297999" cy="5786199"/>
          </a:xfrm>
          <a:prstGeom prst="rect">
            <a:avLst/>
          </a:prstGeom>
          <a:noFill/>
        </p:spPr>
        <p:txBody>
          <a:bodyPr wrap="square" rtlCol="0">
            <a:spAutoFit/>
          </a:bodyPr>
          <a:lstStyle/>
          <a:p>
            <a:r>
              <a:rPr lang="en-US" sz="2800" b="1" dirty="0"/>
              <a:t>A Scheduling Example</a:t>
            </a:r>
            <a:r>
              <a:rPr lang="en-US" dirty="0"/>
              <a:t>:</a:t>
            </a:r>
          </a:p>
          <a:p>
            <a:r>
              <a:rPr lang="en-US" dirty="0"/>
              <a:t>	</a:t>
            </a:r>
          </a:p>
          <a:p>
            <a:r>
              <a:rPr lang="en-US" dirty="0"/>
              <a:t>	Suppose there is a cricket ground and a practice ground. A tournament is being held . Each of the team gets a day for practicing. Also, let’s say there are 3 teams. We want to know minimum how many days are required to finish the tournament. </a:t>
            </a:r>
          </a:p>
          <a:p>
            <a:endParaRPr lang="en-US" dirty="0"/>
          </a:p>
          <a:p>
            <a:r>
              <a:rPr lang="en-US" dirty="0"/>
              <a:t>In the following graph, we could treat the vertex color as the day of that team’s practice. The edge representing the matchday of those two teams. </a:t>
            </a:r>
          </a:p>
          <a:p>
            <a:endParaRPr lang="en-US" dirty="0"/>
          </a:p>
          <a:p>
            <a:endParaRPr lang="en-US" dirty="0"/>
          </a:p>
          <a:p>
            <a:endParaRPr lang="en-US" dirty="0"/>
          </a:p>
          <a:p>
            <a:endParaRPr lang="en-US" dirty="0"/>
          </a:p>
          <a:p>
            <a:endParaRPr lang="en-US" dirty="0"/>
          </a:p>
          <a:p>
            <a:endParaRPr lang="en-US" dirty="0"/>
          </a:p>
          <a:p>
            <a:r>
              <a:rPr lang="en-US" dirty="0"/>
              <a:t>Incident edges can’t have same color because a team can’t play two match in a day. Adjacent vertex can’t have same color because two teams can’t practice on the same day.</a:t>
            </a:r>
          </a:p>
          <a:p>
            <a:endParaRPr lang="en-US" dirty="0"/>
          </a:p>
          <a:p>
            <a:r>
              <a:rPr lang="en-US" dirty="0"/>
              <a:t>Incident edge and vertex can’t have same color as a team can’t have it’s practice and matchday in a single day.</a:t>
            </a:r>
          </a:p>
          <a:p>
            <a:endParaRPr lang="en-US" dirty="0"/>
          </a:p>
          <a:p>
            <a:r>
              <a:rPr lang="en-US" dirty="0"/>
              <a:t>Thus this is total coloring . The number of colors represents number of days needed to finish the tournament.</a:t>
            </a:r>
          </a:p>
        </p:txBody>
      </p:sp>
      <p:pic>
        <p:nvPicPr>
          <p:cNvPr id="8" name="Picture 7">
            <a:extLst>
              <a:ext uri="{FF2B5EF4-FFF2-40B4-BE49-F238E27FC236}">
                <a16:creationId xmlns:a16="http://schemas.microsoft.com/office/drawing/2014/main" id="{07773371-BC87-0666-4308-E71C9D240288}"/>
              </a:ext>
            </a:extLst>
          </p:cNvPr>
          <p:cNvPicPr>
            <a:picLocks noChangeAspect="1"/>
          </p:cNvPicPr>
          <p:nvPr/>
        </p:nvPicPr>
        <p:blipFill>
          <a:blip r:embed="rId3"/>
          <a:stretch>
            <a:fillRect/>
          </a:stretch>
        </p:blipFill>
        <p:spPr>
          <a:xfrm>
            <a:off x="4289286" y="2778891"/>
            <a:ext cx="2394319" cy="1500512"/>
          </a:xfrm>
          <a:prstGeom prst="rect">
            <a:avLst/>
          </a:prstGeom>
        </p:spPr>
      </p:pic>
      <p:sp>
        <p:nvSpPr>
          <p:cNvPr id="2" name="Slide Number Placeholder 1">
            <a:extLst>
              <a:ext uri="{FF2B5EF4-FFF2-40B4-BE49-F238E27FC236}">
                <a16:creationId xmlns:a16="http://schemas.microsoft.com/office/drawing/2014/main" id="{E2E6390F-E787-C964-64FB-5DEB9A8AE4CB}"/>
              </a:ext>
            </a:extLst>
          </p:cNvPr>
          <p:cNvSpPr>
            <a:spLocks noGrp="1"/>
          </p:cNvSpPr>
          <p:nvPr>
            <p:ph type="sldNum" sz="quarter" idx="4"/>
          </p:nvPr>
        </p:nvSpPr>
        <p:spPr/>
        <p:txBody>
          <a:bodyPr/>
          <a:lstStyle/>
          <a:p>
            <a:fld id="{58FB4751-880F-D840-AAA9-3A15815CC996}" type="slidenum">
              <a:rPr lang="en-US" smtClean="0"/>
              <a:pPr/>
              <a:t>104</a:t>
            </a:fld>
            <a:endParaRPr lang="en-US" dirty="0"/>
          </a:p>
        </p:txBody>
      </p:sp>
    </p:spTree>
    <p:extLst>
      <p:ext uri="{BB962C8B-B14F-4D97-AF65-F5344CB8AC3E}">
        <p14:creationId xmlns:p14="http://schemas.microsoft.com/office/powerpoint/2010/main" val="1884343555"/>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9A903C1A-A0D1-C5D8-AA52-9B3FA78ECFA0}"/>
              </a:ext>
            </a:extLst>
          </p:cNvPr>
          <p:cNvSpPr>
            <a:spLocks noGrp="1"/>
          </p:cNvSpPr>
          <p:nvPr>
            <p:ph type="sldNum" sz="quarter" idx="4"/>
          </p:nvPr>
        </p:nvSpPr>
        <p:spPr/>
        <p:txBody>
          <a:bodyPr/>
          <a:lstStyle/>
          <a:p>
            <a:fld id="{58FB4751-880F-D840-AAA9-3A15815CC996}" type="slidenum">
              <a:rPr lang="en-US" smtClean="0"/>
              <a:pPr/>
              <a:t>105</a:t>
            </a:fld>
            <a:endParaRPr lang="en-US" dirty="0"/>
          </a:p>
        </p:txBody>
      </p:sp>
      <p:sp>
        <p:nvSpPr>
          <p:cNvPr id="6" name="TextBox 5">
            <a:extLst>
              <a:ext uri="{FF2B5EF4-FFF2-40B4-BE49-F238E27FC236}">
                <a16:creationId xmlns:a16="http://schemas.microsoft.com/office/drawing/2014/main" id="{6E2ECEF2-48E6-DDA4-9A10-E45245435BD0}"/>
              </a:ext>
            </a:extLst>
          </p:cNvPr>
          <p:cNvSpPr txBox="1"/>
          <p:nvPr/>
        </p:nvSpPr>
        <p:spPr>
          <a:xfrm>
            <a:off x="4436988" y="2982540"/>
            <a:ext cx="2864759" cy="861774"/>
          </a:xfrm>
          <a:prstGeom prst="rect">
            <a:avLst/>
          </a:prstGeom>
          <a:noFill/>
        </p:spPr>
        <p:txBody>
          <a:bodyPr wrap="none" rtlCol="0">
            <a:spAutoFit/>
          </a:bodyPr>
          <a:lstStyle/>
          <a:p>
            <a:r>
              <a:rPr lang="en-US" sz="5000" b="1" dirty="0"/>
              <a:t>Thank You</a:t>
            </a:r>
          </a:p>
        </p:txBody>
      </p:sp>
    </p:spTree>
    <p:extLst>
      <p:ext uri="{BB962C8B-B14F-4D97-AF65-F5344CB8AC3E}">
        <p14:creationId xmlns:p14="http://schemas.microsoft.com/office/powerpoint/2010/main" val="2717430963"/>
      </p:ext>
    </p:extLst>
  </p:cSld>
  <p:clrMapOvr>
    <a:masterClrMapping/>
  </p:clrMapOvr>
</p:sld>
</file>

<file path=ppt/theme/theme1.xml><?xml version="1.0" encoding="utf-8"?>
<a:theme xmlns:a="http://schemas.openxmlformats.org/drawingml/2006/main" name="1_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71C241A9-A460-4AD1-916F-25308628A5BC}"/>
    </a:ext>
  </a:extLst>
</a:theme>
</file>

<file path=ppt/theme/theme2.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3.xml><?xml version="1.0" encoding="utf-8"?>
<a:theme xmlns:a="http://schemas.openxmlformats.org/drawingml/2006/main" name="Custom">
  <a:themeElements>
    <a:clrScheme name="Custom 17">
      <a:dk1>
        <a:srgbClr val="543E34"/>
      </a:dk1>
      <a:lt1>
        <a:srgbClr val="FFFFFF"/>
      </a:lt1>
      <a:dk2>
        <a:srgbClr val="5D6A76"/>
      </a:dk2>
      <a:lt2>
        <a:srgbClr val="E5DACF"/>
      </a:lt2>
      <a:accent1>
        <a:srgbClr val="FEF3ED"/>
      </a:accent1>
      <a:accent2>
        <a:srgbClr val="AC5B4C"/>
      </a:accent2>
      <a:accent3>
        <a:srgbClr val="D0D8B6"/>
      </a:accent3>
      <a:accent4>
        <a:srgbClr val="A09D79"/>
      </a:accent4>
      <a:accent5>
        <a:srgbClr val="4E5745"/>
      </a:accent5>
      <a:accent6>
        <a:srgbClr val="D7D0CE"/>
      </a:accent6>
      <a:hlink>
        <a:srgbClr val="AC5B4C"/>
      </a:hlink>
      <a:folHlink>
        <a:srgbClr val="4E5745"/>
      </a:folHlink>
    </a:clrScheme>
    <a:fontScheme name="Custom 20">
      <a:majorFont>
        <a:latin typeface="Sagona Book"/>
        <a:ea typeface=""/>
        <a:cs typeface=""/>
      </a:majorFont>
      <a:minorFont>
        <a:latin typeface="Gill Sans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11964407_win32_SD_v20" id="{3EA9D323-E7D5-42E3-83AA-4E89B21FB6B6}" vid="{BDF16A16-3A0E-4332-958C-C5797045A0D6}"/>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Parcel</Template>
  <TotalTime>392</TotalTime>
  <Words>5551</Words>
  <Application>Microsoft Office PowerPoint</Application>
  <PresentationFormat>Widescreen</PresentationFormat>
  <Paragraphs>963</Paragraphs>
  <Slides>105</Slides>
  <Notes>8</Notes>
  <HiddenSlides>0</HiddenSlides>
  <MMClips>0</MMClips>
  <ScaleCrop>false</ScaleCrop>
  <HeadingPairs>
    <vt:vector size="6" baseType="variant">
      <vt:variant>
        <vt:lpstr>Fonts Used</vt:lpstr>
      </vt:variant>
      <vt:variant>
        <vt:i4>10</vt:i4>
      </vt:variant>
      <vt:variant>
        <vt:lpstr>Theme</vt:lpstr>
      </vt:variant>
      <vt:variant>
        <vt:i4>3</vt:i4>
      </vt:variant>
      <vt:variant>
        <vt:lpstr>Slide Titles</vt:lpstr>
      </vt:variant>
      <vt:variant>
        <vt:i4>105</vt:i4>
      </vt:variant>
    </vt:vector>
  </HeadingPairs>
  <TitlesOfParts>
    <vt:vector size="118" baseType="lpstr">
      <vt:lpstr>Aptos</vt:lpstr>
      <vt:lpstr>Arial</vt:lpstr>
      <vt:lpstr>Cambria Math</vt:lpstr>
      <vt:lpstr>Courier New</vt:lpstr>
      <vt:lpstr>Gill Sans MT</vt:lpstr>
      <vt:lpstr>Gill Sans Nova Light</vt:lpstr>
      <vt:lpstr>Ink Free</vt:lpstr>
      <vt:lpstr>Sagona Book</vt:lpstr>
      <vt:lpstr>Segoe UI</vt:lpstr>
      <vt:lpstr>Segoe UI Light</vt:lpstr>
      <vt:lpstr>1_Parcel</vt:lpstr>
      <vt:lpstr>Parcel</vt:lpstr>
      <vt:lpstr>Custom</vt:lpstr>
      <vt:lpstr>Variants of Graph Coloring</vt:lpstr>
      <vt:lpstr>PowerPoint Presentation</vt:lpstr>
      <vt:lpstr>Graph Coloring</vt:lpstr>
      <vt:lpstr>For k&gt;=3 Graph coloring problem is NP COmplete</vt:lpstr>
      <vt:lpstr>Variations</vt:lpstr>
      <vt:lpstr>Acyclic Coloring</vt:lpstr>
      <vt:lpstr>PowerPoint Presentation</vt:lpstr>
      <vt:lpstr>PowerPoint Presentation</vt:lpstr>
      <vt:lpstr>PowerPoint Presentation</vt:lpstr>
      <vt:lpstr>PowerPoint Presentation</vt:lpstr>
      <vt:lpstr>PowerPoint Presentation</vt:lpstr>
      <vt:lpstr>Exact Algorithm</vt:lpstr>
      <vt:lpstr>Approximation Algorithm</vt:lpstr>
      <vt:lpstr>Graph Transformation</vt:lpstr>
      <vt:lpstr>Graph Transformation</vt:lpstr>
      <vt:lpstr>Greedy Coloring</vt:lpstr>
      <vt:lpstr>Heuristic Algorithm</vt:lpstr>
      <vt:lpstr>Heuristic Algorithm</vt:lpstr>
      <vt:lpstr>Experiment</vt:lpstr>
      <vt:lpstr>An interesting result </vt:lpstr>
      <vt:lpstr>An interesting result </vt:lpstr>
      <vt:lpstr>List coloring  </vt:lpstr>
      <vt:lpstr>List coloring problem</vt:lpstr>
      <vt:lpstr>Some Notation</vt:lpstr>
      <vt:lpstr>Properties</vt:lpstr>
      <vt:lpstr>Reducing From NP-complete problem List coloring is in NP</vt:lpstr>
      <vt:lpstr>Reducing From NP-complete problem Graph coloring to List coloring</vt:lpstr>
      <vt:lpstr>Reducing From NP-complete problem Construction</vt:lpstr>
      <vt:lpstr>Reducing From NP-complete problem Claim</vt:lpstr>
      <vt:lpstr>Reducing From NP-complete problem Claim</vt:lpstr>
      <vt:lpstr>Reducing From NP-complete problem Claim</vt:lpstr>
      <vt:lpstr>Reducing From NP-complete problem Claim</vt:lpstr>
      <vt:lpstr>Greedy Algorithm</vt:lpstr>
      <vt:lpstr>Greedy Algorithm</vt:lpstr>
      <vt:lpstr>Greedy Algorithm</vt:lpstr>
      <vt:lpstr>Greedy Algorithm</vt:lpstr>
      <vt:lpstr>Greedy Algorithm</vt:lpstr>
      <vt:lpstr>Other Algorithms of list coloring</vt:lpstr>
      <vt:lpstr>Practical usages of list coloring</vt:lpstr>
      <vt:lpstr>Experiment</vt:lpstr>
      <vt:lpstr>PowerPoint Presentation</vt:lpstr>
      <vt:lpstr>Distance-k coloring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Reduction: Distance-k coloring to normal graph coloring (distance-1 coloring)</vt:lpstr>
      <vt:lpstr>Reduction: Distance-k coloring to normal graph coloring (distance-1 coloring)</vt:lpstr>
      <vt:lpstr>Reduction: Distance-k coloring to normal graph coloring (distance-1 coloring)</vt:lpstr>
      <vt:lpstr>Reduction: Distance-k coloring to normal graph coloring (distance-1 coloring)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DSATUR (Degree of saturation)</vt:lpstr>
      <vt:lpstr>DSATUR (Degree of saturation)</vt:lpstr>
      <vt:lpstr>DSATUR (Degree of saturation)</vt:lpstr>
      <vt:lpstr>DSATUR (Degree of saturation)</vt:lpstr>
      <vt:lpstr>DSATUR (Degree of saturation)</vt:lpstr>
      <vt:lpstr>DSATUR (Degree of saturation)</vt:lpstr>
      <vt:lpstr>DSATUR (Degree of saturation)</vt:lpstr>
      <vt:lpstr>DSATUR (Degree of saturation)</vt:lpstr>
      <vt:lpstr>DSATUR (Degree of saturation)</vt:lpstr>
      <vt:lpstr>DSATUR (Degree of saturation)</vt:lpstr>
      <vt:lpstr>DSATUR (Degree of saturation)</vt:lpstr>
      <vt:lpstr>PowerPoint Presentation</vt:lpstr>
      <vt:lpstr>DSATUR (Degree of saturation)</vt:lpstr>
      <vt:lpstr>DSATUR (Degree of saturation)</vt:lpstr>
      <vt:lpstr>DSATUR (Degree of saturation)</vt:lpstr>
      <vt:lpstr>DSATUR (Degree of saturation)</vt:lpstr>
      <vt:lpstr>DSATUR (Degree of saturation)</vt:lpstr>
      <vt:lpstr>PowerPoint Presentation</vt:lpstr>
      <vt:lpstr>Md. Rifat Rahman  1905094</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1905085 - Md. Hasibul Hasan</dc:creator>
  <cp:lastModifiedBy>Rakib Kibria</cp:lastModifiedBy>
  <cp:revision>17</cp:revision>
  <dcterms:created xsi:type="dcterms:W3CDTF">2024-10-19T14:03:42Z</dcterms:created>
  <dcterms:modified xsi:type="dcterms:W3CDTF">2024-10-20T03:44:53Z</dcterms:modified>
</cp:coreProperties>
</file>